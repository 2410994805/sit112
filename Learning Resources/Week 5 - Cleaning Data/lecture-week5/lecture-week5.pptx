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notesMasterIdLst>
    <p:notesMasterId r:id="rId73"/>
  </p:notesMasterIdLst>
  <p:sldIdLst>
    <p:sldId id="256" r:id="rId2"/>
    <p:sldId id="339" r:id="rId3"/>
    <p:sldId id="375" r:id="rId4"/>
    <p:sldId id="542" r:id="rId5"/>
    <p:sldId id="543" r:id="rId6"/>
    <p:sldId id="544" r:id="rId7"/>
    <p:sldId id="549" r:id="rId8"/>
    <p:sldId id="550" r:id="rId9"/>
    <p:sldId id="551" r:id="rId10"/>
    <p:sldId id="538" r:id="rId11"/>
    <p:sldId id="557" r:id="rId12"/>
    <p:sldId id="556" r:id="rId13"/>
    <p:sldId id="554" r:id="rId14"/>
    <p:sldId id="559" r:id="rId15"/>
    <p:sldId id="555" r:id="rId16"/>
    <p:sldId id="562" r:id="rId17"/>
    <p:sldId id="561" r:id="rId18"/>
    <p:sldId id="560" r:id="rId19"/>
    <p:sldId id="563" r:id="rId20"/>
    <p:sldId id="564" r:id="rId21"/>
    <p:sldId id="565" r:id="rId22"/>
    <p:sldId id="566" r:id="rId23"/>
    <p:sldId id="568" r:id="rId24"/>
    <p:sldId id="569" r:id="rId25"/>
    <p:sldId id="570" r:id="rId26"/>
    <p:sldId id="488" r:id="rId27"/>
    <p:sldId id="558" r:id="rId28"/>
    <p:sldId id="579" r:id="rId29"/>
    <p:sldId id="580" r:id="rId30"/>
    <p:sldId id="581" r:id="rId31"/>
    <p:sldId id="572" r:id="rId32"/>
    <p:sldId id="573" r:id="rId33"/>
    <p:sldId id="574" r:id="rId34"/>
    <p:sldId id="575" r:id="rId35"/>
    <p:sldId id="577" r:id="rId36"/>
    <p:sldId id="578" r:id="rId37"/>
    <p:sldId id="582" r:id="rId38"/>
    <p:sldId id="583" r:id="rId39"/>
    <p:sldId id="584" r:id="rId40"/>
    <p:sldId id="539" r:id="rId41"/>
    <p:sldId id="585" r:id="rId42"/>
    <p:sldId id="588" r:id="rId43"/>
    <p:sldId id="586" r:id="rId44"/>
    <p:sldId id="587" r:id="rId45"/>
    <p:sldId id="589" r:id="rId46"/>
    <p:sldId id="590" r:id="rId47"/>
    <p:sldId id="591" r:id="rId48"/>
    <p:sldId id="592" r:id="rId49"/>
    <p:sldId id="595" r:id="rId50"/>
    <p:sldId id="596" r:id="rId51"/>
    <p:sldId id="597" r:id="rId52"/>
    <p:sldId id="598" r:id="rId53"/>
    <p:sldId id="540" r:id="rId54"/>
    <p:sldId id="599" r:id="rId55"/>
    <p:sldId id="600" r:id="rId56"/>
    <p:sldId id="602" r:id="rId57"/>
    <p:sldId id="603" r:id="rId58"/>
    <p:sldId id="604" r:id="rId59"/>
    <p:sldId id="605" r:id="rId60"/>
    <p:sldId id="606" r:id="rId61"/>
    <p:sldId id="607" r:id="rId62"/>
    <p:sldId id="608" r:id="rId63"/>
    <p:sldId id="609" r:id="rId64"/>
    <p:sldId id="610" r:id="rId65"/>
    <p:sldId id="541" r:id="rId66"/>
    <p:sldId id="611" r:id="rId67"/>
    <p:sldId id="612" r:id="rId68"/>
    <p:sldId id="613" r:id="rId69"/>
    <p:sldId id="614" r:id="rId70"/>
    <p:sldId id="340" r:id="rId71"/>
    <p:sldId id="342"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EFA00"/>
    <a:srgbClr val="FFFD78"/>
    <a:srgbClr val="D5FC79"/>
    <a:srgbClr val="FFD579"/>
    <a:srgbClr val="FCCDCD"/>
    <a:srgbClr val="FFB5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63"/>
    <p:restoredTop sz="95530"/>
  </p:normalViewPr>
  <p:slideViewPr>
    <p:cSldViewPr snapToGrid="0">
      <p:cViewPr varScale="1">
        <p:scale>
          <a:sx n="70" d="100"/>
          <a:sy n="70" d="100"/>
        </p:scale>
        <p:origin x="54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tima Ansarizadeh" userId="2e2f4077-aba0-49c7-b26f-c647714fbdc0" providerId="ADAL" clId="{4AF819A5-1A07-4075-8C4E-D726B4CE70A1}"/>
    <pc:docChg chg="undo custSel addSld delSld modSld sldOrd">
      <pc:chgData name="Fatima Ansarizadeh" userId="2e2f4077-aba0-49c7-b26f-c647714fbdc0" providerId="ADAL" clId="{4AF819A5-1A07-4075-8C4E-D726B4CE70A1}" dt="2026-08-02T11:40:44.056" v="356" actId="1076"/>
      <pc:docMkLst>
        <pc:docMk/>
      </pc:docMkLst>
      <pc:sldChg chg="modSp mod">
        <pc:chgData name="Fatima Ansarizadeh" userId="2e2f4077-aba0-49c7-b26f-c647714fbdc0" providerId="ADAL" clId="{4AF819A5-1A07-4075-8C4E-D726B4CE70A1}" dt="2026-07-27T05:53:30.367" v="52" actId="20577"/>
        <pc:sldMkLst>
          <pc:docMk/>
          <pc:sldMk cId="1332387644" sldId="256"/>
        </pc:sldMkLst>
        <pc:spChg chg="mod">
          <ac:chgData name="Fatima Ansarizadeh" userId="2e2f4077-aba0-49c7-b26f-c647714fbdc0" providerId="ADAL" clId="{4AF819A5-1A07-4075-8C4E-D726B4CE70A1}" dt="2026-07-27T05:53:30.367" v="52" actId="20577"/>
          <ac:spMkLst>
            <pc:docMk/>
            <pc:sldMk cId="1332387644" sldId="256"/>
            <ac:spMk id="6" creationId="{60EB6CD3-1079-C315-AFA6-5381F1AB7B61}"/>
          </ac:spMkLst>
        </pc:spChg>
      </pc:sldChg>
      <pc:sldChg chg="modSp mod">
        <pc:chgData name="Fatima Ansarizadeh" userId="2e2f4077-aba0-49c7-b26f-c647714fbdc0" providerId="ADAL" clId="{4AF819A5-1A07-4075-8C4E-D726B4CE70A1}" dt="2026-07-27T05:58:08.505" v="67" actId="13926"/>
        <pc:sldMkLst>
          <pc:docMk/>
          <pc:sldMk cId="3931624780" sldId="339"/>
        </pc:sldMkLst>
        <pc:spChg chg="mod">
          <ac:chgData name="Fatima Ansarizadeh" userId="2e2f4077-aba0-49c7-b26f-c647714fbdc0" providerId="ADAL" clId="{4AF819A5-1A07-4075-8C4E-D726B4CE70A1}" dt="2026-07-27T05:58:08.505" v="67" actId="13926"/>
          <ac:spMkLst>
            <pc:docMk/>
            <pc:sldMk cId="3931624780" sldId="339"/>
            <ac:spMk id="3" creationId="{35A7EBEF-C5EF-C27F-584B-2C710C594F8F}"/>
          </ac:spMkLst>
        </pc:spChg>
      </pc:sldChg>
      <pc:sldChg chg="modSp mod">
        <pc:chgData name="Fatima Ansarizadeh" userId="2e2f4077-aba0-49c7-b26f-c647714fbdc0" providerId="ADAL" clId="{4AF819A5-1A07-4075-8C4E-D726B4CE70A1}" dt="2026-08-01T11:09:14.678" v="335" actId="207"/>
        <pc:sldMkLst>
          <pc:docMk/>
          <pc:sldMk cId="1653567262" sldId="540"/>
        </pc:sldMkLst>
        <pc:spChg chg="mod">
          <ac:chgData name="Fatima Ansarizadeh" userId="2e2f4077-aba0-49c7-b26f-c647714fbdc0" providerId="ADAL" clId="{4AF819A5-1A07-4075-8C4E-D726B4CE70A1}" dt="2026-08-01T11:09:14.678" v="335" actId="207"/>
          <ac:spMkLst>
            <pc:docMk/>
            <pc:sldMk cId="1653567262" sldId="540"/>
            <ac:spMk id="2" creationId="{A0426C9F-24EB-EDCE-3456-4830A6362F98}"/>
          </ac:spMkLst>
        </pc:spChg>
      </pc:sldChg>
      <pc:sldChg chg="modSp mod">
        <pc:chgData name="Fatima Ansarizadeh" userId="2e2f4077-aba0-49c7-b26f-c647714fbdc0" providerId="ADAL" clId="{4AF819A5-1A07-4075-8C4E-D726B4CE70A1}" dt="2026-07-27T05:58:55.691" v="75" actId="13926"/>
        <pc:sldMkLst>
          <pc:docMk/>
          <pc:sldMk cId="644246189" sldId="542"/>
        </pc:sldMkLst>
        <pc:spChg chg="mod">
          <ac:chgData name="Fatima Ansarizadeh" userId="2e2f4077-aba0-49c7-b26f-c647714fbdc0" providerId="ADAL" clId="{4AF819A5-1A07-4075-8C4E-D726B4CE70A1}" dt="2026-07-27T05:58:55.691" v="75" actId="13926"/>
          <ac:spMkLst>
            <pc:docMk/>
            <pc:sldMk cId="644246189" sldId="542"/>
            <ac:spMk id="3" creationId="{28D6EAC6-6668-75BE-B247-E6131C73FD88}"/>
          </ac:spMkLst>
        </pc:spChg>
      </pc:sldChg>
      <pc:sldChg chg="modSp mod">
        <pc:chgData name="Fatima Ansarizadeh" userId="2e2f4077-aba0-49c7-b26f-c647714fbdc0" providerId="ADAL" clId="{4AF819A5-1A07-4075-8C4E-D726B4CE70A1}" dt="2026-07-27T06:00:28.489" v="106" actId="13926"/>
        <pc:sldMkLst>
          <pc:docMk/>
          <pc:sldMk cId="2207152112" sldId="543"/>
        </pc:sldMkLst>
        <pc:spChg chg="mod">
          <ac:chgData name="Fatima Ansarizadeh" userId="2e2f4077-aba0-49c7-b26f-c647714fbdc0" providerId="ADAL" clId="{4AF819A5-1A07-4075-8C4E-D726B4CE70A1}" dt="2026-07-27T06:00:28.489" v="106" actId="13926"/>
          <ac:spMkLst>
            <pc:docMk/>
            <pc:sldMk cId="2207152112" sldId="543"/>
            <ac:spMk id="3" creationId="{28D6EAC6-6668-75BE-B247-E6131C73FD88}"/>
          </ac:spMkLst>
        </pc:spChg>
      </pc:sldChg>
      <pc:sldChg chg="modSp mod">
        <pc:chgData name="Fatima Ansarizadeh" userId="2e2f4077-aba0-49c7-b26f-c647714fbdc0" providerId="ADAL" clId="{4AF819A5-1A07-4075-8C4E-D726B4CE70A1}" dt="2026-07-27T06:02:16.118" v="157" actId="1076"/>
        <pc:sldMkLst>
          <pc:docMk/>
          <pc:sldMk cId="4236739463" sldId="544"/>
        </pc:sldMkLst>
        <pc:spChg chg="mod">
          <ac:chgData name="Fatima Ansarizadeh" userId="2e2f4077-aba0-49c7-b26f-c647714fbdc0" providerId="ADAL" clId="{4AF819A5-1A07-4075-8C4E-D726B4CE70A1}" dt="2026-07-27T06:02:16.118" v="157" actId="1076"/>
          <ac:spMkLst>
            <pc:docMk/>
            <pc:sldMk cId="4236739463" sldId="544"/>
            <ac:spMk id="3" creationId="{28D6EAC6-6668-75BE-B247-E6131C73FD88}"/>
          </ac:spMkLst>
        </pc:spChg>
      </pc:sldChg>
      <pc:sldChg chg="modSp mod">
        <pc:chgData name="Fatima Ansarizadeh" userId="2e2f4077-aba0-49c7-b26f-c647714fbdc0" providerId="ADAL" clId="{4AF819A5-1A07-4075-8C4E-D726B4CE70A1}" dt="2026-07-28T05:59:35.369" v="171" actId="13926"/>
        <pc:sldMkLst>
          <pc:docMk/>
          <pc:sldMk cId="1637777119" sldId="559"/>
        </pc:sldMkLst>
        <pc:graphicFrameChg chg="modGraphic">
          <ac:chgData name="Fatima Ansarizadeh" userId="2e2f4077-aba0-49c7-b26f-c647714fbdc0" providerId="ADAL" clId="{4AF819A5-1A07-4075-8C4E-D726B4CE70A1}" dt="2026-07-28T05:59:35.369" v="171" actId="13926"/>
          <ac:graphicFrameMkLst>
            <pc:docMk/>
            <pc:sldMk cId="1637777119" sldId="559"/>
            <ac:graphicFrameMk id="6" creationId="{4F765B85-BE0D-6A1B-DC54-9B63BD3FCB30}"/>
          </ac:graphicFrameMkLst>
        </pc:graphicFrameChg>
      </pc:sldChg>
      <pc:sldChg chg="addSp delSp modSp mod">
        <pc:chgData name="Fatima Ansarizadeh" userId="2e2f4077-aba0-49c7-b26f-c647714fbdc0" providerId="ADAL" clId="{4AF819A5-1A07-4075-8C4E-D726B4CE70A1}" dt="2026-07-28T06:45:05.017" v="275" actId="13926"/>
        <pc:sldMkLst>
          <pc:docMk/>
          <pc:sldMk cId="502428085" sldId="563"/>
        </pc:sldMkLst>
        <pc:spChg chg="add mod">
          <ac:chgData name="Fatima Ansarizadeh" userId="2e2f4077-aba0-49c7-b26f-c647714fbdc0" providerId="ADAL" clId="{4AF819A5-1A07-4075-8C4E-D726B4CE70A1}" dt="2026-07-28T06:45:05.017" v="275" actId="13926"/>
          <ac:spMkLst>
            <pc:docMk/>
            <pc:sldMk cId="502428085" sldId="563"/>
            <ac:spMk id="7" creationId="{3DE39C38-9AAE-49BB-BD3E-0AF80D412284}"/>
          </ac:spMkLst>
        </pc:spChg>
        <pc:graphicFrameChg chg="mod modGraphic">
          <ac:chgData name="Fatima Ansarizadeh" userId="2e2f4077-aba0-49c7-b26f-c647714fbdc0" providerId="ADAL" clId="{4AF819A5-1A07-4075-8C4E-D726B4CE70A1}" dt="2026-07-28T06:39:07.765" v="189"/>
          <ac:graphicFrameMkLst>
            <pc:docMk/>
            <pc:sldMk cId="502428085" sldId="563"/>
            <ac:graphicFrameMk id="4" creationId="{AF5B19F3-0F95-8B56-DFD2-8187B198D096}"/>
          </ac:graphicFrameMkLst>
        </pc:graphicFrameChg>
      </pc:sldChg>
      <pc:sldChg chg="modSp mod">
        <pc:chgData name="Fatima Ansarizadeh" userId="2e2f4077-aba0-49c7-b26f-c647714fbdc0" providerId="ADAL" clId="{4AF819A5-1A07-4075-8C4E-D726B4CE70A1}" dt="2026-07-27T06:23:21.988" v="164" actId="13926"/>
        <pc:sldMkLst>
          <pc:docMk/>
          <pc:sldMk cId="1208256132" sldId="566"/>
        </pc:sldMkLst>
        <pc:graphicFrameChg chg="modGraphic">
          <ac:chgData name="Fatima Ansarizadeh" userId="2e2f4077-aba0-49c7-b26f-c647714fbdc0" providerId="ADAL" clId="{4AF819A5-1A07-4075-8C4E-D726B4CE70A1}" dt="2026-07-27T06:22:40.463" v="159" actId="13926"/>
          <ac:graphicFrameMkLst>
            <pc:docMk/>
            <pc:sldMk cId="1208256132" sldId="566"/>
            <ac:graphicFrameMk id="4" creationId="{21D98B30-47C9-CEA3-93A3-4721203B000A}"/>
          </ac:graphicFrameMkLst>
        </pc:graphicFrameChg>
        <pc:graphicFrameChg chg="modGraphic">
          <ac:chgData name="Fatima Ansarizadeh" userId="2e2f4077-aba0-49c7-b26f-c647714fbdc0" providerId="ADAL" clId="{4AF819A5-1A07-4075-8C4E-D726B4CE70A1}" dt="2026-07-27T06:23:21.988" v="164" actId="13926"/>
          <ac:graphicFrameMkLst>
            <pc:docMk/>
            <pc:sldMk cId="1208256132" sldId="566"/>
            <ac:graphicFrameMk id="6" creationId="{2BFB6494-9C02-29B0-4F87-78A5590B2AA1}"/>
          </ac:graphicFrameMkLst>
        </pc:graphicFrameChg>
      </pc:sldChg>
      <pc:sldChg chg="modSp mod">
        <pc:chgData name="Fatima Ansarizadeh" userId="2e2f4077-aba0-49c7-b26f-c647714fbdc0" providerId="ADAL" clId="{4AF819A5-1A07-4075-8C4E-D726B4CE70A1}" dt="2026-07-27T06:25:48.992" v="166" actId="20577"/>
        <pc:sldMkLst>
          <pc:docMk/>
          <pc:sldMk cId="41169380" sldId="569"/>
        </pc:sldMkLst>
        <pc:spChg chg="mod">
          <ac:chgData name="Fatima Ansarizadeh" userId="2e2f4077-aba0-49c7-b26f-c647714fbdc0" providerId="ADAL" clId="{4AF819A5-1A07-4075-8C4E-D726B4CE70A1}" dt="2026-07-27T06:25:48.992" v="166" actId="20577"/>
          <ac:spMkLst>
            <pc:docMk/>
            <pc:sldMk cId="41169380" sldId="569"/>
            <ac:spMk id="2" creationId="{07E00154-1798-060B-E144-32234ADADC4F}"/>
          </ac:spMkLst>
        </pc:spChg>
      </pc:sldChg>
      <pc:sldChg chg="modSp mod">
        <pc:chgData name="Fatima Ansarizadeh" userId="2e2f4077-aba0-49c7-b26f-c647714fbdc0" providerId="ADAL" clId="{4AF819A5-1A07-4075-8C4E-D726B4CE70A1}" dt="2026-07-28T23:31:18.395" v="277" actId="207"/>
        <pc:sldMkLst>
          <pc:docMk/>
          <pc:sldMk cId="789737173" sldId="570"/>
        </pc:sldMkLst>
        <pc:spChg chg="mod">
          <ac:chgData name="Fatima Ansarizadeh" userId="2e2f4077-aba0-49c7-b26f-c647714fbdc0" providerId="ADAL" clId="{4AF819A5-1A07-4075-8C4E-D726B4CE70A1}" dt="2026-07-28T23:31:18.395" v="277" actId="207"/>
          <ac:spMkLst>
            <pc:docMk/>
            <pc:sldMk cId="789737173" sldId="570"/>
            <ac:spMk id="2" creationId="{07E00154-1798-060B-E144-32234ADADC4F}"/>
          </ac:spMkLst>
        </pc:spChg>
      </pc:sldChg>
      <pc:sldChg chg="modSp mod">
        <pc:chgData name="Fatima Ansarizadeh" userId="2e2f4077-aba0-49c7-b26f-c647714fbdc0" providerId="ADAL" clId="{4AF819A5-1A07-4075-8C4E-D726B4CE70A1}" dt="2026-07-28T23:32:45.869" v="278" actId="207"/>
        <pc:sldMkLst>
          <pc:docMk/>
          <pc:sldMk cId="2056997872" sldId="572"/>
        </pc:sldMkLst>
        <pc:spChg chg="mod">
          <ac:chgData name="Fatima Ansarizadeh" userId="2e2f4077-aba0-49c7-b26f-c647714fbdc0" providerId="ADAL" clId="{4AF819A5-1A07-4075-8C4E-D726B4CE70A1}" dt="2026-07-28T23:32:45.869" v="278" actId="207"/>
          <ac:spMkLst>
            <pc:docMk/>
            <pc:sldMk cId="2056997872" sldId="572"/>
            <ac:spMk id="2" creationId="{50D0CB9C-24D7-42F5-4A93-5A282A017E6B}"/>
          </ac:spMkLst>
        </pc:spChg>
      </pc:sldChg>
      <pc:sldChg chg="modSp mod">
        <pc:chgData name="Fatima Ansarizadeh" userId="2e2f4077-aba0-49c7-b26f-c647714fbdc0" providerId="ADAL" clId="{4AF819A5-1A07-4075-8C4E-D726B4CE70A1}" dt="2026-07-28T23:43:08.324" v="295" actId="207"/>
        <pc:sldMkLst>
          <pc:docMk/>
          <pc:sldMk cId="459575983" sldId="573"/>
        </pc:sldMkLst>
        <pc:spChg chg="mod">
          <ac:chgData name="Fatima Ansarizadeh" userId="2e2f4077-aba0-49c7-b26f-c647714fbdc0" providerId="ADAL" clId="{4AF819A5-1A07-4075-8C4E-D726B4CE70A1}" dt="2026-07-28T23:43:08.324" v="295" actId="207"/>
          <ac:spMkLst>
            <pc:docMk/>
            <pc:sldMk cId="459575983" sldId="573"/>
            <ac:spMk id="2" creationId="{F0B1DF3C-C819-173B-C321-A23F1918A08E}"/>
          </ac:spMkLst>
        </pc:spChg>
        <pc:graphicFrameChg chg="mod modGraphic">
          <ac:chgData name="Fatima Ansarizadeh" userId="2e2f4077-aba0-49c7-b26f-c647714fbdc0" providerId="ADAL" clId="{4AF819A5-1A07-4075-8C4E-D726B4CE70A1}" dt="2026-07-28T23:42:57.579" v="294" actId="20577"/>
          <ac:graphicFrameMkLst>
            <pc:docMk/>
            <pc:sldMk cId="459575983" sldId="573"/>
            <ac:graphicFrameMk id="7" creationId="{8E7DDDAA-041A-E8C0-65BF-081D176C7F24}"/>
          </ac:graphicFrameMkLst>
        </pc:graphicFrameChg>
      </pc:sldChg>
      <pc:sldChg chg="modSp mod">
        <pc:chgData name="Fatima Ansarizadeh" userId="2e2f4077-aba0-49c7-b26f-c647714fbdc0" providerId="ADAL" clId="{4AF819A5-1A07-4075-8C4E-D726B4CE70A1}" dt="2026-07-29T00:19:27.477" v="299" actId="207"/>
        <pc:sldMkLst>
          <pc:docMk/>
          <pc:sldMk cId="3009082453" sldId="574"/>
        </pc:sldMkLst>
        <pc:spChg chg="mod">
          <ac:chgData name="Fatima Ansarizadeh" userId="2e2f4077-aba0-49c7-b26f-c647714fbdc0" providerId="ADAL" clId="{4AF819A5-1A07-4075-8C4E-D726B4CE70A1}" dt="2026-07-29T00:19:05.204" v="296" actId="20577"/>
          <ac:spMkLst>
            <pc:docMk/>
            <pc:sldMk cId="3009082453" sldId="574"/>
            <ac:spMk id="2" creationId="{DDDDDF12-A42A-17DA-DD2B-86EB436FFFB5}"/>
          </ac:spMkLst>
        </pc:spChg>
        <pc:graphicFrameChg chg="modGraphic">
          <ac:chgData name="Fatima Ansarizadeh" userId="2e2f4077-aba0-49c7-b26f-c647714fbdc0" providerId="ADAL" clId="{4AF819A5-1A07-4075-8C4E-D726B4CE70A1}" dt="2026-07-29T00:19:11.360" v="297" actId="207"/>
          <ac:graphicFrameMkLst>
            <pc:docMk/>
            <pc:sldMk cId="3009082453" sldId="574"/>
            <ac:graphicFrameMk id="4" creationId="{4686F0C9-DB96-0E0C-E7C0-41A0D4EAEFF2}"/>
          </ac:graphicFrameMkLst>
        </pc:graphicFrameChg>
        <pc:graphicFrameChg chg="modGraphic">
          <ac:chgData name="Fatima Ansarizadeh" userId="2e2f4077-aba0-49c7-b26f-c647714fbdc0" providerId="ADAL" clId="{4AF819A5-1A07-4075-8C4E-D726B4CE70A1}" dt="2026-07-29T00:19:27.477" v="299" actId="207"/>
          <ac:graphicFrameMkLst>
            <pc:docMk/>
            <pc:sldMk cId="3009082453" sldId="574"/>
            <ac:graphicFrameMk id="6" creationId="{15D1C4E0-E503-66C0-A406-5262F6997C17}"/>
          </ac:graphicFrameMkLst>
        </pc:graphicFrameChg>
      </pc:sldChg>
      <pc:sldChg chg="modSp mod">
        <pc:chgData name="Fatima Ansarizadeh" userId="2e2f4077-aba0-49c7-b26f-c647714fbdc0" providerId="ADAL" clId="{4AF819A5-1A07-4075-8C4E-D726B4CE70A1}" dt="2026-07-29T00:22:01.403" v="305" actId="20577"/>
        <pc:sldMkLst>
          <pc:docMk/>
          <pc:sldMk cId="990624150" sldId="575"/>
        </pc:sldMkLst>
        <pc:spChg chg="mod">
          <ac:chgData name="Fatima Ansarizadeh" userId="2e2f4077-aba0-49c7-b26f-c647714fbdc0" providerId="ADAL" clId="{4AF819A5-1A07-4075-8C4E-D726B4CE70A1}" dt="2026-07-29T00:22:01.403" v="305" actId="20577"/>
          <ac:spMkLst>
            <pc:docMk/>
            <pc:sldMk cId="990624150" sldId="575"/>
            <ac:spMk id="2" creationId="{DDDDDF12-A42A-17DA-DD2B-86EB436FFFB5}"/>
          </ac:spMkLst>
        </pc:spChg>
        <pc:graphicFrameChg chg="modGraphic">
          <ac:chgData name="Fatima Ansarizadeh" userId="2e2f4077-aba0-49c7-b26f-c647714fbdc0" providerId="ADAL" clId="{4AF819A5-1A07-4075-8C4E-D726B4CE70A1}" dt="2026-07-29T00:21:43.902" v="304" actId="207"/>
          <ac:graphicFrameMkLst>
            <pc:docMk/>
            <pc:sldMk cId="990624150" sldId="575"/>
            <ac:graphicFrameMk id="7" creationId="{46218F57-8EC2-B8A1-219E-8BD795A3E5FE}"/>
          </ac:graphicFrameMkLst>
        </pc:graphicFrameChg>
      </pc:sldChg>
      <pc:sldChg chg="add">
        <pc:chgData name="Fatima Ansarizadeh" userId="2e2f4077-aba0-49c7-b26f-c647714fbdc0" providerId="ADAL" clId="{4AF819A5-1A07-4075-8C4E-D726B4CE70A1}" dt="2026-07-31T04:29:11.163" v="320"/>
        <pc:sldMkLst>
          <pc:docMk/>
          <pc:sldMk cId="132325873" sldId="579"/>
        </pc:sldMkLst>
      </pc:sldChg>
      <pc:sldChg chg="add">
        <pc:chgData name="Fatima Ansarizadeh" userId="2e2f4077-aba0-49c7-b26f-c647714fbdc0" providerId="ADAL" clId="{4AF819A5-1A07-4075-8C4E-D726B4CE70A1}" dt="2026-07-31T04:29:11.163" v="320"/>
        <pc:sldMkLst>
          <pc:docMk/>
          <pc:sldMk cId="3203423805" sldId="580"/>
        </pc:sldMkLst>
      </pc:sldChg>
      <pc:sldChg chg="add">
        <pc:chgData name="Fatima Ansarizadeh" userId="2e2f4077-aba0-49c7-b26f-c647714fbdc0" providerId="ADAL" clId="{4AF819A5-1A07-4075-8C4E-D726B4CE70A1}" dt="2026-07-31T04:29:11.163" v="320"/>
        <pc:sldMkLst>
          <pc:docMk/>
          <pc:sldMk cId="1634170583" sldId="581"/>
        </pc:sldMkLst>
      </pc:sldChg>
      <pc:sldChg chg="modSp mod">
        <pc:chgData name="Fatima Ansarizadeh" userId="2e2f4077-aba0-49c7-b26f-c647714fbdc0" providerId="ADAL" clId="{4AF819A5-1A07-4075-8C4E-D726B4CE70A1}" dt="2026-07-29T00:47:18.022" v="311" actId="207"/>
        <pc:sldMkLst>
          <pc:docMk/>
          <pc:sldMk cId="2231593180" sldId="582"/>
        </pc:sldMkLst>
        <pc:spChg chg="mod">
          <ac:chgData name="Fatima Ansarizadeh" userId="2e2f4077-aba0-49c7-b26f-c647714fbdc0" providerId="ADAL" clId="{4AF819A5-1A07-4075-8C4E-D726B4CE70A1}" dt="2026-07-29T00:44:03.141" v="309" actId="20577"/>
          <ac:spMkLst>
            <pc:docMk/>
            <pc:sldMk cId="2231593180" sldId="582"/>
            <ac:spMk id="2" creationId="{54FF06BE-4FE5-E234-DC36-222EE96A42C4}"/>
          </ac:spMkLst>
        </pc:spChg>
        <pc:graphicFrameChg chg="modGraphic">
          <ac:chgData name="Fatima Ansarizadeh" userId="2e2f4077-aba0-49c7-b26f-c647714fbdc0" providerId="ADAL" clId="{4AF819A5-1A07-4075-8C4E-D726B4CE70A1}" dt="2026-07-29T00:47:18.022" v="311" actId="207"/>
          <ac:graphicFrameMkLst>
            <pc:docMk/>
            <pc:sldMk cId="2231593180" sldId="582"/>
            <ac:graphicFrameMk id="6" creationId="{BAE97477-EE13-2CE0-D582-1B1C3D8F4923}"/>
          </ac:graphicFrameMkLst>
        </pc:graphicFrameChg>
      </pc:sldChg>
      <pc:sldChg chg="modSp mod">
        <pc:chgData name="Fatima Ansarizadeh" userId="2e2f4077-aba0-49c7-b26f-c647714fbdc0" providerId="ADAL" clId="{4AF819A5-1A07-4075-8C4E-D726B4CE70A1}" dt="2026-07-29T00:48:14.170" v="312" actId="1076"/>
        <pc:sldMkLst>
          <pc:docMk/>
          <pc:sldMk cId="815969790" sldId="583"/>
        </pc:sldMkLst>
        <pc:spChg chg="mod">
          <ac:chgData name="Fatima Ansarizadeh" userId="2e2f4077-aba0-49c7-b26f-c647714fbdc0" providerId="ADAL" clId="{4AF819A5-1A07-4075-8C4E-D726B4CE70A1}" dt="2026-07-29T00:48:14.170" v="312" actId="1076"/>
          <ac:spMkLst>
            <pc:docMk/>
            <pc:sldMk cId="815969790" sldId="583"/>
            <ac:spMk id="2" creationId="{123A5E96-441D-47E1-2E98-FC84E835A620}"/>
          </ac:spMkLst>
        </pc:spChg>
      </pc:sldChg>
      <pc:sldChg chg="modSp mod">
        <pc:chgData name="Fatima Ansarizadeh" userId="2e2f4077-aba0-49c7-b26f-c647714fbdc0" providerId="ADAL" clId="{4AF819A5-1A07-4075-8C4E-D726B4CE70A1}" dt="2026-08-01T10:14:50.375" v="322" actId="207"/>
        <pc:sldMkLst>
          <pc:docMk/>
          <pc:sldMk cId="1564706450" sldId="585"/>
        </pc:sldMkLst>
        <pc:spChg chg="mod">
          <ac:chgData name="Fatima Ansarizadeh" userId="2e2f4077-aba0-49c7-b26f-c647714fbdc0" providerId="ADAL" clId="{4AF819A5-1A07-4075-8C4E-D726B4CE70A1}" dt="2026-08-01T10:14:50.375" v="322" actId="207"/>
          <ac:spMkLst>
            <pc:docMk/>
            <pc:sldMk cId="1564706450" sldId="585"/>
            <ac:spMk id="2" creationId="{068BE1AA-DF73-B301-D477-1D35EC3B75BF}"/>
          </ac:spMkLst>
        </pc:spChg>
      </pc:sldChg>
      <pc:sldChg chg="modSp mod">
        <pc:chgData name="Fatima Ansarizadeh" userId="2e2f4077-aba0-49c7-b26f-c647714fbdc0" providerId="ADAL" clId="{4AF819A5-1A07-4075-8C4E-D726B4CE70A1}" dt="2026-08-01T10:16:15.299" v="325" actId="207"/>
        <pc:sldMkLst>
          <pc:docMk/>
          <pc:sldMk cId="3311331900" sldId="586"/>
        </pc:sldMkLst>
        <pc:spChg chg="mod">
          <ac:chgData name="Fatima Ansarizadeh" userId="2e2f4077-aba0-49c7-b26f-c647714fbdc0" providerId="ADAL" clId="{4AF819A5-1A07-4075-8C4E-D726B4CE70A1}" dt="2026-08-01T10:16:15.299" v="325" actId="207"/>
          <ac:spMkLst>
            <pc:docMk/>
            <pc:sldMk cId="3311331900" sldId="586"/>
            <ac:spMk id="2" creationId="{068BE1AA-DF73-B301-D477-1D35EC3B75BF}"/>
          </ac:spMkLst>
        </pc:spChg>
      </pc:sldChg>
      <pc:sldChg chg="modSp mod">
        <pc:chgData name="Fatima Ansarizadeh" userId="2e2f4077-aba0-49c7-b26f-c647714fbdc0" providerId="ADAL" clId="{4AF819A5-1A07-4075-8C4E-D726B4CE70A1}" dt="2026-08-01T10:16:10.050" v="324" actId="207"/>
        <pc:sldMkLst>
          <pc:docMk/>
          <pc:sldMk cId="2655941804" sldId="588"/>
        </pc:sldMkLst>
        <pc:spChg chg="mod">
          <ac:chgData name="Fatima Ansarizadeh" userId="2e2f4077-aba0-49c7-b26f-c647714fbdc0" providerId="ADAL" clId="{4AF819A5-1A07-4075-8C4E-D726B4CE70A1}" dt="2026-08-01T10:16:10.050" v="324" actId="207"/>
          <ac:spMkLst>
            <pc:docMk/>
            <pc:sldMk cId="2655941804" sldId="588"/>
            <ac:spMk id="2" creationId="{EAB1B879-F216-D219-362D-DA4A3C4DDE48}"/>
          </ac:spMkLst>
        </pc:spChg>
      </pc:sldChg>
      <pc:sldChg chg="modSp mod">
        <pc:chgData name="Fatima Ansarizadeh" userId="2e2f4077-aba0-49c7-b26f-c647714fbdc0" providerId="ADAL" clId="{4AF819A5-1A07-4075-8C4E-D726B4CE70A1}" dt="2026-08-01T10:18:25.869" v="327" actId="207"/>
        <pc:sldMkLst>
          <pc:docMk/>
          <pc:sldMk cId="2423041096" sldId="589"/>
        </pc:sldMkLst>
        <pc:spChg chg="mod">
          <ac:chgData name="Fatima Ansarizadeh" userId="2e2f4077-aba0-49c7-b26f-c647714fbdc0" providerId="ADAL" clId="{4AF819A5-1A07-4075-8C4E-D726B4CE70A1}" dt="2026-08-01T10:18:25.869" v="327" actId="207"/>
          <ac:spMkLst>
            <pc:docMk/>
            <pc:sldMk cId="2423041096" sldId="589"/>
            <ac:spMk id="2" creationId="{6132C758-75A5-1587-89BB-4ACDE9B89A70}"/>
          </ac:spMkLst>
        </pc:spChg>
      </pc:sldChg>
      <pc:sldChg chg="modSp mod">
        <pc:chgData name="Fatima Ansarizadeh" userId="2e2f4077-aba0-49c7-b26f-c647714fbdc0" providerId="ADAL" clId="{4AF819A5-1A07-4075-8C4E-D726B4CE70A1}" dt="2026-08-01T10:19:07.395" v="328" actId="207"/>
        <pc:sldMkLst>
          <pc:docMk/>
          <pc:sldMk cId="35623914" sldId="590"/>
        </pc:sldMkLst>
        <pc:spChg chg="mod">
          <ac:chgData name="Fatima Ansarizadeh" userId="2e2f4077-aba0-49c7-b26f-c647714fbdc0" providerId="ADAL" clId="{4AF819A5-1A07-4075-8C4E-D726B4CE70A1}" dt="2026-08-01T10:19:07.395" v="328" actId="207"/>
          <ac:spMkLst>
            <pc:docMk/>
            <pc:sldMk cId="35623914" sldId="590"/>
            <ac:spMk id="2" creationId="{6132C758-75A5-1587-89BB-4ACDE9B89A70}"/>
          </ac:spMkLst>
        </pc:spChg>
      </pc:sldChg>
      <pc:sldChg chg="modSp mod">
        <pc:chgData name="Fatima Ansarizadeh" userId="2e2f4077-aba0-49c7-b26f-c647714fbdc0" providerId="ADAL" clId="{4AF819A5-1A07-4075-8C4E-D726B4CE70A1}" dt="2026-08-01T10:20:09.456" v="329" actId="207"/>
        <pc:sldMkLst>
          <pc:docMk/>
          <pc:sldMk cId="594069343" sldId="591"/>
        </pc:sldMkLst>
        <pc:spChg chg="mod">
          <ac:chgData name="Fatima Ansarizadeh" userId="2e2f4077-aba0-49c7-b26f-c647714fbdc0" providerId="ADAL" clId="{4AF819A5-1A07-4075-8C4E-D726B4CE70A1}" dt="2026-08-01T10:20:09.456" v="329" actId="207"/>
          <ac:spMkLst>
            <pc:docMk/>
            <pc:sldMk cId="594069343" sldId="591"/>
            <ac:spMk id="2" creationId="{D5173F79-97B2-2CF5-EF36-62400B255485}"/>
          </ac:spMkLst>
        </pc:spChg>
      </pc:sldChg>
      <pc:sldChg chg="modSp mod">
        <pc:chgData name="Fatima Ansarizadeh" userId="2e2f4077-aba0-49c7-b26f-c647714fbdc0" providerId="ADAL" clId="{4AF819A5-1A07-4075-8C4E-D726B4CE70A1}" dt="2026-08-01T10:21:49.097" v="330" actId="207"/>
        <pc:sldMkLst>
          <pc:docMk/>
          <pc:sldMk cId="3352128501" sldId="592"/>
        </pc:sldMkLst>
        <pc:spChg chg="mod">
          <ac:chgData name="Fatima Ansarizadeh" userId="2e2f4077-aba0-49c7-b26f-c647714fbdc0" providerId="ADAL" clId="{4AF819A5-1A07-4075-8C4E-D726B4CE70A1}" dt="2026-08-01T10:21:49.097" v="330" actId="207"/>
          <ac:spMkLst>
            <pc:docMk/>
            <pc:sldMk cId="3352128501" sldId="592"/>
            <ac:spMk id="2" creationId="{D5173F79-97B2-2CF5-EF36-62400B255485}"/>
          </ac:spMkLst>
        </pc:spChg>
      </pc:sldChg>
      <pc:sldChg chg="modSp mod">
        <pc:chgData name="Fatima Ansarizadeh" userId="2e2f4077-aba0-49c7-b26f-c647714fbdc0" providerId="ADAL" clId="{4AF819A5-1A07-4075-8C4E-D726B4CE70A1}" dt="2026-08-01T10:32:04.726" v="333" actId="207"/>
        <pc:sldMkLst>
          <pc:docMk/>
          <pc:sldMk cId="2558122564" sldId="595"/>
        </pc:sldMkLst>
        <pc:spChg chg="mod">
          <ac:chgData name="Fatima Ansarizadeh" userId="2e2f4077-aba0-49c7-b26f-c647714fbdc0" providerId="ADAL" clId="{4AF819A5-1A07-4075-8C4E-D726B4CE70A1}" dt="2026-08-01T10:32:04.726" v="333" actId="207"/>
          <ac:spMkLst>
            <pc:docMk/>
            <pc:sldMk cId="2558122564" sldId="595"/>
            <ac:spMk id="2" creationId="{32B70533-E543-BABA-9F67-182E0C5AD1F1}"/>
          </ac:spMkLst>
        </pc:spChg>
      </pc:sldChg>
      <pc:sldChg chg="modSp mod">
        <pc:chgData name="Fatima Ansarizadeh" userId="2e2f4077-aba0-49c7-b26f-c647714fbdc0" providerId="ADAL" clId="{4AF819A5-1A07-4075-8C4E-D726B4CE70A1}" dt="2026-08-01T10:31:59.374" v="332" actId="207"/>
        <pc:sldMkLst>
          <pc:docMk/>
          <pc:sldMk cId="471658443" sldId="596"/>
        </pc:sldMkLst>
        <pc:spChg chg="mod">
          <ac:chgData name="Fatima Ansarizadeh" userId="2e2f4077-aba0-49c7-b26f-c647714fbdc0" providerId="ADAL" clId="{4AF819A5-1A07-4075-8C4E-D726B4CE70A1}" dt="2026-08-01T10:31:59.374" v="332" actId="207"/>
          <ac:spMkLst>
            <pc:docMk/>
            <pc:sldMk cId="471658443" sldId="596"/>
            <ac:spMk id="2" creationId="{32B70533-E543-BABA-9F67-182E0C5AD1F1}"/>
          </ac:spMkLst>
        </pc:spChg>
      </pc:sldChg>
      <pc:sldChg chg="modSp mod">
        <pc:chgData name="Fatima Ansarizadeh" userId="2e2f4077-aba0-49c7-b26f-c647714fbdc0" providerId="ADAL" clId="{4AF819A5-1A07-4075-8C4E-D726B4CE70A1}" dt="2026-08-01T11:08:24.030" v="334" actId="207"/>
        <pc:sldMkLst>
          <pc:docMk/>
          <pc:sldMk cId="3421962147" sldId="597"/>
        </pc:sldMkLst>
        <pc:spChg chg="mod">
          <ac:chgData name="Fatima Ansarizadeh" userId="2e2f4077-aba0-49c7-b26f-c647714fbdc0" providerId="ADAL" clId="{4AF819A5-1A07-4075-8C4E-D726B4CE70A1}" dt="2026-08-01T11:08:24.030" v="334" actId="207"/>
          <ac:spMkLst>
            <pc:docMk/>
            <pc:sldMk cId="3421962147" sldId="597"/>
            <ac:spMk id="2" creationId="{32B70533-E543-BABA-9F67-182E0C5AD1F1}"/>
          </ac:spMkLst>
        </pc:spChg>
      </pc:sldChg>
      <pc:sldChg chg="modSp mod">
        <pc:chgData name="Fatima Ansarizadeh" userId="2e2f4077-aba0-49c7-b26f-c647714fbdc0" providerId="ADAL" clId="{4AF819A5-1A07-4075-8C4E-D726B4CE70A1}" dt="2026-08-01T11:11:32.507" v="336" actId="207"/>
        <pc:sldMkLst>
          <pc:docMk/>
          <pc:sldMk cId="95351279" sldId="600"/>
        </pc:sldMkLst>
        <pc:spChg chg="mod">
          <ac:chgData name="Fatima Ansarizadeh" userId="2e2f4077-aba0-49c7-b26f-c647714fbdc0" providerId="ADAL" clId="{4AF819A5-1A07-4075-8C4E-D726B4CE70A1}" dt="2026-08-01T11:11:32.507" v="336" actId="207"/>
          <ac:spMkLst>
            <pc:docMk/>
            <pc:sldMk cId="95351279" sldId="600"/>
            <ac:spMk id="2" creationId="{FD9A0586-1400-EF6E-00CE-7F59BB253B6B}"/>
          </ac:spMkLst>
        </pc:spChg>
      </pc:sldChg>
      <pc:sldChg chg="modSp mod">
        <pc:chgData name="Fatima Ansarizadeh" userId="2e2f4077-aba0-49c7-b26f-c647714fbdc0" providerId="ADAL" clId="{4AF819A5-1A07-4075-8C4E-D726B4CE70A1}" dt="2026-08-01T11:14:06.346" v="337" actId="207"/>
        <pc:sldMkLst>
          <pc:docMk/>
          <pc:sldMk cId="769882619" sldId="603"/>
        </pc:sldMkLst>
        <pc:spChg chg="mod">
          <ac:chgData name="Fatima Ansarizadeh" userId="2e2f4077-aba0-49c7-b26f-c647714fbdc0" providerId="ADAL" clId="{4AF819A5-1A07-4075-8C4E-D726B4CE70A1}" dt="2026-08-01T11:14:06.346" v="337" actId="207"/>
          <ac:spMkLst>
            <pc:docMk/>
            <pc:sldMk cId="769882619" sldId="603"/>
            <ac:spMk id="2" creationId="{F00F5F23-050C-9CD8-D1CB-C6F8C580F495}"/>
          </ac:spMkLst>
        </pc:spChg>
      </pc:sldChg>
      <pc:sldChg chg="modSp mod modShow">
        <pc:chgData name="Fatima Ansarizadeh" userId="2e2f4077-aba0-49c7-b26f-c647714fbdc0" providerId="ADAL" clId="{4AF819A5-1A07-4075-8C4E-D726B4CE70A1}" dt="2026-08-01T11:16:12.866" v="339" actId="729"/>
        <pc:sldMkLst>
          <pc:docMk/>
          <pc:sldMk cId="494175505" sldId="605"/>
        </pc:sldMkLst>
        <pc:spChg chg="mod">
          <ac:chgData name="Fatima Ansarizadeh" userId="2e2f4077-aba0-49c7-b26f-c647714fbdc0" providerId="ADAL" clId="{4AF819A5-1A07-4075-8C4E-D726B4CE70A1}" dt="2026-08-01T11:15:20.732" v="338" actId="207"/>
          <ac:spMkLst>
            <pc:docMk/>
            <pc:sldMk cId="494175505" sldId="605"/>
            <ac:spMk id="2" creationId="{262D60A3-2EA1-6793-2DC7-221C296E56E5}"/>
          </ac:spMkLst>
        </pc:spChg>
      </pc:sldChg>
      <pc:sldChg chg="addSp delSp modSp mod">
        <pc:chgData name="Fatima Ansarizadeh" userId="2e2f4077-aba0-49c7-b26f-c647714fbdc0" providerId="ADAL" clId="{4AF819A5-1A07-4075-8C4E-D726B4CE70A1}" dt="2026-08-02T10:46:18.995" v="347" actId="1076"/>
        <pc:sldMkLst>
          <pc:docMk/>
          <pc:sldMk cId="2789237727" sldId="606"/>
        </pc:sldMkLst>
        <pc:picChg chg="del mod">
          <ac:chgData name="Fatima Ansarizadeh" userId="2e2f4077-aba0-49c7-b26f-c647714fbdc0" providerId="ADAL" clId="{4AF819A5-1A07-4075-8C4E-D726B4CE70A1}" dt="2026-08-02T10:46:09.729" v="344" actId="478"/>
          <ac:picMkLst>
            <pc:docMk/>
            <pc:sldMk cId="2789237727" sldId="606"/>
            <ac:picMk id="3" creationId="{4C8CD55F-A45F-5D3E-7F25-4C285683FB99}"/>
          </ac:picMkLst>
        </pc:picChg>
        <pc:picChg chg="add mod">
          <ac:chgData name="Fatima Ansarizadeh" userId="2e2f4077-aba0-49c7-b26f-c647714fbdc0" providerId="ADAL" clId="{4AF819A5-1A07-4075-8C4E-D726B4CE70A1}" dt="2026-08-02T10:46:15.219" v="346" actId="1076"/>
          <ac:picMkLst>
            <pc:docMk/>
            <pc:sldMk cId="2789237727" sldId="606"/>
            <ac:picMk id="5" creationId="{B7D8B1D4-811E-072B-CBCD-44737E7FA83F}"/>
          </ac:picMkLst>
        </pc:picChg>
        <pc:picChg chg="add mod">
          <ac:chgData name="Fatima Ansarizadeh" userId="2e2f4077-aba0-49c7-b26f-c647714fbdc0" providerId="ADAL" clId="{4AF819A5-1A07-4075-8C4E-D726B4CE70A1}" dt="2026-08-02T10:46:18.995" v="347" actId="1076"/>
          <ac:picMkLst>
            <pc:docMk/>
            <pc:sldMk cId="2789237727" sldId="606"/>
            <ac:picMk id="7" creationId="{6E51BEDC-E1E2-5426-31F9-B65787957385}"/>
          </ac:picMkLst>
        </pc:picChg>
      </pc:sldChg>
      <pc:sldChg chg="addSp delSp modSp mod">
        <pc:chgData name="Fatima Ansarizadeh" userId="2e2f4077-aba0-49c7-b26f-c647714fbdc0" providerId="ADAL" clId="{4AF819A5-1A07-4075-8C4E-D726B4CE70A1}" dt="2026-08-02T11:40:44.056" v="356" actId="1076"/>
        <pc:sldMkLst>
          <pc:docMk/>
          <pc:sldMk cId="1823259313" sldId="613"/>
        </pc:sldMkLst>
        <pc:picChg chg="add mod">
          <ac:chgData name="Fatima Ansarizadeh" userId="2e2f4077-aba0-49c7-b26f-c647714fbdc0" providerId="ADAL" clId="{4AF819A5-1A07-4075-8C4E-D726B4CE70A1}" dt="2026-08-02T11:40:44.056" v="356" actId="1076"/>
          <ac:picMkLst>
            <pc:docMk/>
            <pc:sldMk cId="1823259313" sldId="613"/>
            <ac:picMk id="4" creationId="{8165BEB5-8766-F0A4-D823-D774718796AC}"/>
          </ac:picMkLst>
        </pc:picChg>
        <pc:picChg chg="add mod">
          <ac:chgData name="Fatima Ansarizadeh" userId="2e2f4077-aba0-49c7-b26f-c647714fbdc0" providerId="ADAL" clId="{4AF819A5-1A07-4075-8C4E-D726B4CE70A1}" dt="2026-08-02T11:40:42.580" v="355" actId="1076"/>
          <ac:picMkLst>
            <pc:docMk/>
            <pc:sldMk cId="1823259313" sldId="613"/>
            <ac:picMk id="6" creationId="{C371E9BF-090A-62E8-CF4B-43AC0A7505C4}"/>
          </ac:picMkLst>
        </pc:picChg>
        <pc:picChg chg="del">
          <ac:chgData name="Fatima Ansarizadeh" userId="2e2f4077-aba0-49c7-b26f-c647714fbdc0" providerId="ADAL" clId="{4AF819A5-1A07-4075-8C4E-D726B4CE70A1}" dt="2026-08-02T11:40:16.845" v="348" actId="478"/>
          <ac:picMkLst>
            <pc:docMk/>
            <pc:sldMk cId="1823259313" sldId="613"/>
            <ac:picMk id="14" creationId="{AD279604-470D-D7BB-3F3B-1341452E80C1}"/>
          </ac:picMkLst>
        </pc:pic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s>
</file>

<file path=ppt/diagrams/_rels/data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DAD4B8-0CB7-4E51-9E1E-F8B29C414F5C}" type="doc">
      <dgm:prSet loTypeId="urn:microsoft.com/office/officeart/2016/7/layout/VerticalDownArrowProcess" loCatId="process" qsTypeId="urn:microsoft.com/office/officeart/2005/8/quickstyle/simple1" qsCatId="simple" csTypeId="urn:microsoft.com/office/officeart/2005/8/colors/colorful1" csCatId="colorful"/>
      <dgm:spPr/>
      <dgm:t>
        <a:bodyPr/>
        <a:lstStyle/>
        <a:p>
          <a:endParaRPr lang="en-US"/>
        </a:p>
      </dgm:t>
    </dgm:pt>
    <dgm:pt modelId="{8B208FCE-8A4A-4C52-BDF5-A903306130CF}">
      <dgm:prSet/>
      <dgm:spPr/>
      <dgm:t>
        <a:bodyPr/>
        <a:lstStyle/>
        <a:p>
          <a:r>
            <a:rPr lang="en-US" dirty="0"/>
            <a:t>Identify</a:t>
          </a:r>
        </a:p>
      </dgm:t>
    </dgm:pt>
    <dgm:pt modelId="{8CA366F1-6D44-4BD2-AF65-C7AB139C1DB9}" type="parTrans" cxnId="{11F3AB3A-6FA5-4891-9804-B180D1F5D3F7}">
      <dgm:prSet/>
      <dgm:spPr/>
      <dgm:t>
        <a:bodyPr/>
        <a:lstStyle/>
        <a:p>
          <a:endParaRPr lang="en-US"/>
        </a:p>
      </dgm:t>
    </dgm:pt>
    <dgm:pt modelId="{36864B38-C661-4D8D-A086-34C27AA824F3}" type="sibTrans" cxnId="{11F3AB3A-6FA5-4891-9804-B180D1F5D3F7}">
      <dgm:prSet/>
      <dgm:spPr/>
      <dgm:t>
        <a:bodyPr/>
        <a:lstStyle/>
        <a:p>
          <a:endParaRPr lang="en-US"/>
        </a:p>
      </dgm:t>
    </dgm:pt>
    <dgm:pt modelId="{CD1D44EF-9D02-4559-94DB-63AC4F3A0917}">
      <dgm:prSet/>
      <dgm:spPr/>
      <dgm:t>
        <a:bodyPr/>
        <a:lstStyle/>
        <a:p>
          <a:r>
            <a:rPr lang="en-US"/>
            <a:t>Identify the problems</a:t>
          </a:r>
        </a:p>
      </dgm:t>
    </dgm:pt>
    <dgm:pt modelId="{AF892433-4C63-4DCD-A649-14E29E02568E}" type="parTrans" cxnId="{E2F2CE11-05E8-4978-A5D6-799D8BEAEA6A}">
      <dgm:prSet/>
      <dgm:spPr/>
      <dgm:t>
        <a:bodyPr/>
        <a:lstStyle/>
        <a:p>
          <a:endParaRPr lang="en-US"/>
        </a:p>
      </dgm:t>
    </dgm:pt>
    <dgm:pt modelId="{713F10E2-6C5F-4563-945E-DF6BBDC7F1CD}" type="sibTrans" cxnId="{E2F2CE11-05E8-4978-A5D6-799D8BEAEA6A}">
      <dgm:prSet/>
      <dgm:spPr/>
      <dgm:t>
        <a:bodyPr/>
        <a:lstStyle/>
        <a:p>
          <a:endParaRPr lang="en-US"/>
        </a:p>
      </dgm:t>
    </dgm:pt>
    <dgm:pt modelId="{0CE7EBCF-697A-41F7-ACD0-CABB57D5A520}">
      <dgm:prSet/>
      <dgm:spPr/>
      <dgm:t>
        <a:bodyPr/>
        <a:lstStyle/>
        <a:p>
          <a:r>
            <a:rPr lang="en-US" dirty="0">
              <a:highlight>
                <a:srgbClr val="FFFF00"/>
              </a:highlight>
            </a:rPr>
            <a:t>Review</a:t>
          </a:r>
          <a:r>
            <a:rPr lang="en-US" dirty="0"/>
            <a:t> whatever documentation is available to help you understand the data.</a:t>
          </a:r>
        </a:p>
      </dgm:t>
    </dgm:pt>
    <dgm:pt modelId="{5DAD9E4B-2F87-4E51-9D62-C9E98903D79E}" type="parTrans" cxnId="{2713F83A-BB6F-4D3B-8749-85E38EA30C0D}">
      <dgm:prSet/>
      <dgm:spPr/>
      <dgm:t>
        <a:bodyPr/>
        <a:lstStyle/>
        <a:p>
          <a:endParaRPr lang="en-US"/>
        </a:p>
      </dgm:t>
    </dgm:pt>
    <dgm:pt modelId="{BBCC8769-4F35-4ED2-87A8-71361CCC7191}" type="sibTrans" cxnId="{2713F83A-BB6F-4D3B-8749-85E38EA30C0D}">
      <dgm:prSet/>
      <dgm:spPr/>
      <dgm:t>
        <a:bodyPr/>
        <a:lstStyle/>
        <a:p>
          <a:endParaRPr lang="en-US"/>
        </a:p>
      </dgm:t>
    </dgm:pt>
    <dgm:pt modelId="{5D24AA5E-E6EC-4E07-8FB3-9F84F2058E71}">
      <dgm:prSet/>
      <dgm:spPr/>
      <dgm:t>
        <a:bodyPr/>
        <a:lstStyle/>
        <a:p>
          <a:r>
            <a:rPr lang="en-US" dirty="0">
              <a:highlight>
                <a:srgbClr val="FFFF00"/>
              </a:highlight>
            </a:rPr>
            <a:t>Examine</a:t>
          </a:r>
          <a:r>
            <a:rPr lang="en-US" dirty="0"/>
            <a:t> the data after you import it into a </a:t>
          </a:r>
          <a:r>
            <a:rPr lang="en-US" dirty="0" err="1"/>
            <a:t>DataFrame</a:t>
          </a:r>
          <a:r>
            <a:rPr lang="en-US" dirty="0"/>
            <a:t>.</a:t>
          </a:r>
        </a:p>
      </dgm:t>
    </dgm:pt>
    <dgm:pt modelId="{BD681CA6-BB27-4A7D-BC80-EFF7C32666C7}" type="parTrans" cxnId="{27298AF3-3AA0-4360-B913-AC137FA7A1EC}">
      <dgm:prSet/>
      <dgm:spPr/>
      <dgm:t>
        <a:bodyPr/>
        <a:lstStyle/>
        <a:p>
          <a:endParaRPr lang="en-US"/>
        </a:p>
      </dgm:t>
    </dgm:pt>
    <dgm:pt modelId="{B507EE3C-D622-4F32-BE17-734C259CA8D4}" type="sibTrans" cxnId="{27298AF3-3AA0-4360-B913-AC137FA7A1EC}">
      <dgm:prSet/>
      <dgm:spPr/>
      <dgm:t>
        <a:bodyPr/>
        <a:lstStyle/>
        <a:p>
          <a:endParaRPr lang="en-US"/>
        </a:p>
      </dgm:t>
    </dgm:pt>
    <dgm:pt modelId="{D3A12842-7D11-41E5-A25D-ED59D9C9253F}">
      <dgm:prSet/>
      <dgm:spPr/>
      <dgm:t>
        <a:bodyPr/>
        <a:lstStyle/>
        <a:p>
          <a:r>
            <a:rPr lang="en-US" dirty="0">
              <a:highlight>
                <a:srgbClr val="FFFF00"/>
              </a:highlight>
            </a:rPr>
            <a:t>Plan</a:t>
          </a:r>
          <a:r>
            <a:rPr lang="en-US" dirty="0"/>
            <a:t> the cleaning that needs to be done.</a:t>
          </a:r>
        </a:p>
      </dgm:t>
    </dgm:pt>
    <dgm:pt modelId="{9DF67B6A-C708-4856-BE25-377EA207803F}" type="parTrans" cxnId="{A6C0D4B7-2910-4F49-A8F5-4E83B8B2F662}">
      <dgm:prSet/>
      <dgm:spPr/>
      <dgm:t>
        <a:bodyPr/>
        <a:lstStyle/>
        <a:p>
          <a:endParaRPr lang="en-US"/>
        </a:p>
      </dgm:t>
    </dgm:pt>
    <dgm:pt modelId="{EF481BB8-9854-488C-BF2F-F20952ADD41B}" type="sibTrans" cxnId="{A6C0D4B7-2910-4F49-A8F5-4E83B8B2F662}">
      <dgm:prSet/>
      <dgm:spPr/>
      <dgm:t>
        <a:bodyPr/>
        <a:lstStyle/>
        <a:p>
          <a:endParaRPr lang="en-US"/>
        </a:p>
      </dgm:t>
    </dgm:pt>
    <dgm:pt modelId="{87E0F98C-6B19-41D9-B68C-6EBF792789F8}">
      <dgm:prSet/>
      <dgm:spPr/>
      <dgm:t>
        <a:bodyPr/>
        <a:lstStyle/>
        <a:p>
          <a:r>
            <a:rPr lang="en-US"/>
            <a:t>Simplify</a:t>
          </a:r>
        </a:p>
      </dgm:t>
    </dgm:pt>
    <dgm:pt modelId="{F5A698DF-644C-445A-87E3-832D9AA80FD7}" type="parTrans" cxnId="{153188D4-A0EE-497A-96B6-6731DDF8C161}">
      <dgm:prSet/>
      <dgm:spPr/>
      <dgm:t>
        <a:bodyPr/>
        <a:lstStyle/>
        <a:p>
          <a:endParaRPr lang="en-US"/>
        </a:p>
      </dgm:t>
    </dgm:pt>
    <dgm:pt modelId="{A1556FD6-9A56-4BB0-8094-9FE05E13CAF2}" type="sibTrans" cxnId="{153188D4-A0EE-497A-96B6-6731DDF8C161}">
      <dgm:prSet/>
      <dgm:spPr/>
      <dgm:t>
        <a:bodyPr/>
        <a:lstStyle/>
        <a:p>
          <a:endParaRPr lang="en-US"/>
        </a:p>
      </dgm:t>
    </dgm:pt>
    <dgm:pt modelId="{75E79292-FD4D-49F0-8C3B-5BEAB9B1525C}">
      <dgm:prSet/>
      <dgm:spPr/>
      <dgm:t>
        <a:bodyPr/>
        <a:lstStyle/>
        <a:p>
          <a:r>
            <a:rPr lang="en-US"/>
            <a:t>Simplify the data</a:t>
          </a:r>
        </a:p>
      </dgm:t>
    </dgm:pt>
    <dgm:pt modelId="{0E7B034D-00A9-4AE4-9DA3-A7F880BB1C36}" type="parTrans" cxnId="{FE4E213D-5B01-418D-A744-B5BA935383E2}">
      <dgm:prSet/>
      <dgm:spPr/>
      <dgm:t>
        <a:bodyPr/>
        <a:lstStyle/>
        <a:p>
          <a:endParaRPr lang="en-US"/>
        </a:p>
      </dgm:t>
    </dgm:pt>
    <dgm:pt modelId="{3FDA00EA-86D3-4D90-A39B-5755F1CD15C7}" type="sibTrans" cxnId="{FE4E213D-5B01-418D-A744-B5BA935383E2}">
      <dgm:prSet/>
      <dgm:spPr/>
      <dgm:t>
        <a:bodyPr/>
        <a:lstStyle/>
        <a:p>
          <a:endParaRPr lang="en-US"/>
        </a:p>
      </dgm:t>
    </dgm:pt>
    <dgm:pt modelId="{8C2E41E7-E566-4943-B2D4-84A959D55736}">
      <dgm:prSet/>
      <dgm:spPr/>
      <dgm:t>
        <a:bodyPr/>
        <a:lstStyle/>
        <a:p>
          <a:r>
            <a:rPr lang="en-US" dirty="0">
              <a:highlight>
                <a:srgbClr val="FFFF00"/>
              </a:highlight>
            </a:rPr>
            <a:t>Drop duplicate </a:t>
          </a:r>
          <a:r>
            <a:rPr lang="en-US" dirty="0"/>
            <a:t>rows.</a:t>
          </a:r>
        </a:p>
      </dgm:t>
    </dgm:pt>
    <dgm:pt modelId="{AFBA69F3-21C6-4B0F-9E0E-A1204BA17399}" type="parTrans" cxnId="{F0086C13-5037-4493-9394-2BE9D2DAC3E7}">
      <dgm:prSet/>
      <dgm:spPr/>
      <dgm:t>
        <a:bodyPr/>
        <a:lstStyle/>
        <a:p>
          <a:endParaRPr lang="en-US"/>
        </a:p>
      </dgm:t>
    </dgm:pt>
    <dgm:pt modelId="{6467014E-4FA2-4D59-B834-EF96135461F9}" type="sibTrans" cxnId="{F0086C13-5037-4493-9394-2BE9D2DAC3E7}">
      <dgm:prSet/>
      <dgm:spPr/>
      <dgm:t>
        <a:bodyPr/>
        <a:lstStyle/>
        <a:p>
          <a:endParaRPr lang="en-US"/>
        </a:p>
      </dgm:t>
    </dgm:pt>
    <dgm:pt modelId="{67D43749-8444-4090-B8F1-C41F40693E2E}">
      <dgm:prSet/>
      <dgm:spPr/>
      <dgm:t>
        <a:bodyPr/>
        <a:lstStyle/>
        <a:p>
          <a:r>
            <a:rPr lang="en-US" dirty="0">
              <a:highlight>
                <a:srgbClr val="FFFF00"/>
              </a:highlight>
            </a:rPr>
            <a:t>Drop rows that aren’t needed </a:t>
          </a:r>
          <a:r>
            <a:rPr lang="en-US" dirty="0"/>
            <a:t>for the analysis.</a:t>
          </a:r>
        </a:p>
      </dgm:t>
    </dgm:pt>
    <dgm:pt modelId="{2D5358CC-3DE9-461E-955A-50C945AC664A}" type="parTrans" cxnId="{1066B38C-8DB3-4704-A5C3-D3D3608B7CCA}">
      <dgm:prSet/>
      <dgm:spPr/>
      <dgm:t>
        <a:bodyPr/>
        <a:lstStyle/>
        <a:p>
          <a:endParaRPr lang="en-US"/>
        </a:p>
      </dgm:t>
    </dgm:pt>
    <dgm:pt modelId="{4C097EE0-0D38-4371-8E9D-12FCD77A304F}" type="sibTrans" cxnId="{1066B38C-8DB3-4704-A5C3-D3D3608B7CCA}">
      <dgm:prSet/>
      <dgm:spPr/>
      <dgm:t>
        <a:bodyPr/>
        <a:lstStyle/>
        <a:p>
          <a:endParaRPr lang="en-US"/>
        </a:p>
      </dgm:t>
    </dgm:pt>
    <dgm:pt modelId="{88F678E3-39C7-467D-AC66-64546CFE5363}">
      <dgm:prSet/>
      <dgm:spPr/>
      <dgm:t>
        <a:bodyPr/>
        <a:lstStyle/>
        <a:p>
          <a:r>
            <a:rPr lang="en-US" dirty="0">
              <a:highlight>
                <a:srgbClr val="FFFF00"/>
              </a:highlight>
            </a:rPr>
            <a:t>Drop columns that aren’t needed </a:t>
          </a:r>
          <a:r>
            <a:rPr lang="en-US" dirty="0"/>
            <a:t>for the analysis.</a:t>
          </a:r>
        </a:p>
      </dgm:t>
    </dgm:pt>
    <dgm:pt modelId="{366E23AC-6CFE-4F6A-9A39-D955369CF1C8}" type="parTrans" cxnId="{2EEDAACA-3EAC-4FAE-850C-1DA65216BA91}">
      <dgm:prSet/>
      <dgm:spPr/>
      <dgm:t>
        <a:bodyPr/>
        <a:lstStyle/>
        <a:p>
          <a:endParaRPr lang="en-US"/>
        </a:p>
      </dgm:t>
    </dgm:pt>
    <dgm:pt modelId="{121C5900-079A-44A6-9E65-EABF504A757D}" type="sibTrans" cxnId="{2EEDAACA-3EAC-4FAE-850C-1DA65216BA91}">
      <dgm:prSet/>
      <dgm:spPr/>
      <dgm:t>
        <a:bodyPr/>
        <a:lstStyle/>
        <a:p>
          <a:endParaRPr lang="en-US"/>
        </a:p>
      </dgm:t>
    </dgm:pt>
    <dgm:pt modelId="{60BE65B0-0669-4734-8316-7E2D392DF106}">
      <dgm:prSet/>
      <dgm:spPr/>
      <dgm:t>
        <a:bodyPr/>
        <a:lstStyle/>
        <a:p>
          <a:r>
            <a:rPr lang="en-US" dirty="0">
              <a:highlight>
                <a:srgbClr val="FFFF00"/>
              </a:highlight>
            </a:rPr>
            <a:t>Rename columns </a:t>
          </a:r>
          <a:r>
            <a:rPr lang="en-US" dirty="0"/>
            <a:t>so the names are easier to understand. </a:t>
          </a:r>
        </a:p>
      </dgm:t>
    </dgm:pt>
    <dgm:pt modelId="{8B7609CE-9BAD-43EB-8D45-CEA8AF8EE839}" type="parTrans" cxnId="{02AA47BF-2BCF-466A-84E4-132C4A946B8F}">
      <dgm:prSet/>
      <dgm:spPr/>
      <dgm:t>
        <a:bodyPr/>
        <a:lstStyle/>
        <a:p>
          <a:endParaRPr lang="en-US"/>
        </a:p>
      </dgm:t>
    </dgm:pt>
    <dgm:pt modelId="{588A89A0-AC68-453E-A5E2-9ABBBDFB24C4}" type="sibTrans" cxnId="{02AA47BF-2BCF-466A-84E4-132C4A946B8F}">
      <dgm:prSet/>
      <dgm:spPr/>
      <dgm:t>
        <a:bodyPr/>
        <a:lstStyle/>
        <a:p>
          <a:endParaRPr lang="en-US"/>
        </a:p>
      </dgm:t>
    </dgm:pt>
    <dgm:pt modelId="{373774F6-5DA3-4D53-978A-39D391FD8B77}">
      <dgm:prSet/>
      <dgm:spPr/>
      <dgm:t>
        <a:bodyPr/>
        <a:lstStyle/>
        <a:p>
          <a:r>
            <a:rPr lang="en-US"/>
            <a:t>Fix</a:t>
          </a:r>
        </a:p>
      </dgm:t>
    </dgm:pt>
    <dgm:pt modelId="{4BC099FE-9EC3-4208-B992-40EAFE0D1645}" type="parTrans" cxnId="{88E3371F-90EF-47B5-9731-1D5AEBA46E9D}">
      <dgm:prSet/>
      <dgm:spPr/>
      <dgm:t>
        <a:bodyPr/>
        <a:lstStyle/>
        <a:p>
          <a:endParaRPr lang="en-US"/>
        </a:p>
      </dgm:t>
    </dgm:pt>
    <dgm:pt modelId="{2C090E8A-E14B-41D7-A7D1-3D3FF1D4DB89}" type="sibTrans" cxnId="{88E3371F-90EF-47B5-9731-1D5AEBA46E9D}">
      <dgm:prSet/>
      <dgm:spPr/>
      <dgm:t>
        <a:bodyPr/>
        <a:lstStyle/>
        <a:p>
          <a:endParaRPr lang="en-US"/>
        </a:p>
      </dgm:t>
    </dgm:pt>
    <dgm:pt modelId="{F1D05216-1685-40C6-BE38-924F11ECF93E}">
      <dgm:prSet/>
      <dgm:spPr/>
      <dgm:t>
        <a:bodyPr/>
        <a:lstStyle/>
        <a:p>
          <a:r>
            <a:rPr lang="en-US"/>
            <a:t>Fix data problems</a:t>
          </a:r>
        </a:p>
      </dgm:t>
    </dgm:pt>
    <dgm:pt modelId="{F22C8246-7F37-46D3-A027-EC6EF9D19D14}" type="parTrans" cxnId="{24039317-9166-430B-A2C5-75F98A47C46B}">
      <dgm:prSet/>
      <dgm:spPr/>
      <dgm:t>
        <a:bodyPr/>
        <a:lstStyle/>
        <a:p>
          <a:endParaRPr lang="en-US"/>
        </a:p>
      </dgm:t>
    </dgm:pt>
    <dgm:pt modelId="{121E3D98-6CDB-4A60-A992-BAC8201AA189}" type="sibTrans" cxnId="{24039317-9166-430B-A2C5-75F98A47C46B}">
      <dgm:prSet/>
      <dgm:spPr/>
      <dgm:t>
        <a:bodyPr/>
        <a:lstStyle/>
        <a:p>
          <a:endParaRPr lang="en-US"/>
        </a:p>
      </dgm:t>
    </dgm:pt>
    <dgm:pt modelId="{BE47A962-199D-4D59-972A-807957B1C4D8}">
      <dgm:prSet/>
      <dgm:spPr/>
      <dgm:t>
        <a:bodyPr/>
        <a:lstStyle/>
        <a:p>
          <a:r>
            <a:rPr lang="en-US" dirty="0">
              <a:highlight>
                <a:srgbClr val="FFFF00"/>
              </a:highlight>
            </a:rPr>
            <a:t>Find and fix missing values</a:t>
          </a:r>
          <a:r>
            <a:rPr lang="en-US" dirty="0"/>
            <a:t>.</a:t>
          </a:r>
        </a:p>
      </dgm:t>
    </dgm:pt>
    <dgm:pt modelId="{A2D6F00B-CCE1-4CA4-8916-CD913EEC9BA9}" type="parTrans" cxnId="{102337FD-F541-4FEA-8242-DC8FB523428D}">
      <dgm:prSet/>
      <dgm:spPr/>
      <dgm:t>
        <a:bodyPr/>
        <a:lstStyle/>
        <a:p>
          <a:endParaRPr lang="en-US"/>
        </a:p>
      </dgm:t>
    </dgm:pt>
    <dgm:pt modelId="{064F77C3-521E-4574-B4C0-9B1935CA84D7}" type="sibTrans" cxnId="{102337FD-F541-4FEA-8242-DC8FB523428D}">
      <dgm:prSet/>
      <dgm:spPr/>
      <dgm:t>
        <a:bodyPr/>
        <a:lstStyle/>
        <a:p>
          <a:endParaRPr lang="en-US"/>
        </a:p>
      </dgm:t>
    </dgm:pt>
    <dgm:pt modelId="{6366EAA8-E723-4EB3-B45C-85C0E13E1603}">
      <dgm:prSet/>
      <dgm:spPr/>
      <dgm:t>
        <a:bodyPr/>
        <a:lstStyle/>
        <a:p>
          <a:r>
            <a:rPr lang="en-US" dirty="0">
              <a:highlight>
                <a:srgbClr val="FFFF00"/>
              </a:highlight>
            </a:rPr>
            <a:t>Fix data type problems </a:t>
          </a:r>
          <a:r>
            <a:rPr lang="en-US" dirty="0"/>
            <a:t>like dates or numbers that are imported as strings.</a:t>
          </a:r>
        </a:p>
      </dgm:t>
    </dgm:pt>
    <dgm:pt modelId="{402A37FA-447C-49F6-874D-897BDFC92026}" type="parTrans" cxnId="{8F40ADDC-1A5F-44BD-A08D-674BC7CE42F8}">
      <dgm:prSet/>
      <dgm:spPr/>
      <dgm:t>
        <a:bodyPr/>
        <a:lstStyle/>
        <a:p>
          <a:endParaRPr lang="en-US"/>
        </a:p>
      </dgm:t>
    </dgm:pt>
    <dgm:pt modelId="{69A22F69-EE65-4CEB-899D-BD60B2F33CD6}" type="sibTrans" cxnId="{8F40ADDC-1A5F-44BD-A08D-674BC7CE42F8}">
      <dgm:prSet/>
      <dgm:spPr/>
      <dgm:t>
        <a:bodyPr/>
        <a:lstStyle/>
        <a:p>
          <a:endParaRPr lang="en-US"/>
        </a:p>
      </dgm:t>
    </dgm:pt>
    <dgm:pt modelId="{8250A4BA-947E-4672-8697-A9BB77A1BE47}">
      <dgm:prSet/>
      <dgm:spPr/>
      <dgm:t>
        <a:bodyPr/>
        <a:lstStyle/>
        <a:p>
          <a:r>
            <a:rPr lang="en-US" dirty="0">
              <a:highlight>
                <a:srgbClr val="FFFF00"/>
              </a:highlight>
            </a:rPr>
            <a:t>Find and fix outliers</a:t>
          </a:r>
          <a:r>
            <a:rPr lang="en-US" dirty="0"/>
            <a:t>.</a:t>
          </a:r>
        </a:p>
      </dgm:t>
    </dgm:pt>
    <dgm:pt modelId="{C051F5AC-7B5B-42D5-8867-2A7EAC1C1C4C}" type="parTrans" cxnId="{C34B9DF9-1E21-4ADC-93C5-C4C62CE8A304}">
      <dgm:prSet/>
      <dgm:spPr/>
      <dgm:t>
        <a:bodyPr/>
        <a:lstStyle/>
        <a:p>
          <a:endParaRPr lang="en-US"/>
        </a:p>
      </dgm:t>
    </dgm:pt>
    <dgm:pt modelId="{65397D09-7935-4826-A755-21207F82E498}" type="sibTrans" cxnId="{C34B9DF9-1E21-4ADC-93C5-C4C62CE8A304}">
      <dgm:prSet/>
      <dgm:spPr/>
      <dgm:t>
        <a:bodyPr/>
        <a:lstStyle/>
        <a:p>
          <a:endParaRPr lang="en-US"/>
        </a:p>
      </dgm:t>
    </dgm:pt>
    <dgm:pt modelId="{FF1F6D0E-0739-6045-9CC1-19A71EFA5DE2}" type="pres">
      <dgm:prSet presAssocID="{4EDAD4B8-0CB7-4E51-9E1E-F8B29C414F5C}" presName="Name0" presStyleCnt="0">
        <dgm:presLayoutVars>
          <dgm:dir/>
          <dgm:animLvl val="lvl"/>
          <dgm:resizeHandles val="exact"/>
        </dgm:presLayoutVars>
      </dgm:prSet>
      <dgm:spPr/>
    </dgm:pt>
    <dgm:pt modelId="{B5DD91FA-D261-A545-BEFA-F21EF40AA4B9}" type="pres">
      <dgm:prSet presAssocID="{373774F6-5DA3-4D53-978A-39D391FD8B77}" presName="boxAndChildren" presStyleCnt="0"/>
      <dgm:spPr/>
    </dgm:pt>
    <dgm:pt modelId="{67F18A4C-71EC-0648-B6CD-0FF48E614DE9}" type="pres">
      <dgm:prSet presAssocID="{373774F6-5DA3-4D53-978A-39D391FD8B77}" presName="parentTextBox" presStyleLbl="alignNode1" presStyleIdx="0" presStyleCnt="3"/>
      <dgm:spPr/>
    </dgm:pt>
    <dgm:pt modelId="{4206F796-32A3-8B43-B7B5-2E16423634AD}" type="pres">
      <dgm:prSet presAssocID="{373774F6-5DA3-4D53-978A-39D391FD8B77}" presName="descendantBox" presStyleLbl="bgAccFollowNode1" presStyleIdx="0" presStyleCnt="3"/>
      <dgm:spPr/>
    </dgm:pt>
    <dgm:pt modelId="{2EAEEF52-DE51-8C40-B4F0-D82EA49955A6}" type="pres">
      <dgm:prSet presAssocID="{A1556FD6-9A56-4BB0-8094-9FE05E13CAF2}" presName="sp" presStyleCnt="0"/>
      <dgm:spPr/>
    </dgm:pt>
    <dgm:pt modelId="{019734CD-369B-FE47-B344-09026343DED0}" type="pres">
      <dgm:prSet presAssocID="{87E0F98C-6B19-41D9-B68C-6EBF792789F8}" presName="arrowAndChildren" presStyleCnt="0"/>
      <dgm:spPr/>
    </dgm:pt>
    <dgm:pt modelId="{6AB95C08-C508-994A-A468-1BF43B8E30C9}" type="pres">
      <dgm:prSet presAssocID="{87E0F98C-6B19-41D9-B68C-6EBF792789F8}" presName="parentTextArrow" presStyleLbl="node1" presStyleIdx="0" presStyleCnt="0"/>
      <dgm:spPr/>
    </dgm:pt>
    <dgm:pt modelId="{413C9DF6-10FC-404B-842A-2EE1CB6B0023}" type="pres">
      <dgm:prSet presAssocID="{87E0F98C-6B19-41D9-B68C-6EBF792789F8}" presName="arrow" presStyleLbl="alignNode1" presStyleIdx="1" presStyleCnt="3"/>
      <dgm:spPr/>
    </dgm:pt>
    <dgm:pt modelId="{F58A6A2F-7CF9-A24D-AE10-3F655B1A5CF9}" type="pres">
      <dgm:prSet presAssocID="{87E0F98C-6B19-41D9-B68C-6EBF792789F8}" presName="descendantArrow" presStyleLbl="bgAccFollowNode1" presStyleIdx="1" presStyleCnt="3"/>
      <dgm:spPr/>
    </dgm:pt>
    <dgm:pt modelId="{40AF6E62-6B35-9D40-A0C2-B60BF9A95313}" type="pres">
      <dgm:prSet presAssocID="{36864B38-C661-4D8D-A086-34C27AA824F3}" presName="sp" presStyleCnt="0"/>
      <dgm:spPr/>
    </dgm:pt>
    <dgm:pt modelId="{A580278B-79A9-D148-A57E-A838856BD1A5}" type="pres">
      <dgm:prSet presAssocID="{8B208FCE-8A4A-4C52-BDF5-A903306130CF}" presName="arrowAndChildren" presStyleCnt="0"/>
      <dgm:spPr/>
    </dgm:pt>
    <dgm:pt modelId="{0B274FBD-3315-3548-B229-A8D900C6171D}" type="pres">
      <dgm:prSet presAssocID="{8B208FCE-8A4A-4C52-BDF5-A903306130CF}" presName="parentTextArrow" presStyleLbl="node1" presStyleIdx="0" presStyleCnt="0"/>
      <dgm:spPr/>
    </dgm:pt>
    <dgm:pt modelId="{E0AC18E9-5B2A-9C40-955A-231FF0CA1987}" type="pres">
      <dgm:prSet presAssocID="{8B208FCE-8A4A-4C52-BDF5-A903306130CF}" presName="arrow" presStyleLbl="alignNode1" presStyleIdx="2" presStyleCnt="3"/>
      <dgm:spPr/>
    </dgm:pt>
    <dgm:pt modelId="{A32D6C14-921B-5C41-95C6-2AA172DD87D7}" type="pres">
      <dgm:prSet presAssocID="{8B208FCE-8A4A-4C52-BDF5-A903306130CF}" presName="descendantArrow" presStyleLbl="bgAccFollowNode1" presStyleIdx="2" presStyleCnt="3"/>
      <dgm:spPr/>
    </dgm:pt>
  </dgm:ptLst>
  <dgm:cxnLst>
    <dgm:cxn modelId="{219BEA0C-5B86-5347-9C03-1D25155DCB42}" type="presOf" srcId="{75E79292-FD4D-49F0-8C3B-5BEAB9B1525C}" destId="{F58A6A2F-7CF9-A24D-AE10-3F655B1A5CF9}" srcOrd="0" destOrd="0" presId="urn:microsoft.com/office/officeart/2016/7/layout/VerticalDownArrowProcess"/>
    <dgm:cxn modelId="{E2F2CE11-05E8-4978-A5D6-799D8BEAEA6A}" srcId="{8B208FCE-8A4A-4C52-BDF5-A903306130CF}" destId="{CD1D44EF-9D02-4559-94DB-63AC4F3A0917}" srcOrd="0" destOrd="0" parTransId="{AF892433-4C63-4DCD-A649-14E29E02568E}" sibTransId="{713F10E2-6C5F-4563-945E-DF6BBDC7F1CD}"/>
    <dgm:cxn modelId="{F0086C13-5037-4493-9394-2BE9D2DAC3E7}" srcId="{75E79292-FD4D-49F0-8C3B-5BEAB9B1525C}" destId="{8C2E41E7-E566-4943-B2D4-84A959D55736}" srcOrd="0" destOrd="0" parTransId="{AFBA69F3-21C6-4B0F-9E0E-A1204BA17399}" sibTransId="{6467014E-4FA2-4D59-B834-EF96135461F9}"/>
    <dgm:cxn modelId="{24039317-9166-430B-A2C5-75F98A47C46B}" srcId="{373774F6-5DA3-4D53-978A-39D391FD8B77}" destId="{F1D05216-1685-40C6-BE38-924F11ECF93E}" srcOrd="0" destOrd="0" parTransId="{F22C8246-7F37-46D3-A027-EC6EF9D19D14}" sibTransId="{121E3D98-6CDB-4A60-A992-BAC8201AA189}"/>
    <dgm:cxn modelId="{88E3371F-90EF-47B5-9731-1D5AEBA46E9D}" srcId="{4EDAD4B8-0CB7-4E51-9E1E-F8B29C414F5C}" destId="{373774F6-5DA3-4D53-978A-39D391FD8B77}" srcOrd="2" destOrd="0" parTransId="{4BC099FE-9EC3-4208-B992-40EAFE0D1645}" sibTransId="{2C090E8A-E14B-41D7-A7D1-3D3FF1D4DB89}"/>
    <dgm:cxn modelId="{5BBF7224-8E7F-9148-9B60-E03A880F1F55}" type="presOf" srcId="{F1D05216-1685-40C6-BE38-924F11ECF93E}" destId="{4206F796-32A3-8B43-B7B5-2E16423634AD}" srcOrd="0" destOrd="0" presId="urn:microsoft.com/office/officeart/2016/7/layout/VerticalDownArrowProcess"/>
    <dgm:cxn modelId="{633ACF2B-4F2F-E248-9DFF-908A04DB109B}" type="presOf" srcId="{60BE65B0-0669-4734-8316-7E2D392DF106}" destId="{F58A6A2F-7CF9-A24D-AE10-3F655B1A5CF9}" srcOrd="0" destOrd="4" presId="urn:microsoft.com/office/officeart/2016/7/layout/VerticalDownArrowProcess"/>
    <dgm:cxn modelId="{11F3AB3A-6FA5-4891-9804-B180D1F5D3F7}" srcId="{4EDAD4B8-0CB7-4E51-9E1E-F8B29C414F5C}" destId="{8B208FCE-8A4A-4C52-BDF5-A903306130CF}" srcOrd="0" destOrd="0" parTransId="{8CA366F1-6D44-4BD2-AF65-C7AB139C1DB9}" sibTransId="{36864B38-C661-4D8D-A086-34C27AA824F3}"/>
    <dgm:cxn modelId="{2713F83A-BB6F-4D3B-8749-85E38EA30C0D}" srcId="{CD1D44EF-9D02-4559-94DB-63AC4F3A0917}" destId="{0CE7EBCF-697A-41F7-ACD0-CABB57D5A520}" srcOrd="0" destOrd="0" parTransId="{5DAD9E4B-2F87-4E51-9D62-C9E98903D79E}" sibTransId="{BBCC8769-4F35-4ED2-87A8-71361CCC7191}"/>
    <dgm:cxn modelId="{FE4E213D-5B01-418D-A744-B5BA935383E2}" srcId="{87E0F98C-6B19-41D9-B68C-6EBF792789F8}" destId="{75E79292-FD4D-49F0-8C3B-5BEAB9B1525C}" srcOrd="0" destOrd="0" parTransId="{0E7B034D-00A9-4AE4-9DA3-A7F880BB1C36}" sibTransId="{3FDA00EA-86D3-4D90-A39B-5755F1CD15C7}"/>
    <dgm:cxn modelId="{9ABAD93F-E437-4D46-BAE2-88446FBF74AB}" type="presOf" srcId="{6366EAA8-E723-4EB3-B45C-85C0E13E1603}" destId="{4206F796-32A3-8B43-B7B5-2E16423634AD}" srcOrd="0" destOrd="2" presId="urn:microsoft.com/office/officeart/2016/7/layout/VerticalDownArrowProcess"/>
    <dgm:cxn modelId="{2A6A5163-63EC-614D-993E-DB3A795491CE}" type="presOf" srcId="{87E0F98C-6B19-41D9-B68C-6EBF792789F8}" destId="{413C9DF6-10FC-404B-842A-2EE1CB6B0023}" srcOrd="1" destOrd="0" presId="urn:microsoft.com/office/officeart/2016/7/layout/VerticalDownArrowProcess"/>
    <dgm:cxn modelId="{06AA676F-FBC5-B449-9196-F9EF9C18B3E5}" type="presOf" srcId="{8C2E41E7-E566-4943-B2D4-84A959D55736}" destId="{F58A6A2F-7CF9-A24D-AE10-3F655B1A5CF9}" srcOrd="0" destOrd="1" presId="urn:microsoft.com/office/officeart/2016/7/layout/VerticalDownArrowProcess"/>
    <dgm:cxn modelId="{C49D7879-5B12-6947-8477-10718F6CB586}" type="presOf" srcId="{88F678E3-39C7-467D-AC66-64546CFE5363}" destId="{F58A6A2F-7CF9-A24D-AE10-3F655B1A5CF9}" srcOrd="0" destOrd="3" presId="urn:microsoft.com/office/officeart/2016/7/layout/VerticalDownArrowProcess"/>
    <dgm:cxn modelId="{8687D482-DB0A-FA43-A7B1-1788C45BC021}" type="presOf" srcId="{5D24AA5E-E6EC-4E07-8FB3-9F84F2058E71}" destId="{A32D6C14-921B-5C41-95C6-2AA172DD87D7}" srcOrd="0" destOrd="2" presId="urn:microsoft.com/office/officeart/2016/7/layout/VerticalDownArrowProcess"/>
    <dgm:cxn modelId="{1066B38C-8DB3-4704-A5C3-D3D3608B7CCA}" srcId="{75E79292-FD4D-49F0-8C3B-5BEAB9B1525C}" destId="{67D43749-8444-4090-B8F1-C41F40693E2E}" srcOrd="1" destOrd="0" parTransId="{2D5358CC-3DE9-461E-955A-50C945AC664A}" sibTransId="{4C097EE0-0D38-4371-8E9D-12FCD77A304F}"/>
    <dgm:cxn modelId="{87E0AC8D-1A31-6545-B2B7-497140E964FA}" type="presOf" srcId="{4EDAD4B8-0CB7-4E51-9E1E-F8B29C414F5C}" destId="{FF1F6D0E-0739-6045-9CC1-19A71EFA5DE2}" srcOrd="0" destOrd="0" presId="urn:microsoft.com/office/officeart/2016/7/layout/VerticalDownArrowProcess"/>
    <dgm:cxn modelId="{F6AF2A8E-12B8-684D-BB8B-1379E6F054B0}" type="presOf" srcId="{8B208FCE-8A4A-4C52-BDF5-A903306130CF}" destId="{E0AC18E9-5B2A-9C40-955A-231FF0CA1987}" srcOrd="1" destOrd="0" presId="urn:microsoft.com/office/officeart/2016/7/layout/VerticalDownArrowProcess"/>
    <dgm:cxn modelId="{39DB519D-CFC5-C142-A173-F421FC8CE77F}" type="presOf" srcId="{8250A4BA-947E-4672-8697-A9BB77A1BE47}" destId="{4206F796-32A3-8B43-B7B5-2E16423634AD}" srcOrd="0" destOrd="3" presId="urn:microsoft.com/office/officeart/2016/7/layout/VerticalDownArrowProcess"/>
    <dgm:cxn modelId="{AF9D409F-4BAB-0F41-A2A3-5288616EB55B}" type="presOf" srcId="{67D43749-8444-4090-B8F1-C41F40693E2E}" destId="{F58A6A2F-7CF9-A24D-AE10-3F655B1A5CF9}" srcOrd="0" destOrd="2" presId="urn:microsoft.com/office/officeart/2016/7/layout/VerticalDownArrowProcess"/>
    <dgm:cxn modelId="{BDD9BEA8-2272-CE49-852B-F7F875F6EEEF}" type="presOf" srcId="{87E0F98C-6B19-41D9-B68C-6EBF792789F8}" destId="{6AB95C08-C508-994A-A468-1BF43B8E30C9}" srcOrd="0" destOrd="0" presId="urn:microsoft.com/office/officeart/2016/7/layout/VerticalDownArrowProcess"/>
    <dgm:cxn modelId="{A6C0D4B7-2910-4F49-A8F5-4E83B8B2F662}" srcId="{CD1D44EF-9D02-4559-94DB-63AC4F3A0917}" destId="{D3A12842-7D11-41E5-A25D-ED59D9C9253F}" srcOrd="2" destOrd="0" parTransId="{9DF67B6A-C708-4856-BE25-377EA207803F}" sibTransId="{EF481BB8-9854-488C-BF2F-F20952ADD41B}"/>
    <dgm:cxn modelId="{A15D87BD-0323-A64F-9C54-0C85CB4EDB03}" type="presOf" srcId="{8B208FCE-8A4A-4C52-BDF5-A903306130CF}" destId="{0B274FBD-3315-3548-B229-A8D900C6171D}" srcOrd="0" destOrd="0" presId="urn:microsoft.com/office/officeart/2016/7/layout/VerticalDownArrowProcess"/>
    <dgm:cxn modelId="{02AA47BF-2BCF-466A-84E4-132C4A946B8F}" srcId="{75E79292-FD4D-49F0-8C3B-5BEAB9B1525C}" destId="{60BE65B0-0669-4734-8316-7E2D392DF106}" srcOrd="3" destOrd="0" parTransId="{8B7609CE-9BAD-43EB-8D45-CEA8AF8EE839}" sibTransId="{588A89A0-AC68-453E-A5E2-9ABBBDFB24C4}"/>
    <dgm:cxn modelId="{93F10BCA-3F6C-484D-98F7-846E72FB3A6C}" type="presOf" srcId="{373774F6-5DA3-4D53-978A-39D391FD8B77}" destId="{67F18A4C-71EC-0648-B6CD-0FF48E614DE9}" srcOrd="0" destOrd="0" presId="urn:microsoft.com/office/officeart/2016/7/layout/VerticalDownArrowProcess"/>
    <dgm:cxn modelId="{2EEDAACA-3EAC-4FAE-850C-1DA65216BA91}" srcId="{75E79292-FD4D-49F0-8C3B-5BEAB9B1525C}" destId="{88F678E3-39C7-467D-AC66-64546CFE5363}" srcOrd="2" destOrd="0" parTransId="{366E23AC-6CFE-4F6A-9A39-D955369CF1C8}" sibTransId="{121C5900-079A-44A6-9E65-EABF504A757D}"/>
    <dgm:cxn modelId="{153188D4-A0EE-497A-96B6-6731DDF8C161}" srcId="{4EDAD4B8-0CB7-4E51-9E1E-F8B29C414F5C}" destId="{87E0F98C-6B19-41D9-B68C-6EBF792789F8}" srcOrd="1" destOrd="0" parTransId="{F5A698DF-644C-445A-87E3-832D9AA80FD7}" sibTransId="{A1556FD6-9A56-4BB0-8094-9FE05E13CAF2}"/>
    <dgm:cxn modelId="{8F40ADDC-1A5F-44BD-A08D-674BC7CE42F8}" srcId="{F1D05216-1685-40C6-BE38-924F11ECF93E}" destId="{6366EAA8-E723-4EB3-B45C-85C0E13E1603}" srcOrd="1" destOrd="0" parTransId="{402A37FA-447C-49F6-874D-897BDFC92026}" sibTransId="{69A22F69-EE65-4CEB-899D-BD60B2F33CD6}"/>
    <dgm:cxn modelId="{D19FE6E3-5678-D343-9475-A946A6A5669E}" type="presOf" srcId="{0CE7EBCF-697A-41F7-ACD0-CABB57D5A520}" destId="{A32D6C14-921B-5C41-95C6-2AA172DD87D7}" srcOrd="0" destOrd="1" presId="urn:microsoft.com/office/officeart/2016/7/layout/VerticalDownArrowProcess"/>
    <dgm:cxn modelId="{DD3F73E5-D84C-AF4A-810C-51C3B0D08478}" type="presOf" srcId="{BE47A962-199D-4D59-972A-807957B1C4D8}" destId="{4206F796-32A3-8B43-B7B5-2E16423634AD}" srcOrd="0" destOrd="1" presId="urn:microsoft.com/office/officeart/2016/7/layout/VerticalDownArrowProcess"/>
    <dgm:cxn modelId="{2F689CE5-C666-904A-B9B3-E3A52FBD6BD7}" type="presOf" srcId="{D3A12842-7D11-41E5-A25D-ED59D9C9253F}" destId="{A32D6C14-921B-5C41-95C6-2AA172DD87D7}" srcOrd="0" destOrd="3" presId="urn:microsoft.com/office/officeart/2016/7/layout/VerticalDownArrowProcess"/>
    <dgm:cxn modelId="{BC3F17EC-3AC2-FD49-912D-CE016359278A}" type="presOf" srcId="{CD1D44EF-9D02-4559-94DB-63AC4F3A0917}" destId="{A32D6C14-921B-5C41-95C6-2AA172DD87D7}" srcOrd="0" destOrd="0" presId="urn:microsoft.com/office/officeart/2016/7/layout/VerticalDownArrowProcess"/>
    <dgm:cxn modelId="{27298AF3-3AA0-4360-B913-AC137FA7A1EC}" srcId="{CD1D44EF-9D02-4559-94DB-63AC4F3A0917}" destId="{5D24AA5E-E6EC-4E07-8FB3-9F84F2058E71}" srcOrd="1" destOrd="0" parTransId="{BD681CA6-BB27-4A7D-BC80-EFF7C32666C7}" sibTransId="{B507EE3C-D622-4F32-BE17-734C259CA8D4}"/>
    <dgm:cxn modelId="{C34B9DF9-1E21-4ADC-93C5-C4C62CE8A304}" srcId="{F1D05216-1685-40C6-BE38-924F11ECF93E}" destId="{8250A4BA-947E-4672-8697-A9BB77A1BE47}" srcOrd="2" destOrd="0" parTransId="{C051F5AC-7B5B-42D5-8867-2A7EAC1C1C4C}" sibTransId="{65397D09-7935-4826-A755-21207F82E498}"/>
    <dgm:cxn modelId="{102337FD-F541-4FEA-8242-DC8FB523428D}" srcId="{F1D05216-1685-40C6-BE38-924F11ECF93E}" destId="{BE47A962-199D-4D59-972A-807957B1C4D8}" srcOrd="0" destOrd="0" parTransId="{A2D6F00B-CCE1-4CA4-8916-CD913EEC9BA9}" sibTransId="{064F77C3-521E-4574-B4C0-9B1935CA84D7}"/>
    <dgm:cxn modelId="{A921BC57-4ABA-E44B-9036-9F7887CE9DA9}" type="presParOf" srcId="{FF1F6D0E-0739-6045-9CC1-19A71EFA5DE2}" destId="{B5DD91FA-D261-A545-BEFA-F21EF40AA4B9}" srcOrd="0" destOrd="0" presId="urn:microsoft.com/office/officeart/2016/7/layout/VerticalDownArrowProcess"/>
    <dgm:cxn modelId="{97AC9947-863B-064E-9550-AEF25C1D172C}" type="presParOf" srcId="{B5DD91FA-D261-A545-BEFA-F21EF40AA4B9}" destId="{67F18A4C-71EC-0648-B6CD-0FF48E614DE9}" srcOrd="0" destOrd="0" presId="urn:microsoft.com/office/officeart/2016/7/layout/VerticalDownArrowProcess"/>
    <dgm:cxn modelId="{BB866381-535E-3A44-97D3-73F0D5F1217D}" type="presParOf" srcId="{B5DD91FA-D261-A545-BEFA-F21EF40AA4B9}" destId="{4206F796-32A3-8B43-B7B5-2E16423634AD}" srcOrd="1" destOrd="0" presId="urn:microsoft.com/office/officeart/2016/7/layout/VerticalDownArrowProcess"/>
    <dgm:cxn modelId="{96D7A60A-879E-9A4C-A789-C328BB416DE5}" type="presParOf" srcId="{FF1F6D0E-0739-6045-9CC1-19A71EFA5DE2}" destId="{2EAEEF52-DE51-8C40-B4F0-D82EA49955A6}" srcOrd="1" destOrd="0" presId="urn:microsoft.com/office/officeart/2016/7/layout/VerticalDownArrowProcess"/>
    <dgm:cxn modelId="{EB2001D0-37EC-BE47-B8EC-CA2A1957C913}" type="presParOf" srcId="{FF1F6D0E-0739-6045-9CC1-19A71EFA5DE2}" destId="{019734CD-369B-FE47-B344-09026343DED0}" srcOrd="2" destOrd="0" presId="urn:microsoft.com/office/officeart/2016/7/layout/VerticalDownArrowProcess"/>
    <dgm:cxn modelId="{4CF8848A-F64D-0044-8868-75985A0BBC39}" type="presParOf" srcId="{019734CD-369B-FE47-B344-09026343DED0}" destId="{6AB95C08-C508-994A-A468-1BF43B8E30C9}" srcOrd="0" destOrd="0" presId="urn:microsoft.com/office/officeart/2016/7/layout/VerticalDownArrowProcess"/>
    <dgm:cxn modelId="{9AA5F3B7-823A-1A45-B1F9-08813737F687}" type="presParOf" srcId="{019734CD-369B-FE47-B344-09026343DED0}" destId="{413C9DF6-10FC-404B-842A-2EE1CB6B0023}" srcOrd="1" destOrd="0" presId="urn:microsoft.com/office/officeart/2016/7/layout/VerticalDownArrowProcess"/>
    <dgm:cxn modelId="{8370CE2B-B1AD-7F4C-A076-0F65593A32D1}" type="presParOf" srcId="{019734CD-369B-FE47-B344-09026343DED0}" destId="{F58A6A2F-7CF9-A24D-AE10-3F655B1A5CF9}" srcOrd="2" destOrd="0" presId="urn:microsoft.com/office/officeart/2016/7/layout/VerticalDownArrowProcess"/>
    <dgm:cxn modelId="{DFE0999E-3ED3-3F42-8FD9-3E9DC96572AC}" type="presParOf" srcId="{FF1F6D0E-0739-6045-9CC1-19A71EFA5DE2}" destId="{40AF6E62-6B35-9D40-A0C2-B60BF9A95313}" srcOrd="3" destOrd="0" presId="urn:microsoft.com/office/officeart/2016/7/layout/VerticalDownArrowProcess"/>
    <dgm:cxn modelId="{28032AA2-5BBC-2343-AB48-010858715B93}" type="presParOf" srcId="{FF1F6D0E-0739-6045-9CC1-19A71EFA5DE2}" destId="{A580278B-79A9-D148-A57E-A838856BD1A5}" srcOrd="4" destOrd="0" presId="urn:microsoft.com/office/officeart/2016/7/layout/VerticalDownArrowProcess"/>
    <dgm:cxn modelId="{D6FE56F5-6C82-2248-9F00-583498684AE6}" type="presParOf" srcId="{A580278B-79A9-D148-A57E-A838856BD1A5}" destId="{0B274FBD-3315-3548-B229-A8D900C6171D}" srcOrd="0" destOrd="0" presId="urn:microsoft.com/office/officeart/2016/7/layout/VerticalDownArrowProcess"/>
    <dgm:cxn modelId="{7D85432E-5B9C-2445-B47B-048931697451}" type="presParOf" srcId="{A580278B-79A9-D148-A57E-A838856BD1A5}" destId="{E0AC18E9-5B2A-9C40-955A-231FF0CA1987}" srcOrd="1" destOrd="0" presId="urn:microsoft.com/office/officeart/2016/7/layout/VerticalDownArrowProcess"/>
    <dgm:cxn modelId="{2DD015D5-1E97-DB4D-BB62-C9493E18FCB0}" type="presParOf" srcId="{A580278B-79A9-D148-A57E-A838856BD1A5}" destId="{A32D6C14-921B-5C41-95C6-2AA172DD87D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A41841-D371-471C-B563-A709F72EA77D}" type="doc">
      <dgm:prSet loTypeId="urn:microsoft.com/office/officeart/2018/2/layout/IconVerticalSolidList" loCatId="icon" qsTypeId="urn:microsoft.com/office/officeart/2005/8/quickstyle/simple1" qsCatId="simple" csTypeId="urn:microsoft.com/office/officeart/2018/5/colors/Iconchunking_neutralbg_accent5_2" csCatId="accent5" phldr="1"/>
      <dgm:spPr/>
      <dgm:t>
        <a:bodyPr/>
        <a:lstStyle/>
        <a:p>
          <a:endParaRPr lang="en-US"/>
        </a:p>
      </dgm:t>
    </dgm:pt>
    <dgm:pt modelId="{7444DC15-FCDC-45D9-99AC-410A3FEE126A}">
      <dgm:prSet/>
      <dgm:spPr/>
      <dgm:t>
        <a:bodyPr/>
        <a:lstStyle/>
        <a:p>
          <a:r>
            <a:rPr lang="en-US" dirty="0"/>
            <a:t>Object or string variables that look like they should be dates or numbers.</a:t>
          </a:r>
        </a:p>
      </dgm:t>
    </dgm:pt>
    <dgm:pt modelId="{9FE74A7D-7D4C-47E7-A9A7-639E80B534C1}" type="parTrans" cxnId="{8A8907D8-0D37-41C2-9AE0-B3067A686704}">
      <dgm:prSet/>
      <dgm:spPr/>
      <dgm:t>
        <a:bodyPr/>
        <a:lstStyle/>
        <a:p>
          <a:endParaRPr lang="en-US"/>
        </a:p>
      </dgm:t>
    </dgm:pt>
    <dgm:pt modelId="{E53E3CD3-DDFF-4EA7-A3E7-088360D5840E}" type="sibTrans" cxnId="{8A8907D8-0D37-41C2-9AE0-B3067A686704}">
      <dgm:prSet/>
      <dgm:spPr/>
      <dgm:t>
        <a:bodyPr/>
        <a:lstStyle/>
        <a:p>
          <a:endParaRPr lang="en-US"/>
        </a:p>
      </dgm:t>
    </dgm:pt>
    <dgm:pt modelId="{04124888-89A6-48D7-868D-89E78B76BFF4}">
      <dgm:prSet/>
      <dgm:spPr/>
      <dgm:t>
        <a:bodyPr/>
        <a:lstStyle/>
        <a:p>
          <a:r>
            <a:rPr lang="en-US"/>
            <a:t>Non-null counts that are lower than the non-null counts of other columns may indicate missing data.</a:t>
          </a:r>
        </a:p>
      </dgm:t>
    </dgm:pt>
    <dgm:pt modelId="{A9B651A5-1E2E-4A4C-9D00-C7475D4C36DB}" type="parTrans" cxnId="{AF84D142-355E-4D15-B1B0-E01EBB911E25}">
      <dgm:prSet/>
      <dgm:spPr/>
      <dgm:t>
        <a:bodyPr/>
        <a:lstStyle/>
        <a:p>
          <a:endParaRPr lang="en-US"/>
        </a:p>
      </dgm:t>
    </dgm:pt>
    <dgm:pt modelId="{6EBA1AEB-EE80-4BFF-A150-B01366839162}" type="sibTrans" cxnId="{AF84D142-355E-4D15-B1B0-E01EBB911E25}">
      <dgm:prSet/>
      <dgm:spPr/>
      <dgm:t>
        <a:bodyPr/>
        <a:lstStyle/>
        <a:p>
          <a:endParaRPr lang="en-US"/>
        </a:p>
      </dgm:t>
    </dgm:pt>
    <dgm:pt modelId="{989DCCE7-6580-41ED-820B-9F44308F6415}">
      <dgm:prSet/>
      <dgm:spPr/>
      <dgm:t>
        <a:bodyPr/>
        <a:lstStyle/>
        <a:p>
          <a:r>
            <a:rPr lang="en-US"/>
            <a:t>Small numbers of non-nulls or nulls may indicate problems with related columns or rows.</a:t>
          </a:r>
        </a:p>
      </dgm:t>
    </dgm:pt>
    <dgm:pt modelId="{ADB97131-8565-4E70-8638-86AF483E42A5}" type="parTrans" cxnId="{68051765-FD44-4755-BFC8-DCD222718BC0}">
      <dgm:prSet/>
      <dgm:spPr/>
      <dgm:t>
        <a:bodyPr/>
        <a:lstStyle/>
        <a:p>
          <a:endParaRPr lang="en-US"/>
        </a:p>
      </dgm:t>
    </dgm:pt>
    <dgm:pt modelId="{2B8AA0CE-D9D4-4242-B310-0C2B3B85F352}" type="sibTrans" cxnId="{68051765-FD44-4755-BFC8-DCD222718BC0}">
      <dgm:prSet/>
      <dgm:spPr/>
      <dgm:t>
        <a:bodyPr/>
        <a:lstStyle/>
        <a:p>
          <a:endParaRPr lang="en-US"/>
        </a:p>
      </dgm:t>
    </dgm:pt>
    <dgm:pt modelId="{1E14A5AD-BD45-4334-976E-FDC7E9BB0BA3}" type="pres">
      <dgm:prSet presAssocID="{46A41841-D371-471C-B563-A709F72EA77D}" presName="root" presStyleCnt="0">
        <dgm:presLayoutVars>
          <dgm:dir/>
          <dgm:resizeHandles val="exact"/>
        </dgm:presLayoutVars>
      </dgm:prSet>
      <dgm:spPr/>
    </dgm:pt>
    <dgm:pt modelId="{613FB802-EF3F-4A2C-9A34-F4138D0329DD}" type="pres">
      <dgm:prSet presAssocID="{7444DC15-FCDC-45D9-99AC-410A3FEE126A}" presName="compNode" presStyleCnt="0"/>
      <dgm:spPr/>
    </dgm:pt>
    <dgm:pt modelId="{AA73785D-E4A5-4032-813E-A4D31AF8C008}" type="pres">
      <dgm:prSet presAssocID="{7444DC15-FCDC-45D9-99AC-410A3FEE126A}" presName="bgRect" presStyleLbl="bgShp" presStyleIdx="0" presStyleCnt="3"/>
      <dgm:spPr/>
    </dgm:pt>
    <dgm:pt modelId="{A5667AA1-7F27-4701-B37A-67DE64FE6893}" type="pres">
      <dgm:prSet presAssocID="{7444DC15-FCDC-45D9-99AC-410A3FEE126A}"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alculator"/>
        </a:ext>
      </dgm:extLst>
    </dgm:pt>
    <dgm:pt modelId="{713881FE-2D37-4D9E-AACC-42E4FAB4C18E}" type="pres">
      <dgm:prSet presAssocID="{7444DC15-FCDC-45D9-99AC-410A3FEE126A}" presName="spaceRect" presStyleCnt="0"/>
      <dgm:spPr/>
    </dgm:pt>
    <dgm:pt modelId="{21AC97BD-3406-4337-8098-F6EA6471FD16}" type="pres">
      <dgm:prSet presAssocID="{7444DC15-FCDC-45D9-99AC-410A3FEE126A}" presName="parTx" presStyleLbl="revTx" presStyleIdx="0" presStyleCnt="3">
        <dgm:presLayoutVars>
          <dgm:chMax val="0"/>
          <dgm:chPref val="0"/>
        </dgm:presLayoutVars>
      </dgm:prSet>
      <dgm:spPr/>
    </dgm:pt>
    <dgm:pt modelId="{878B89CE-E008-430F-967E-8AA4E2392315}" type="pres">
      <dgm:prSet presAssocID="{E53E3CD3-DDFF-4EA7-A3E7-088360D5840E}" presName="sibTrans" presStyleCnt="0"/>
      <dgm:spPr/>
    </dgm:pt>
    <dgm:pt modelId="{C1CB87B0-D5E0-45A6-A581-28D96EA926BB}" type="pres">
      <dgm:prSet presAssocID="{04124888-89A6-48D7-868D-89E78B76BFF4}" presName="compNode" presStyleCnt="0"/>
      <dgm:spPr/>
    </dgm:pt>
    <dgm:pt modelId="{B1C18C06-77E8-4908-989B-DC08B3EA6D66}" type="pres">
      <dgm:prSet presAssocID="{04124888-89A6-48D7-868D-89E78B76BFF4}" presName="bgRect" presStyleLbl="bgShp" presStyleIdx="1" presStyleCnt="3"/>
      <dgm:spPr/>
    </dgm:pt>
    <dgm:pt modelId="{6D3BA2BB-8FB2-45DE-AD6C-B3915A4096FC}" type="pres">
      <dgm:prSet presAssocID="{04124888-89A6-48D7-868D-89E78B76BFF4}"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11E6BAD7-9C9E-4FDA-A3A0-C14D2E34317B}" type="pres">
      <dgm:prSet presAssocID="{04124888-89A6-48D7-868D-89E78B76BFF4}" presName="spaceRect" presStyleCnt="0"/>
      <dgm:spPr/>
    </dgm:pt>
    <dgm:pt modelId="{D51960CB-35D6-4712-8263-4CB826357795}" type="pres">
      <dgm:prSet presAssocID="{04124888-89A6-48D7-868D-89E78B76BFF4}" presName="parTx" presStyleLbl="revTx" presStyleIdx="1" presStyleCnt="3">
        <dgm:presLayoutVars>
          <dgm:chMax val="0"/>
          <dgm:chPref val="0"/>
        </dgm:presLayoutVars>
      </dgm:prSet>
      <dgm:spPr/>
    </dgm:pt>
    <dgm:pt modelId="{2A31AAC5-EECA-45C0-B4BD-7A2B766154A1}" type="pres">
      <dgm:prSet presAssocID="{6EBA1AEB-EE80-4BFF-A150-B01366839162}" presName="sibTrans" presStyleCnt="0"/>
      <dgm:spPr/>
    </dgm:pt>
    <dgm:pt modelId="{56E19824-DDE5-4119-8473-92C8508F5A3D}" type="pres">
      <dgm:prSet presAssocID="{989DCCE7-6580-41ED-820B-9F44308F6415}" presName="compNode" presStyleCnt="0"/>
      <dgm:spPr/>
    </dgm:pt>
    <dgm:pt modelId="{AAEA2298-1D69-4E40-BC8C-AA06A2324E46}" type="pres">
      <dgm:prSet presAssocID="{989DCCE7-6580-41ED-820B-9F44308F6415}" presName="bgRect" presStyleLbl="bgShp" presStyleIdx="2" presStyleCnt="3"/>
      <dgm:spPr/>
    </dgm:pt>
    <dgm:pt modelId="{6D9FF5DD-BCD6-4F11-9A9C-350FA0114C6B}" type="pres">
      <dgm:prSet presAssocID="{989DCCE7-6580-41ED-820B-9F44308F641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able"/>
        </a:ext>
      </dgm:extLst>
    </dgm:pt>
    <dgm:pt modelId="{967AE542-31DA-4661-86D9-A9B68FB64772}" type="pres">
      <dgm:prSet presAssocID="{989DCCE7-6580-41ED-820B-9F44308F6415}" presName="spaceRect" presStyleCnt="0"/>
      <dgm:spPr/>
    </dgm:pt>
    <dgm:pt modelId="{D04BA6FF-A9D3-437A-9B16-6665F7BA7A62}" type="pres">
      <dgm:prSet presAssocID="{989DCCE7-6580-41ED-820B-9F44308F6415}" presName="parTx" presStyleLbl="revTx" presStyleIdx="2" presStyleCnt="3">
        <dgm:presLayoutVars>
          <dgm:chMax val="0"/>
          <dgm:chPref val="0"/>
        </dgm:presLayoutVars>
      </dgm:prSet>
      <dgm:spPr/>
    </dgm:pt>
  </dgm:ptLst>
  <dgm:cxnLst>
    <dgm:cxn modelId="{94F23D24-3CC4-4F8A-8FB2-E53449676A45}" type="presOf" srcId="{04124888-89A6-48D7-868D-89E78B76BFF4}" destId="{D51960CB-35D6-4712-8263-4CB826357795}" srcOrd="0" destOrd="0" presId="urn:microsoft.com/office/officeart/2018/2/layout/IconVerticalSolidList"/>
    <dgm:cxn modelId="{AF84D142-355E-4D15-B1B0-E01EBB911E25}" srcId="{46A41841-D371-471C-B563-A709F72EA77D}" destId="{04124888-89A6-48D7-868D-89E78B76BFF4}" srcOrd="1" destOrd="0" parTransId="{A9B651A5-1E2E-4A4C-9D00-C7475D4C36DB}" sibTransId="{6EBA1AEB-EE80-4BFF-A150-B01366839162}"/>
    <dgm:cxn modelId="{68051765-FD44-4755-BFC8-DCD222718BC0}" srcId="{46A41841-D371-471C-B563-A709F72EA77D}" destId="{989DCCE7-6580-41ED-820B-9F44308F6415}" srcOrd="2" destOrd="0" parTransId="{ADB97131-8565-4E70-8638-86AF483E42A5}" sibTransId="{2B8AA0CE-D9D4-4242-B310-0C2B3B85F352}"/>
    <dgm:cxn modelId="{86B6E76B-EC03-4D8A-93F5-F33570FB96BC}" type="presOf" srcId="{46A41841-D371-471C-B563-A709F72EA77D}" destId="{1E14A5AD-BD45-4334-976E-FDC7E9BB0BA3}" srcOrd="0" destOrd="0" presId="urn:microsoft.com/office/officeart/2018/2/layout/IconVerticalSolidList"/>
    <dgm:cxn modelId="{82EBF06B-0E8B-4F47-A246-4213581F874E}" type="presOf" srcId="{989DCCE7-6580-41ED-820B-9F44308F6415}" destId="{D04BA6FF-A9D3-437A-9B16-6665F7BA7A62}" srcOrd="0" destOrd="0" presId="urn:microsoft.com/office/officeart/2018/2/layout/IconVerticalSolidList"/>
    <dgm:cxn modelId="{ADF59096-D13A-4D40-B31B-A7F3ADC4C92D}" type="presOf" srcId="{7444DC15-FCDC-45D9-99AC-410A3FEE126A}" destId="{21AC97BD-3406-4337-8098-F6EA6471FD16}" srcOrd="0" destOrd="0" presId="urn:microsoft.com/office/officeart/2018/2/layout/IconVerticalSolidList"/>
    <dgm:cxn modelId="{8A8907D8-0D37-41C2-9AE0-B3067A686704}" srcId="{46A41841-D371-471C-B563-A709F72EA77D}" destId="{7444DC15-FCDC-45D9-99AC-410A3FEE126A}" srcOrd="0" destOrd="0" parTransId="{9FE74A7D-7D4C-47E7-A9A7-639E80B534C1}" sibTransId="{E53E3CD3-DDFF-4EA7-A3E7-088360D5840E}"/>
    <dgm:cxn modelId="{C9029FB7-20B6-4B78-9E83-854AA70AC868}" type="presParOf" srcId="{1E14A5AD-BD45-4334-976E-FDC7E9BB0BA3}" destId="{613FB802-EF3F-4A2C-9A34-F4138D0329DD}" srcOrd="0" destOrd="0" presId="urn:microsoft.com/office/officeart/2018/2/layout/IconVerticalSolidList"/>
    <dgm:cxn modelId="{854C4673-F553-4177-B616-43721B088410}" type="presParOf" srcId="{613FB802-EF3F-4A2C-9A34-F4138D0329DD}" destId="{AA73785D-E4A5-4032-813E-A4D31AF8C008}" srcOrd="0" destOrd="0" presId="urn:microsoft.com/office/officeart/2018/2/layout/IconVerticalSolidList"/>
    <dgm:cxn modelId="{3A61A82F-23A2-46FF-A280-A21B80595857}" type="presParOf" srcId="{613FB802-EF3F-4A2C-9A34-F4138D0329DD}" destId="{A5667AA1-7F27-4701-B37A-67DE64FE6893}" srcOrd="1" destOrd="0" presId="urn:microsoft.com/office/officeart/2018/2/layout/IconVerticalSolidList"/>
    <dgm:cxn modelId="{9FFD246B-201A-4030-BCFD-2E49DB5CCC81}" type="presParOf" srcId="{613FB802-EF3F-4A2C-9A34-F4138D0329DD}" destId="{713881FE-2D37-4D9E-AACC-42E4FAB4C18E}" srcOrd="2" destOrd="0" presId="urn:microsoft.com/office/officeart/2018/2/layout/IconVerticalSolidList"/>
    <dgm:cxn modelId="{2BEFA8E7-CE92-42B2-A6F8-5B1762A3B0BB}" type="presParOf" srcId="{613FB802-EF3F-4A2C-9A34-F4138D0329DD}" destId="{21AC97BD-3406-4337-8098-F6EA6471FD16}" srcOrd="3" destOrd="0" presId="urn:microsoft.com/office/officeart/2018/2/layout/IconVerticalSolidList"/>
    <dgm:cxn modelId="{90934E26-0D1F-4A59-AA21-7CD7CBD6CA2A}" type="presParOf" srcId="{1E14A5AD-BD45-4334-976E-FDC7E9BB0BA3}" destId="{878B89CE-E008-430F-967E-8AA4E2392315}" srcOrd="1" destOrd="0" presId="urn:microsoft.com/office/officeart/2018/2/layout/IconVerticalSolidList"/>
    <dgm:cxn modelId="{9C70FA0E-614E-4EC0-A356-869F4A6478EC}" type="presParOf" srcId="{1E14A5AD-BD45-4334-976E-FDC7E9BB0BA3}" destId="{C1CB87B0-D5E0-45A6-A581-28D96EA926BB}" srcOrd="2" destOrd="0" presId="urn:microsoft.com/office/officeart/2018/2/layout/IconVerticalSolidList"/>
    <dgm:cxn modelId="{CD9076CC-44FD-4FAC-818B-C4473F4C2274}" type="presParOf" srcId="{C1CB87B0-D5E0-45A6-A581-28D96EA926BB}" destId="{B1C18C06-77E8-4908-989B-DC08B3EA6D66}" srcOrd="0" destOrd="0" presId="urn:microsoft.com/office/officeart/2018/2/layout/IconVerticalSolidList"/>
    <dgm:cxn modelId="{A12B6C04-B48E-4132-9B3F-E46368B85B90}" type="presParOf" srcId="{C1CB87B0-D5E0-45A6-A581-28D96EA926BB}" destId="{6D3BA2BB-8FB2-45DE-AD6C-B3915A4096FC}" srcOrd="1" destOrd="0" presId="urn:microsoft.com/office/officeart/2018/2/layout/IconVerticalSolidList"/>
    <dgm:cxn modelId="{21047A46-F17D-45C8-933F-B51F3C0B4D10}" type="presParOf" srcId="{C1CB87B0-D5E0-45A6-A581-28D96EA926BB}" destId="{11E6BAD7-9C9E-4FDA-A3A0-C14D2E34317B}" srcOrd="2" destOrd="0" presId="urn:microsoft.com/office/officeart/2018/2/layout/IconVerticalSolidList"/>
    <dgm:cxn modelId="{CC4A1B24-101C-4777-AC7C-CBC5963D22AA}" type="presParOf" srcId="{C1CB87B0-D5E0-45A6-A581-28D96EA926BB}" destId="{D51960CB-35D6-4712-8263-4CB826357795}" srcOrd="3" destOrd="0" presId="urn:microsoft.com/office/officeart/2018/2/layout/IconVerticalSolidList"/>
    <dgm:cxn modelId="{045F62EC-8C4E-4856-A99E-B416989339B2}" type="presParOf" srcId="{1E14A5AD-BD45-4334-976E-FDC7E9BB0BA3}" destId="{2A31AAC5-EECA-45C0-B4BD-7A2B766154A1}" srcOrd="3" destOrd="0" presId="urn:microsoft.com/office/officeart/2018/2/layout/IconVerticalSolidList"/>
    <dgm:cxn modelId="{123198F1-5C96-4881-A3E6-5564B2599405}" type="presParOf" srcId="{1E14A5AD-BD45-4334-976E-FDC7E9BB0BA3}" destId="{56E19824-DDE5-4119-8473-92C8508F5A3D}" srcOrd="4" destOrd="0" presId="urn:microsoft.com/office/officeart/2018/2/layout/IconVerticalSolidList"/>
    <dgm:cxn modelId="{4BE2E2F5-D458-443E-8188-DB1A64BEA6FC}" type="presParOf" srcId="{56E19824-DDE5-4119-8473-92C8508F5A3D}" destId="{AAEA2298-1D69-4E40-BC8C-AA06A2324E46}" srcOrd="0" destOrd="0" presId="urn:microsoft.com/office/officeart/2018/2/layout/IconVerticalSolidList"/>
    <dgm:cxn modelId="{9D9172D5-3B02-40EB-B7E0-8AF6623B17B8}" type="presParOf" srcId="{56E19824-DDE5-4119-8473-92C8508F5A3D}" destId="{6D9FF5DD-BCD6-4F11-9A9C-350FA0114C6B}" srcOrd="1" destOrd="0" presId="urn:microsoft.com/office/officeart/2018/2/layout/IconVerticalSolidList"/>
    <dgm:cxn modelId="{D21FCA26-AA59-4A06-B58D-1130060A72BF}" type="presParOf" srcId="{56E19824-DDE5-4119-8473-92C8508F5A3D}" destId="{967AE542-31DA-4661-86D9-A9B68FB64772}" srcOrd="2" destOrd="0" presId="urn:microsoft.com/office/officeart/2018/2/layout/IconVerticalSolidList"/>
    <dgm:cxn modelId="{72707E6D-5070-455F-8F4E-DFE40891A1CA}" type="presParOf" srcId="{56E19824-DDE5-4119-8473-92C8508F5A3D}" destId="{D04BA6FF-A9D3-437A-9B16-6665F7BA7A6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E33E4C8-2C92-454B-8034-753ADC058F0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ECE4EF3-A013-4D78-BB8B-A03CD3C0EFB5}">
      <dgm:prSet/>
      <dgm:spPr/>
      <dgm:t>
        <a:bodyPr/>
        <a:lstStyle/>
        <a:p>
          <a:r>
            <a:rPr lang="en-US" dirty="0"/>
            <a:t>When data comes from </a:t>
          </a:r>
          <a:r>
            <a:rPr lang="en-US" dirty="0">
              <a:highlight>
                <a:srgbClr val="FFFF00"/>
              </a:highlight>
            </a:rPr>
            <a:t>several sources</a:t>
          </a:r>
          <a:r>
            <a:rPr lang="en-US" dirty="0"/>
            <a:t>, duplicate rows are possible. </a:t>
          </a:r>
        </a:p>
      </dgm:t>
    </dgm:pt>
    <dgm:pt modelId="{5C89FD98-6665-45BD-8D39-9E06AAE2C69C}" type="parTrans" cxnId="{10A50AFB-6E71-4113-8F4C-A8748C3B3D37}">
      <dgm:prSet/>
      <dgm:spPr/>
      <dgm:t>
        <a:bodyPr/>
        <a:lstStyle/>
        <a:p>
          <a:endParaRPr lang="en-US"/>
        </a:p>
      </dgm:t>
    </dgm:pt>
    <dgm:pt modelId="{2865C1AD-F11D-4A82-B65D-65A1264670B5}" type="sibTrans" cxnId="{10A50AFB-6E71-4113-8F4C-A8748C3B3D37}">
      <dgm:prSet/>
      <dgm:spPr/>
      <dgm:t>
        <a:bodyPr/>
        <a:lstStyle/>
        <a:p>
          <a:endParaRPr lang="en-US"/>
        </a:p>
      </dgm:t>
    </dgm:pt>
    <dgm:pt modelId="{CF1A5489-836B-4E2B-8400-FF5514CA0451}">
      <dgm:prSet/>
      <dgm:spPr/>
      <dgm:t>
        <a:bodyPr/>
        <a:lstStyle/>
        <a:p>
          <a:r>
            <a:rPr lang="en-US" dirty="0"/>
            <a:t>In that case, we should </a:t>
          </a:r>
          <a:r>
            <a:rPr lang="en-US" dirty="0">
              <a:highlight>
                <a:srgbClr val="FFFF00"/>
              </a:highlight>
            </a:rPr>
            <a:t>remove all but one row from</a:t>
          </a:r>
          <a:r>
            <a:rPr lang="en-US" dirty="0"/>
            <a:t> each set of duplicates. </a:t>
          </a:r>
        </a:p>
      </dgm:t>
    </dgm:pt>
    <dgm:pt modelId="{9C76C55C-AF2A-4237-B025-DC68C55F8A5B}" type="parTrans" cxnId="{EAD7EA88-FB0F-41C1-820A-3369D00DFE44}">
      <dgm:prSet/>
      <dgm:spPr/>
      <dgm:t>
        <a:bodyPr/>
        <a:lstStyle/>
        <a:p>
          <a:endParaRPr lang="en-US"/>
        </a:p>
      </dgm:t>
    </dgm:pt>
    <dgm:pt modelId="{254EA014-6984-4B72-8F8F-6D054BB2EE00}" type="sibTrans" cxnId="{EAD7EA88-FB0F-41C1-820A-3369D00DFE44}">
      <dgm:prSet/>
      <dgm:spPr/>
      <dgm:t>
        <a:bodyPr/>
        <a:lstStyle/>
        <a:p>
          <a:endParaRPr lang="en-US"/>
        </a:p>
      </dgm:t>
    </dgm:pt>
    <dgm:pt modelId="{D9C4B54C-6DEA-4768-B259-78AEFD4FB159}">
      <dgm:prSet/>
      <dgm:spPr/>
      <dgm:t>
        <a:bodyPr/>
        <a:lstStyle/>
        <a:p>
          <a:r>
            <a:rPr lang="en-US"/>
            <a:t>To do that, you can use the duplicated() method to find the duplicate rows and the drop_duplicates() method to drop the duplicates. </a:t>
          </a:r>
        </a:p>
      </dgm:t>
    </dgm:pt>
    <dgm:pt modelId="{28D678CC-B036-4BEC-ABBB-9AE5F243B2F9}" type="parTrans" cxnId="{30E05767-0EB2-49A0-AB75-EC546073C674}">
      <dgm:prSet/>
      <dgm:spPr/>
      <dgm:t>
        <a:bodyPr/>
        <a:lstStyle/>
        <a:p>
          <a:endParaRPr lang="en-US"/>
        </a:p>
      </dgm:t>
    </dgm:pt>
    <dgm:pt modelId="{8C47E2F6-8BB2-4CC4-9C38-5A8CDB40090A}" type="sibTrans" cxnId="{30E05767-0EB2-49A0-AB75-EC546073C674}">
      <dgm:prSet/>
      <dgm:spPr/>
      <dgm:t>
        <a:bodyPr/>
        <a:lstStyle/>
        <a:p>
          <a:endParaRPr lang="en-US"/>
        </a:p>
      </dgm:t>
    </dgm:pt>
    <dgm:pt modelId="{680DCB54-0774-41D3-892A-7809750B6CBE}" type="pres">
      <dgm:prSet presAssocID="{1E33E4C8-2C92-454B-8034-753ADC058F02}" presName="root" presStyleCnt="0">
        <dgm:presLayoutVars>
          <dgm:dir/>
          <dgm:resizeHandles val="exact"/>
        </dgm:presLayoutVars>
      </dgm:prSet>
      <dgm:spPr/>
    </dgm:pt>
    <dgm:pt modelId="{5034C5C8-456D-486A-A941-9C5A85BED552}" type="pres">
      <dgm:prSet presAssocID="{5ECE4EF3-A013-4D78-BB8B-A03CD3C0EFB5}" presName="compNode" presStyleCnt="0"/>
      <dgm:spPr/>
    </dgm:pt>
    <dgm:pt modelId="{0BD7DC17-26D4-4B38-82C1-A4613078D64F}" type="pres">
      <dgm:prSet presAssocID="{5ECE4EF3-A013-4D78-BB8B-A03CD3C0EFB5}" presName="bgRect" presStyleLbl="bgShp" presStyleIdx="0" presStyleCnt="3"/>
      <dgm:spPr/>
    </dgm:pt>
    <dgm:pt modelId="{1AD7A068-5EDA-4B4D-8FC3-91A4E26BB9E6}" type="pres">
      <dgm:prSet presAssocID="{5ECE4EF3-A013-4D78-BB8B-A03CD3C0EFB5}"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able"/>
        </a:ext>
      </dgm:extLst>
    </dgm:pt>
    <dgm:pt modelId="{80F99CA6-099E-488A-8C2C-212EDD3E01C2}" type="pres">
      <dgm:prSet presAssocID="{5ECE4EF3-A013-4D78-BB8B-A03CD3C0EFB5}" presName="spaceRect" presStyleCnt="0"/>
      <dgm:spPr/>
    </dgm:pt>
    <dgm:pt modelId="{240C39F1-486E-42B7-BB8E-04FAEDC984BC}" type="pres">
      <dgm:prSet presAssocID="{5ECE4EF3-A013-4D78-BB8B-A03CD3C0EFB5}" presName="parTx" presStyleLbl="revTx" presStyleIdx="0" presStyleCnt="3">
        <dgm:presLayoutVars>
          <dgm:chMax val="0"/>
          <dgm:chPref val="0"/>
        </dgm:presLayoutVars>
      </dgm:prSet>
      <dgm:spPr/>
    </dgm:pt>
    <dgm:pt modelId="{BDE22B18-C606-4C32-93D8-A6C6A2E012C1}" type="pres">
      <dgm:prSet presAssocID="{2865C1AD-F11D-4A82-B65D-65A1264670B5}" presName="sibTrans" presStyleCnt="0"/>
      <dgm:spPr/>
    </dgm:pt>
    <dgm:pt modelId="{79B88A24-883B-4E52-85CF-B1FF327DED4C}" type="pres">
      <dgm:prSet presAssocID="{CF1A5489-836B-4E2B-8400-FF5514CA0451}" presName="compNode" presStyleCnt="0"/>
      <dgm:spPr/>
    </dgm:pt>
    <dgm:pt modelId="{A203E93C-B161-48A3-A35A-F3E9080B5532}" type="pres">
      <dgm:prSet presAssocID="{CF1A5489-836B-4E2B-8400-FF5514CA0451}" presName="bgRect" presStyleLbl="bgShp" presStyleIdx="1" presStyleCnt="3"/>
      <dgm:spPr/>
    </dgm:pt>
    <dgm:pt modelId="{52D98833-821A-4B0A-9F3D-3AD8ED21ABCC}" type="pres">
      <dgm:prSet presAssocID="{CF1A5489-836B-4E2B-8400-FF5514CA0451}"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11621F4F-FFEC-4182-9EE8-D93011CCEBB3}" type="pres">
      <dgm:prSet presAssocID="{CF1A5489-836B-4E2B-8400-FF5514CA0451}" presName="spaceRect" presStyleCnt="0"/>
      <dgm:spPr/>
    </dgm:pt>
    <dgm:pt modelId="{102B3E22-642A-4080-8F4D-550BC29C80E8}" type="pres">
      <dgm:prSet presAssocID="{CF1A5489-836B-4E2B-8400-FF5514CA0451}" presName="parTx" presStyleLbl="revTx" presStyleIdx="1" presStyleCnt="3">
        <dgm:presLayoutVars>
          <dgm:chMax val="0"/>
          <dgm:chPref val="0"/>
        </dgm:presLayoutVars>
      </dgm:prSet>
      <dgm:spPr/>
    </dgm:pt>
    <dgm:pt modelId="{D805E558-82C2-42F4-AAB8-C5EB3F8AF4D4}" type="pres">
      <dgm:prSet presAssocID="{254EA014-6984-4B72-8F8F-6D054BB2EE00}" presName="sibTrans" presStyleCnt="0"/>
      <dgm:spPr/>
    </dgm:pt>
    <dgm:pt modelId="{E1D0BD06-79D7-4289-A134-0932DADFA38E}" type="pres">
      <dgm:prSet presAssocID="{D9C4B54C-6DEA-4768-B259-78AEFD4FB159}" presName="compNode" presStyleCnt="0"/>
      <dgm:spPr/>
    </dgm:pt>
    <dgm:pt modelId="{9ACB1E44-4504-4055-B905-A792A7EFAE68}" type="pres">
      <dgm:prSet presAssocID="{D9C4B54C-6DEA-4768-B259-78AEFD4FB159}" presName="bgRect" presStyleLbl="bgShp" presStyleIdx="2" presStyleCnt="3"/>
      <dgm:spPr/>
    </dgm:pt>
    <dgm:pt modelId="{C70E1D88-5518-45C0-9CC1-AE0DF544708B}" type="pres">
      <dgm:prSet presAssocID="{D9C4B54C-6DEA-4768-B259-78AEFD4FB159}"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ilter"/>
        </a:ext>
      </dgm:extLst>
    </dgm:pt>
    <dgm:pt modelId="{06EBC703-D640-49D9-89B1-DF5E48477502}" type="pres">
      <dgm:prSet presAssocID="{D9C4B54C-6DEA-4768-B259-78AEFD4FB159}" presName="spaceRect" presStyleCnt="0"/>
      <dgm:spPr/>
    </dgm:pt>
    <dgm:pt modelId="{C9587491-9F13-452D-B982-6A738E85267E}" type="pres">
      <dgm:prSet presAssocID="{D9C4B54C-6DEA-4768-B259-78AEFD4FB159}" presName="parTx" presStyleLbl="revTx" presStyleIdx="2" presStyleCnt="3">
        <dgm:presLayoutVars>
          <dgm:chMax val="0"/>
          <dgm:chPref val="0"/>
        </dgm:presLayoutVars>
      </dgm:prSet>
      <dgm:spPr/>
    </dgm:pt>
  </dgm:ptLst>
  <dgm:cxnLst>
    <dgm:cxn modelId="{FD3B6F05-FC2C-44AA-A1EB-00F6042615A5}" type="presOf" srcId="{5ECE4EF3-A013-4D78-BB8B-A03CD3C0EFB5}" destId="{240C39F1-486E-42B7-BB8E-04FAEDC984BC}" srcOrd="0" destOrd="0" presId="urn:microsoft.com/office/officeart/2018/2/layout/IconVerticalSolidList"/>
    <dgm:cxn modelId="{CD303F43-975C-4297-9522-3DC12CAFAC70}" type="presOf" srcId="{CF1A5489-836B-4E2B-8400-FF5514CA0451}" destId="{102B3E22-642A-4080-8F4D-550BC29C80E8}" srcOrd="0" destOrd="0" presId="urn:microsoft.com/office/officeart/2018/2/layout/IconVerticalSolidList"/>
    <dgm:cxn modelId="{30E05767-0EB2-49A0-AB75-EC546073C674}" srcId="{1E33E4C8-2C92-454B-8034-753ADC058F02}" destId="{D9C4B54C-6DEA-4768-B259-78AEFD4FB159}" srcOrd="2" destOrd="0" parTransId="{28D678CC-B036-4BEC-ABBB-9AE5F243B2F9}" sibTransId="{8C47E2F6-8BB2-4CC4-9C38-5A8CDB40090A}"/>
    <dgm:cxn modelId="{EAD7EA88-FB0F-41C1-820A-3369D00DFE44}" srcId="{1E33E4C8-2C92-454B-8034-753ADC058F02}" destId="{CF1A5489-836B-4E2B-8400-FF5514CA0451}" srcOrd="1" destOrd="0" parTransId="{9C76C55C-AF2A-4237-B025-DC68C55F8A5B}" sibTransId="{254EA014-6984-4B72-8F8F-6D054BB2EE00}"/>
    <dgm:cxn modelId="{BB099FE4-11B6-41E8-A6F8-F3336C289DBB}" type="presOf" srcId="{D9C4B54C-6DEA-4768-B259-78AEFD4FB159}" destId="{C9587491-9F13-452D-B982-6A738E85267E}" srcOrd="0" destOrd="0" presId="urn:microsoft.com/office/officeart/2018/2/layout/IconVerticalSolidList"/>
    <dgm:cxn modelId="{2BB76FED-C853-478D-908B-314163AA7B82}" type="presOf" srcId="{1E33E4C8-2C92-454B-8034-753ADC058F02}" destId="{680DCB54-0774-41D3-892A-7809750B6CBE}" srcOrd="0" destOrd="0" presId="urn:microsoft.com/office/officeart/2018/2/layout/IconVerticalSolidList"/>
    <dgm:cxn modelId="{10A50AFB-6E71-4113-8F4C-A8748C3B3D37}" srcId="{1E33E4C8-2C92-454B-8034-753ADC058F02}" destId="{5ECE4EF3-A013-4D78-BB8B-A03CD3C0EFB5}" srcOrd="0" destOrd="0" parTransId="{5C89FD98-6665-45BD-8D39-9E06AAE2C69C}" sibTransId="{2865C1AD-F11D-4A82-B65D-65A1264670B5}"/>
    <dgm:cxn modelId="{2C3BB4ED-A732-4FFB-885F-CD879ADC1C9C}" type="presParOf" srcId="{680DCB54-0774-41D3-892A-7809750B6CBE}" destId="{5034C5C8-456D-486A-A941-9C5A85BED552}" srcOrd="0" destOrd="0" presId="urn:microsoft.com/office/officeart/2018/2/layout/IconVerticalSolidList"/>
    <dgm:cxn modelId="{40356A32-2776-411F-BC89-AFF0FE5BEBFD}" type="presParOf" srcId="{5034C5C8-456D-486A-A941-9C5A85BED552}" destId="{0BD7DC17-26D4-4B38-82C1-A4613078D64F}" srcOrd="0" destOrd="0" presId="urn:microsoft.com/office/officeart/2018/2/layout/IconVerticalSolidList"/>
    <dgm:cxn modelId="{58DFEA61-74A7-4D91-A61A-D55F8965ED5B}" type="presParOf" srcId="{5034C5C8-456D-486A-A941-9C5A85BED552}" destId="{1AD7A068-5EDA-4B4D-8FC3-91A4E26BB9E6}" srcOrd="1" destOrd="0" presId="urn:microsoft.com/office/officeart/2018/2/layout/IconVerticalSolidList"/>
    <dgm:cxn modelId="{141C2E46-BBA6-4BB1-B329-2387159E084D}" type="presParOf" srcId="{5034C5C8-456D-486A-A941-9C5A85BED552}" destId="{80F99CA6-099E-488A-8C2C-212EDD3E01C2}" srcOrd="2" destOrd="0" presId="urn:microsoft.com/office/officeart/2018/2/layout/IconVerticalSolidList"/>
    <dgm:cxn modelId="{937EC95E-2127-41EA-9059-96C829DDDB74}" type="presParOf" srcId="{5034C5C8-456D-486A-A941-9C5A85BED552}" destId="{240C39F1-486E-42B7-BB8E-04FAEDC984BC}" srcOrd="3" destOrd="0" presId="urn:microsoft.com/office/officeart/2018/2/layout/IconVerticalSolidList"/>
    <dgm:cxn modelId="{FD2FDF94-09FF-4115-9661-41E69E4A6B2A}" type="presParOf" srcId="{680DCB54-0774-41D3-892A-7809750B6CBE}" destId="{BDE22B18-C606-4C32-93D8-A6C6A2E012C1}" srcOrd="1" destOrd="0" presId="urn:microsoft.com/office/officeart/2018/2/layout/IconVerticalSolidList"/>
    <dgm:cxn modelId="{D4B63522-C756-407E-AA12-4F4777163EB6}" type="presParOf" srcId="{680DCB54-0774-41D3-892A-7809750B6CBE}" destId="{79B88A24-883B-4E52-85CF-B1FF327DED4C}" srcOrd="2" destOrd="0" presId="urn:microsoft.com/office/officeart/2018/2/layout/IconVerticalSolidList"/>
    <dgm:cxn modelId="{61055286-BD44-4090-AF14-82CE00EE69ED}" type="presParOf" srcId="{79B88A24-883B-4E52-85CF-B1FF327DED4C}" destId="{A203E93C-B161-48A3-A35A-F3E9080B5532}" srcOrd="0" destOrd="0" presId="urn:microsoft.com/office/officeart/2018/2/layout/IconVerticalSolidList"/>
    <dgm:cxn modelId="{8514DDB9-8C4A-46CD-99B3-6EA60B603272}" type="presParOf" srcId="{79B88A24-883B-4E52-85CF-B1FF327DED4C}" destId="{52D98833-821A-4B0A-9F3D-3AD8ED21ABCC}" srcOrd="1" destOrd="0" presId="urn:microsoft.com/office/officeart/2018/2/layout/IconVerticalSolidList"/>
    <dgm:cxn modelId="{C3B04FE1-FE5A-495E-8AA2-788F70087B62}" type="presParOf" srcId="{79B88A24-883B-4E52-85CF-B1FF327DED4C}" destId="{11621F4F-FFEC-4182-9EE8-D93011CCEBB3}" srcOrd="2" destOrd="0" presId="urn:microsoft.com/office/officeart/2018/2/layout/IconVerticalSolidList"/>
    <dgm:cxn modelId="{478EABD6-48A5-4ECB-B4ED-666797C4A8D1}" type="presParOf" srcId="{79B88A24-883B-4E52-85CF-B1FF327DED4C}" destId="{102B3E22-642A-4080-8F4D-550BC29C80E8}" srcOrd="3" destOrd="0" presId="urn:microsoft.com/office/officeart/2018/2/layout/IconVerticalSolidList"/>
    <dgm:cxn modelId="{B9B2AB90-E357-46A2-B00F-D2D0EC08AB31}" type="presParOf" srcId="{680DCB54-0774-41D3-892A-7809750B6CBE}" destId="{D805E558-82C2-42F4-AAB8-C5EB3F8AF4D4}" srcOrd="3" destOrd="0" presId="urn:microsoft.com/office/officeart/2018/2/layout/IconVerticalSolidList"/>
    <dgm:cxn modelId="{419AEC66-6638-48F2-B72D-C8D01C930C97}" type="presParOf" srcId="{680DCB54-0774-41D3-892A-7809750B6CBE}" destId="{E1D0BD06-79D7-4289-A134-0932DADFA38E}" srcOrd="4" destOrd="0" presId="urn:microsoft.com/office/officeart/2018/2/layout/IconVerticalSolidList"/>
    <dgm:cxn modelId="{7A42C857-758E-4D7A-9159-2AFE080BCC26}" type="presParOf" srcId="{E1D0BD06-79D7-4289-A134-0932DADFA38E}" destId="{9ACB1E44-4504-4055-B905-A792A7EFAE68}" srcOrd="0" destOrd="0" presId="urn:microsoft.com/office/officeart/2018/2/layout/IconVerticalSolidList"/>
    <dgm:cxn modelId="{3659DB84-0F7A-4590-9275-EF230E3F0385}" type="presParOf" srcId="{E1D0BD06-79D7-4289-A134-0932DADFA38E}" destId="{C70E1D88-5518-45C0-9CC1-AE0DF544708B}" srcOrd="1" destOrd="0" presId="urn:microsoft.com/office/officeart/2018/2/layout/IconVerticalSolidList"/>
    <dgm:cxn modelId="{A20CA369-2D9A-456D-8B9F-BA5238D2DE53}" type="presParOf" srcId="{E1D0BD06-79D7-4289-A134-0932DADFA38E}" destId="{06EBC703-D640-49D9-89B1-DF5E48477502}" srcOrd="2" destOrd="0" presId="urn:microsoft.com/office/officeart/2018/2/layout/IconVerticalSolidList"/>
    <dgm:cxn modelId="{2EB0A45E-6CFE-4498-980B-BF160C305CFB}" type="presParOf" srcId="{E1D0BD06-79D7-4289-A134-0932DADFA38E}" destId="{C9587491-9F13-452D-B982-6A738E85267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F18A4C-71EC-0648-B6CD-0FF48E614DE9}">
      <dsp:nvSpPr>
        <dsp:cNvPr id="0" name=""/>
        <dsp:cNvSpPr/>
      </dsp:nvSpPr>
      <dsp:spPr>
        <a:xfrm>
          <a:off x="0" y="4590518"/>
          <a:ext cx="2166985" cy="150671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4116" tIns="256032" rIns="154116" bIns="256032" numCol="1" spcCol="1270" anchor="ctr" anchorCtr="0">
          <a:noAutofit/>
        </a:bodyPr>
        <a:lstStyle/>
        <a:p>
          <a:pPr marL="0" lvl="0" indent="0" algn="ctr" defTabSz="1600200">
            <a:lnSpc>
              <a:spcPct val="90000"/>
            </a:lnSpc>
            <a:spcBef>
              <a:spcPct val="0"/>
            </a:spcBef>
            <a:spcAft>
              <a:spcPct val="35000"/>
            </a:spcAft>
            <a:buNone/>
          </a:pPr>
          <a:r>
            <a:rPr lang="en-US" sz="3600" kern="1200"/>
            <a:t>Fix</a:t>
          </a:r>
        </a:p>
      </dsp:txBody>
      <dsp:txXfrm>
        <a:off x="0" y="4590518"/>
        <a:ext cx="2166985" cy="1506710"/>
      </dsp:txXfrm>
    </dsp:sp>
    <dsp:sp modelId="{4206F796-32A3-8B43-B7B5-2E16423634AD}">
      <dsp:nvSpPr>
        <dsp:cNvPr id="0" name=""/>
        <dsp:cNvSpPr/>
      </dsp:nvSpPr>
      <dsp:spPr>
        <a:xfrm>
          <a:off x="2166985" y="4590518"/>
          <a:ext cx="6500956" cy="150671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1870" tIns="203200" rIns="131870" bIns="203200" numCol="1" spcCol="1270" anchor="t" anchorCtr="0">
          <a:noAutofit/>
        </a:bodyPr>
        <a:lstStyle/>
        <a:p>
          <a:pPr marL="0" lvl="0" indent="0" algn="l" defTabSz="711200">
            <a:lnSpc>
              <a:spcPct val="90000"/>
            </a:lnSpc>
            <a:spcBef>
              <a:spcPct val="0"/>
            </a:spcBef>
            <a:spcAft>
              <a:spcPct val="35000"/>
            </a:spcAft>
            <a:buNone/>
          </a:pPr>
          <a:r>
            <a:rPr lang="en-US" sz="1600" kern="1200"/>
            <a:t>Fix data problems</a:t>
          </a:r>
        </a:p>
        <a:p>
          <a:pPr marL="114300" lvl="1" indent="-114300" algn="l" defTabSz="533400">
            <a:lnSpc>
              <a:spcPct val="90000"/>
            </a:lnSpc>
            <a:spcBef>
              <a:spcPct val="0"/>
            </a:spcBef>
            <a:spcAft>
              <a:spcPct val="15000"/>
            </a:spcAft>
            <a:buChar char="•"/>
          </a:pPr>
          <a:r>
            <a:rPr lang="en-US" sz="1200" kern="1200" dirty="0">
              <a:highlight>
                <a:srgbClr val="FFFF00"/>
              </a:highlight>
            </a:rPr>
            <a:t>Find and fix missing values</a:t>
          </a:r>
          <a:r>
            <a:rPr lang="en-US" sz="1200" kern="1200" dirty="0"/>
            <a:t>.</a:t>
          </a:r>
        </a:p>
        <a:p>
          <a:pPr marL="114300" lvl="1" indent="-114300" algn="l" defTabSz="533400">
            <a:lnSpc>
              <a:spcPct val="90000"/>
            </a:lnSpc>
            <a:spcBef>
              <a:spcPct val="0"/>
            </a:spcBef>
            <a:spcAft>
              <a:spcPct val="15000"/>
            </a:spcAft>
            <a:buChar char="•"/>
          </a:pPr>
          <a:r>
            <a:rPr lang="en-US" sz="1200" kern="1200" dirty="0">
              <a:highlight>
                <a:srgbClr val="FFFF00"/>
              </a:highlight>
            </a:rPr>
            <a:t>Fix data type problems </a:t>
          </a:r>
          <a:r>
            <a:rPr lang="en-US" sz="1200" kern="1200" dirty="0"/>
            <a:t>like dates or numbers that are imported as strings.</a:t>
          </a:r>
        </a:p>
        <a:p>
          <a:pPr marL="114300" lvl="1" indent="-114300" algn="l" defTabSz="533400">
            <a:lnSpc>
              <a:spcPct val="90000"/>
            </a:lnSpc>
            <a:spcBef>
              <a:spcPct val="0"/>
            </a:spcBef>
            <a:spcAft>
              <a:spcPct val="15000"/>
            </a:spcAft>
            <a:buChar char="•"/>
          </a:pPr>
          <a:r>
            <a:rPr lang="en-US" sz="1200" kern="1200" dirty="0">
              <a:highlight>
                <a:srgbClr val="FFFF00"/>
              </a:highlight>
            </a:rPr>
            <a:t>Find and fix outliers</a:t>
          </a:r>
          <a:r>
            <a:rPr lang="en-US" sz="1200" kern="1200" dirty="0"/>
            <a:t>.</a:t>
          </a:r>
        </a:p>
      </dsp:txBody>
      <dsp:txXfrm>
        <a:off x="2166985" y="4590518"/>
        <a:ext cx="6500956" cy="1506710"/>
      </dsp:txXfrm>
    </dsp:sp>
    <dsp:sp modelId="{413C9DF6-10FC-404B-842A-2EE1CB6B0023}">
      <dsp:nvSpPr>
        <dsp:cNvPr id="0" name=""/>
        <dsp:cNvSpPr/>
      </dsp:nvSpPr>
      <dsp:spPr>
        <a:xfrm rot="10800000">
          <a:off x="0" y="2295798"/>
          <a:ext cx="2166985" cy="2317320"/>
        </a:xfrm>
        <a:prstGeom prst="upArrowCallout">
          <a:avLst>
            <a:gd name="adj1" fmla="val 5000"/>
            <a:gd name="adj2" fmla="val 10000"/>
            <a:gd name="adj3" fmla="val 15000"/>
            <a:gd name="adj4" fmla="val 64977"/>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4116" tIns="256032" rIns="154116" bIns="256032" numCol="1" spcCol="1270" anchor="ctr" anchorCtr="0">
          <a:noAutofit/>
        </a:bodyPr>
        <a:lstStyle/>
        <a:p>
          <a:pPr marL="0" lvl="0" indent="0" algn="ctr" defTabSz="1600200">
            <a:lnSpc>
              <a:spcPct val="90000"/>
            </a:lnSpc>
            <a:spcBef>
              <a:spcPct val="0"/>
            </a:spcBef>
            <a:spcAft>
              <a:spcPct val="35000"/>
            </a:spcAft>
            <a:buNone/>
          </a:pPr>
          <a:r>
            <a:rPr lang="en-US" sz="3600" kern="1200"/>
            <a:t>Simplify</a:t>
          </a:r>
        </a:p>
      </dsp:txBody>
      <dsp:txXfrm rot="-10800000">
        <a:off x="0" y="2295798"/>
        <a:ext cx="2166985" cy="1506258"/>
      </dsp:txXfrm>
    </dsp:sp>
    <dsp:sp modelId="{F58A6A2F-7CF9-A24D-AE10-3F655B1A5CF9}">
      <dsp:nvSpPr>
        <dsp:cNvPr id="0" name=""/>
        <dsp:cNvSpPr/>
      </dsp:nvSpPr>
      <dsp:spPr>
        <a:xfrm>
          <a:off x="2166985" y="2295798"/>
          <a:ext cx="6500956" cy="1506258"/>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1870" tIns="203200" rIns="131870" bIns="203200" numCol="1" spcCol="1270" anchor="t" anchorCtr="0">
          <a:noAutofit/>
        </a:bodyPr>
        <a:lstStyle/>
        <a:p>
          <a:pPr marL="0" lvl="0" indent="0" algn="l" defTabSz="711200">
            <a:lnSpc>
              <a:spcPct val="90000"/>
            </a:lnSpc>
            <a:spcBef>
              <a:spcPct val="0"/>
            </a:spcBef>
            <a:spcAft>
              <a:spcPct val="35000"/>
            </a:spcAft>
            <a:buNone/>
          </a:pPr>
          <a:r>
            <a:rPr lang="en-US" sz="1600" kern="1200"/>
            <a:t>Simplify the data</a:t>
          </a:r>
        </a:p>
        <a:p>
          <a:pPr marL="114300" lvl="1" indent="-114300" algn="l" defTabSz="533400">
            <a:lnSpc>
              <a:spcPct val="90000"/>
            </a:lnSpc>
            <a:spcBef>
              <a:spcPct val="0"/>
            </a:spcBef>
            <a:spcAft>
              <a:spcPct val="15000"/>
            </a:spcAft>
            <a:buChar char="•"/>
          </a:pPr>
          <a:r>
            <a:rPr lang="en-US" sz="1200" kern="1200" dirty="0">
              <a:highlight>
                <a:srgbClr val="FFFF00"/>
              </a:highlight>
            </a:rPr>
            <a:t>Drop duplicate </a:t>
          </a:r>
          <a:r>
            <a:rPr lang="en-US" sz="1200" kern="1200" dirty="0"/>
            <a:t>rows.</a:t>
          </a:r>
        </a:p>
        <a:p>
          <a:pPr marL="114300" lvl="1" indent="-114300" algn="l" defTabSz="533400">
            <a:lnSpc>
              <a:spcPct val="90000"/>
            </a:lnSpc>
            <a:spcBef>
              <a:spcPct val="0"/>
            </a:spcBef>
            <a:spcAft>
              <a:spcPct val="15000"/>
            </a:spcAft>
            <a:buChar char="•"/>
          </a:pPr>
          <a:r>
            <a:rPr lang="en-US" sz="1200" kern="1200" dirty="0">
              <a:highlight>
                <a:srgbClr val="FFFF00"/>
              </a:highlight>
            </a:rPr>
            <a:t>Drop rows that aren’t needed </a:t>
          </a:r>
          <a:r>
            <a:rPr lang="en-US" sz="1200" kern="1200" dirty="0"/>
            <a:t>for the analysis.</a:t>
          </a:r>
        </a:p>
        <a:p>
          <a:pPr marL="114300" lvl="1" indent="-114300" algn="l" defTabSz="533400">
            <a:lnSpc>
              <a:spcPct val="90000"/>
            </a:lnSpc>
            <a:spcBef>
              <a:spcPct val="0"/>
            </a:spcBef>
            <a:spcAft>
              <a:spcPct val="15000"/>
            </a:spcAft>
            <a:buChar char="•"/>
          </a:pPr>
          <a:r>
            <a:rPr lang="en-US" sz="1200" kern="1200" dirty="0">
              <a:highlight>
                <a:srgbClr val="FFFF00"/>
              </a:highlight>
            </a:rPr>
            <a:t>Drop columns that aren’t needed </a:t>
          </a:r>
          <a:r>
            <a:rPr lang="en-US" sz="1200" kern="1200" dirty="0"/>
            <a:t>for the analysis.</a:t>
          </a:r>
        </a:p>
        <a:p>
          <a:pPr marL="114300" lvl="1" indent="-114300" algn="l" defTabSz="533400">
            <a:lnSpc>
              <a:spcPct val="90000"/>
            </a:lnSpc>
            <a:spcBef>
              <a:spcPct val="0"/>
            </a:spcBef>
            <a:spcAft>
              <a:spcPct val="15000"/>
            </a:spcAft>
            <a:buChar char="•"/>
          </a:pPr>
          <a:r>
            <a:rPr lang="en-US" sz="1200" kern="1200" dirty="0">
              <a:highlight>
                <a:srgbClr val="FFFF00"/>
              </a:highlight>
            </a:rPr>
            <a:t>Rename columns </a:t>
          </a:r>
          <a:r>
            <a:rPr lang="en-US" sz="1200" kern="1200" dirty="0"/>
            <a:t>so the names are easier to understand. </a:t>
          </a:r>
        </a:p>
      </dsp:txBody>
      <dsp:txXfrm>
        <a:off x="2166985" y="2295798"/>
        <a:ext cx="6500956" cy="1506258"/>
      </dsp:txXfrm>
    </dsp:sp>
    <dsp:sp modelId="{E0AC18E9-5B2A-9C40-955A-231FF0CA1987}">
      <dsp:nvSpPr>
        <dsp:cNvPr id="0" name=""/>
        <dsp:cNvSpPr/>
      </dsp:nvSpPr>
      <dsp:spPr>
        <a:xfrm rot="10800000">
          <a:off x="0" y="1077"/>
          <a:ext cx="2166985" cy="2317320"/>
        </a:xfrm>
        <a:prstGeom prst="upArrowCallout">
          <a:avLst>
            <a:gd name="adj1" fmla="val 5000"/>
            <a:gd name="adj2" fmla="val 10000"/>
            <a:gd name="adj3" fmla="val 15000"/>
            <a:gd name="adj4" fmla="val 64977"/>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4116" tIns="256032" rIns="154116" bIns="256032" numCol="1" spcCol="1270" anchor="ctr" anchorCtr="0">
          <a:noAutofit/>
        </a:bodyPr>
        <a:lstStyle/>
        <a:p>
          <a:pPr marL="0" lvl="0" indent="0" algn="ctr" defTabSz="1600200">
            <a:lnSpc>
              <a:spcPct val="90000"/>
            </a:lnSpc>
            <a:spcBef>
              <a:spcPct val="0"/>
            </a:spcBef>
            <a:spcAft>
              <a:spcPct val="35000"/>
            </a:spcAft>
            <a:buNone/>
          </a:pPr>
          <a:r>
            <a:rPr lang="en-US" sz="3600" kern="1200" dirty="0"/>
            <a:t>Identify</a:t>
          </a:r>
        </a:p>
      </dsp:txBody>
      <dsp:txXfrm rot="-10800000">
        <a:off x="0" y="1077"/>
        <a:ext cx="2166985" cy="1506258"/>
      </dsp:txXfrm>
    </dsp:sp>
    <dsp:sp modelId="{A32D6C14-921B-5C41-95C6-2AA172DD87D7}">
      <dsp:nvSpPr>
        <dsp:cNvPr id="0" name=""/>
        <dsp:cNvSpPr/>
      </dsp:nvSpPr>
      <dsp:spPr>
        <a:xfrm>
          <a:off x="2166985" y="1077"/>
          <a:ext cx="6500956" cy="1506258"/>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1870" tIns="203200" rIns="131870" bIns="203200" numCol="1" spcCol="1270" anchor="t" anchorCtr="0">
          <a:noAutofit/>
        </a:bodyPr>
        <a:lstStyle/>
        <a:p>
          <a:pPr marL="0" lvl="0" indent="0" algn="l" defTabSz="711200">
            <a:lnSpc>
              <a:spcPct val="90000"/>
            </a:lnSpc>
            <a:spcBef>
              <a:spcPct val="0"/>
            </a:spcBef>
            <a:spcAft>
              <a:spcPct val="35000"/>
            </a:spcAft>
            <a:buNone/>
          </a:pPr>
          <a:r>
            <a:rPr lang="en-US" sz="1600" kern="1200"/>
            <a:t>Identify the problems</a:t>
          </a:r>
        </a:p>
        <a:p>
          <a:pPr marL="114300" lvl="1" indent="-114300" algn="l" defTabSz="533400">
            <a:lnSpc>
              <a:spcPct val="90000"/>
            </a:lnSpc>
            <a:spcBef>
              <a:spcPct val="0"/>
            </a:spcBef>
            <a:spcAft>
              <a:spcPct val="15000"/>
            </a:spcAft>
            <a:buChar char="•"/>
          </a:pPr>
          <a:r>
            <a:rPr lang="en-US" sz="1200" kern="1200" dirty="0">
              <a:highlight>
                <a:srgbClr val="FFFF00"/>
              </a:highlight>
            </a:rPr>
            <a:t>Review</a:t>
          </a:r>
          <a:r>
            <a:rPr lang="en-US" sz="1200" kern="1200" dirty="0"/>
            <a:t> whatever documentation is available to help you understand the data.</a:t>
          </a:r>
        </a:p>
        <a:p>
          <a:pPr marL="114300" lvl="1" indent="-114300" algn="l" defTabSz="533400">
            <a:lnSpc>
              <a:spcPct val="90000"/>
            </a:lnSpc>
            <a:spcBef>
              <a:spcPct val="0"/>
            </a:spcBef>
            <a:spcAft>
              <a:spcPct val="15000"/>
            </a:spcAft>
            <a:buChar char="•"/>
          </a:pPr>
          <a:r>
            <a:rPr lang="en-US" sz="1200" kern="1200" dirty="0">
              <a:highlight>
                <a:srgbClr val="FFFF00"/>
              </a:highlight>
            </a:rPr>
            <a:t>Examine</a:t>
          </a:r>
          <a:r>
            <a:rPr lang="en-US" sz="1200" kern="1200" dirty="0"/>
            <a:t> the data after you import it into a </a:t>
          </a:r>
          <a:r>
            <a:rPr lang="en-US" sz="1200" kern="1200" dirty="0" err="1"/>
            <a:t>DataFrame</a:t>
          </a:r>
          <a:r>
            <a:rPr lang="en-US" sz="1200" kern="1200" dirty="0"/>
            <a:t>.</a:t>
          </a:r>
        </a:p>
        <a:p>
          <a:pPr marL="114300" lvl="1" indent="-114300" algn="l" defTabSz="533400">
            <a:lnSpc>
              <a:spcPct val="90000"/>
            </a:lnSpc>
            <a:spcBef>
              <a:spcPct val="0"/>
            </a:spcBef>
            <a:spcAft>
              <a:spcPct val="15000"/>
            </a:spcAft>
            <a:buChar char="•"/>
          </a:pPr>
          <a:r>
            <a:rPr lang="en-US" sz="1200" kern="1200" dirty="0">
              <a:highlight>
                <a:srgbClr val="FFFF00"/>
              </a:highlight>
            </a:rPr>
            <a:t>Plan</a:t>
          </a:r>
          <a:r>
            <a:rPr lang="en-US" sz="1200" kern="1200" dirty="0"/>
            <a:t> the cleaning that needs to be done.</a:t>
          </a:r>
        </a:p>
      </dsp:txBody>
      <dsp:txXfrm>
        <a:off x="2166985" y="1077"/>
        <a:ext cx="6500956" cy="15062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3785D-E4A5-4032-813E-A4D31AF8C008}">
      <dsp:nvSpPr>
        <dsp:cNvPr id="0" name=""/>
        <dsp:cNvSpPr/>
      </dsp:nvSpPr>
      <dsp:spPr>
        <a:xfrm>
          <a:off x="0" y="420"/>
          <a:ext cx="11193926" cy="9829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667AA1-7F27-4701-B37A-67DE64FE6893}">
      <dsp:nvSpPr>
        <dsp:cNvPr id="0" name=""/>
        <dsp:cNvSpPr/>
      </dsp:nvSpPr>
      <dsp:spPr>
        <a:xfrm>
          <a:off x="297354" y="221592"/>
          <a:ext cx="540644" cy="540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AC97BD-3406-4337-8098-F6EA6471FD16}">
      <dsp:nvSpPr>
        <dsp:cNvPr id="0" name=""/>
        <dsp:cNvSpPr/>
      </dsp:nvSpPr>
      <dsp:spPr>
        <a:xfrm>
          <a:off x="1135352" y="420"/>
          <a:ext cx="10058573" cy="982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033" tIns="104033" rIns="104033" bIns="104033" numCol="1" spcCol="1270" anchor="ctr" anchorCtr="0">
          <a:noAutofit/>
        </a:bodyPr>
        <a:lstStyle/>
        <a:p>
          <a:pPr marL="0" lvl="0" indent="0" algn="l" defTabSz="1111250">
            <a:lnSpc>
              <a:spcPct val="90000"/>
            </a:lnSpc>
            <a:spcBef>
              <a:spcPct val="0"/>
            </a:spcBef>
            <a:spcAft>
              <a:spcPct val="35000"/>
            </a:spcAft>
            <a:buNone/>
          </a:pPr>
          <a:r>
            <a:rPr lang="en-US" sz="2500" kern="1200" dirty="0"/>
            <a:t>Object or string variables that look like they should be dates or numbers.</a:t>
          </a:r>
        </a:p>
      </dsp:txBody>
      <dsp:txXfrm>
        <a:off x="1135352" y="420"/>
        <a:ext cx="10058573" cy="982989"/>
      </dsp:txXfrm>
    </dsp:sp>
    <dsp:sp modelId="{B1C18C06-77E8-4908-989B-DC08B3EA6D66}">
      <dsp:nvSpPr>
        <dsp:cNvPr id="0" name=""/>
        <dsp:cNvSpPr/>
      </dsp:nvSpPr>
      <dsp:spPr>
        <a:xfrm>
          <a:off x="0" y="1229156"/>
          <a:ext cx="11193926" cy="9829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3BA2BB-8FB2-45DE-AD6C-B3915A4096FC}">
      <dsp:nvSpPr>
        <dsp:cNvPr id="0" name=""/>
        <dsp:cNvSpPr/>
      </dsp:nvSpPr>
      <dsp:spPr>
        <a:xfrm>
          <a:off x="297354" y="1450329"/>
          <a:ext cx="540644" cy="540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1960CB-35D6-4712-8263-4CB826357795}">
      <dsp:nvSpPr>
        <dsp:cNvPr id="0" name=""/>
        <dsp:cNvSpPr/>
      </dsp:nvSpPr>
      <dsp:spPr>
        <a:xfrm>
          <a:off x="1135352" y="1229156"/>
          <a:ext cx="10058573" cy="982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033" tIns="104033" rIns="104033" bIns="104033" numCol="1" spcCol="1270" anchor="ctr" anchorCtr="0">
          <a:noAutofit/>
        </a:bodyPr>
        <a:lstStyle/>
        <a:p>
          <a:pPr marL="0" lvl="0" indent="0" algn="l" defTabSz="1111250">
            <a:lnSpc>
              <a:spcPct val="90000"/>
            </a:lnSpc>
            <a:spcBef>
              <a:spcPct val="0"/>
            </a:spcBef>
            <a:spcAft>
              <a:spcPct val="35000"/>
            </a:spcAft>
            <a:buNone/>
          </a:pPr>
          <a:r>
            <a:rPr lang="en-US" sz="2500" kern="1200"/>
            <a:t>Non-null counts that are lower than the non-null counts of other columns may indicate missing data.</a:t>
          </a:r>
        </a:p>
      </dsp:txBody>
      <dsp:txXfrm>
        <a:off x="1135352" y="1229156"/>
        <a:ext cx="10058573" cy="982989"/>
      </dsp:txXfrm>
    </dsp:sp>
    <dsp:sp modelId="{AAEA2298-1D69-4E40-BC8C-AA06A2324E46}">
      <dsp:nvSpPr>
        <dsp:cNvPr id="0" name=""/>
        <dsp:cNvSpPr/>
      </dsp:nvSpPr>
      <dsp:spPr>
        <a:xfrm>
          <a:off x="0" y="2457893"/>
          <a:ext cx="11193926" cy="9829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9FF5DD-BCD6-4F11-9A9C-350FA0114C6B}">
      <dsp:nvSpPr>
        <dsp:cNvPr id="0" name=""/>
        <dsp:cNvSpPr/>
      </dsp:nvSpPr>
      <dsp:spPr>
        <a:xfrm>
          <a:off x="297354" y="2679066"/>
          <a:ext cx="540644" cy="540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4BA6FF-A9D3-437A-9B16-6665F7BA7A62}">
      <dsp:nvSpPr>
        <dsp:cNvPr id="0" name=""/>
        <dsp:cNvSpPr/>
      </dsp:nvSpPr>
      <dsp:spPr>
        <a:xfrm>
          <a:off x="1135352" y="2457893"/>
          <a:ext cx="10058573" cy="982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033" tIns="104033" rIns="104033" bIns="104033" numCol="1" spcCol="1270" anchor="ctr" anchorCtr="0">
          <a:noAutofit/>
        </a:bodyPr>
        <a:lstStyle/>
        <a:p>
          <a:pPr marL="0" lvl="0" indent="0" algn="l" defTabSz="1111250">
            <a:lnSpc>
              <a:spcPct val="90000"/>
            </a:lnSpc>
            <a:spcBef>
              <a:spcPct val="0"/>
            </a:spcBef>
            <a:spcAft>
              <a:spcPct val="35000"/>
            </a:spcAft>
            <a:buNone/>
          </a:pPr>
          <a:r>
            <a:rPr lang="en-US" sz="2500" kern="1200"/>
            <a:t>Small numbers of non-nulls or nulls may indicate problems with related columns or rows.</a:t>
          </a:r>
        </a:p>
      </dsp:txBody>
      <dsp:txXfrm>
        <a:off x="1135352" y="2457893"/>
        <a:ext cx="10058573" cy="9829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D7DC17-26D4-4B38-82C1-A4613078D64F}">
      <dsp:nvSpPr>
        <dsp:cNvPr id="0" name=""/>
        <dsp:cNvSpPr/>
      </dsp:nvSpPr>
      <dsp:spPr>
        <a:xfrm>
          <a:off x="0" y="686"/>
          <a:ext cx="7742583" cy="16068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D7A068-5EDA-4B4D-8FC3-91A4E26BB9E6}">
      <dsp:nvSpPr>
        <dsp:cNvPr id="0" name=""/>
        <dsp:cNvSpPr/>
      </dsp:nvSpPr>
      <dsp:spPr>
        <a:xfrm>
          <a:off x="486071" y="362227"/>
          <a:ext cx="883766" cy="8837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0C39F1-486E-42B7-BB8E-04FAEDC984BC}">
      <dsp:nvSpPr>
        <dsp:cNvPr id="0" name=""/>
        <dsp:cNvSpPr/>
      </dsp:nvSpPr>
      <dsp:spPr>
        <a:xfrm>
          <a:off x="1855909" y="686"/>
          <a:ext cx="5886673" cy="1606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058" tIns="170058" rIns="170058" bIns="170058" numCol="1" spcCol="1270" anchor="ctr" anchorCtr="0">
          <a:noAutofit/>
        </a:bodyPr>
        <a:lstStyle/>
        <a:p>
          <a:pPr marL="0" lvl="0" indent="0" algn="l" defTabSz="977900">
            <a:lnSpc>
              <a:spcPct val="90000"/>
            </a:lnSpc>
            <a:spcBef>
              <a:spcPct val="0"/>
            </a:spcBef>
            <a:spcAft>
              <a:spcPct val="35000"/>
            </a:spcAft>
            <a:buNone/>
          </a:pPr>
          <a:r>
            <a:rPr lang="en-US" sz="2200" kern="1200" dirty="0"/>
            <a:t>When data comes from </a:t>
          </a:r>
          <a:r>
            <a:rPr lang="en-US" sz="2200" kern="1200" dirty="0">
              <a:highlight>
                <a:srgbClr val="FFFF00"/>
              </a:highlight>
            </a:rPr>
            <a:t>several sources</a:t>
          </a:r>
          <a:r>
            <a:rPr lang="en-US" sz="2200" kern="1200" dirty="0"/>
            <a:t>, duplicate rows are possible. </a:t>
          </a:r>
        </a:p>
      </dsp:txBody>
      <dsp:txXfrm>
        <a:off x="1855909" y="686"/>
        <a:ext cx="5886673" cy="1606847"/>
      </dsp:txXfrm>
    </dsp:sp>
    <dsp:sp modelId="{A203E93C-B161-48A3-A35A-F3E9080B5532}">
      <dsp:nvSpPr>
        <dsp:cNvPr id="0" name=""/>
        <dsp:cNvSpPr/>
      </dsp:nvSpPr>
      <dsp:spPr>
        <a:xfrm>
          <a:off x="0" y="2009246"/>
          <a:ext cx="7742583" cy="16068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D98833-821A-4B0A-9F3D-3AD8ED21ABCC}">
      <dsp:nvSpPr>
        <dsp:cNvPr id="0" name=""/>
        <dsp:cNvSpPr/>
      </dsp:nvSpPr>
      <dsp:spPr>
        <a:xfrm>
          <a:off x="486071" y="2370787"/>
          <a:ext cx="883766" cy="8837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2B3E22-642A-4080-8F4D-550BC29C80E8}">
      <dsp:nvSpPr>
        <dsp:cNvPr id="0" name=""/>
        <dsp:cNvSpPr/>
      </dsp:nvSpPr>
      <dsp:spPr>
        <a:xfrm>
          <a:off x="1855909" y="2009246"/>
          <a:ext cx="5886673" cy="1606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058" tIns="170058" rIns="170058" bIns="170058" numCol="1" spcCol="1270" anchor="ctr" anchorCtr="0">
          <a:noAutofit/>
        </a:bodyPr>
        <a:lstStyle/>
        <a:p>
          <a:pPr marL="0" lvl="0" indent="0" algn="l" defTabSz="977900">
            <a:lnSpc>
              <a:spcPct val="90000"/>
            </a:lnSpc>
            <a:spcBef>
              <a:spcPct val="0"/>
            </a:spcBef>
            <a:spcAft>
              <a:spcPct val="35000"/>
            </a:spcAft>
            <a:buNone/>
          </a:pPr>
          <a:r>
            <a:rPr lang="en-US" sz="2200" kern="1200" dirty="0"/>
            <a:t>In that case, we should </a:t>
          </a:r>
          <a:r>
            <a:rPr lang="en-US" sz="2200" kern="1200" dirty="0">
              <a:highlight>
                <a:srgbClr val="FFFF00"/>
              </a:highlight>
            </a:rPr>
            <a:t>remove all but one row from</a:t>
          </a:r>
          <a:r>
            <a:rPr lang="en-US" sz="2200" kern="1200" dirty="0"/>
            <a:t> each set of duplicates. </a:t>
          </a:r>
        </a:p>
      </dsp:txBody>
      <dsp:txXfrm>
        <a:off x="1855909" y="2009246"/>
        <a:ext cx="5886673" cy="1606847"/>
      </dsp:txXfrm>
    </dsp:sp>
    <dsp:sp modelId="{9ACB1E44-4504-4055-B905-A792A7EFAE68}">
      <dsp:nvSpPr>
        <dsp:cNvPr id="0" name=""/>
        <dsp:cNvSpPr/>
      </dsp:nvSpPr>
      <dsp:spPr>
        <a:xfrm>
          <a:off x="0" y="4017806"/>
          <a:ext cx="7742583" cy="16068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0E1D88-5518-45C0-9CC1-AE0DF544708B}">
      <dsp:nvSpPr>
        <dsp:cNvPr id="0" name=""/>
        <dsp:cNvSpPr/>
      </dsp:nvSpPr>
      <dsp:spPr>
        <a:xfrm>
          <a:off x="486071" y="4379347"/>
          <a:ext cx="883766" cy="8837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587491-9F13-452D-B982-6A738E85267E}">
      <dsp:nvSpPr>
        <dsp:cNvPr id="0" name=""/>
        <dsp:cNvSpPr/>
      </dsp:nvSpPr>
      <dsp:spPr>
        <a:xfrm>
          <a:off x="1855909" y="4017806"/>
          <a:ext cx="5886673" cy="1606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058" tIns="170058" rIns="170058" bIns="170058" numCol="1" spcCol="1270" anchor="ctr" anchorCtr="0">
          <a:noAutofit/>
        </a:bodyPr>
        <a:lstStyle/>
        <a:p>
          <a:pPr marL="0" lvl="0" indent="0" algn="l" defTabSz="977900">
            <a:lnSpc>
              <a:spcPct val="90000"/>
            </a:lnSpc>
            <a:spcBef>
              <a:spcPct val="0"/>
            </a:spcBef>
            <a:spcAft>
              <a:spcPct val="35000"/>
            </a:spcAft>
            <a:buNone/>
          </a:pPr>
          <a:r>
            <a:rPr lang="en-US" sz="2200" kern="1200"/>
            <a:t>To do that, you can use the duplicated() method to find the duplicate rows and the drop_duplicates() method to drop the duplicates. </a:t>
          </a:r>
        </a:p>
      </dsp:txBody>
      <dsp:txXfrm>
        <a:off x="1855909" y="4017806"/>
        <a:ext cx="5886673" cy="1606847"/>
      </dsp:txXfrm>
    </dsp:sp>
  </dsp:spTree>
</dsp:drawing>
</file>

<file path=ppt/diagrams/layout1.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6F23D8-0271-F541-9BCD-5C391912005C}" type="datetimeFigureOut">
              <a:rPr lang="en-US" smtClean="0"/>
              <a:t>8/2/2026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912D8E-D471-A34E-AB17-24705BCE498D}" type="slidenum">
              <a:rPr lang="en-US" smtClean="0"/>
              <a:t>‹#›</a:t>
            </a:fld>
            <a:endParaRPr lang="en-US"/>
          </a:p>
        </p:txBody>
      </p:sp>
    </p:spTree>
    <p:extLst>
      <p:ext uri="{BB962C8B-B14F-4D97-AF65-F5344CB8AC3E}">
        <p14:creationId xmlns:p14="http://schemas.microsoft.com/office/powerpoint/2010/main" val="584778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912D8E-D471-A34E-AB17-24705BCE498D}" type="slidenum">
              <a:rPr lang="en-US" smtClean="0"/>
              <a:t>1</a:t>
            </a:fld>
            <a:endParaRPr lang="en-US"/>
          </a:p>
        </p:txBody>
      </p:sp>
    </p:spTree>
    <p:extLst>
      <p:ext uri="{BB962C8B-B14F-4D97-AF65-F5344CB8AC3E}">
        <p14:creationId xmlns:p14="http://schemas.microsoft.com/office/powerpoint/2010/main" val="3606590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912D8E-D471-A34E-AB17-24705BCE498D}" type="slidenum">
              <a:rPr lang="en-US" smtClean="0"/>
              <a:t>3</a:t>
            </a:fld>
            <a:endParaRPr lang="en-US"/>
          </a:p>
        </p:txBody>
      </p:sp>
    </p:spTree>
    <p:extLst>
      <p:ext uri="{BB962C8B-B14F-4D97-AF65-F5344CB8AC3E}">
        <p14:creationId xmlns:p14="http://schemas.microsoft.com/office/powerpoint/2010/main" val="3498557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912D8E-D471-A34E-AB17-24705BCE498D}" type="slidenum">
              <a:rPr lang="en-US" smtClean="0"/>
              <a:t>10</a:t>
            </a:fld>
            <a:endParaRPr lang="en-US"/>
          </a:p>
        </p:txBody>
      </p:sp>
    </p:spTree>
    <p:extLst>
      <p:ext uri="{BB962C8B-B14F-4D97-AF65-F5344CB8AC3E}">
        <p14:creationId xmlns:p14="http://schemas.microsoft.com/office/powerpoint/2010/main" val="13662977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912D8E-D471-A34E-AB17-24705BCE498D}" type="slidenum">
              <a:rPr lang="en-US" smtClean="0"/>
              <a:t>27</a:t>
            </a:fld>
            <a:endParaRPr lang="en-US"/>
          </a:p>
        </p:txBody>
      </p:sp>
    </p:spTree>
    <p:extLst>
      <p:ext uri="{BB962C8B-B14F-4D97-AF65-F5344CB8AC3E}">
        <p14:creationId xmlns:p14="http://schemas.microsoft.com/office/powerpoint/2010/main" val="2784336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912D8E-D471-A34E-AB17-24705BCE498D}" type="slidenum">
              <a:rPr lang="en-US" smtClean="0"/>
              <a:t>40</a:t>
            </a:fld>
            <a:endParaRPr lang="en-US"/>
          </a:p>
        </p:txBody>
      </p:sp>
    </p:spTree>
    <p:extLst>
      <p:ext uri="{BB962C8B-B14F-4D97-AF65-F5344CB8AC3E}">
        <p14:creationId xmlns:p14="http://schemas.microsoft.com/office/powerpoint/2010/main" val="403794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912D8E-D471-A34E-AB17-24705BCE498D}" type="slidenum">
              <a:rPr lang="en-US" smtClean="0"/>
              <a:t>53</a:t>
            </a:fld>
            <a:endParaRPr lang="en-US"/>
          </a:p>
        </p:txBody>
      </p:sp>
    </p:spTree>
    <p:extLst>
      <p:ext uri="{BB962C8B-B14F-4D97-AF65-F5344CB8AC3E}">
        <p14:creationId xmlns:p14="http://schemas.microsoft.com/office/powerpoint/2010/main" val="1210091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912D8E-D471-A34E-AB17-24705BCE498D}" type="slidenum">
              <a:rPr lang="en-US" smtClean="0"/>
              <a:t>65</a:t>
            </a:fld>
            <a:endParaRPr lang="en-US"/>
          </a:p>
        </p:txBody>
      </p:sp>
    </p:spTree>
    <p:extLst>
      <p:ext uri="{BB962C8B-B14F-4D97-AF65-F5344CB8AC3E}">
        <p14:creationId xmlns:p14="http://schemas.microsoft.com/office/powerpoint/2010/main" val="3449724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912D8E-D471-A34E-AB17-24705BCE498D}" type="slidenum">
              <a:rPr lang="en-US" smtClean="0"/>
              <a:t>71</a:t>
            </a:fld>
            <a:endParaRPr lang="en-US"/>
          </a:p>
        </p:txBody>
      </p:sp>
    </p:spTree>
    <p:extLst>
      <p:ext uri="{BB962C8B-B14F-4D97-AF65-F5344CB8AC3E}">
        <p14:creationId xmlns:p14="http://schemas.microsoft.com/office/powerpoint/2010/main" val="2566199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0666DC1-CD27-4874-9484-9D06C59FE4D0}"/>
              </a:ext>
            </a:extLst>
          </p:cNvPr>
          <p:cNvSpPr/>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77579F-F417-47C2-AC03-911CCED021DB}"/>
              </a:ext>
            </a:extLst>
          </p:cNvPr>
          <p:cNvSpPr>
            <a:spLocks noGrp="1"/>
          </p:cNvSpPr>
          <p:nvPr>
            <p:ph type="ctrTitle"/>
          </p:nvPr>
        </p:nvSpPr>
        <p:spPr>
          <a:xfrm>
            <a:off x="484552" y="447675"/>
            <a:ext cx="8397511" cy="2714625"/>
          </a:xfrm>
        </p:spPr>
        <p:txBody>
          <a:bodyPr anchor="b">
            <a:normAutofit/>
          </a:bodyPr>
          <a:lstStyle>
            <a:lvl1pPr algn="l">
              <a:defRPr sz="5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1643E600-28DA-4780-9E00-2E12F74FF621}"/>
              </a:ext>
            </a:extLst>
          </p:cNvPr>
          <p:cNvSpPr>
            <a:spLocks noGrp="1"/>
          </p:cNvSpPr>
          <p:nvPr>
            <p:ph type="subTitle" idx="1"/>
          </p:nvPr>
        </p:nvSpPr>
        <p:spPr>
          <a:xfrm>
            <a:off x="484552" y="3602037"/>
            <a:ext cx="8397511" cy="2460625"/>
          </a:xfrm>
        </p:spPr>
        <p:txBody>
          <a:bodyPr>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0E6F1DC-ADFB-42C9-AB34-FCB38C8123FC}"/>
              </a:ext>
            </a:extLst>
          </p:cNvPr>
          <p:cNvSpPr>
            <a:spLocks noGrp="1"/>
          </p:cNvSpPr>
          <p:nvPr>
            <p:ph type="dt" sz="half" idx="10"/>
          </p:nvPr>
        </p:nvSpPr>
        <p:spPr/>
        <p:txBody>
          <a:bodyPr/>
          <a:lstStyle/>
          <a:p>
            <a:fld id="{92538219-6E45-4D12-B767-46F92D5844D4}" type="datetime1">
              <a:rPr lang="en-US" smtClean="0"/>
              <a:t>8/2/2026</a:t>
            </a:fld>
            <a:endParaRPr lang="en-US"/>
          </a:p>
        </p:txBody>
      </p:sp>
      <p:sp>
        <p:nvSpPr>
          <p:cNvPr id="5" name="Footer Placeholder 4">
            <a:extLst>
              <a:ext uri="{FF2B5EF4-FFF2-40B4-BE49-F238E27FC236}">
                <a16:creationId xmlns:a16="http://schemas.microsoft.com/office/drawing/2014/main" id="{EE799E6D-BBA8-4A15-94DA-DBE8A4FDE6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803C82-8719-4FAC-94BF-2A91335FB58A}"/>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206922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9CF16-986E-4D90-AA40-CDB46E23320D}"/>
              </a:ext>
            </a:extLst>
          </p:cNvPr>
          <p:cNvSpPr>
            <a:spLocks noGrp="1"/>
          </p:cNvSpPr>
          <p:nvPr>
            <p:ph type="title"/>
          </p:nvPr>
        </p:nvSpPr>
        <p:spPr>
          <a:xfrm>
            <a:off x="484552" y="302097"/>
            <a:ext cx="10869248" cy="120549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A6F14DA-A783-43BC-8F15-95408B89DE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58C48B6-C394-452A-94D9-D4802755D841}"/>
              </a:ext>
            </a:extLst>
          </p:cNvPr>
          <p:cNvSpPr>
            <a:spLocks noGrp="1"/>
          </p:cNvSpPr>
          <p:nvPr>
            <p:ph type="dt" sz="half" idx="10"/>
          </p:nvPr>
        </p:nvSpPr>
        <p:spPr/>
        <p:txBody>
          <a:bodyPr/>
          <a:lstStyle/>
          <a:p>
            <a:fld id="{8BB296A2-D8F0-4E17-BFD0-A6C902250D59}" type="datetime1">
              <a:rPr lang="en-US" smtClean="0"/>
              <a:t>8/2/2026</a:t>
            </a:fld>
            <a:endParaRPr lang="en-US"/>
          </a:p>
        </p:txBody>
      </p:sp>
      <p:sp>
        <p:nvSpPr>
          <p:cNvPr id="5" name="Footer Placeholder 4">
            <a:extLst>
              <a:ext uri="{FF2B5EF4-FFF2-40B4-BE49-F238E27FC236}">
                <a16:creationId xmlns:a16="http://schemas.microsoft.com/office/drawing/2014/main" id="{43858A8A-3DD0-41C8-9F48-F4309FA195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706C92-7C02-4D34-B3E5-D549A7A36BD3}"/>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418946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66F9FA-E6B8-4CFC-B3F1-0C075546EE33}"/>
              </a:ext>
            </a:extLst>
          </p:cNvPr>
          <p:cNvSpPr/>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16F270-B2AA-4935-885F-5924B1F63A3E}"/>
              </a:ext>
            </a:extLst>
          </p:cNvPr>
          <p:cNvSpPr>
            <a:spLocks noGrp="1"/>
          </p:cNvSpPr>
          <p:nvPr>
            <p:ph type="title"/>
          </p:nvPr>
        </p:nvSpPr>
        <p:spPr>
          <a:xfrm>
            <a:off x="484552" y="457200"/>
            <a:ext cx="10862898" cy="272415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22658E-3D87-4D5A-A602-847153CC4845}"/>
              </a:ext>
            </a:extLst>
          </p:cNvPr>
          <p:cNvSpPr>
            <a:spLocks noGrp="1"/>
          </p:cNvSpPr>
          <p:nvPr>
            <p:ph type="body" idx="1"/>
          </p:nvPr>
        </p:nvSpPr>
        <p:spPr>
          <a:xfrm>
            <a:off x="484552" y="3695701"/>
            <a:ext cx="10862898" cy="2393950"/>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AB1D84-A229-45B1-BD42-0DC0CE9F8DE9}"/>
              </a:ext>
            </a:extLst>
          </p:cNvPr>
          <p:cNvSpPr>
            <a:spLocks noGrp="1"/>
          </p:cNvSpPr>
          <p:nvPr>
            <p:ph type="dt" sz="half" idx="10"/>
          </p:nvPr>
        </p:nvSpPr>
        <p:spPr/>
        <p:txBody>
          <a:bodyPr/>
          <a:lstStyle/>
          <a:p>
            <a:fld id="{D9108C9C-1ACB-4C84-A002-C7E0E45B937A}" type="datetime1">
              <a:rPr lang="en-US" smtClean="0"/>
              <a:t>8/2/2026</a:t>
            </a:fld>
            <a:endParaRPr lang="en-US"/>
          </a:p>
        </p:txBody>
      </p:sp>
      <p:sp>
        <p:nvSpPr>
          <p:cNvPr id="5" name="Footer Placeholder 4">
            <a:extLst>
              <a:ext uri="{FF2B5EF4-FFF2-40B4-BE49-F238E27FC236}">
                <a16:creationId xmlns:a16="http://schemas.microsoft.com/office/drawing/2014/main" id="{2664EEF4-D461-49D7-8F24-8BFE2444B6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44055A-7488-4646-9E88-692036EA22DE}"/>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174844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F1F74-ED26-4F8B-BF51-3533D8404E5A}"/>
              </a:ext>
            </a:extLst>
          </p:cNvPr>
          <p:cNvSpPr>
            <a:spLocks noGrp="1"/>
          </p:cNvSpPr>
          <p:nvPr>
            <p:ph type="title"/>
          </p:nvPr>
        </p:nvSpPr>
        <p:spPr>
          <a:xfrm>
            <a:off x="484552" y="365760"/>
            <a:ext cx="11264536" cy="168751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01D2D7-7F18-43E0-9B2E-3FCD83CC83BC}"/>
              </a:ext>
            </a:extLst>
          </p:cNvPr>
          <p:cNvSpPr>
            <a:spLocks noGrp="1"/>
          </p:cNvSpPr>
          <p:nvPr>
            <p:ph sz="half" idx="1"/>
          </p:nvPr>
        </p:nvSpPr>
        <p:spPr>
          <a:xfrm>
            <a:off x="484552" y="2552699"/>
            <a:ext cx="5323703" cy="3624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FCBBB66-EB7D-4F8C-9C78-1D1C88846469}"/>
              </a:ext>
            </a:extLst>
          </p:cNvPr>
          <p:cNvSpPr>
            <a:spLocks noGrp="1"/>
          </p:cNvSpPr>
          <p:nvPr>
            <p:ph sz="half" idx="2"/>
          </p:nvPr>
        </p:nvSpPr>
        <p:spPr>
          <a:xfrm>
            <a:off x="6270162" y="2552699"/>
            <a:ext cx="5323703" cy="3624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7A684E6-393D-4587-AA45-E6734FB47AEC}"/>
              </a:ext>
            </a:extLst>
          </p:cNvPr>
          <p:cNvSpPr>
            <a:spLocks noGrp="1"/>
          </p:cNvSpPr>
          <p:nvPr>
            <p:ph type="dt" sz="half" idx="10"/>
          </p:nvPr>
        </p:nvSpPr>
        <p:spPr/>
        <p:txBody>
          <a:bodyPr/>
          <a:lstStyle/>
          <a:p>
            <a:fld id="{F49AF2A5-B297-4977-9E5B-4D3050E23689}" type="datetime1">
              <a:rPr lang="en-US" smtClean="0"/>
              <a:t>8/2/2026</a:t>
            </a:fld>
            <a:endParaRPr lang="en-US"/>
          </a:p>
        </p:txBody>
      </p:sp>
      <p:sp>
        <p:nvSpPr>
          <p:cNvPr id="6" name="Footer Placeholder 5">
            <a:extLst>
              <a:ext uri="{FF2B5EF4-FFF2-40B4-BE49-F238E27FC236}">
                <a16:creationId xmlns:a16="http://schemas.microsoft.com/office/drawing/2014/main" id="{0A1D8EE0-0333-4ABC-AE18-10DD5071CF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452369-A8F0-4709-8372-B420A67DB7C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621522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91592-4621-4D72-BC2D-F2C439F81B81}"/>
              </a:ext>
            </a:extLst>
          </p:cNvPr>
          <p:cNvSpPr>
            <a:spLocks noGrp="1"/>
          </p:cNvSpPr>
          <p:nvPr>
            <p:ph type="title"/>
          </p:nvPr>
        </p:nvSpPr>
        <p:spPr>
          <a:xfrm>
            <a:off x="484552" y="365759"/>
            <a:ext cx="10870836" cy="169164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B823F5-0A90-4666-BE88-2BE0D0A61603}"/>
              </a:ext>
            </a:extLst>
          </p:cNvPr>
          <p:cNvSpPr>
            <a:spLocks noGrp="1"/>
          </p:cNvSpPr>
          <p:nvPr>
            <p:ph type="body" idx="1"/>
          </p:nvPr>
        </p:nvSpPr>
        <p:spPr>
          <a:xfrm>
            <a:off x="484552" y="2436473"/>
            <a:ext cx="5332026"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EC6A7C-6260-463D-B3FD-71A07ACD0669}"/>
              </a:ext>
            </a:extLst>
          </p:cNvPr>
          <p:cNvSpPr>
            <a:spLocks noGrp="1"/>
          </p:cNvSpPr>
          <p:nvPr>
            <p:ph sz="half" idx="2"/>
          </p:nvPr>
        </p:nvSpPr>
        <p:spPr>
          <a:xfrm>
            <a:off x="484552" y="3409051"/>
            <a:ext cx="5332026" cy="2780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F2AF8D-90ED-4512-9423-C91BF73A99B2}"/>
              </a:ext>
            </a:extLst>
          </p:cNvPr>
          <p:cNvSpPr>
            <a:spLocks noGrp="1"/>
          </p:cNvSpPr>
          <p:nvPr>
            <p:ph type="body" sz="quarter" idx="3"/>
          </p:nvPr>
        </p:nvSpPr>
        <p:spPr>
          <a:xfrm>
            <a:off x="6270162" y="2436473"/>
            <a:ext cx="5358285"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D838EA-E20D-4CC3-83C2-AFE0DE9F7376}"/>
              </a:ext>
            </a:extLst>
          </p:cNvPr>
          <p:cNvSpPr>
            <a:spLocks noGrp="1"/>
          </p:cNvSpPr>
          <p:nvPr>
            <p:ph sz="quarter" idx="4"/>
          </p:nvPr>
        </p:nvSpPr>
        <p:spPr>
          <a:xfrm>
            <a:off x="6270162" y="3409051"/>
            <a:ext cx="5358285" cy="2780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3603F8A-08E1-4160-9B7E-E0CA4BF8EC3C}"/>
              </a:ext>
            </a:extLst>
          </p:cNvPr>
          <p:cNvSpPr>
            <a:spLocks noGrp="1"/>
          </p:cNvSpPr>
          <p:nvPr>
            <p:ph type="dt" sz="half" idx="10"/>
          </p:nvPr>
        </p:nvSpPr>
        <p:spPr/>
        <p:txBody>
          <a:bodyPr/>
          <a:lstStyle/>
          <a:p>
            <a:fld id="{70127434-4794-409A-9547-04789BA47588}" type="datetime1">
              <a:rPr lang="en-US" smtClean="0"/>
              <a:t>8/2/2026</a:t>
            </a:fld>
            <a:endParaRPr lang="en-US"/>
          </a:p>
        </p:txBody>
      </p:sp>
      <p:sp>
        <p:nvSpPr>
          <p:cNvPr id="8" name="Footer Placeholder 7">
            <a:extLst>
              <a:ext uri="{FF2B5EF4-FFF2-40B4-BE49-F238E27FC236}">
                <a16:creationId xmlns:a16="http://schemas.microsoft.com/office/drawing/2014/main" id="{118291AB-3C5C-4BE1-9E50-02F4893363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96E64-CD6C-4CF7-8624-FA4AE9760EEB}"/>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595876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62B3-06A0-4F2F-96EC-A062DAE2FE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FC0095-49F0-4A83-AE8C-9D13E15C2BD8}"/>
              </a:ext>
            </a:extLst>
          </p:cNvPr>
          <p:cNvSpPr>
            <a:spLocks noGrp="1"/>
          </p:cNvSpPr>
          <p:nvPr>
            <p:ph type="dt" sz="half" idx="10"/>
          </p:nvPr>
        </p:nvSpPr>
        <p:spPr/>
        <p:txBody>
          <a:bodyPr/>
          <a:lstStyle/>
          <a:p>
            <a:fld id="{85658635-357A-4E3D-B824-A5CEFDB8449C}" type="datetime1">
              <a:rPr lang="en-US" smtClean="0"/>
              <a:t>8/2/2026</a:t>
            </a:fld>
            <a:endParaRPr lang="en-US"/>
          </a:p>
        </p:txBody>
      </p:sp>
      <p:sp>
        <p:nvSpPr>
          <p:cNvPr id="4" name="Footer Placeholder 3">
            <a:extLst>
              <a:ext uri="{FF2B5EF4-FFF2-40B4-BE49-F238E27FC236}">
                <a16:creationId xmlns:a16="http://schemas.microsoft.com/office/drawing/2014/main" id="{61824898-D4EA-497A-8FC8-43E0D0213B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4821F6-2C08-450C-A18C-702D7384292F}"/>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208496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FFE119-5FCA-4D9C-9C07-1B81A0BF3BFF}"/>
              </a:ext>
            </a:extLst>
          </p:cNvPr>
          <p:cNvSpPr>
            <a:spLocks noGrp="1"/>
          </p:cNvSpPr>
          <p:nvPr>
            <p:ph type="dt" sz="half" idx="10"/>
          </p:nvPr>
        </p:nvSpPr>
        <p:spPr/>
        <p:txBody>
          <a:bodyPr/>
          <a:lstStyle/>
          <a:p>
            <a:fld id="{7E86FF77-2719-4AD0-8740-0B90FF5D1EFB}" type="datetime1">
              <a:rPr lang="en-US" smtClean="0"/>
              <a:t>8/2/2026</a:t>
            </a:fld>
            <a:endParaRPr lang="en-US"/>
          </a:p>
        </p:txBody>
      </p:sp>
      <p:sp>
        <p:nvSpPr>
          <p:cNvPr id="3" name="Footer Placeholder 2">
            <a:extLst>
              <a:ext uri="{FF2B5EF4-FFF2-40B4-BE49-F238E27FC236}">
                <a16:creationId xmlns:a16="http://schemas.microsoft.com/office/drawing/2014/main" id="{2A2C5995-6284-4D7F-AB1C-CA8FE63A78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1E4B0D-9C21-48D0-9438-C473706814B3}"/>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016047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90AF76DA-8F95-47D9-9EB6-B1EC93437387}"/>
              </a:ext>
            </a:extLst>
          </p:cNvPr>
          <p:cNvGrpSpPr/>
          <p:nvPr/>
        </p:nvGrpSpPr>
        <p:grpSpPr>
          <a:xfrm>
            <a:off x="2" y="0"/>
            <a:ext cx="6095998" cy="6858002"/>
            <a:chOff x="1" y="4563942"/>
            <a:chExt cx="12192005" cy="2294060"/>
          </a:xfrm>
        </p:grpSpPr>
        <p:sp>
          <p:nvSpPr>
            <p:cNvPr id="28" name="Rectangle 27">
              <a:extLst>
                <a:ext uri="{FF2B5EF4-FFF2-40B4-BE49-F238E27FC236}">
                  <a16:creationId xmlns:a16="http://schemas.microsoft.com/office/drawing/2014/main" id="{31355B14-077B-4BA1-962D-6E97D93FFCCC}"/>
                </a:ext>
              </a:extLst>
            </p:cNvPr>
            <p:cNvSpPr/>
            <p:nvPr/>
          </p:nvSpPr>
          <p:spPr>
            <a:xfrm>
              <a:off x="10" y="4563942"/>
              <a:ext cx="12191996" cy="22940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230B99F-AC6F-4973-A35E-16C87C38711D}"/>
                </a:ext>
              </a:extLst>
            </p:cNvPr>
            <p:cNvSpPr/>
            <p:nvPr/>
          </p:nvSpPr>
          <p:spPr>
            <a:xfrm>
              <a:off x="1" y="4563942"/>
              <a:ext cx="12192000" cy="2294060"/>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58E41614-9483-47F8-A429-FB0D1C5AA89A}"/>
              </a:ext>
            </a:extLst>
          </p:cNvPr>
          <p:cNvSpPr/>
          <p:nvPr/>
        </p:nvSpPr>
        <p:spPr>
          <a:xfrm>
            <a:off x="0" y="0"/>
            <a:ext cx="6095999"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B5E91C-3C4F-40A2-BCC6-918D3BEDD24B}"/>
              </a:ext>
            </a:extLst>
          </p:cNvPr>
          <p:cNvSpPr>
            <a:spLocks noGrp="1"/>
          </p:cNvSpPr>
          <p:nvPr>
            <p:ph type="title"/>
          </p:nvPr>
        </p:nvSpPr>
        <p:spPr>
          <a:xfrm>
            <a:off x="484552" y="457200"/>
            <a:ext cx="5287234" cy="1600200"/>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30F113-1C61-4F74-BD5B-727668BBEAFC}"/>
              </a:ext>
            </a:extLst>
          </p:cNvPr>
          <p:cNvSpPr>
            <a:spLocks noGrp="1"/>
          </p:cNvSpPr>
          <p:nvPr>
            <p:ph idx="1"/>
          </p:nvPr>
        </p:nvSpPr>
        <p:spPr>
          <a:xfrm>
            <a:off x="6270162" y="457201"/>
            <a:ext cx="5085226"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10EB228-A180-4DF6-9D5B-2CF86B6B9BB0}"/>
              </a:ext>
            </a:extLst>
          </p:cNvPr>
          <p:cNvSpPr>
            <a:spLocks noGrp="1"/>
          </p:cNvSpPr>
          <p:nvPr>
            <p:ph type="body" sz="half" idx="2"/>
          </p:nvPr>
        </p:nvSpPr>
        <p:spPr>
          <a:xfrm>
            <a:off x="484552" y="2514600"/>
            <a:ext cx="5287234" cy="3354388"/>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913719-D65D-4BAE-97B7-FAE8F39982EF}"/>
              </a:ext>
            </a:extLst>
          </p:cNvPr>
          <p:cNvSpPr>
            <a:spLocks noGrp="1"/>
          </p:cNvSpPr>
          <p:nvPr>
            <p:ph type="dt" sz="half" idx="10"/>
          </p:nvPr>
        </p:nvSpPr>
        <p:spPr/>
        <p:txBody>
          <a:bodyPr/>
          <a:lstStyle/>
          <a:p>
            <a:fld id="{6E441C83-1089-48B9-8B65-293D4C236D35}" type="datetime1">
              <a:rPr lang="en-US" smtClean="0"/>
              <a:t>8/2/2026</a:t>
            </a:fld>
            <a:endParaRPr lang="en-US"/>
          </a:p>
        </p:txBody>
      </p:sp>
      <p:sp>
        <p:nvSpPr>
          <p:cNvPr id="6" name="Footer Placeholder 5">
            <a:extLst>
              <a:ext uri="{FF2B5EF4-FFF2-40B4-BE49-F238E27FC236}">
                <a16:creationId xmlns:a16="http://schemas.microsoft.com/office/drawing/2014/main" id="{F747F5BB-DC3C-45D1-A0D2-05168FECA2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344BA3-19DB-4072-9A2C-08C92361AF9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576866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0A6909D-DC0B-4221-8140-21E981D896AF}"/>
              </a:ext>
            </a:extLst>
          </p:cNvPr>
          <p:cNvGrpSpPr/>
          <p:nvPr/>
        </p:nvGrpSpPr>
        <p:grpSpPr>
          <a:xfrm>
            <a:off x="2" y="0"/>
            <a:ext cx="6095998" cy="6858002"/>
            <a:chOff x="1" y="4563942"/>
            <a:chExt cx="12192005" cy="2294060"/>
          </a:xfrm>
        </p:grpSpPr>
        <p:sp>
          <p:nvSpPr>
            <p:cNvPr id="9" name="Rectangle 8">
              <a:extLst>
                <a:ext uri="{FF2B5EF4-FFF2-40B4-BE49-F238E27FC236}">
                  <a16:creationId xmlns:a16="http://schemas.microsoft.com/office/drawing/2014/main" id="{53D581C2-F39E-4958-A3F3-BB65AB1C5E66}"/>
                </a:ext>
              </a:extLst>
            </p:cNvPr>
            <p:cNvSpPr/>
            <p:nvPr/>
          </p:nvSpPr>
          <p:spPr>
            <a:xfrm>
              <a:off x="10" y="4563942"/>
              <a:ext cx="12191996" cy="22940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FD77040-27EF-4D2C-8D34-32337B0C8544}"/>
                </a:ext>
              </a:extLst>
            </p:cNvPr>
            <p:cNvSpPr/>
            <p:nvPr/>
          </p:nvSpPr>
          <p:spPr>
            <a:xfrm>
              <a:off x="1" y="4563942"/>
              <a:ext cx="12192000" cy="2294060"/>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1A26D20-69F8-4BBC-98C0-BEB470AB8284}"/>
              </a:ext>
            </a:extLst>
          </p:cNvPr>
          <p:cNvSpPr/>
          <p:nvPr/>
        </p:nvSpPr>
        <p:spPr>
          <a:xfrm>
            <a:off x="0" y="0"/>
            <a:ext cx="6095999"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47B6BC-4B2A-4001-9634-47473F82701E}"/>
              </a:ext>
            </a:extLst>
          </p:cNvPr>
          <p:cNvSpPr>
            <a:spLocks noGrp="1"/>
          </p:cNvSpPr>
          <p:nvPr>
            <p:ph type="title"/>
          </p:nvPr>
        </p:nvSpPr>
        <p:spPr>
          <a:xfrm>
            <a:off x="484552" y="457200"/>
            <a:ext cx="5211519" cy="1600200"/>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497D074-2CCB-4AB8-A7A0-7847D3C1EF8A}"/>
              </a:ext>
            </a:extLst>
          </p:cNvPr>
          <p:cNvSpPr>
            <a:spLocks noGrp="1"/>
          </p:cNvSpPr>
          <p:nvPr>
            <p:ph type="pic" idx="1"/>
          </p:nvPr>
        </p:nvSpPr>
        <p:spPr>
          <a:xfrm>
            <a:off x="6270162" y="457201"/>
            <a:ext cx="5085226"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51FB94BD-D906-4213-9F31-1BE17A86F926}"/>
              </a:ext>
            </a:extLst>
          </p:cNvPr>
          <p:cNvSpPr>
            <a:spLocks noGrp="1"/>
          </p:cNvSpPr>
          <p:nvPr>
            <p:ph type="body" sz="half" idx="2"/>
          </p:nvPr>
        </p:nvSpPr>
        <p:spPr>
          <a:xfrm>
            <a:off x="484552" y="2514600"/>
            <a:ext cx="5211519" cy="3354388"/>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1B8431-70CB-4E9F-8A49-CDFF18554212}"/>
              </a:ext>
            </a:extLst>
          </p:cNvPr>
          <p:cNvSpPr>
            <a:spLocks noGrp="1"/>
          </p:cNvSpPr>
          <p:nvPr>
            <p:ph type="dt" sz="half" idx="10"/>
          </p:nvPr>
        </p:nvSpPr>
        <p:spPr/>
        <p:txBody>
          <a:bodyPr/>
          <a:lstStyle/>
          <a:p>
            <a:fld id="{D162FE45-CC1E-47DB-8B82-6CF0636FBDB8}" type="datetime1">
              <a:rPr lang="en-US" smtClean="0"/>
              <a:t>8/2/2026</a:t>
            </a:fld>
            <a:endParaRPr lang="en-US"/>
          </a:p>
        </p:txBody>
      </p:sp>
      <p:sp>
        <p:nvSpPr>
          <p:cNvPr id="6" name="Footer Placeholder 5">
            <a:extLst>
              <a:ext uri="{FF2B5EF4-FFF2-40B4-BE49-F238E27FC236}">
                <a16:creationId xmlns:a16="http://schemas.microsoft.com/office/drawing/2014/main" id="{ADD2F293-170E-410E-88BF-187A63C5E0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ED93A2-588D-43B5-B6FA-0B7892E6E138}"/>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7701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8A33-CB96-4CB1-9941-753BD0824C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3EB269-70DF-4510-A313-336226558E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1EA3CC-B2DC-4E87-826C-B885A7E62819}"/>
              </a:ext>
            </a:extLst>
          </p:cNvPr>
          <p:cNvSpPr>
            <a:spLocks noGrp="1"/>
          </p:cNvSpPr>
          <p:nvPr>
            <p:ph type="dt" sz="half" idx="10"/>
          </p:nvPr>
        </p:nvSpPr>
        <p:spPr/>
        <p:txBody>
          <a:bodyPr/>
          <a:lstStyle/>
          <a:p>
            <a:fld id="{836430B8-6059-41E5-A5DC-C07A76F5859A}" type="datetime1">
              <a:rPr lang="en-US" smtClean="0"/>
              <a:t>8/2/2026</a:t>
            </a:fld>
            <a:endParaRPr lang="en-US"/>
          </a:p>
        </p:txBody>
      </p:sp>
      <p:sp>
        <p:nvSpPr>
          <p:cNvPr id="5" name="Footer Placeholder 4">
            <a:extLst>
              <a:ext uri="{FF2B5EF4-FFF2-40B4-BE49-F238E27FC236}">
                <a16:creationId xmlns:a16="http://schemas.microsoft.com/office/drawing/2014/main" id="{7AF37F52-A7C4-4E21-A12A-02546D4775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66031F-5A79-48A7-8EDC-DDD9A9E4B9F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049692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9188483-96C4-4E9C-AA6A-E70005461AEE}"/>
              </a:ext>
            </a:extLst>
          </p:cNvPr>
          <p:cNvSpPr/>
          <p:nvPr/>
        </p:nvSpPr>
        <p:spPr>
          <a:xfrm>
            <a:off x="9144000" y="0"/>
            <a:ext cx="3048000" cy="6854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0E4FCD54-7F0B-446E-9998-93E7BD7CE74D}"/>
              </a:ext>
            </a:extLst>
          </p:cNvPr>
          <p:cNvSpPr>
            <a:spLocks noGrp="1"/>
          </p:cNvSpPr>
          <p:nvPr>
            <p:ph type="title" orient="vert"/>
          </p:nvPr>
        </p:nvSpPr>
        <p:spPr>
          <a:xfrm>
            <a:off x="9534222" y="365125"/>
            <a:ext cx="2238678"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0766238-BBF1-4672-BC09-746C6967E5DF}"/>
              </a:ext>
            </a:extLst>
          </p:cNvPr>
          <p:cNvSpPr>
            <a:spLocks noGrp="1"/>
          </p:cNvSpPr>
          <p:nvPr>
            <p:ph type="body" orient="vert" idx="1"/>
          </p:nvPr>
        </p:nvSpPr>
        <p:spPr>
          <a:xfrm>
            <a:off x="484552" y="365125"/>
            <a:ext cx="8374062"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F8F32A5-B67B-45C1-B454-12E9FBE0C869}"/>
              </a:ext>
            </a:extLst>
          </p:cNvPr>
          <p:cNvSpPr>
            <a:spLocks noGrp="1"/>
          </p:cNvSpPr>
          <p:nvPr>
            <p:ph type="dt" sz="half" idx="10"/>
          </p:nvPr>
        </p:nvSpPr>
        <p:spPr/>
        <p:txBody>
          <a:bodyPr/>
          <a:lstStyle/>
          <a:p>
            <a:fld id="{A09D0CB7-D16E-4358-B7F4-EA4A24554592}" type="datetime1">
              <a:rPr lang="en-US" smtClean="0"/>
              <a:t>8/2/2026</a:t>
            </a:fld>
            <a:endParaRPr lang="en-US"/>
          </a:p>
        </p:txBody>
      </p:sp>
      <p:sp>
        <p:nvSpPr>
          <p:cNvPr id="5" name="Footer Placeholder 4">
            <a:extLst>
              <a:ext uri="{FF2B5EF4-FFF2-40B4-BE49-F238E27FC236}">
                <a16:creationId xmlns:a16="http://schemas.microsoft.com/office/drawing/2014/main" id="{48E91896-9441-4636-89D5-84E5932A1EDB}"/>
              </a:ext>
            </a:extLst>
          </p:cNvPr>
          <p:cNvSpPr>
            <a:spLocks noGrp="1"/>
          </p:cNvSpPr>
          <p:nvPr>
            <p:ph type="ftr" sz="quarter" idx="11"/>
          </p:nvPr>
        </p:nvSpPr>
        <p:spPr>
          <a:xfrm>
            <a:off x="3228110" y="6356350"/>
            <a:ext cx="4114800" cy="365125"/>
          </a:xfrm>
        </p:spPr>
        <p:txBody>
          <a:bodyPr/>
          <a:lstStyle/>
          <a:p>
            <a:endParaRPr lang="en-US" dirty="0"/>
          </a:p>
        </p:txBody>
      </p:sp>
      <p:sp>
        <p:nvSpPr>
          <p:cNvPr id="6" name="Slide Number Placeholder 5">
            <a:extLst>
              <a:ext uri="{FF2B5EF4-FFF2-40B4-BE49-F238E27FC236}">
                <a16:creationId xmlns:a16="http://schemas.microsoft.com/office/drawing/2014/main" id="{88937DFE-7F48-4EB0-83BC-A93F342D2618}"/>
              </a:ext>
            </a:extLst>
          </p:cNvPr>
          <p:cNvSpPr>
            <a:spLocks noGrp="1"/>
          </p:cNvSpPr>
          <p:nvPr>
            <p:ph type="sldNum" sz="quarter" idx="12"/>
          </p:nvPr>
        </p:nvSpPr>
        <p:spPr/>
        <p:txBody>
          <a:bodyPr/>
          <a:lstStyle>
            <a:lvl1pPr>
              <a:defRPr>
                <a:solidFill>
                  <a:schemeClr val="bg1">
                    <a:alpha val="80000"/>
                  </a:schemeClr>
                </a:solidFill>
              </a:defRPr>
            </a:lvl1pPr>
          </a:lstStyle>
          <a:p>
            <a:fld id="{1F646F3F-274D-499B-ABBE-824EB4ABDC3D}" type="slidenum">
              <a:rPr lang="en-US" smtClean="0"/>
              <a:pPr/>
              <a:t>‹#›</a:t>
            </a:fld>
            <a:endParaRPr lang="en-US" dirty="0"/>
          </a:p>
        </p:txBody>
      </p:sp>
    </p:spTree>
    <p:extLst>
      <p:ext uri="{BB962C8B-B14F-4D97-AF65-F5344CB8AC3E}">
        <p14:creationId xmlns:p14="http://schemas.microsoft.com/office/powerpoint/2010/main" val="3528231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A26A151-13BF-4305-A6DC-9DC7C9877195}"/>
              </a:ext>
            </a:extLst>
          </p:cNvPr>
          <p:cNvSpPr/>
          <p:nvPr/>
        </p:nvSpPr>
        <p:spPr>
          <a:xfrm>
            <a:off x="0" y="1"/>
            <a:ext cx="12192000" cy="178904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3DEE6AE3-3BCC-4B3B-AC4E-60F91014449A}"/>
              </a:ext>
            </a:extLst>
          </p:cNvPr>
          <p:cNvSpPr>
            <a:spLocks noGrp="1"/>
          </p:cNvSpPr>
          <p:nvPr>
            <p:ph type="title"/>
          </p:nvPr>
        </p:nvSpPr>
        <p:spPr>
          <a:xfrm>
            <a:off x="484552" y="194519"/>
            <a:ext cx="10869248" cy="1205491"/>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4CB514A-E7EA-41A8-ADBA-85CA1DF6D349}"/>
              </a:ext>
            </a:extLst>
          </p:cNvPr>
          <p:cNvSpPr>
            <a:spLocks noGrp="1"/>
          </p:cNvSpPr>
          <p:nvPr>
            <p:ph type="body" idx="1"/>
          </p:nvPr>
        </p:nvSpPr>
        <p:spPr>
          <a:xfrm>
            <a:off x="484552" y="2065467"/>
            <a:ext cx="10869248" cy="40963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19CB0BD-D6E3-4B3D-BCBB-6FECA5D6323C}"/>
              </a:ext>
            </a:extLst>
          </p:cNvPr>
          <p:cNvSpPr>
            <a:spLocks noGrp="1"/>
          </p:cNvSpPr>
          <p:nvPr>
            <p:ph type="dt" sz="half" idx="2"/>
          </p:nvPr>
        </p:nvSpPr>
        <p:spPr>
          <a:xfrm>
            <a:off x="146221" y="6357208"/>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1FC8E16-3C03-4238-9C6F-B34F3D10F77E}" type="datetime1">
              <a:rPr lang="en-US" smtClean="0"/>
              <a:t>8/2/2026</a:t>
            </a:fld>
            <a:endParaRPr lang="en-US" dirty="0"/>
          </a:p>
        </p:txBody>
      </p:sp>
      <p:sp>
        <p:nvSpPr>
          <p:cNvPr id="5" name="Footer Placeholder 4">
            <a:extLst>
              <a:ext uri="{FF2B5EF4-FFF2-40B4-BE49-F238E27FC236}">
                <a16:creationId xmlns:a16="http://schemas.microsoft.com/office/drawing/2014/main" id="{A84147F7-B466-4892-BE27-876F947515C8}"/>
              </a:ext>
            </a:extLst>
          </p:cNvPr>
          <p:cNvSpPr>
            <a:spLocks noGrp="1"/>
          </p:cNvSpPr>
          <p:nvPr>
            <p:ph type="ftr" sz="quarter" idx="3"/>
          </p:nvPr>
        </p:nvSpPr>
        <p:spPr>
          <a:xfrm>
            <a:off x="6270162" y="6356350"/>
            <a:ext cx="41148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64B4FE0-65CC-4435-A6AF-150E52F35BB8}"/>
              </a:ext>
            </a:extLst>
          </p:cNvPr>
          <p:cNvSpPr>
            <a:spLocks noGrp="1"/>
          </p:cNvSpPr>
          <p:nvPr>
            <p:ph type="sldNum" sz="quarter" idx="4"/>
          </p:nvPr>
        </p:nvSpPr>
        <p:spPr>
          <a:xfrm>
            <a:off x="10764983" y="6356350"/>
            <a:ext cx="128079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F646F3F-274D-499B-ABBE-824EB4ABDC3D}" type="slidenum">
              <a:rPr lang="en-US" smtClean="0"/>
              <a:pPr/>
              <a:t>‹#›</a:t>
            </a:fld>
            <a:endParaRPr lang="en-US" dirty="0"/>
          </a:p>
        </p:txBody>
      </p:sp>
    </p:spTree>
    <p:extLst>
      <p:ext uri="{BB962C8B-B14F-4D97-AF65-F5344CB8AC3E}">
        <p14:creationId xmlns:p14="http://schemas.microsoft.com/office/powerpoint/2010/main" val="4116567889"/>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7" r:id="rId6"/>
    <p:sldLayoutId id="2147483732" r:id="rId7"/>
    <p:sldLayoutId id="2147483733" r:id="rId8"/>
    <p:sldLayoutId id="2147483734" r:id="rId9"/>
    <p:sldLayoutId id="2147483736" r:id="rId10"/>
    <p:sldLayoutId id="2147483735" r:id="rId11"/>
  </p:sldLayoutIdLst>
  <p:hf sldNum="0" hdr="0" ftr="0" dt="0"/>
  <p:txStyles>
    <p:titleStyle>
      <a:lvl1pPr algn="l" defTabSz="914400" rtl="0" eaLnBrk="1" latinLnBrk="0" hangingPunct="1">
        <a:lnSpc>
          <a:spcPct val="100000"/>
        </a:lnSpc>
        <a:spcBef>
          <a:spcPct val="0"/>
        </a:spcBef>
        <a:buNone/>
        <a:defRPr sz="4800" kern="1200">
          <a:solidFill>
            <a:schemeClr val="bg1"/>
          </a:solidFill>
          <a:latin typeface="Cambria" panose="02040503050406030204" pitchFamily="18" charset="0"/>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2000" kern="1200">
          <a:solidFill>
            <a:schemeClr val="tx1"/>
          </a:solidFill>
          <a:latin typeface="Cambria" panose="02040503050406030204" pitchFamily="18" charset="0"/>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Cambria" panose="02040503050406030204" pitchFamily="18" charset="0"/>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600" kern="1200">
          <a:solidFill>
            <a:schemeClr val="tx1"/>
          </a:solidFill>
          <a:latin typeface="Cambria" panose="02040503050406030204" pitchFamily="18" charset="0"/>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Cambria" panose="02040503050406030204" pitchFamily="18" charset="0"/>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w3schools.com/python/python_regex.asp" TargetMode="External"/><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A26A151-13BF-4305-A6DC-9DC7C9877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EFFDDA6-2CAE-438F-B0D6-FF4E710E24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29884" y="6324431"/>
            <a:ext cx="62116" cy="4289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Rectangle 31">
            <a:extLst>
              <a:ext uri="{FF2B5EF4-FFF2-40B4-BE49-F238E27FC236}">
                <a16:creationId xmlns:a16="http://schemas.microsoft.com/office/drawing/2014/main" id="{F06B261F-632C-43DC-8DC7-7723B3682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4E524C7F-EE50-42C5-9434-7C78CE0444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3644" cy="68613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AF8BA2-5609-1185-67AB-D0B477AE412E}"/>
              </a:ext>
            </a:extLst>
          </p:cNvPr>
          <p:cNvSpPr>
            <a:spLocks noGrp="1"/>
          </p:cNvSpPr>
          <p:nvPr>
            <p:ph type="ctrTitle"/>
          </p:nvPr>
        </p:nvSpPr>
        <p:spPr>
          <a:xfrm>
            <a:off x="430122" y="365125"/>
            <a:ext cx="5436288" cy="2430030"/>
          </a:xfrm>
        </p:spPr>
        <p:txBody>
          <a:bodyPr vert="horz" lIns="91440" tIns="45720" rIns="91440" bIns="45720" rtlCol="0" anchor="b">
            <a:normAutofit/>
          </a:bodyPr>
          <a:lstStyle/>
          <a:p>
            <a:r>
              <a:rPr lang="en-US" dirty="0"/>
              <a:t>Cleaning the Data</a:t>
            </a:r>
          </a:p>
        </p:txBody>
      </p:sp>
      <p:sp>
        <p:nvSpPr>
          <p:cNvPr id="3" name="Subtitle 2">
            <a:extLst>
              <a:ext uri="{FF2B5EF4-FFF2-40B4-BE49-F238E27FC236}">
                <a16:creationId xmlns:a16="http://schemas.microsoft.com/office/drawing/2014/main" id="{4B14F7A9-0B69-50D3-EFD6-01EB73B91590}"/>
              </a:ext>
            </a:extLst>
          </p:cNvPr>
          <p:cNvSpPr>
            <a:spLocks noGrp="1"/>
          </p:cNvSpPr>
          <p:nvPr>
            <p:ph type="subTitle" idx="1"/>
          </p:nvPr>
        </p:nvSpPr>
        <p:spPr>
          <a:xfrm>
            <a:off x="484552" y="3054927"/>
            <a:ext cx="5022630" cy="3122036"/>
          </a:xfrm>
        </p:spPr>
        <p:txBody>
          <a:bodyPr vert="horz" lIns="91440" tIns="45720" rIns="91440" bIns="45720" rtlCol="0">
            <a:normAutofit/>
          </a:bodyPr>
          <a:lstStyle/>
          <a:p>
            <a:r>
              <a:rPr lang="en-US">
                <a:solidFill>
                  <a:schemeClr val="bg1"/>
                </a:solidFill>
              </a:rPr>
              <a:t>SIT112 | Intro to Data Science &amp; AI</a:t>
            </a:r>
          </a:p>
          <a:p>
            <a:r>
              <a:rPr lang="en-US">
                <a:solidFill>
                  <a:schemeClr val="bg1"/>
                </a:solidFill>
              </a:rPr>
              <a:t>Lecture </a:t>
            </a:r>
            <a:r>
              <a:rPr lang="en-US" dirty="0">
                <a:solidFill>
                  <a:schemeClr val="bg1"/>
                </a:solidFill>
              </a:rPr>
              <a:t>Week 5</a:t>
            </a:r>
          </a:p>
          <a:p>
            <a:endParaRPr lang="en-US" dirty="0">
              <a:solidFill>
                <a:schemeClr val="bg1"/>
              </a:solidFill>
            </a:endParaRPr>
          </a:p>
          <a:p>
            <a:endParaRPr lang="en-US" dirty="0">
              <a:solidFill>
                <a:schemeClr val="bg1"/>
              </a:solidFill>
            </a:endParaRPr>
          </a:p>
        </p:txBody>
      </p:sp>
      <p:pic>
        <p:nvPicPr>
          <p:cNvPr id="23" name="Picture 12">
            <a:extLst>
              <a:ext uri="{FF2B5EF4-FFF2-40B4-BE49-F238E27FC236}">
                <a16:creationId xmlns:a16="http://schemas.microsoft.com/office/drawing/2014/main" id="{27DDA6F5-26EC-28A4-45B4-8F5AB8D9F2F9}"/>
              </a:ext>
            </a:extLst>
          </p:cNvPr>
          <p:cNvPicPr>
            <a:picLocks noChangeAspect="1"/>
          </p:cNvPicPr>
          <p:nvPr/>
        </p:nvPicPr>
        <p:blipFill rotWithShape="1">
          <a:blip r:embed="rId3"/>
          <a:srcRect l="27964" r="9242"/>
          <a:stretch/>
        </p:blipFill>
        <p:spPr>
          <a:xfrm>
            <a:off x="6083645" y="10"/>
            <a:ext cx="6108356" cy="6857990"/>
          </a:xfrm>
          <a:prstGeom prst="rect">
            <a:avLst/>
          </a:prstGeom>
        </p:spPr>
      </p:pic>
      <p:sp>
        <p:nvSpPr>
          <p:cNvPr id="6" name="TextBox 5">
            <a:extLst>
              <a:ext uri="{FF2B5EF4-FFF2-40B4-BE49-F238E27FC236}">
                <a16:creationId xmlns:a16="http://schemas.microsoft.com/office/drawing/2014/main" id="{60EB6CD3-1079-C315-AFA6-5381F1AB7B61}"/>
              </a:ext>
            </a:extLst>
          </p:cNvPr>
          <p:cNvSpPr txBox="1"/>
          <p:nvPr/>
        </p:nvSpPr>
        <p:spPr>
          <a:xfrm>
            <a:off x="484552" y="5054351"/>
            <a:ext cx="6096000" cy="1184940"/>
          </a:xfrm>
          <a:prstGeom prst="rect">
            <a:avLst/>
          </a:prstGeom>
          <a:noFill/>
        </p:spPr>
        <p:txBody>
          <a:bodyPr wrap="square">
            <a:spAutoFit/>
          </a:bodyPr>
          <a:lstStyle/>
          <a:p>
            <a:pPr>
              <a:spcAft>
                <a:spcPts val="600"/>
              </a:spcAft>
            </a:pPr>
            <a:r>
              <a:rPr lang="en-US" sz="1400" dirty="0">
                <a:solidFill>
                  <a:schemeClr val="bg1"/>
                </a:solidFill>
                <a:latin typeface="Cambria" panose="02040503050406030204" pitchFamily="18" charset="0"/>
              </a:rPr>
              <a:t>Dr Fatima </a:t>
            </a:r>
            <a:r>
              <a:rPr lang="en-US" sz="1400" dirty="0" err="1">
                <a:solidFill>
                  <a:schemeClr val="bg1"/>
                </a:solidFill>
                <a:latin typeface="Cambria" panose="02040503050406030204" pitchFamily="18" charset="0"/>
              </a:rPr>
              <a:t>ansarizadeh</a:t>
            </a:r>
            <a:endParaRPr lang="en-US" sz="1400" dirty="0">
              <a:solidFill>
                <a:schemeClr val="bg1"/>
              </a:solidFill>
              <a:latin typeface="Cambria" panose="02040503050406030204" pitchFamily="18" charset="0"/>
            </a:endParaRPr>
          </a:p>
          <a:p>
            <a:pPr>
              <a:spcAft>
                <a:spcPts val="600"/>
              </a:spcAft>
            </a:pPr>
            <a:r>
              <a:rPr lang="en-US" sz="1400" dirty="0">
                <a:solidFill>
                  <a:schemeClr val="bg1"/>
                </a:solidFill>
                <a:latin typeface="Cambria" panose="02040503050406030204" pitchFamily="18" charset="0"/>
              </a:rPr>
              <a:t>Lecturer in Applied AI</a:t>
            </a:r>
          </a:p>
          <a:p>
            <a:pPr>
              <a:spcAft>
                <a:spcPts val="600"/>
              </a:spcAft>
            </a:pPr>
            <a:r>
              <a:rPr lang="en-US" sz="1400" dirty="0">
                <a:solidFill>
                  <a:schemeClr val="bg1"/>
                </a:solidFill>
                <a:latin typeface="Cambria" panose="02040503050406030204" pitchFamily="18" charset="0"/>
              </a:rPr>
              <a:t>School of Information Technology, Deakin University</a:t>
            </a:r>
          </a:p>
          <a:p>
            <a:pPr>
              <a:spcAft>
                <a:spcPts val="600"/>
              </a:spcAft>
            </a:pPr>
            <a:r>
              <a:rPr lang="en-US" sz="1400" dirty="0">
                <a:solidFill>
                  <a:schemeClr val="bg1"/>
                </a:solidFill>
                <a:latin typeface="Cambria" panose="02040503050406030204" pitchFamily="18" charset="0"/>
              </a:rPr>
              <a:t>Email: f.ansarizadeh@deakin.edu.au</a:t>
            </a:r>
          </a:p>
        </p:txBody>
      </p:sp>
      <p:pic>
        <p:nvPicPr>
          <p:cNvPr id="2056" name="Picture 8" descr="Free Artificial Intelligence Brain illustration and picture">
            <a:extLst>
              <a:ext uri="{FF2B5EF4-FFF2-40B4-BE49-F238E27FC236}">
                <a16:creationId xmlns:a16="http://schemas.microsoft.com/office/drawing/2014/main" id="{2CAC7885-F5FC-9728-CD03-112A71453C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7321" y="1552489"/>
            <a:ext cx="6096000" cy="406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2387644"/>
      </p:ext>
    </p:extLst>
  </p:cSld>
  <p:clrMapOvr>
    <a:masterClrMapping/>
  </p:clrMapOvr>
  <mc:AlternateContent xmlns:mc="http://schemas.openxmlformats.org/markup-compatibility/2006" xmlns:p14="http://schemas.microsoft.com/office/powerpoint/2010/main">
    <mc:Choice Requires="p14">
      <p:transition spd="slow" p14:dur="2000" advTm="8256"/>
    </mc:Choice>
    <mc:Fallback xmlns="">
      <p:transition spd="slow" advTm="825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7023783-1BA7-4B53-8EDC-B7F22732F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B8B7D45-C71F-4FD6-BE9F-31CB2467817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305878"/>
            <a:ext cx="12192000" cy="4552121"/>
            <a:chOff x="6096002" y="-9073"/>
            <a:chExt cx="6095998" cy="6867073"/>
          </a:xfrm>
        </p:grpSpPr>
        <p:sp>
          <p:nvSpPr>
            <p:cNvPr id="13" name="Rectangle 12">
              <a:extLst>
                <a:ext uri="{FF2B5EF4-FFF2-40B4-BE49-F238E27FC236}">
                  <a16:creationId xmlns:a16="http://schemas.microsoft.com/office/drawing/2014/main" id="{4F0E55DB-2DD2-4990-952E-AF7499C79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31DE2E-D7A0-4137-B8A6-3F996F89AD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Rectangle 15">
            <a:extLst>
              <a:ext uri="{FF2B5EF4-FFF2-40B4-BE49-F238E27FC236}">
                <a16:creationId xmlns:a16="http://schemas.microsoft.com/office/drawing/2014/main" id="{0BEECA9E-C489-4B62-9103-5A6D60EA2D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2913"/>
            <a:ext cx="6095996" cy="23187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3EA757A-1DC5-4610-897D-1BF798A5DCF5}"/>
              </a:ext>
            </a:extLst>
          </p:cNvPr>
          <p:cNvSpPr>
            <a:spLocks noGrp="1"/>
          </p:cNvSpPr>
          <p:nvPr>
            <p:ph type="title"/>
          </p:nvPr>
        </p:nvSpPr>
        <p:spPr>
          <a:xfrm>
            <a:off x="484552" y="398495"/>
            <a:ext cx="5251230" cy="1601755"/>
          </a:xfrm>
        </p:spPr>
        <p:txBody>
          <a:bodyPr>
            <a:normAutofit/>
          </a:bodyPr>
          <a:lstStyle/>
          <a:p>
            <a:r>
              <a:rPr lang="en-US" sz="4400" dirty="0"/>
              <a:t>Objectives</a:t>
            </a:r>
          </a:p>
        </p:txBody>
      </p:sp>
      <p:pic>
        <p:nvPicPr>
          <p:cNvPr id="7" name="Graphic 6" descr="Open Folder">
            <a:extLst>
              <a:ext uri="{FF2B5EF4-FFF2-40B4-BE49-F238E27FC236}">
                <a16:creationId xmlns:a16="http://schemas.microsoft.com/office/drawing/2014/main" id="{19126D58-8FBC-653D-8295-1FBF59F14F8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25363" y="136526"/>
            <a:ext cx="1973954" cy="1973954"/>
          </a:xfrm>
          <a:prstGeom prst="rect">
            <a:avLst/>
          </a:prstGeom>
        </p:spPr>
      </p:pic>
      <p:sp>
        <p:nvSpPr>
          <p:cNvPr id="3" name="Content Placeholder 2">
            <a:extLst>
              <a:ext uri="{FF2B5EF4-FFF2-40B4-BE49-F238E27FC236}">
                <a16:creationId xmlns:a16="http://schemas.microsoft.com/office/drawing/2014/main" id="{35A7EBEF-C5EF-C27F-584B-2C710C594F8F}"/>
              </a:ext>
            </a:extLst>
          </p:cNvPr>
          <p:cNvSpPr>
            <a:spLocks noGrp="1"/>
          </p:cNvSpPr>
          <p:nvPr>
            <p:ph idx="1"/>
          </p:nvPr>
        </p:nvSpPr>
        <p:spPr>
          <a:xfrm>
            <a:off x="408918" y="2668088"/>
            <a:ext cx="11699309" cy="3496539"/>
          </a:xfrm>
        </p:spPr>
        <p:txBody>
          <a:bodyPr>
            <a:noAutofit/>
          </a:bodyPr>
          <a:lstStyle/>
          <a:p>
            <a:pPr marL="342900" marR="228600" lvl="0" indent="-342900">
              <a:spcBef>
                <a:spcPts val="0"/>
              </a:spcBef>
              <a:spcAft>
                <a:spcPts val="600"/>
              </a:spcAft>
              <a:buFont typeface="+mj-lt"/>
              <a:buAutoNum type="arabicPeriod"/>
            </a:pPr>
            <a:r>
              <a:rPr lang="en-US" sz="1800" dirty="0">
                <a:effectLst/>
                <a:ea typeface="Times New Roman" panose="02020603050405020304" pitchFamily="18" charset="0"/>
              </a:rPr>
              <a:t>Identify the </a:t>
            </a:r>
            <a:r>
              <a:rPr lang="en-US" sz="1800" dirty="0">
                <a:effectLst/>
                <a:highlight>
                  <a:srgbClr val="FFFF00"/>
                </a:highlight>
                <a:ea typeface="Times New Roman" panose="02020603050405020304" pitchFamily="18" charset="0"/>
              </a:rPr>
              <a:t>data problems </a:t>
            </a:r>
            <a:r>
              <a:rPr lang="en-US" sz="1800" dirty="0">
                <a:effectLst/>
                <a:ea typeface="Times New Roman" panose="02020603050405020304" pitchFamily="18" charset="0"/>
              </a:rPr>
              <a:t>in a </a:t>
            </a:r>
            <a:r>
              <a:rPr lang="en-US" sz="1800" dirty="0" err="1">
                <a:effectLst/>
                <a:ea typeface="Times New Roman" panose="02020603050405020304" pitchFamily="18" charset="0"/>
              </a:rPr>
              <a:t>DataFrame</a:t>
            </a:r>
            <a:r>
              <a:rPr lang="en-US" sz="1800" dirty="0">
                <a:effectLst/>
                <a:ea typeface="Times New Roman" panose="02020603050405020304" pitchFamily="18" charset="0"/>
              </a:rPr>
              <a:t> by using the </a:t>
            </a:r>
            <a:r>
              <a:rPr lang="en-US" sz="1800" dirty="0">
                <a:effectLst/>
                <a:highlight>
                  <a:srgbClr val="FFFF00"/>
                </a:highlight>
                <a:ea typeface="Times New Roman" panose="02020603050405020304" pitchFamily="18" charset="0"/>
              </a:rPr>
              <a:t>info(), unique(), </a:t>
            </a:r>
            <a:r>
              <a:rPr lang="en-US" sz="1800" dirty="0" err="1">
                <a:effectLst/>
                <a:highlight>
                  <a:srgbClr val="FFFF00"/>
                </a:highlight>
                <a:ea typeface="Times New Roman" panose="02020603050405020304" pitchFamily="18" charset="0"/>
              </a:rPr>
              <a:t>nunique</a:t>
            </a:r>
            <a:r>
              <a:rPr lang="en-US" sz="1800" dirty="0">
                <a:effectLst/>
                <a:highlight>
                  <a:srgbClr val="FFFF00"/>
                </a:highlight>
                <a:ea typeface="Times New Roman" panose="02020603050405020304" pitchFamily="18" charset="0"/>
              </a:rPr>
              <a:t>(), and </a:t>
            </a:r>
            <a:r>
              <a:rPr lang="en-US" sz="1800" dirty="0" err="1">
                <a:effectLst/>
                <a:highlight>
                  <a:srgbClr val="FFFF00"/>
                </a:highlight>
                <a:ea typeface="Times New Roman" panose="02020603050405020304" pitchFamily="18" charset="0"/>
              </a:rPr>
              <a:t>value_counts</a:t>
            </a:r>
            <a:r>
              <a:rPr lang="en-US" sz="1800" dirty="0">
                <a:effectLst/>
                <a:highlight>
                  <a:srgbClr val="FFFF00"/>
                </a:highlight>
                <a:ea typeface="Times New Roman" panose="02020603050405020304" pitchFamily="18" charset="0"/>
              </a:rPr>
              <a:t>() </a:t>
            </a:r>
            <a:r>
              <a:rPr lang="en-US" sz="1800" dirty="0">
                <a:effectLst/>
                <a:ea typeface="Times New Roman" panose="02020603050405020304" pitchFamily="18" charset="0"/>
              </a:rPr>
              <a:t>methods.</a:t>
            </a:r>
            <a:endParaRPr lang="en-US" sz="1050" dirty="0">
              <a:effectLst/>
              <a:ea typeface="Times New Roman" panose="02020603050405020304" pitchFamily="18" charset="0"/>
            </a:endParaRPr>
          </a:p>
          <a:p>
            <a:pPr marL="342900" marR="228600" lvl="0" indent="-342900">
              <a:spcBef>
                <a:spcPts val="0"/>
              </a:spcBef>
              <a:spcAft>
                <a:spcPts val="600"/>
              </a:spcAft>
              <a:buFont typeface="+mj-lt"/>
              <a:buAutoNum type="arabicPeriod"/>
            </a:pPr>
            <a:r>
              <a:rPr lang="en-US" sz="1800" dirty="0">
                <a:effectLst/>
                <a:highlight>
                  <a:srgbClr val="FFFF00"/>
                </a:highlight>
                <a:ea typeface="Times New Roman" panose="02020603050405020304" pitchFamily="18" charset="0"/>
              </a:rPr>
              <a:t>Remove duplicate </a:t>
            </a:r>
            <a:r>
              <a:rPr lang="en-US" sz="1800" dirty="0">
                <a:effectLst/>
                <a:ea typeface="Times New Roman" panose="02020603050405020304" pitchFamily="18" charset="0"/>
              </a:rPr>
              <a:t>rows from a </a:t>
            </a:r>
            <a:r>
              <a:rPr lang="en-US" sz="1800" dirty="0" err="1">
                <a:effectLst/>
                <a:ea typeface="Times New Roman" panose="02020603050405020304" pitchFamily="18" charset="0"/>
              </a:rPr>
              <a:t>DataFrame</a:t>
            </a:r>
            <a:r>
              <a:rPr lang="en-US" sz="1800" dirty="0">
                <a:effectLst/>
                <a:ea typeface="Times New Roman" panose="02020603050405020304" pitchFamily="18" charset="0"/>
              </a:rPr>
              <a:t>.</a:t>
            </a:r>
            <a:endParaRPr lang="en-US" sz="1050" dirty="0">
              <a:effectLst/>
              <a:ea typeface="Times New Roman" panose="02020603050405020304" pitchFamily="18" charset="0"/>
            </a:endParaRPr>
          </a:p>
          <a:p>
            <a:pPr marL="342900" marR="228600" lvl="0" indent="-342900">
              <a:spcBef>
                <a:spcPts val="0"/>
              </a:spcBef>
              <a:spcAft>
                <a:spcPts val="600"/>
              </a:spcAft>
              <a:buFont typeface="+mj-lt"/>
              <a:buAutoNum type="arabicPeriod"/>
            </a:pPr>
            <a:r>
              <a:rPr lang="en-US" sz="1800" dirty="0">
                <a:effectLst/>
                <a:highlight>
                  <a:srgbClr val="FFFF00"/>
                </a:highlight>
                <a:ea typeface="Times New Roman" panose="02020603050405020304" pitchFamily="18" charset="0"/>
              </a:rPr>
              <a:t>Drop unnecessary </a:t>
            </a:r>
            <a:r>
              <a:rPr lang="en-US" sz="1800" dirty="0">
                <a:effectLst/>
                <a:ea typeface="Times New Roman" panose="02020603050405020304" pitchFamily="18" charset="0"/>
              </a:rPr>
              <a:t>rows and columns in a </a:t>
            </a:r>
            <a:r>
              <a:rPr lang="en-US" sz="1800" dirty="0" err="1">
                <a:effectLst/>
                <a:ea typeface="Times New Roman" panose="02020603050405020304" pitchFamily="18" charset="0"/>
              </a:rPr>
              <a:t>DataFrame</a:t>
            </a:r>
            <a:r>
              <a:rPr lang="en-US" sz="1800" dirty="0">
                <a:effectLst/>
                <a:ea typeface="Times New Roman" panose="02020603050405020304" pitchFamily="18" charset="0"/>
              </a:rPr>
              <a:t>.</a:t>
            </a:r>
            <a:endParaRPr lang="en-US" sz="1050" dirty="0">
              <a:effectLst/>
              <a:ea typeface="Times New Roman" panose="02020603050405020304" pitchFamily="18" charset="0"/>
            </a:endParaRPr>
          </a:p>
          <a:p>
            <a:pPr marL="342900" marR="228600" lvl="0" indent="-342900">
              <a:spcBef>
                <a:spcPts val="0"/>
              </a:spcBef>
              <a:spcAft>
                <a:spcPts val="600"/>
              </a:spcAft>
              <a:buFont typeface="+mj-lt"/>
              <a:buAutoNum type="arabicPeriod"/>
            </a:pPr>
            <a:r>
              <a:rPr lang="en-US" sz="1800" dirty="0">
                <a:effectLst/>
                <a:highlight>
                  <a:srgbClr val="FFFF00"/>
                </a:highlight>
                <a:ea typeface="Times New Roman" panose="02020603050405020304" pitchFamily="18" charset="0"/>
              </a:rPr>
              <a:t>Rename</a:t>
            </a:r>
            <a:r>
              <a:rPr lang="en-US" sz="1800" dirty="0">
                <a:effectLst/>
                <a:ea typeface="Times New Roman" panose="02020603050405020304" pitchFamily="18" charset="0"/>
              </a:rPr>
              <a:t> columns so the names are easier to understand.</a:t>
            </a:r>
            <a:endParaRPr lang="en-US" sz="1050" dirty="0">
              <a:effectLst/>
              <a:ea typeface="Times New Roman" panose="02020603050405020304" pitchFamily="18" charset="0"/>
            </a:endParaRPr>
          </a:p>
          <a:p>
            <a:pPr marL="342900" marR="228600" lvl="0" indent="-342900">
              <a:spcBef>
                <a:spcPts val="0"/>
              </a:spcBef>
              <a:spcAft>
                <a:spcPts val="600"/>
              </a:spcAft>
              <a:buFont typeface="+mj-lt"/>
              <a:buAutoNum type="arabicPeriod"/>
            </a:pPr>
            <a:r>
              <a:rPr lang="en-US" sz="1800" dirty="0">
                <a:effectLst/>
                <a:highlight>
                  <a:srgbClr val="FFFF00"/>
                </a:highlight>
                <a:ea typeface="Times New Roman" panose="02020603050405020304" pitchFamily="18" charset="0"/>
              </a:rPr>
              <a:t>Find and fix the missing values </a:t>
            </a:r>
            <a:r>
              <a:rPr lang="en-US" sz="1800" dirty="0">
                <a:effectLst/>
                <a:ea typeface="Times New Roman" panose="02020603050405020304" pitchFamily="18" charset="0"/>
              </a:rPr>
              <a:t>in a </a:t>
            </a:r>
            <a:r>
              <a:rPr lang="en-US" sz="1800" dirty="0" err="1">
                <a:effectLst/>
                <a:ea typeface="Times New Roman" panose="02020603050405020304" pitchFamily="18" charset="0"/>
              </a:rPr>
              <a:t>DataFrame</a:t>
            </a:r>
            <a:r>
              <a:rPr lang="en-US" sz="1800" dirty="0">
                <a:effectLst/>
                <a:ea typeface="Times New Roman" panose="02020603050405020304" pitchFamily="18" charset="0"/>
              </a:rPr>
              <a:t>.</a:t>
            </a:r>
            <a:endParaRPr lang="en-US" sz="1050" dirty="0">
              <a:effectLst/>
              <a:ea typeface="Times New Roman" panose="02020603050405020304" pitchFamily="18" charset="0"/>
            </a:endParaRPr>
          </a:p>
          <a:p>
            <a:pPr marL="342900" marR="228600" lvl="0" indent="-342900">
              <a:spcBef>
                <a:spcPts val="0"/>
              </a:spcBef>
              <a:spcAft>
                <a:spcPts val="600"/>
              </a:spcAft>
              <a:buFont typeface="+mj-lt"/>
              <a:buAutoNum type="arabicPeriod"/>
            </a:pPr>
            <a:r>
              <a:rPr lang="en-US" sz="1800" dirty="0">
                <a:effectLst/>
                <a:ea typeface="Times New Roman" panose="02020603050405020304" pitchFamily="18" charset="0"/>
              </a:rPr>
              <a:t>Find and fix </a:t>
            </a:r>
            <a:r>
              <a:rPr lang="en-US" sz="1800" dirty="0">
                <a:effectLst/>
                <a:highlight>
                  <a:srgbClr val="FFFF00"/>
                </a:highlight>
                <a:ea typeface="Times New Roman" panose="02020603050405020304" pitchFamily="18" charset="0"/>
              </a:rPr>
              <a:t>datetime</a:t>
            </a:r>
            <a:r>
              <a:rPr lang="en-US" sz="1800" dirty="0">
                <a:effectLst/>
                <a:ea typeface="Times New Roman" panose="02020603050405020304" pitchFamily="18" charset="0"/>
              </a:rPr>
              <a:t> and </a:t>
            </a:r>
            <a:r>
              <a:rPr lang="en-US" sz="1800" dirty="0">
                <a:effectLst/>
                <a:highlight>
                  <a:srgbClr val="FFFF00"/>
                </a:highlight>
                <a:ea typeface="Times New Roman" panose="02020603050405020304" pitchFamily="18" charset="0"/>
              </a:rPr>
              <a:t>numeric</a:t>
            </a:r>
            <a:r>
              <a:rPr lang="en-US" sz="1800" dirty="0">
                <a:effectLst/>
                <a:ea typeface="Times New Roman" panose="02020603050405020304" pitchFamily="18" charset="0"/>
              </a:rPr>
              <a:t> columns that are </a:t>
            </a:r>
            <a:r>
              <a:rPr lang="en-US" sz="1800" dirty="0">
                <a:effectLst/>
                <a:highlight>
                  <a:srgbClr val="FFFF00"/>
                </a:highlight>
                <a:ea typeface="Times New Roman" panose="02020603050405020304" pitchFamily="18" charset="0"/>
              </a:rPr>
              <a:t>imported as object </a:t>
            </a:r>
            <a:r>
              <a:rPr lang="en-US" sz="1800" dirty="0">
                <a:effectLst/>
                <a:ea typeface="Times New Roman" panose="02020603050405020304" pitchFamily="18" charset="0"/>
              </a:rPr>
              <a:t>data types.</a:t>
            </a:r>
            <a:endParaRPr lang="en-US" sz="1050" dirty="0">
              <a:effectLst/>
              <a:ea typeface="Times New Roman" panose="02020603050405020304" pitchFamily="18" charset="0"/>
            </a:endParaRPr>
          </a:p>
          <a:p>
            <a:pPr marL="342900" marR="228600" lvl="0" indent="-342900">
              <a:spcBef>
                <a:spcPts val="0"/>
              </a:spcBef>
              <a:spcAft>
                <a:spcPts val="600"/>
              </a:spcAft>
              <a:buFont typeface="+mj-lt"/>
              <a:buAutoNum type="arabicPeriod"/>
            </a:pPr>
            <a:r>
              <a:rPr lang="en-US" sz="1800" dirty="0">
                <a:effectLst/>
                <a:ea typeface="Times New Roman" panose="02020603050405020304" pitchFamily="18" charset="0"/>
              </a:rPr>
              <a:t>Replace the </a:t>
            </a:r>
            <a:r>
              <a:rPr lang="en-US" sz="1800" dirty="0">
                <a:effectLst/>
                <a:highlight>
                  <a:srgbClr val="FFFF00"/>
                </a:highlight>
                <a:ea typeface="Times New Roman" panose="02020603050405020304" pitchFamily="18" charset="0"/>
              </a:rPr>
              <a:t>invalid values </a:t>
            </a:r>
            <a:r>
              <a:rPr lang="en-US" sz="1800" dirty="0">
                <a:effectLst/>
                <a:ea typeface="Times New Roman" panose="02020603050405020304" pitchFamily="18" charset="0"/>
              </a:rPr>
              <a:t>in a column and </a:t>
            </a:r>
            <a:r>
              <a:rPr lang="en-US" sz="1800" dirty="0">
                <a:effectLst/>
                <a:highlight>
                  <a:srgbClr val="FFFF00"/>
                </a:highlight>
                <a:ea typeface="Times New Roman" panose="02020603050405020304" pitchFamily="18" charset="0"/>
              </a:rPr>
              <a:t>convert the column to the right data type</a:t>
            </a:r>
            <a:r>
              <a:rPr lang="en-US" sz="1800" dirty="0">
                <a:effectLst/>
                <a:ea typeface="Times New Roman" panose="02020603050405020304" pitchFamily="18" charset="0"/>
              </a:rPr>
              <a:t>.</a:t>
            </a:r>
            <a:endParaRPr lang="en-US" sz="1050" dirty="0">
              <a:effectLst/>
              <a:ea typeface="Times New Roman" panose="02020603050405020304" pitchFamily="18" charset="0"/>
            </a:endParaRPr>
          </a:p>
          <a:p>
            <a:pPr marL="342900" marR="228600" lvl="0" indent="-342900">
              <a:spcBef>
                <a:spcPts val="0"/>
              </a:spcBef>
              <a:spcAft>
                <a:spcPts val="600"/>
              </a:spcAft>
              <a:buFont typeface="+mj-lt"/>
              <a:buAutoNum type="arabicPeriod"/>
            </a:pPr>
            <a:r>
              <a:rPr lang="en-US" sz="1800" dirty="0">
                <a:effectLst/>
                <a:ea typeface="Times New Roman" panose="02020603050405020304" pitchFamily="18" charset="0"/>
              </a:rPr>
              <a:t>Find and fix </a:t>
            </a:r>
            <a:r>
              <a:rPr lang="en-US" sz="1800" dirty="0">
                <a:effectLst/>
                <a:highlight>
                  <a:srgbClr val="FFFF00"/>
                </a:highlight>
                <a:ea typeface="Times New Roman" panose="02020603050405020304" pitchFamily="18" charset="0"/>
              </a:rPr>
              <a:t>outliers</a:t>
            </a:r>
            <a:r>
              <a:rPr lang="en-US" sz="1800" dirty="0">
                <a:effectLst/>
                <a:ea typeface="Times New Roman" panose="02020603050405020304" pitchFamily="18" charset="0"/>
              </a:rPr>
              <a:t>.</a:t>
            </a:r>
          </a:p>
          <a:p>
            <a:pPr>
              <a:lnSpc>
                <a:spcPct val="110000"/>
              </a:lnSpc>
            </a:pPr>
            <a:endParaRPr lang="en-US" sz="1800" dirty="0"/>
          </a:p>
        </p:txBody>
      </p:sp>
    </p:spTree>
    <p:extLst>
      <p:ext uri="{BB962C8B-B14F-4D97-AF65-F5344CB8AC3E}">
        <p14:creationId xmlns:p14="http://schemas.microsoft.com/office/powerpoint/2010/main" val="3931624780"/>
      </p:ext>
    </p:extLst>
  </p:cSld>
  <p:clrMapOvr>
    <a:masterClrMapping/>
  </p:clrMapOvr>
  <mc:AlternateContent xmlns:mc="http://schemas.openxmlformats.org/markup-compatibility/2006" xmlns:p14="http://schemas.microsoft.com/office/powerpoint/2010/main">
    <mc:Choice Requires="p14">
      <p:transition spd="slow" p14:dur="2000" advTm="43306"/>
    </mc:Choice>
    <mc:Fallback xmlns="">
      <p:transition spd="slow" advTm="4330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Slide Background">
            <a:extLst>
              <a:ext uri="{FF2B5EF4-FFF2-40B4-BE49-F238E27FC236}">
                <a16:creationId xmlns:a16="http://schemas.microsoft.com/office/drawing/2014/main" id="{B874FC77-B1AD-4469-830E-1F1D54FBB4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 up of circuit board">
            <a:extLst>
              <a:ext uri="{FF2B5EF4-FFF2-40B4-BE49-F238E27FC236}">
                <a16:creationId xmlns:a16="http://schemas.microsoft.com/office/drawing/2014/main" id="{F87B63FE-3AC2-C03F-5C84-376CF2BBC77A}"/>
              </a:ext>
            </a:extLst>
          </p:cNvPr>
          <p:cNvPicPr>
            <a:picLocks noChangeAspect="1"/>
          </p:cNvPicPr>
          <p:nvPr/>
        </p:nvPicPr>
        <p:blipFill rotWithShape="1">
          <a:blip r:embed="rId3"/>
          <a:srcRect t="7109" b="8621"/>
          <a:stretch/>
        </p:blipFill>
        <p:spPr>
          <a:xfrm>
            <a:off x="20" y="10"/>
            <a:ext cx="12191979" cy="6857988"/>
          </a:xfrm>
          <a:prstGeom prst="rect">
            <a:avLst/>
          </a:prstGeom>
          <a:effectLst>
            <a:outerShdw blurRad="596900" dist="330200" dir="8820000" sx="87000" sy="87000" algn="ctr" rotWithShape="0">
              <a:srgbClr val="000000">
                <a:alpha val="29000"/>
              </a:srgbClr>
            </a:outerShdw>
          </a:effectLst>
        </p:spPr>
      </p:pic>
      <p:sp>
        <p:nvSpPr>
          <p:cNvPr id="13" name="Rectangle 12">
            <a:extLst>
              <a:ext uri="{FF2B5EF4-FFF2-40B4-BE49-F238E27FC236}">
                <a16:creationId xmlns:a16="http://schemas.microsoft.com/office/drawing/2014/main" id="{A6834A66-723F-4B47-BF01-F6D4B2A1B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6027"/>
            <a:ext cx="12192000" cy="22819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0426C9F-24EB-EDCE-3456-4830A6362F98}"/>
              </a:ext>
            </a:extLst>
          </p:cNvPr>
          <p:cNvSpPr>
            <a:spLocks noGrp="1"/>
          </p:cNvSpPr>
          <p:nvPr>
            <p:ph type="title"/>
          </p:nvPr>
        </p:nvSpPr>
        <p:spPr>
          <a:xfrm>
            <a:off x="322729" y="4850597"/>
            <a:ext cx="7885099" cy="1374756"/>
          </a:xfrm>
        </p:spPr>
        <p:txBody>
          <a:bodyPr vert="horz" lIns="91440" tIns="45720" rIns="91440" bIns="45720" rtlCol="0" anchor="ctr">
            <a:normAutofit/>
          </a:bodyPr>
          <a:lstStyle/>
          <a:p>
            <a:r>
              <a:rPr lang="en-US" sz="4000" dirty="0"/>
              <a:t>Introduction to Data Cleaning</a:t>
            </a:r>
          </a:p>
        </p:txBody>
      </p:sp>
    </p:spTree>
    <p:extLst>
      <p:ext uri="{BB962C8B-B14F-4D97-AF65-F5344CB8AC3E}">
        <p14:creationId xmlns:p14="http://schemas.microsoft.com/office/powerpoint/2010/main" val="2979927982"/>
      </p:ext>
    </p:extLst>
  </p:cSld>
  <p:clrMapOvr>
    <a:masterClrMapping/>
  </p:clrMapOvr>
  <mc:AlternateContent xmlns:mc="http://schemas.openxmlformats.org/markup-compatibility/2006" xmlns:p14="http://schemas.microsoft.com/office/powerpoint/2010/main">
    <mc:Choice Requires="p14">
      <p:transition spd="slow" p14:dur="2000" advTm="6090"/>
    </mc:Choice>
    <mc:Fallback xmlns="">
      <p:transition spd="slow" advTm="609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1F59E-7439-1F31-4401-ABDE7F837F06}"/>
              </a:ext>
            </a:extLst>
          </p:cNvPr>
          <p:cNvSpPr>
            <a:spLocks noGrp="1"/>
          </p:cNvSpPr>
          <p:nvPr>
            <p:ph type="title"/>
          </p:nvPr>
        </p:nvSpPr>
        <p:spPr/>
        <p:txBody>
          <a:bodyPr/>
          <a:lstStyle/>
          <a:p>
            <a:r>
              <a:rPr lang="en-US" dirty="0"/>
              <a:t>What is Data Cleaning?</a:t>
            </a:r>
          </a:p>
        </p:txBody>
      </p:sp>
      <p:sp>
        <p:nvSpPr>
          <p:cNvPr id="3" name="Content Placeholder 2">
            <a:extLst>
              <a:ext uri="{FF2B5EF4-FFF2-40B4-BE49-F238E27FC236}">
                <a16:creationId xmlns:a16="http://schemas.microsoft.com/office/drawing/2014/main" id="{28D6EAC6-6668-75BE-B247-E6131C73FD88}"/>
              </a:ext>
            </a:extLst>
          </p:cNvPr>
          <p:cNvSpPr>
            <a:spLocks noGrp="1"/>
          </p:cNvSpPr>
          <p:nvPr>
            <p:ph idx="1"/>
          </p:nvPr>
        </p:nvSpPr>
        <p:spPr>
          <a:xfrm>
            <a:off x="484552" y="2215096"/>
            <a:ext cx="10869248" cy="4096363"/>
          </a:xfrm>
        </p:spPr>
        <p:txBody>
          <a:bodyPr>
            <a:normAutofit/>
          </a:bodyPr>
          <a:lstStyle/>
          <a:p>
            <a:pPr marL="342900" indent="-342900">
              <a:buFont typeface="Arial" panose="020B0604020202020204" pitchFamily="34" charset="0"/>
              <a:buChar char="•"/>
            </a:pPr>
            <a:r>
              <a:rPr lang="en-US" dirty="0"/>
              <a:t>The process of </a:t>
            </a:r>
            <a:r>
              <a:rPr lang="en-US" dirty="0">
                <a:highlight>
                  <a:srgbClr val="FFFF00"/>
                </a:highlight>
              </a:rPr>
              <a:t>identifying</a:t>
            </a:r>
            <a:r>
              <a:rPr lang="en-US" dirty="0"/>
              <a:t> and </a:t>
            </a:r>
            <a:r>
              <a:rPr lang="en-US" dirty="0">
                <a:highlight>
                  <a:srgbClr val="FFFF00"/>
                </a:highlight>
              </a:rPr>
              <a:t>correcting or removing errors</a:t>
            </a:r>
            <a:r>
              <a:rPr lang="en-US" dirty="0"/>
              <a:t>, inconsistencies, and inaccuracies from a dataset. </a:t>
            </a:r>
          </a:p>
          <a:p>
            <a:pPr marL="342900" indent="-342900">
              <a:buFont typeface="Arial" panose="020B0604020202020204" pitchFamily="34" charset="0"/>
              <a:buChar char="•"/>
            </a:pPr>
            <a:r>
              <a:rPr lang="en-US" dirty="0"/>
              <a:t>Involves identifying and correcting </a:t>
            </a:r>
            <a:r>
              <a:rPr lang="en-US" dirty="0">
                <a:highlight>
                  <a:srgbClr val="FFFF00"/>
                </a:highlight>
              </a:rPr>
              <a:t>missing or invalid data</a:t>
            </a:r>
            <a:r>
              <a:rPr lang="en-US" dirty="0"/>
              <a:t>, handling </a:t>
            </a:r>
            <a:r>
              <a:rPr lang="en-US" dirty="0">
                <a:highlight>
                  <a:srgbClr val="FFFF00"/>
                </a:highlight>
              </a:rPr>
              <a:t>duplicates</a:t>
            </a:r>
            <a:r>
              <a:rPr lang="en-US" dirty="0"/>
              <a:t>, dealing with </a:t>
            </a:r>
            <a:r>
              <a:rPr lang="en-US" dirty="0">
                <a:highlight>
                  <a:srgbClr val="FFFF00"/>
                </a:highlight>
              </a:rPr>
              <a:t>outlier</a:t>
            </a:r>
            <a:r>
              <a:rPr lang="en-US" dirty="0"/>
              <a:t>s, and addressing inconsistencies or errors in the data.</a:t>
            </a:r>
          </a:p>
          <a:p>
            <a:endParaRPr lang="en-US" dirty="0"/>
          </a:p>
        </p:txBody>
      </p:sp>
    </p:spTree>
    <p:extLst>
      <p:ext uri="{BB962C8B-B14F-4D97-AF65-F5344CB8AC3E}">
        <p14:creationId xmlns:p14="http://schemas.microsoft.com/office/powerpoint/2010/main" val="644246189"/>
      </p:ext>
    </p:extLst>
  </p:cSld>
  <p:clrMapOvr>
    <a:masterClrMapping/>
  </p:clrMapOvr>
  <mc:AlternateContent xmlns:mc="http://schemas.openxmlformats.org/markup-compatibility/2006" xmlns:p14="http://schemas.microsoft.com/office/powerpoint/2010/main">
    <mc:Choice Requires="p14">
      <p:transition spd="slow" p14:dur="2000" advTm="25877"/>
    </mc:Choice>
    <mc:Fallback xmlns="">
      <p:transition spd="slow" advTm="2587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1F59E-7439-1F31-4401-ABDE7F837F06}"/>
              </a:ext>
            </a:extLst>
          </p:cNvPr>
          <p:cNvSpPr>
            <a:spLocks noGrp="1"/>
          </p:cNvSpPr>
          <p:nvPr>
            <p:ph type="title"/>
          </p:nvPr>
        </p:nvSpPr>
        <p:spPr/>
        <p:txBody>
          <a:bodyPr/>
          <a:lstStyle/>
          <a:p>
            <a:r>
              <a:rPr lang="en-US" dirty="0"/>
              <a:t>Why Data Cleaning?</a:t>
            </a:r>
          </a:p>
        </p:txBody>
      </p:sp>
      <p:sp>
        <p:nvSpPr>
          <p:cNvPr id="3" name="Content Placeholder 2">
            <a:extLst>
              <a:ext uri="{FF2B5EF4-FFF2-40B4-BE49-F238E27FC236}">
                <a16:creationId xmlns:a16="http://schemas.microsoft.com/office/drawing/2014/main" id="{28D6EAC6-6668-75BE-B247-E6131C73FD88}"/>
              </a:ext>
            </a:extLst>
          </p:cNvPr>
          <p:cNvSpPr>
            <a:spLocks noGrp="1"/>
          </p:cNvSpPr>
          <p:nvPr>
            <p:ph idx="1"/>
          </p:nvPr>
        </p:nvSpPr>
        <p:spPr/>
        <p:txBody>
          <a:bodyPr>
            <a:normAutofit/>
          </a:bodyPr>
          <a:lstStyle/>
          <a:p>
            <a:pPr marL="342900" indent="-342900">
              <a:buFont typeface="Arial" panose="020B0604020202020204" pitchFamily="34" charset="0"/>
              <a:buChar char="•"/>
            </a:pPr>
            <a:r>
              <a:rPr lang="en-US" dirty="0"/>
              <a:t>Most </a:t>
            </a:r>
            <a:r>
              <a:rPr lang="en-US" dirty="0">
                <a:highlight>
                  <a:srgbClr val="FFFF00"/>
                </a:highlight>
              </a:rPr>
              <a:t>datasets aren’t clean </a:t>
            </a:r>
            <a:r>
              <a:rPr lang="en-US" dirty="0"/>
              <a:t>when you import them. So, to get accurate results, you need to </a:t>
            </a:r>
            <a:r>
              <a:rPr lang="en-US" dirty="0">
                <a:highlight>
                  <a:srgbClr val="FFFF00"/>
                </a:highlight>
              </a:rPr>
              <a:t>clean them before you </a:t>
            </a:r>
            <a:r>
              <a:rPr lang="en-US" dirty="0" err="1">
                <a:highlight>
                  <a:srgbClr val="FFFF00"/>
                </a:highlight>
              </a:rPr>
              <a:t>analyse</a:t>
            </a:r>
            <a:r>
              <a:rPr lang="en-US" dirty="0">
                <a:highlight>
                  <a:srgbClr val="FFFF00"/>
                </a:highlight>
              </a:rPr>
              <a:t> and </a:t>
            </a:r>
            <a:r>
              <a:rPr lang="en-US" dirty="0" err="1">
                <a:highlight>
                  <a:srgbClr val="FFFF00"/>
                </a:highlight>
              </a:rPr>
              <a:t>visualise</a:t>
            </a:r>
            <a:r>
              <a:rPr lang="en-US" dirty="0"/>
              <a:t> the data.</a:t>
            </a:r>
          </a:p>
          <a:p>
            <a:pPr marL="342900" indent="-342900">
              <a:buFont typeface="Arial" panose="020B0604020202020204" pitchFamily="34" charset="0"/>
              <a:buChar char="•"/>
            </a:pPr>
            <a:r>
              <a:rPr lang="en-US" dirty="0"/>
              <a:t>Data cleaning ensures the data is </a:t>
            </a:r>
            <a:r>
              <a:rPr lang="en-US" dirty="0">
                <a:highlight>
                  <a:srgbClr val="00FFFF"/>
                </a:highlight>
              </a:rPr>
              <a:t>accurate, complete, and consistent</a:t>
            </a:r>
            <a:r>
              <a:rPr lang="en-US" dirty="0"/>
              <a:t>, which in turn helps to ensure that the </a:t>
            </a:r>
            <a:r>
              <a:rPr lang="en-US" dirty="0">
                <a:highlight>
                  <a:srgbClr val="00FFFF"/>
                </a:highlight>
              </a:rPr>
              <a:t>results of any analysis </a:t>
            </a:r>
            <a:r>
              <a:rPr lang="en-US" dirty="0"/>
              <a:t>or modelling based on that data are </a:t>
            </a:r>
            <a:r>
              <a:rPr lang="en-US" dirty="0">
                <a:highlight>
                  <a:srgbClr val="00FFFF"/>
                </a:highlight>
              </a:rPr>
              <a:t>valid and reliable</a:t>
            </a:r>
            <a:r>
              <a:rPr lang="en-US" dirty="0"/>
              <a:t>. </a:t>
            </a:r>
          </a:p>
          <a:p>
            <a:pPr marL="342900" indent="-342900">
              <a:buFont typeface="Arial" panose="020B0604020202020204" pitchFamily="34" charset="0"/>
              <a:buChar char="•"/>
            </a:pPr>
            <a:r>
              <a:rPr lang="en-US" dirty="0"/>
              <a:t>Without proper data cleaning, any insights or conclusions drawn from the data may be flawed or inaccurate.</a:t>
            </a:r>
          </a:p>
          <a:p>
            <a:endParaRPr lang="en-US" dirty="0"/>
          </a:p>
        </p:txBody>
      </p:sp>
    </p:spTree>
    <p:extLst>
      <p:ext uri="{BB962C8B-B14F-4D97-AF65-F5344CB8AC3E}">
        <p14:creationId xmlns:p14="http://schemas.microsoft.com/office/powerpoint/2010/main" val="2207152112"/>
      </p:ext>
    </p:extLst>
  </p:cSld>
  <p:clrMapOvr>
    <a:masterClrMapping/>
  </p:clrMapOvr>
  <mc:AlternateContent xmlns:mc="http://schemas.openxmlformats.org/markup-compatibility/2006" xmlns:p14="http://schemas.microsoft.com/office/powerpoint/2010/main">
    <mc:Choice Requires="p14">
      <p:transition spd="slow" p14:dur="2000" advTm="15232"/>
    </mc:Choice>
    <mc:Fallback xmlns="">
      <p:transition spd="slow" advTm="1523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1F59E-7439-1F31-4401-ABDE7F837F06}"/>
              </a:ext>
            </a:extLst>
          </p:cNvPr>
          <p:cNvSpPr>
            <a:spLocks noGrp="1"/>
          </p:cNvSpPr>
          <p:nvPr>
            <p:ph type="title"/>
          </p:nvPr>
        </p:nvSpPr>
        <p:spPr/>
        <p:txBody>
          <a:bodyPr/>
          <a:lstStyle/>
          <a:p>
            <a:r>
              <a:rPr lang="en-US" dirty="0"/>
              <a:t>Data Cleaning Techniques</a:t>
            </a:r>
          </a:p>
        </p:txBody>
      </p:sp>
      <p:sp>
        <p:nvSpPr>
          <p:cNvPr id="3" name="Content Placeholder 2">
            <a:extLst>
              <a:ext uri="{FF2B5EF4-FFF2-40B4-BE49-F238E27FC236}">
                <a16:creationId xmlns:a16="http://schemas.microsoft.com/office/drawing/2014/main" id="{28D6EAC6-6668-75BE-B247-E6131C73FD88}"/>
              </a:ext>
            </a:extLst>
          </p:cNvPr>
          <p:cNvSpPr>
            <a:spLocks noGrp="1"/>
          </p:cNvSpPr>
          <p:nvPr>
            <p:ph idx="1"/>
          </p:nvPr>
        </p:nvSpPr>
        <p:spPr>
          <a:xfrm>
            <a:off x="592617" y="2306536"/>
            <a:ext cx="10869248" cy="4096363"/>
          </a:xfrm>
        </p:spPr>
        <p:txBody>
          <a:bodyPr>
            <a:normAutofit/>
          </a:bodyPr>
          <a:lstStyle/>
          <a:p>
            <a:r>
              <a:rPr lang="en-US" dirty="0"/>
              <a:t>Data cleaning can involve a variety of techniques, such as </a:t>
            </a:r>
            <a:r>
              <a:rPr lang="en-US" dirty="0" err="1">
                <a:highlight>
                  <a:srgbClr val="FFFF00"/>
                </a:highlight>
              </a:rPr>
              <a:t>standardisation</a:t>
            </a:r>
            <a:r>
              <a:rPr lang="en-US" dirty="0">
                <a:highlight>
                  <a:srgbClr val="FFFF00"/>
                </a:highlight>
              </a:rPr>
              <a:t>, </a:t>
            </a:r>
            <a:r>
              <a:rPr lang="en-US" dirty="0" err="1">
                <a:highlight>
                  <a:srgbClr val="FFFF00"/>
                </a:highlight>
              </a:rPr>
              <a:t>normalisation</a:t>
            </a:r>
            <a:r>
              <a:rPr lang="en-US" dirty="0">
                <a:highlight>
                  <a:srgbClr val="FFFF00"/>
                </a:highlight>
              </a:rPr>
              <a:t>, and outlier detection</a:t>
            </a:r>
            <a:r>
              <a:rPr lang="en-US" dirty="0"/>
              <a:t>, and may require a </a:t>
            </a:r>
            <a:r>
              <a:rPr lang="en-US" dirty="0">
                <a:highlight>
                  <a:srgbClr val="FFFF00"/>
                </a:highlight>
              </a:rPr>
              <a:t>combination of manual and automated approaches </a:t>
            </a:r>
            <a:r>
              <a:rPr lang="en-US" dirty="0"/>
              <a:t>depending on the nature and complexity of the data.</a:t>
            </a:r>
          </a:p>
          <a:p>
            <a:endParaRPr lang="en-US" dirty="0"/>
          </a:p>
        </p:txBody>
      </p:sp>
    </p:spTree>
    <p:extLst>
      <p:ext uri="{BB962C8B-B14F-4D97-AF65-F5344CB8AC3E}">
        <p14:creationId xmlns:p14="http://schemas.microsoft.com/office/powerpoint/2010/main" val="4236739463"/>
      </p:ext>
    </p:extLst>
  </p:cSld>
  <p:clrMapOvr>
    <a:masterClrMapping/>
  </p:clrMapOvr>
  <mc:AlternateContent xmlns:mc="http://schemas.openxmlformats.org/markup-compatibility/2006" xmlns:p14="http://schemas.microsoft.com/office/powerpoint/2010/main">
    <mc:Choice Requires="p14">
      <p:transition spd="slow" p14:dur="2000" advTm="16522"/>
    </mc:Choice>
    <mc:Fallback xmlns="">
      <p:transition spd="slow" advTm="16522"/>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380A34A-731B-4B77-8D1A-4326EA6123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4799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2CBE86-24B5-C6B5-7892-E46E26816108}"/>
              </a:ext>
            </a:extLst>
          </p:cNvPr>
          <p:cNvSpPr>
            <a:spLocks noGrp="1"/>
          </p:cNvSpPr>
          <p:nvPr>
            <p:ph type="title"/>
          </p:nvPr>
        </p:nvSpPr>
        <p:spPr>
          <a:xfrm>
            <a:off x="146222" y="365125"/>
            <a:ext cx="3047984" cy="1927138"/>
          </a:xfrm>
        </p:spPr>
        <p:txBody>
          <a:bodyPr>
            <a:normAutofit/>
          </a:bodyPr>
          <a:lstStyle/>
          <a:p>
            <a:r>
              <a:rPr lang="en-US" sz="3200" dirty="0"/>
              <a:t>A General Plan for Cleaning a </a:t>
            </a:r>
            <a:r>
              <a:rPr lang="en-US" sz="3200" dirty="0" err="1"/>
              <a:t>DataFrame</a:t>
            </a:r>
            <a:endParaRPr lang="en-US" sz="3200" dirty="0"/>
          </a:p>
        </p:txBody>
      </p:sp>
      <p:grpSp>
        <p:nvGrpSpPr>
          <p:cNvPr id="13" name="Group 12">
            <a:extLst>
              <a:ext uri="{FF2B5EF4-FFF2-40B4-BE49-F238E27FC236}">
                <a16:creationId xmlns:a16="http://schemas.microsoft.com/office/drawing/2014/main" id="{D637F229-3203-4783-BAA9-C5F4AE1369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429000"/>
            <a:ext cx="3047997" cy="3429000"/>
            <a:chOff x="0" y="3438071"/>
            <a:chExt cx="3047997" cy="3429000"/>
          </a:xfrm>
        </p:grpSpPr>
        <p:sp>
          <p:nvSpPr>
            <p:cNvPr id="14" name="Rectangle 13">
              <a:extLst>
                <a:ext uri="{FF2B5EF4-FFF2-40B4-BE49-F238E27FC236}">
                  <a16:creationId xmlns:a16="http://schemas.microsoft.com/office/drawing/2014/main" id="{258ED267-CBD7-48CA-8FBD-FC65502AA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 y="3438071"/>
              <a:ext cx="3047991" cy="3429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35AB1F4-1BAE-422B-9787-CAC85DB09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447142"/>
              <a:ext cx="3047997" cy="3419929"/>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6" name="Content Placeholder 2">
            <a:extLst>
              <a:ext uri="{FF2B5EF4-FFF2-40B4-BE49-F238E27FC236}">
                <a16:creationId xmlns:a16="http://schemas.microsoft.com/office/drawing/2014/main" id="{5E1623E0-FF65-6797-394E-CD6BAAA18212}"/>
              </a:ext>
            </a:extLst>
          </p:cNvPr>
          <p:cNvGraphicFramePr>
            <a:graphicFrameLocks noGrp="1"/>
          </p:cNvGraphicFramePr>
          <p:nvPr>
            <p:ph idx="1"/>
            <p:extLst>
              <p:ext uri="{D42A27DB-BD31-4B8C-83A1-F6EECF244321}">
                <p14:modId xmlns:p14="http://schemas.microsoft.com/office/powerpoint/2010/main" val="3992139029"/>
              </p:ext>
            </p:extLst>
          </p:nvPr>
        </p:nvGraphicFramePr>
        <p:xfrm>
          <a:off x="3194207" y="189759"/>
          <a:ext cx="8667942" cy="60983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91774835"/>
      </p:ext>
    </p:extLst>
  </p:cSld>
  <p:clrMapOvr>
    <a:masterClrMapping/>
  </p:clrMapOvr>
  <mc:AlternateContent xmlns:mc="http://schemas.openxmlformats.org/markup-compatibility/2006" xmlns:p14="http://schemas.microsoft.com/office/powerpoint/2010/main">
    <mc:Choice Requires="p14">
      <p:transition spd="slow" p14:dur="2000" advTm="159840"/>
    </mc:Choice>
    <mc:Fallback xmlns="">
      <p:transition spd="slow" advTm="15984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812AE-31F9-DE2B-E87E-002392E4AF0A}"/>
              </a:ext>
            </a:extLst>
          </p:cNvPr>
          <p:cNvSpPr>
            <a:spLocks noGrp="1"/>
          </p:cNvSpPr>
          <p:nvPr>
            <p:ph type="title"/>
          </p:nvPr>
        </p:nvSpPr>
        <p:spPr/>
        <p:txBody>
          <a:bodyPr/>
          <a:lstStyle/>
          <a:p>
            <a:r>
              <a:rPr lang="en-US" dirty="0"/>
              <a:t>Before Cleaning …</a:t>
            </a:r>
          </a:p>
        </p:txBody>
      </p:sp>
      <p:sp>
        <p:nvSpPr>
          <p:cNvPr id="3" name="Content Placeholder 2">
            <a:extLst>
              <a:ext uri="{FF2B5EF4-FFF2-40B4-BE49-F238E27FC236}">
                <a16:creationId xmlns:a16="http://schemas.microsoft.com/office/drawing/2014/main" id="{1BCEE658-4D12-A9CD-2F95-F0BEA453401E}"/>
              </a:ext>
            </a:extLst>
          </p:cNvPr>
          <p:cNvSpPr>
            <a:spLocks noGrp="1"/>
          </p:cNvSpPr>
          <p:nvPr>
            <p:ph idx="1"/>
          </p:nvPr>
        </p:nvSpPr>
        <p:spPr/>
        <p:txBody>
          <a:bodyPr/>
          <a:lstStyle/>
          <a:p>
            <a:pPr marL="342900" indent="-342900">
              <a:buFont typeface="Arial" panose="020B0604020202020204" pitchFamily="34" charset="0"/>
              <a:buChar char="•"/>
            </a:pPr>
            <a:r>
              <a:rPr lang="en-US" dirty="0"/>
              <a:t>Be sure that you’ve set the goals for your analysis. </a:t>
            </a:r>
          </a:p>
          <a:p>
            <a:pPr marL="342900" indent="-342900">
              <a:buFont typeface="Arial" panose="020B0604020202020204" pitchFamily="34" charset="0"/>
              <a:buChar char="•"/>
            </a:pPr>
            <a:r>
              <a:rPr lang="en-US" dirty="0"/>
              <a:t>Those goals should guide your actions throughout the cleaning process. </a:t>
            </a:r>
          </a:p>
          <a:p>
            <a:pPr marL="342900" indent="-342900">
              <a:buFont typeface="Arial" panose="020B0604020202020204" pitchFamily="34" charset="0"/>
              <a:buChar char="•"/>
            </a:pPr>
            <a:r>
              <a:rPr lang="en-US" dirty="0"/>
              <a:t>That will help you decide what cleaning needs to be done. </a:t>
            </a:r>
          </a:p>
          <a:p>
            <a:pPr marL="571500" lvl="1" indent="-342900">
              <a:buFont typeface="Arial" panose="020B0604020202020204" pitchFamily="34" charset="0"/>
              <a:buChar char="•"/>
            </a:pPr>
            <a:r>
              <a:rPr lang="en-US" dirty="0"/>
              <a:t>E.g., which rows and which columns are okay to drop. </a:t>
            </a:r>
          </a:p>
          <a:p>
            <a:pPr marL="342900" indent="-342900">
              <a:buFont typeface="Arial" panose="020B0604020202020204" pitchFamily="34" charset="0"/>
              <a:buChar char="•"/>
            </a:pPr>
            <a:r>
              <a:rPr lang="en-US" dirty="0"/>
              <a:t>Be sure that you aren’t dropping rows or columns that will affect the results of your analysis.</a:t>
            </a:r>
          </a:p>
          <a:p>
            <a:endParaRPr lang="en-US" dirty="0"/>
          </a:p>
        </p:txBody>
      </p:sp>
    </p:spTree>
    <p:extLst>
      <p:ext uri="{BB962C8B-B14F-4D97-AF65-F5344CB8AC3E}">
        <p14:creationId xmlns:p14="http://schemas.microsoft.com/office/powerpoint/2010/main" val="2811004312"/>
      </p:ext>
    </p:extLst>
  </p:cSld>
  <p:clrMapOvr>
    <a:masterClrMapping/>
  </p:clrMapOvr>
  <mc:AlternateContent xmlns:mc="http://schemas.openxmlformats.org/markup-compatibility/2006" xmlns:p14="http://schemas.microsoft.com/office/powerpoint/2010/main">
    <mc:Choice Requires="p14">
      <p:transition spd="slow" p14:dur="2000" advTm="56074"/>
    </mc:Choice>
    <mc:Fallback xmlns="">
      <p:transition spd="slow" advTm="56074"/>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812AE-31F9-DE2B-E87E-002392E4AF0A}"/>
              </a:ext>
            </a:extLst>
          </p:cNvPr>
          <p:cNvSpPr>
            <a:spLocks noGrp="1"/>
          </p:cNvSpPr>
          <p:nvPr>
            <p:ph type="title"/>
          </p:nvPr>
        </p:nvSpPr>
        <p:spPr/>
        <p:txBody>
          <a:bodyPr/>
          <a:lstStyle/>
          <a:p>
            <a:r>
              <a:rPr lang="en-US" dirty="0"/>
              <a:t>Data Cleaning Takes Time …</a:t>
            </a:r>
          </a:p>
        </p:txBody>
      </p:sp>
      <p:sp>
        <p:nvSpPr>
          <p:cNvPr id="3" name="Content Placeholder 2">
            <a:extLst>
              <a:ext uri="{FF2B5EF4-FFF2-40B4-BE49-F238E27FC236}">
                <a16:creationId xmlns:a16="http://schemas.microsoft.com/office/drawing/2014/main" id="{1BCEE658-4D12-A9CD-2F95-F0BEA453401E}"/>
              </a:ext>
            </a:extLst>
          </p:cNvPr>
          <p:cNvSpPr>
            <a:spLocks noGrp="1"/>
          </p:cNvSpPr>
          <p:nvPr>
            <p:ph idx="1"/>
          </p:nvPr>
        </p:nvSpPr>
        <p:spPr/>
        <p:txBody>
          <a:bodyPr/>
          <a:lstStyle/>
          <a:p>
            <a:pPr marL="342900" indent="-342900">
              <a:buFont typeface="Arial" panose="020B0604020202020204" pitchFamily="34" charset="0"/>
              <a:buChar char="•"/>
            </a:pPr>
            <a:r>
              <a:rPr lang="en-US" dirty="0"/>
              <a:t>Data cleaning typically takes as much as 20 to 25 percent of the total time for an analysis.</a:t>
            </a:r>
          </a:p>
        </p:txBody>
      </p:sp>
    </p:spTree>
    <p:extLst>
      <p:ext uri="{BB962C8B-B14F-4D97-AF65-F5344CB8AC3E}">
        <p14:creationId xmlns:p14="http://schemas.microsoft.com/office/powerpoint/2010/main" val="4160140452"/>
      </p:ext>
    </p:extLst>
  </p:cSld>
  <p:clrMapOvr>
    <a:masterClrMapping/>
  </p:clrMapOvr>
  <mc:AlternateContent xmlns:mc="http://schemas.openxmlformats.org/markup-compatibility/2006" xmlns:p14="http://schemas.microsoft.com/office/powerpoint/2010/main">
    <mc:Choice Requires="p14">
      <p:transition spd="slow" p14:dur="2000" advTm="27136"/>
    </mc:Choice>
    <mc:Fallback xmlns="">
      <p:transition spd="slow" advTm="2713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Slide Background">
            <a:extLst>
              <a:ext uri="{FF2B5EF4-FFF2-40B4-BE49-F238E27FC236}">
                <a16:creationId xmlns:a16="http://schemas.microsoft.com/office/drawing/2014/main" id="{B874FC77-B1AD-4469-830E-1F1D54FBB4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 up of circuit board">
            <a:extLst>
              <a:ext uri="{FF2B5EF4-FFF2-40B4-BE49-F238E27FC236}">
                <a16:creationId xmlns:a16="http://schemas.microsoft.com/office/drawing/2014/main" id="{F87B63FE-3AC2-C03F-5C84-376CF2BBC77A}"/>
              </a:ext>
            </a:extLst>
          </p:cNvPr>
          <p:cNvPicPr>
            <a:picLocks noChangeAspect="1"/>
          </p:cNvPicPr>
          <p:nvPr/>
        </p:nvPicPr>
        <p:blipFill rotWithShape="1">
          <a:blip r:embed="rId3"/>
          <a:srcRect t="7109" b="8621"/>
          <a:stretch/>
        </p:blipFill>
        <p:spPr>
          <a:xfrm>
            <a:off x="20" y="10"/>
            <a:ext cx="12191979" cy="6857988"/>
          </a:xfrm>
          <a:prstGeom prst="rect">
            <a:avLst/>
          </a:prstGeom>
          <a:effectLst>
            <a:outerShdw blurRad="596900" dist="330200" dir="8820000" sx="87000" sy="87000" algn="ctr" rotWithShape="0">
              <a:srgbClr val="000000">
                <a:alpha val="29000"/>
              </a:srgbClr>
            </a:outerShdw>
          </a:effectLst>
        </p:spPr>
      </p:pic>
      <p:sp>
        <p:nvSpPr>
          <p:cNvPr id="13" name="Rectangle 12">
            <a:extLst>
              <a:ext uri="{FF2B5EF4-FFF2-40B4-BE49-F238E27FC236}">
                <a16:creationId xmlns:a16="http://schemas.microsoft.com/office/drawing/2014/main" id="{A6834A66-723F-4B47-BF01-F6D4B2A1B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6027"/>
            <a:ext cx="12192000" cy="22819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0426C9F-24EB-EDCE-3456-4830A6362F98}"/>
              </a:ext>
            </a:extLst>
          </p:cNvPr>
          <p:cNvSpPr>
            <a:spLocks noGrp="1"/>
          </p:cNvSpPr>
          <p:nvPr>
            <p:ph type="title"/>
          </p:nvPr>
        </p:nvSpPr>
        <p:spPr>
          <a:xfrm>
            <a:off x="322729" y="4850597"/>
            <a:ext cx="7885099" cy="1374756"/>
          </a:xfrm>
        </p:spPr>
        <p:txBody>
          <a:bodyPr vert="horz" lIns="91440" tIns="45720" rIns="91440" bIns="45720" rtlCol="0" anchor="ctr">
            <a:normAutofit/>
          </a:bodyPr>
          <a:lstStyle/>
          <a:p>
            <a:r>
              <a:rPr lang="en-US" sz="4000" dirty="0"/>
              <a:t>How to Identify the Problems?</a:t>
            </a:r>
          </a:p>
        </p:txBody>
      </p:sp>
    </p:spTree>
    <p:extLst>
      <p:ext uri="{BB962C8B-B14F-4D97-AF65-F5344CB8AC3E}">
        <p14:creationId xmlns:p14="http://schemas.microsoft.com/office/powerpoint/2010/main" val="3436179105"/>
      </p:ext>
    </p:extLst>
  </p:cSld>
  <p:clrMapOvr>
    <a:masterClrMapping/>
  </p:clrMapOvr>
  <mc:AlternateContent xmlns:mc="http://schemas.openxmlformats.org/markup-compatibility/2006" xmlns:p14="http://schemas.microsoft.com/office/powerpoint/2010/main">
    <mc:Choice Requires="p14">
      <p:transition spd="slow" p14:dur="2000" advTm="16714"/>
    </mc:Choice>
    <mc:Fallback xmlns="">
      <p:transition spd="slow" advTm="1671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21F10-FFD4-381F-593D-7DA03A62F4FD}"/>
              </a:ext>
            </a:extLst>
          </p:cNvPr>
          <p:cNvSpPr>
            <a:spLocks noGrp="1"/>
          </p:cNvSpPr>
          <p:nvPr>
            <p:ph type="title"/>
          </p:nvPr>
        </p:nvSpPr>
        <p:spPr/>
        <p:txBody>
          <a:bodyPr/>
          <a:lstStyle/>
          <a:p>
            <a:r>
              <a:rPr lang="en-US" dirty="0"/>
              <a:t>Using Documentation</a:t>
            </a:r>
          </a:p>
        </p:txBody>
      </p:sp>
      <p:sp>
        <p:nvSpPr>
          <p:cNvPr id="3" name="Content Placeholder 2">
            <a:extLst>
              <a:ext uri="{FF2B5EF4-FFF2-40B4-BE49-F238E27FC236}">
                <a16:creationId xmlns:a16="http://schemas.microsoft.com/office/drawing/2014/main" id="{F338E965-C905-D023-B7CC-3B02FFCB14C4}"/>
              </a:ext>
            </a:extLst>
          </p:cNvPr>
          <p:cNvSpPr>
            <a:spLocks noGrp="1"/>
          </p:cNvSpPr>
          <p:nvPr>
            <p:ph idx="1"/>
          </p:nvPr>
        </p:nvSpPr>
        <p:spPr>
          <a:xfrm>
            <a:off x="484552" y="2065467"/>
            <a:ext cx="10869248" cy="4490436"/>
          </a:xfrm>
        </p:spPr>
        <p:txBody>
          <a:bodyPr>
            <a:normAutofit fontScale="70000" lnSpcReduction="20000"/>
          </a:bodyPr>
          <a:lstStyle/>
          <a:p>
            <a:r>
              <a:rPr lang="en-US" dirty="0"/>
              <a:t>Documentation of a dataset can be extremely helpful for data cleaning in several ways:</a:t>
            </a:r>
          </a:p>
          <a:p>
            <a:pPr marL="342900" indent="-342900">
              <a:buFont typeface="Arial" panose="020B0604020202020204" pitchFamily="34" charset="0"/>
              <a:buChar char="•"/>
            </a:pPr>
            <a:r>
              <a:rPr lang="en-US" dirty="0"/>
              <a:t>Understanding the Data: Documentation provides information about the origin of the data, its purpose, the methodology used to collect it, and any known limitations. By understanding the data and its context, you can better identify any anomalies, outliers, or errors in the data.</a:t>
            </a:r>
          </a:p>
          <a:p>
            <a:pPr marL="342900" indent="-342900">
              <a:buFont typeface="Arial" panose="020B0604020202020204" pitchFamily="34" charset="0"/>
              <a:buChar char="•"/>
            </a:pPr>
            <a:r>
              <a:rPr lang="en-US" dirty="0"/>
              <a:t>Identifying Missing Values: Documentation can indicate what missing values might mean in a particular column. For instance, in a survey dataset, a missing value might indicate that a respondent didn't answer a question, rather than a true missing value. By understanding the meaning of missing values, you can impute them more accurately.</a:t>
            </a:r>
          </a:p>
          <a:p>
            <a:pPr marL="342900" indent="-342900">
              <a:buFont typeface="Arial" panose="020B0604020202020204" pitchFamily="34" charset="0"/>
              <a:buChar char="•"/>
            </a:pPr>
            <a:r>
              <a:rPr lang="en-US" dirty="0"/>
              <a:t>Handling Outliers: Documentation can indicate what the range of values should be for a particular column. This can help identify any outliers that fall outside of that range and determine whether they are legitimate data points or errors.</a:t>
            </a:r>
          </a:p>
          <a:p>
            <a:pPr marL="342900" indent="-342900">
              <a:buFont typeface="Arial" panose="020B0604020202020204" pitchFamily="34" charset="0"/>
              <a:buChar char="•"/>
            </a:pPr>
            <a:r>
              <a:rPr lang="en-US" dirty="0"/>
              <a:t>Ensuring Consistency: Documentation can help ensure consistency in the data. For instance, it might indicate that a particular column should only contain categorical variables or that numeric values should be recorded to a certain level of precision.</a:t>
            </a:r>
          </a:p>
          <a:p>
            <a:pPr marL="342900" indent="-342900">
              <a:buFont typeface="Arial" panose="020B0604020202020204" pitchFamily="34" charset="0"/>
              <a:buChar char="•"/>
            </a:pPr>
            <a:r>
              <a:rPr lang="en-US" dirty="0"/>
              <a:t>Cross-Checking Data: Documentation can also be used to cross-check data against other sources. For instance, if a dataset contains information about products, documentation might indicate what the expected values for certain columns should be. By cross-checking these values against an external source, such as a company's website, you can identify any discrepancies or errors.</a:t>
            </a:r>
          </a:p>
          <a:p>
            <a:endParaRPr lang="en-US" dirty="0"/>
          </a:p>
        </p:txBody>
      </p:sp>
    </p:spTree>
    <p:extLst>
      <p:ext uri="{BB962C8B-B14F-4D97-AF65-F5344CB8AC3E}">
        <p14:creationId xmlns:p14="http://schemas.microsoft.com/office/powerpoint/2010/main" val="2671423272"/>
      </p:ext>
    </p:extLst>
  </p:cSld>
  <p:clrMapOvr>
    <a:masterClrMapping/>
  </p:clrMapOvr>
  <mc:AlternateContent xmlns:mc="http://schemas.openxmlformats.org/markup-compatibility/2006" xmlns:p14="http://schemas.microsoft.com/office/powerpoint/2010/main">
    <mc:Choice Requires="p14">
      <p:transition spd="slow" p14:dur="2000" advTm="19413"/>
    </mc:Choice>
    <mc:Fallback xmlns="">
      <p:transition spd="slow" advTm="1941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812AE-31F9-DE2B-E87E-002392E4AF0A}"/>
              </a:ext>
            </a:extLst>
          </p:cNvPr>
          <p:cNvSpPr>
            <a:spLocks noGrp="1"/>
          </p:cNvSpPr>
          <p:nvPr>
            <p:ph type="title"/>
          </p:nvPr>
        </p:nvSpPr>
        <p:spPr/>
        <p:txBody>
          <a:bodyPr>
            <a:normAutofit fontScale="90000"/>
          </a:bodyPr>
          <a:lstStyle/>
          <a:p>
            <a:r>
              <a:rPr lang="en-US" dirty="0"/>
              <a:t>Documentation that Identifies Some </a:t>
            </a:r>
            <a:br>
              <a:rPr lang="en-US" dirty="0"/>
            </a:br>
            <a:r>
              <a:rPr lang="en-US" dirty="0"/>
              <a:t>Data Problems …</a:t>
            </a:r>
          </a:p>
        </p:txBody>
      </p:sp>
      <p:pic>
        <p:nvPicPr>
          <p:cNvPr id="6" name="Content Placeholder 7" descr="Refer to page 199 in textbook">
            <a:extLst>
              <a:ext uri="{FF2B5EF4-FFF2-40B4-BE49-F238E27FC236}">
                <a16:creationId xmlns:a16="http://schemas.microsoft.com/office/drawing/2014/main" id="{36517B1E-7333-502F-8C6F-81D8BBBE0622}"/>
              </a:ext>
            </a:extLst>
          </p:cNvPr>
          <p:cNvPicPr>
            <a:picLocks noChangeAspect="1"/>
          </p:cNvPicPr>
          <p:nvPr/>
        </p:nvPicPr>
        <p:blipFill>
          <a:blip r:embed="rId2"/>
          <a:stretch>
            <a:fillRect/>
          </a:stretch>
        </p:blipFill>
        <p:spPr>
          <a:xfrm>
            <a:off x="484552" y="2328514"/>
            <a:ext cx="11536219" cy="2932418"/>
          </a:xfrm>
          <a:prstGeom prst="rect">
            <a:avLst/>
          </a:prstGeom>
        </p:spPr>
      </p:pic>
    </p:spTree>
    <p:extLst>
      <p:ext uri="{BB962C8B-B14F-4D97-AF65-F5344CB8AC3E}">
        <p14:creationId xmlns:p14="http://schemas.microsoft.com/office/powerpoint/2010/main" val="2322966296"/>
      </p:ext>
    </p:extLst>
  </p:cSld>
  <p:clrMapOvr>
    <a:masterClrMapping/>
  </p:clrMapOvr>
  <mc:AlternateContent xmlns:mc="http://schemas.openxmlformats.org/markup-compatibility/2006" xmlns:p14="http://schemas.microsoft.com/office/powerpoint/2010/main">
    <mc:Choice Requires="p14">
      <p:transition spd="slow" p14:dur="2000" advTm="64373"/>
    </mc:Choice>
    <mc:Fallback xmlns="">
      <p:transition spd="slow" advTm="6437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5BDCE-2DAB-B1D1-1794-095EDE3D90CF}"/>
              </a:ext>
            </a:extLst>
          </p:cNvPr>
          <p:cNvSpPr>
            <a:spLocks noGrp="1"/>
          </p:cNvSpPr>
          <p:nvPr>
            <p:ph type="title"/>
          </p:nvPr>
        </p:nvSpPr>
        <p:spPr/>
        <p:txBody>
          <a:bodyPr/>
          <a:lstStyle/>
          <a:p>
            <a:r>
              <a:rPr lang="en-US" dirty="0"/>
              <a:t>What the info() Method Can Tell You</a:t>
            </a:r>
          </a:p>
        </p:txBody>
      </p:sp>
      <p:sp>
        <p:nvSpPr>
          <p:cNvPr id="3" name="Content Placeholder 2">
            <a:extLst>
              <a:ext uri="{FF2B5EF4-FFF2-40B4-BE49-F238E27FC236}">
                <a16:creationId xmlns:a16="http://schemas.microsoft.com/office/drawing/2014/main" id="{3337A79F-AF5E-521C-3A52-ABC8E84A02F3}"/>
              </a:ext>
            </a:extLst>
          </p:cNvPr>
          <p:cNvSpPr>
            <a:spLocks noGrp="1"/>
          </p:cNvSpPr>
          <p:nvPr>
            <p:ph idx="1"/>
          </p:nvPr>
        </p:nvSpPr>
        <p:spPr/>
        <p:txBody>
          <a:bodyPr>
            <a:normAutofit/>
          </a:bodyPr>
          <a:lstStyle/>
          <a:p>
            <a:pPr marL="342900" indent="-342900">
              <a:buFont typeface="Arial" panose="020B0604020202020204" pitchFamily="34" charset="0"/>
              <a:buChar char="•"/>
            </a:pPr>
            <a:r>
              <a:rPr lang="en-US" dirty="0"/>
              <a:t>After you review the documentation for a dataset, you can do your own analysis of potential data problems. To start, you can run the info() method of a </a:t>
            </a:r>
            <a:r>
              <a:rPr lang="en-US" dirty="0" err="1"/>
              <a:t>DataFrame</a:t>
            </a:r>
            <a:r>
              <a:rPr lang="en-US" dirty="0"/>
              <a:t>.</a:t>
            </a:r>
          </a:p>
          <a:p>
            <a:pPr marL="571500" lvl="1" indent="-342900">
              <a:buFont typeface="Arial" panose="020B0604020202020204" pitchFamily="34" charset="0"/>
              <a:buChar char="•"/>
            </a:pPr>
            <a:r>
              <a:rPr lang="en-US" dirty="0"/>
              <a:t>The verbose=True parameter ensures that the method will return all the information rather than an abridged version. </a:t>
            </a:r>
          </a:p>
          <a:p>
            <a:pPr marL="571500" lvl="1" indent="-342900">
              <a:buFont typeface="Arial" panose="020B0604020202020204" pitchFamily="34" charset="0"/>
              <a:buChar char="•"/>
            </a:pPr>
            <a:r>
              <a:rPr lang="en-US" dirty="0"/>
              <a:t>The </a:t>
            </a:r>
            <a:r>
              <a:rPr lang="en-US" dirty="0" err="1"/>
              <a:t>memory_usage</a:t>
            </a:r>
            <a:r>
              <a:rPr lang="en-US" dirty="0"/>
              <a:t>=‘deep’ parameter ensures that the memory usage will be accurate. </a:t>
            </a:r>
          </a:p>
          <a:p>
            <a:pPr marL="571500" lvl="1" indent="-342900">
              <a:buFont typeface="Arial" panose="020B0604020202020204" pitchFamily="34" charset="0"/>
              <a:buChar char="•"/>
            </a:pPr>
            <a:r>
              <a:rPr lang="en-US" dirty="0"/>
              <a:t>The </a:t>
            </a:r>
            <a:r>
              <a:rPr lang="en-US" dirty="0" err="1"/>
              <a:t>show_counts</a:t>
            </a:r>
            <a:r>
              <a:rPr lang="en-US" dirty="0"/>
              <a:t>=True parameter ensures that the method will return the non-null counts for each column.</a:t>
            </a:r>
          </a:p>
          <a:p>
            <a:endParaRPr lang="en-US" dirty="0"/>
          </a:p>
        </p:txBody>
      </p:sp>
    </p:spTree>
    <p:extLst>
      <p:ext uri="{BB962C8B-B14F-4D97-AF65-F5344CB8AC3E}">
        <p14:creationId xmlns:p14="http://schemas.microsoft.com/office/powerpoint/2010/main" val="1963138322"/>
      </p:ext>
    </p:extLst>
  </p:cSld>
  <p:clrMapOvr>
    <a:masterClrMapping/>
  </p:clrMapOvr>
  <mc:AlternateContent xmlns:mc="http://schemas.openxmlformats.org/markup-compatibility/2006" xmlns:p14="http://schemas.microsoft.com/office/powerpoint/2010/main">
    <mc:Choice Requires="p14">
      <p:transition spd="slow" p14:dur="2000" advTm="32256"/>
    </mc:Choice>
    <mc:Fallback xmlns="">
      <p:transition spd="slow" advTm="32256"/>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5BDCE-2DAB-B1D1-1794-095EDE3D90CF}"/>
              </a:ext>
            </a:extLst>
          </p:cNvPr>
          <p:cNvSpPr>
            <a:spLocks noGrp="1"/>
          </p:cNvSpPr>
          <p:nvPr>
            <p:ph type="title"/>
          </p:nvPr>
        </p:nvSpPr>
        <p:spPr/>
        <p:txBody>
          <a:bodyPr>
            <a:normAutofit fontScale="90000"/>
          </a:bodyPr>
          <a:lstStyle/>
          <a:p>
            <a:r>
              <a:rPr lang="en-US" dirty="0"/>
              <a:t>The Three Parameters of  the info() Method</a:t>
            </a:r>
          </a:p>
        </p:txBody>
      </p:sp>
      <p:graphicFrame>
        <p:nvGraphicFramePr>
          <p:cNvPr id="6" name="Table Placeholder 8">
            <a:extLst>
              <a:ext uri="{FF2B5EF4-FFF2-40B4-BE49-F238E27FC236}">
                <a16:creationId xmlns:a16="http://schemas.microsoft.com/office/drawing/2014/main" id="{4F765B85-BE0D-6A1B-DC54-9B63BD3FCB30}"/>
              </a:ext>
            </a:extLst>
          </p:cNvPr>
          <p:cNvGraphicFramePr>
            <a:graphicFrameLocks/>
          </p:cNvGraphicFramePr>
          <p:nvPr>
            <p:extLst>
              <p:ext uri="{D42A27DB-BD31-4B8C-83A1-F6EECF244321}">
                <p14:modId xmlns:p14="http://schemas.microsoft.com/office/powerpoint/2010/main" val="2508327328"/>
              </p:ext>
            </p:extLst>
          </p:nvPr>
        </p:nvGraphicFramePr>
        <p:xfrm>
          <a:off x="688932" y="2191845"/>
          <a:ext cx="10664868" cy="2154684"/>
        </p:xfrm>
        <a:graphic>
          <a:graphicData uri="http://schemas.openxmlformats.org/drawingml/2006/table">
            <a:tbl>
              <a:tblPr firstRow="1"/>
              <a:tblGrid>
                <a:gridCol w="2749642">
                  <a:extLst>
                    <a:ext uri="{9D8B030D-6E8A-4147-A177-3AD203B41FA5}">
                      <a16:colId xmlns:a16="http://schemas.microsoft.com/office/drawing/2014/main" val="3077522484"/>
                    </a:ext>
                  </a:extLst>
                </a:gridCol>
                <a:gridCol w="7915226">
                  <a:extLst>
                    <a:ext uri="{9D8B030D-6E8A-4147-A177-3AD203B41FA5}">
                      <a16:colId xmlns:a16="http://schemas.microsoft.com/office/drawing/2014/main" val="3806780818"/>
                    </a:ext>
                  </a:extLst>
                </a:gridCol>
              </a:tblGrid>
              <a:tr h="538671">
                <a:tc>
                  <a:txBody>
                    <a:bodyPr/>
                    <a:lstStyle/>
                    <a:p>
                      <a:pPr marL="0" marR="0">
                        <a:spcBef>
                          <a:spcPts val="600"/>
                        </a:spcBef>
                        <a:spcAft>
                          <a:spcPts val="600"/>
                        </a:spcAft>
                        <a:tabLst>
                          <a:tab pos="1828800" algn="l"/>
                          <a:tab pos="457200" algn="l"/>
                        </a:tabLst>
                      </a:pPr>
                      <a:r>
                        <a:rPr lang="en-US" sz="2000" b="1" dirty="0">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Parameter</a:t>
                      </a: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Description</a:t>
                      </a:r>
                    </a:p>
                  </a:txBody>
                  <a:tcPr marL="68580" marR="68580">
                    <a:lnL>
                      <a:noFill/>
                    </a:lnL>
                    <a:lnR>
                      <a:noFill/>
                    </a:lnR>
                    <a:lnT>
                      <a:noFill/>
                    </a:lnT>
                    <a:lnB>
                      <a:noFill/>
                    </a:lnB>
                    <a:solidFill>
                      <a:srgbClr val="3D87B7"/>
                    </a:solidFill>
                  </a:tcPr>
                </a:tc>
                <a:extLst>
                  <a:ext uri="{0D108BD9-81ED-4DB2-BD59-A6C34878D82A}">
                    <a16:rowId xmlns:a16="http://schemas.microsoft.com/office/drawing/2014/main" val="3346090227"/>
                  </a:ext>
                </a:extLst>
              </a:tr>
              <a:tr h="538671">
                <a:tc>
                  <a:txBody>
                    <a:bodyPr/>
                    <a:lstStyle/>
                    <a:p>
                      <a:pPr marL="0" marR="0" indent="0">
                        <a:spcBef>
                          <a:spcPts val="600"/>
                        </a:spcBef>
                        <a:spcAft>
                          <a:spcPts val="600"/>
                        </a:spcAft>
                        <a:tabLst>
                          <a:tab pos="800100" algn="l"/>
                          <a:tab pos="2514600" algn="l"/>
                          <a:tab pos="457200" algn="l"/>
                        </a:tabLst>
                      </a:pPr>
                      <a:r>
                        <a:rPr lang="en-US" sz="2000" b="1" dirty="0">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verbose=True</a:t>
                      </a:r>
                      <a:endParaRPr lang="en-US" sz="2000" dirty="0">
                        <a:effectLst/>
                        <a:latin typeface="Cambria" panose="020405030504060302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Ensures that the method returns </a:t>
                      </a:r>
                      <a:r>
                        <a:rPr lang="en-US" sz="2000" dirty="0">
                          <a:solidFill>
                            <a:srgbClr val="000000"/>
                          </a:solidFill>
                          <a:effectLst/>
                          <a:highlight>
                            <a:srgbClr val="FFFF00"/>
                          </a:highlight>
                          <a:latin typeface="Cambria" panose="02040503050406030204" pitchFamily="18" charset="0"/>
                          <a:ea typeface="Times New Roman" panose="02020603050405020304" pitchFamily="18" charset="0"/>
                        </a:rPr>
                        <a:t>info for all of the columns</a:t>
                      </a:r>
                      <a:r>
                        <a:rPr lang="en-US" sz="2000" dirty="0">
                          <a:solidFill>
                            <a:srgbClr val="000000"/>
                          </a:solidFill>
                          <a:effectLst/>
                          <a:latin typeface="Cambria" panose="02040503050406030204" pitchFamily="18" charset="0"/>
                          <a:ea typeface="Times New Roman" panose="02020603050405020304" pitchFamily="18" charset="0"/>
                        </a:rPr>
                        <a:t>.</a:t>
                      </a:r>
                      <a:endParaRPr lang="en-US" sz="2000" dirty="0">
                        <a:effectLst/>
                        <a:latin typeface="Cambria" panose="020405030504060302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3569571951"/>
                  </a:ext>
                </a:extLst>
              </a:tr>
              <a:tr h="538671">
                <a:tc>
                  <a:txBody>
                    <a:bodyPr/>
                    <a:lstStyle/>
                    <a:p>
                      <a:pPr marL="0" marR="0" indent="0">
                        <a:spcBef>
                          <a:spcPts val="600"/>
                        </a:spcBef>
                        <a:spcAft>
                          <a:spcPts val="600"/>
                        </a:spcAft>
                        <a:tabLst>
                          <a:tab pos="800100" algn="l"/>
                          <a:tab pos="2514600" algn="l"/>
                          <a:tab pos="457200" algn="l"/>
                        </a:tabLst>
                      </a:pPr>
                      <a:r>
                        <a:rPr lang="en-US" sz="2000" b="1">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memory_usage='deep'</a:t>
                      </a:r>
                      <a:endParaRPr lang="en-US" sz="2000">
                        <a:effectLst/>
                        <a:latin typeface="Cambria" panose="020405030504060302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Ensures that the </a:t>
                      </a:r>
                      <a:r>
                        <a:rPr lang="en-US" sz="2000" dirty="0">
                          <a:solidFill>
                            <a:srgbClr val="000000"/>
                          </a:solidFill>
                          <a:effectLst/>
                          <a:highlight>
                            <a:srgbClr val="FFFF00"/>
                          </a:highlight>
                          <a:latin typeface="Cambria" panose="02040503050406030204" pitchFamily="18" charset="0"/>
                          <a:ea typeface="Times New Roman" panose="02020603050405020304" pitchFamily="18" charset="0"/>
                        </a:rPr>
                        <a:t>memory usage </a:t>
                      </a:r>
                      <a:r>
                        <a:rPr lang="en-US" sz="2000" dirty="0">
                          <a:solidFill>
                            <a:srgbClr val="000000"/>
                          </a:solidFill>
                          <a:effectLst/>
                          <a:latin typeface="Cambria" panose="02040503050406030204" pitchFamily="18" charset="0"/>
                          <a:ea typeface="Times New Roman" panose="02020603050405020304" pitchFamily="18" charset="0"/>
                        </a:rPr>
                        <a:t>information is </a:t>
                      </a:r>
                      <a:r>
                        <a:rPr lang="en-US" sz="2000" dirty="0">
                          <a:solidFill>
                            <a:srgbClr val="000000"/>
                          </a:solidFill>
                          <a:effectLst/>
                          <a:highlight>
                            <a:srgbClr val="FFFF00"/>
                          </a:highlight>
                          <a:latin typeface="Cambria" panose="02040503050406030204" pitchFamily="18" charset="0"/>
                          <a:ea typeface="Times New Roman" panose="02020603050405020304" pitchFamily="18" charset="0"/>
                        </a:rPr>
                        <a:t>accurate</a:t>
                      </a:r>
                      <a:r>
                        <a:rPr lang="en-US" sz="2000" dirty="0">
                          <a:solidFill>
                            <a:srgbClr val="000000"/>
                          </a:solidFill>
                          <a:effectLst/>
                          <a:latin typeface="Cambria" panose="02040503050406030204" pitchFamily="18" charset="0"/>
                          <a:ea typeface="Times New Roman" panose="02020603050405020304" pitchFamily="18" charset="0"/>
                        </a:rPr>
                        <a:t>.</a:t>
                      </a:r>
                      <a:endParaRPr lang="en-US" sz="2000" dirty="0">
                        <a:effectLst/>
                        <a:latin typeface="Cambria" panose="020405030504060302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5684686"/>
                  </a:ext>
                </a:extLst>
              </a:tr>
              <a:tr h="538671">
                <a:tc>
                  <a:txBody>
                    <a:bodyPr/>
                    <a:lstStyle/>
                    <a:p>
                      <a:pPr marL="0" marR="0" indent="0">
                        <a:spcBef>
                          <a:spcPts val="600"/>
                        </a:spcBef>
                        <a:spcAft>
                          <a:spcPts val="600"/>
                        </a:spcAft>
                        <a:tabLst>
                          <a:tab pos="800100" algn="l"/>
                          <a:tab pos="2514600" algn="l"/>
                          <a:tab pos="457200" algn="l"/>
                        </a:tabLst>
                      </a:pPr>
                      <a:r>
                        <a:rPr lang="en-US" sz="2000" b="1" dirty="0" err="1">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show_counts</a:t>
                      </a:r>
                      <a:r>
                        <a:rPr lang="en-US" sz="2000" b="1" dirty="0">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=True</a:t>
                      </a:r>
                      <a:endParaRPr lang="en-US" sz="2000" dirty="0">
                        <a:effectLst/>
                        <a:latin typeface="Cambria" panose="020405030504060302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Ensures that the </a:t>
                      </a:r>
                      <a:r>
                        <a:rPr lang="en-US" sz="2000" dirty="0">
                          <a:solidFill>
                            <a:srgbClr val="000000"/>
                          </a:solidFill>
                          <a:effectLst/>
                          <a:highlight>
                            <a:srgbClr val="FFFF00"/>
                          </a:highlight>
                          <a:latin typeface="Cambria" panose="02040503050406030204" pitchFamily="18" charset="0"/>
                          <a:ea typeface="Times New Roman" panose="02020603050405020304" pitchFamily="18" charset="0"/>
                        </a:rPr>
                        <a:t>non-null counts </a:t>
                      </a:r>
                      <a:r>
                        <a:rPr lang="en-US" sz="2000" dirty="0">
                          <a:solidFill>
                            <a:srgbClr val="000000"/>
                          </a:solidFill>
                          <a:effectLst/>
                          <a:latin typeface="Cambria" panose="02040503050406030204" pitchFamily="18" charset="0"/>
                          <a:ea typeface="Times New Roman" panose="02020603050405020304" pitchFamily="18" charset="0"/>
                        </a:rPr>
                        <a:t>for </a:t>
                      </a:r>
                      <a:r>
                        <a:rPr lang="en-US" sz="2000" dirty="0">
                          <a:solidFill>
                            <a:srgbClr val="000000"/>
                          </a:solidFill>
                          <a:effectLst/>
                          <a:highlight>
                            <a:srgbClr val="FFFF00"/>
                          </a:highlight>
                          <a:latin typeface="Cambria" panose="02040503050406030204" pitchFamily="18" charset="0"/>
                          <a:ea typeface="Times New Roman" panose="02020603050405020304" pitchFamily="18" charset="0"/>
                        </a:rPr>
                        <a:t>each column </a:t>
                      </a:r>
                      <a:r>
                        <a:rPr lang="en-US" sz="2000" dirty="0">
                          <a:solidFill>
                            <a:srgbClr val="000000"/>
                          </a:solidFill>
                          <a:effectLst/>
                          <a:latin typeface="Cambria" panose="02040503050406030204" pitchFamily="18" charset="0"/>
                          <a:ea typeface="Times New Roman" panose="02020603050405020304" pitchFamily="18" charset="0"/>
                        </a:rPr>
                        <a:t>will be displayed.</a:t>
                      </a:r>
                      <a:endParaRPr lang="en-US" sz="2000" dirty="0">
                        <a:effectLst/>
                        <a:latin typeface="Cambria" panose="020405030504060302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556339270"/>
                  </a:ext>
                </a:extLst>
              </a:tr>
            </a:tbl>
          </a:graphicData>
        </a:graphic>
      </p:graphicFrame>
    </p:spTree>
    <p:extLst>
      <p:ext uri="{BB962C8B-B14F-4D97-AF65-F5344CB8AC3E}">
        <p14:creationId xmlns:p14="http://schemas.microsoft.com/office/powerpoint/2010/main" val="1637777119"/>
      </p:ext>
    </p:extLst>
  </p:cSld>
  <p:clrMapOvr>
    <a:masterClrMapping/>
  </p:clrMapOvr>
  <mc:AlternateContent xmlns:mc="http://schemas.openxmlformats.org/markup-compatibility/2006" xmlns:p14="http://schemas.microsoft.com/office/powerpoint/2010/main">
    <mc:Choice Requires="p14">
      <p:transition spd="slow" p14:dur="2000" advTm="31296"/>
    </mc:Choice>
    <mc:Fallback xmlns="">
      <p:transition spd="slow" advTm="31296"/>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5BDCE-2DAB-B1D1-1794-095EDE3D90CF}"/>
              </a:ext>
            </a:extLst>
          </p:cNvPr>
          <p:cNvSpPr>
            <a:spLocks noGrp="1"/>
          </p:cNvSpPr>
          <p:nvPr>
            <p:ph type="title"/>
          </p:nvPr>
        </p:nvSpPr>
        <p:spPr/>
        <p:txBody>
          <a:bodyPr>
            <a:normAutofit fontScale="90000"/>
          </a:bodyPr>
          <a:lstStyle/>
          <a:p>
            <a:r>
              <a:rPr lang="en-US" dirty="0"/>
              <a:t>What the info() Method Can Tell You (Cont.)</a:t>
            </a:r>
          </a:p>
        </p:txBody>
      </p:sp>
      <p:sp>
        <p:nvSpPr>
          <p:cNvPr id="3" name="Content Placeholder 2">
            <a:extLst>
              <a:ext uri="{FF2B5EF4-FFF2-40B4-BE49-F238E27FC236}">
                <a16:creationId xmlns:a16="http://schemas.microsoft.com/office/drawing/2014/main" id="{3337A79F-AF5E-521C-3A52-ABC8E84A02F3}"/>
              </a:ext>
            </a:extLst>
          </p:cNvPr>
          <p:cNvSpPr>
            <a:spLocks noGrp="1"/>
          </p:cNvSpPr>
          <p:nvPr>
            <p:ph idx="1"/>
          </p:nvPr>
        </p:nvSpPr>
        <p:spPr/>
        <p:txBody>
          <a:bodyPr>
            <a:normAutofit fontScale="85000" lnSpcReduction="10000"/>
          </a:bodyPr>
          <a:lstStyle/>
          <a:p>
            <a:pPr marL="342900" indent="-342900">
              <a:buFont typeface="Arial" panose="020B0604020202020204" pitchFamily="34" charset="0"/>
              <a:buChar char="•"/>
            </a:pPr>
            <a:r>
              <a:rPr lang="en-US" dirty="0"/>
              <a:t>Depending on how your system is set up, you may not need to code the verbose and </a:t>
            </a:r>
            <a:r>
              <a:rPr lang="en-US" dirty="0" err="1"/>
              <a:t>show_counts</a:t>
            </a:r>
            <a:r>
              <a:rPr lang="en-US" dirty="0"/>
              <a:t> parameters. To see whether you need them, you can run the method with and without those parameters. But as strange as it sounds, you do need to code the </a:t>
            </a:r>
            <a:r>
              <a:rPr lang="en-US" dirty="0" err="1"/>
              <a:t>memory_usage</a:t>
            </a:r>
            <a:r>
              <a:rPr lang="en-US" dirty="0"/>
              <a:t> parameter to get an accurate value for memory usage.</a:t>
            </a:r>
          </a:p>
          <a:p>
            <a:pPr marL="342900" indent="-342900">
              <a:buFont typeface="Arial" panose="020B0604020202020204" pitchFamily="34" charset="0"/>
              <a:buChar char="•"/>
            </a:pPr>
            <a:r>
              <a:rPr lang="en-US" dirty="0"/>
              <a:t>When the info() method displays the information, you look for potential problems. First, you should look for object (or string) columns that look like they contain numbers or dates. For instance, columns with names like “total”, “mean”, and “pct” should probably be numeric data types. And columns with names that include “date” or “time” should probably be datetime objects. Second, you should analyze the columns that have non-null counts that are less than the number of rows in the </a:t>
            </a:r>
            <a:r>
              <a:rPr lang="en-US" dirty="0" err="1"/>
              <a:t>DataFrame</a:t>
            </a:r>
            <a:r>
              <a:rPr lang="en-US" dirty="0"/>
              <a:t>. For instance, the “</a:t>
            </a:r>
            <a:r>
              <a:rPr lang="en-US" dirty="0" err="1"/>
              <a:t>rawpoll</a:t>
            </a:r>
            <a:r>
              <a:rPr lang="en-US" dirty="0"/>
              <a:t>_ </a:t>
            </a:r>
            <a:r>
              <a:rPr lang="en-US" dirty="0" err="1"/>
              <a:t>mcmullin</a:t>
            </a:r>
            <a:r>
              <a:rPr lang="en-US" dirty="0"/>
              <a:t>” and “</a:t>
            </a:r>
            <a:r>
              <a:rPr lang="en-US" dirty="0" err="1"/>
              <a:t>adjpoll_mcmullin</a:t>
            </a:r>
            <a:r>
              <a:rPr lang="en-US" dirty="0"/>
              <a:t>” columns have only 90 non-null values. What’s going on there?</a:t>
            </a:r>
          </a:p>
          <a:p>
            <a:pPr marL="342900" indent="-342900">
              <a:buFont typeface="Arial" panose="020B0604020202020204" pitchFamily="34" charset="0"/>
              <a:buChar char="•"/>
            </a:pPr>
            <a:r>
              <a:rPr lang="en-US" dirty="0"/>
              <a:t>Of particular concern are columns in which the number of rows with null or non-null values is extremely small because those rows are likely to contain errors. In the polling data, for example, the “</a:t>
            </a:r>
            <a:r>
              <a:rPr lang="en-US" dirty="0" err="1"/>
              <a:t>samplessize</a:t>
            </a:r>
            <a:r>
              <a:rPr lang="en-US" dirty="0"/>
              <a:t>” column must have just 3 null values because it has 3 fewer non-null values than there are rows. As a result, those rows are likely to contain errors.</a:t>
            </a:r>
          </a:p>
          <a:p>
            <a:endParaRPr lang="en-US" dirty="0"/>
          </a:p>
        </p:txBody>
      </p:sp>
    </p:spTree>
    <p:extLst>
      <p:ext uri="{BB962C8B-B14F-4D97-AF65-F5344CB8AC3E}">
        <p14:creationId xmlns:p14="http://schemas.microsoft.com/office/powerpoint/2010/main" val="1742502569"/>
      </p:ext>
    </p:extLst>
  </p:cSld>
  <p:clrMapOvr>
    <a:masterClrMapping/>
  </p:clrMapOvr>
  <mc:AlternateContent xmlns:mc="http://schemas.openxmlformats.org/markup-compatibility/2006" xmlns:p14="http://schemas.microsoft.com/office/powerpoint/2010/main">
    <mc:Choice Requires="p14">
      <p:transition spd="slow" p14:dur="2000" advTm="61312"/>
    </mc:Choice>
    <mc:Fallback xmlns="">
      <p:transition spd="slow" advTm="61312"/>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2ECBF-313F-B2A3-FCEE-44ED5268EA22}"/>
              </a:ext>
            </a:extLst>
          </p:cNvPr>
          <p:cNvSpPr>
            <a:spLocks noGrp="1"/>
          </p:cNvSpPr>
          <p:nvPr>
            <p:ph type="title"/>
          </p:nvPr>
        </p:nvSpPr>
        <p:spPr/>
        <p:txBody>
          <a:bodyPr/>
          <a:lstStyle/>
          <a:p>
            <a:r>
              <a:rPr lang="en-US" dirty="0"/>
              <a:t>What You Should be Looking for …</a:t>
            </a:r>
          </a:p>
        </p:txBody>
      </p:sp>
      <p:graphicFrame>
        <p:nvGraphicFramePr>
          <p:cNvPr id="7" name="Content Placeholder 2">
            <a:extLst>
              <a:ext uri="{FF2B5EF4-FFF2-40B4-BE49-F238E27FC236}">
                <a16:creationId xmlns:a16="http://schemas.microsoft.com/office/drawing/2014/main" id="{1886DC5C-7A05-1579-431B-B5ED7A398656}"/>
              </a:ext>
            </a:extLst>
          </p:cNvPr>
          <p:cNvGraphicFramePr>
            <a:graphicFrameLocks/>
          </p:cNvGraphicFramePr>
          <p:nvPr>
            <p:extLst>
              <p:ext uri="{D42A27DB-BD31-4B8C-83A1-F6EECF244321}">
                <p14:modId xmlns:p14="http://schemas.microsoft.com/office/powerpoint/2010/main" val="3147629914"/>
              </p:ext>
            </p:extLst>
          </p:nvPr>
        </p:nvGraphicFramePr>
        <p:xfrm>
          <a:off x="622338" y="2308193"/>
          <a:ext cx="11193926" cy="34413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25703331"/>
      </p:ext>
    </p:extLst>
  </p:cSld>
  <p:clrMapOvr>
    <a:masterClrMapping/>
  </p:clrMapOvr>
  <mc:AlternateContent xmlns:mc="http://schemas.openxmlformats.org/markup-compatibility/2006" xmlns:p14="http://schemas.microsoft.com/office/powerpoint/2010/main">
    <mc:Choice Requires="p14">
      <p:transition spd="slow" p14:dur="2000" advTm="28970"/>
    </mc:Choice>
    <mc:Fallback xmlns="">
      <p:transition spd="slow" advTm="2897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5BDCE-2DAB-B1D1-1794-095EDE3D90CF}"/>
              </a:ext>
            </a:extLst>
          </p:cNvPr>
          <p:cNvSpPr>
            <a:spLocks noGrp="1"/>
          </p:cNvSpPr>
          <p:nvPr>
            <p:ph type="title"/>
          </p:nvPr>
        </p:nvSpPr>
        <p:spPr/>
        <p:txBody>
          <a:bodyPr>
            <a:normAutofit fontScale="90000"/>
          </a:bodyPr>
          <a:lstStyle/>
          <a:p>
            <a:r>
              <a:rPr lang="en-US" dirty="0"/>
              <a:t>Partial Results for the info() Method -</a:t>
            </a:r>
            <a:br>
              <a:rPr lang="en-US" dirty="0"/>
            </a:br>
            <a:r>
              <a:rPr lang="en-US" dirty="0"/>
              <a:t>The Polls Data</a:t>
            </a:r>
          </a:p>
        </p:txBody>
      </p:sp>
      <p:pic>
        <p:nvPicPr>
          <p:cNvPr id="3" name="Content Placeholder 6" descr="Refer to page 201 in textbook">
            <a:extLst>
              <a:ext uri="{FF2B5EF4-FFF2-40B4-BE49-F238E27FC236}">
                <a16:creationId xmlns:a16="http://schemas.microsoft.com/office/drawing/2014/main" id="{F81E237A-279D-B0F9-7D53-D4246E11C937}"/>
              </a:ext>
            </a:extLst>
          </p:cNvPr>
          <p:cNvPicPr>
            <a:picLocks noChangeAspect="1"/>
          </p:cNvPicPr>
          <p:nvPr/>
        </p:nvPicPr>
        <p:blipFill rotWithShape="1">
          <a:blip r:embed="rId2"/>
          <a:srcRect t="12330"/>
          <a:stretch/>
        </p:blipFill>
        <p:spPr>
          <a:xfrm>
            <a:off x="212942" y="3546591"/>
            <a:ext cx="8279705" cy="2691742"/>
          </a:xfrm>
          <a:prstGeom prst="rect">
            <a:avLst/>
          </a:prstGeom>
        </p:spPr>
      </p:pic>
      <p:pic>
        <p:nvPicPr>
          <p:cNvPr id="4" name="Picture 3">
            <a:extLst>
              <a:ext uri="{FF2B5EF4-FFF2-40B4-BE49-F238E27FC236}">
                <a16:creationId xmlns:a16="http://schemas.microsoft.com/office/drawing/2014/main" id="{00E5E687-05E4-7133-D870-17997E49C8E0}"/>
              </a:ext>
            </a:extLst>
          </p:cNvPr>
          <p:cNvPicPr>
            <a:picLocks noChangeAspect="1"/>
          </p:cNvPicPr>
          <p:nvPr/>
        </p:nvPicPr>
        <p:blipFill>
          <a:blip r:embed="rId3"/>
          <a:stretch>
            <a:fillRect/>
          </a:stretch>
        </p:blipFill>
        <p:spPr>
          <a:xfrm>
            <a:off x="484552" y="2251292"/>
            <a:ext cx="6629400" cy="952500"/>
          </a:xfrm>
          <a:prstGeom prst="rect">
            <a:avLst/>
          </a:prstGeom>
        </p:spPr>
      </p:pic>
    </p:spTree>
    <p:extLst>
      <p:ext uri="{BB962C8B-B14F-4D97-AF65-F5344CB8AC3E}">
        <p14:creationId xmlns:p14="http://schemas.microsoft.com/office/powerpoint/2010/main" val="45229939"/>
      </p:ext>
    </p:extLst>
  </p:cSld>
  <p:clrMapOvr>
    <a:masterClrMapping/>
  </p:clrMapOvr>
  <mc:AlternateContent xmlns:mc="http://schemas.openxmlformats.org/markup-compatibility/2006" xmlns:p14="http://schemas.microsoft.com/office/powerpoint/2010/main">
    <mc:Choice Requires="p14">
      <p:transition spd="slow" p14:dur="2000" advTm="133728"/>
    </mc:Choice>
    <mc:Fallback xmlns="">
      <p:transition spd="slow" advTm="133728"/>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5BDCE-2DAB-B1D1-1794-095EDE3D90CF}"/>
              </a:ext>
            </a:extLst>
          </p:cNvPr>
          <p:cNvSpPr>
            <a:spLocks noGrp="1"/>
          </p:cNvSpPr>
          <p:nvPr>
            <p:ph type="title"/>
          </p:nvPr>
        </p:nvSpPr>
        <p:spPr/>
        <p:txBody>
          <a:bodyPr>
            <a:normAutofit fontScale="90000"/>
          </a:bodyPr>
          <a:lstStyle/>
          <a:p>
            <a:r>
              <a:rPr lang="en-US" dirty="0"/>
              <a:t>Partial Results for the info() Method – </a:t>
            </a:r>
            <a:br>
              <a:rPr lang="en-US" dirty="0"/>
            </a:br>
            <a:r>
              <a:rPr lang="en-US" dirty="0"/>
              <a:t>The Jobs Data </a:t>
            </a:r>
          </a:p>
        </p:txBody>
      </p:sp>
      <p:pic>
        <p:nvPicPr>
          <p:cNvPr id="4" name="Content Placeholder 7" descr="Refer to page 201 in textbook">
            <a:extLst>
              <a:ext uri="{FF2B5EF4-FFF2-40B4-BE49-F238E27FC236}">
                <a16:creationId xmlns:a16="http://schemas.microsoft.com/office/drawing/2014/main" id="{C4C59276-0FC2-9700-6651-C7E12BF70551}"/>
              </a:ext>
            </a:extLst>
          </p:cNvPr>
          <p:cNvPicPr>
            <a:picLocks noChangeAspect="1"/>
          </p:cNvPicPr>
          <p:nvPr/>
        </p:nvPicPr>
        <p:blipFill rotWithShape="1">
          <a:blip r:embed="rId2"/>
          <a:srcRect t="10503"/>
          <a:stretch/>
        </p:blipFill>
        <p:spPr>
          <a:xfrm>
            <a:off x="233820" y="3319396"/>
            <a:ext cx="7507266" cy="2683569"/>
          </a:xfrm>
          <a:prstGeom prst="rect">
            <a:avLst/>
          </a:prstGeom>
        </p:spPr>
      </p:pic>
      <p:pic>
        <p:nvPicPr>
          <p:cNvPr id="5" name="Picture 4">
            <a:extLst>
              <a:ext uri="{FF2B5EF4-FFF2-40B4-BE49-F238E27FC236}">
                <a16:creationId xmlns:a16="http://schemas.microsoft.com/office/drawing/2014/main" id="{26B52094-84E9-D7CA-B52D-973B201A8339}"/>
              </a:ext>
            </a:extLst>
          </p:cNvPr>
          <p:cNvPicPr>
            <a:picLocks noChangeAspect="1"/>
          </p:cNvPicPr>
          <p:nvPr/>
        </p:nvPicPr>
        <p:blipFill>
          <a:blip r:embed="rId3"/>
          <a:stretch>
            <a:fillRect/>
          </a:stretch>
        </p:blipFill>
        <p:spPr>
          <a:xfrm>
            <a:off x="572234" y="2018905"/>
            <a:ext cx="7772400" cy="1133475"/>
          </a:xfrm>
          <a:prstGeom prst="rect">
            <a:avLst/>
          </a:prstGeom>
        </p:spPr>
      </p:pic>
    </p:spTree>
    <p:extLst>
      <p:ext uri="{BB962C8B-B14F-4D97-AF65-F5344CB8AC3E}">
        <p14:creationId xmlns:p14="http://schemas.microsoft.com/office/powerpoint/2010/main" val="572482805"/>
      </p:ext>
    </p:extLst>
  </p:cSld>
  <p:clrMapOvr>
    <a:masterClrMapping/>
  </p:clrMapOvr>
  <mc:AlternateContent xmlns:mc="http://schemas.openxmlformats.org/markup-compatibility/2006" xmlns:p14="http://schemas.microsoft.com/office/powerpoint/2010/main">
    <mc:Choice Requires="p14">
      <p:transition spd="slow" p14:dur="2000" advTm="14506"/>
    </mc:Choice>
    <mc:Fallback xmlns="">
      <p:transition spd="slow" advTm="14506"/>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C07E4-BAFC-B1A8-C0B5-83AF24FDE7C1}"/>
              </a:ext>
            </a:extLst>
          </p:cNvPr>
          <p:cNvSpPr>
            <a:spLocks noGrp="1"/>
          </p:cNvSpPr>
          <p:nvPr>
            <p:ph type="title"/>
          </p:nvPr>
        </p:nvSpPr>
        <p:spPr/>
        <p:txBody>
          <a:bodyPr/>
          <a:lstStyle/>
          <a:p>
            <a:r>
              <a:rPr lang="en-US" dirty="0"/>
              <a:t>The </a:t>
            </a:r>
            <a:r>
              <a:rPr lang="en-US" dirty="0" err="1"/>
              <a:t>nunique</a:t>
            </a:r>
            <a:r>
              <a:rPr lang="en-US" dirty="0"/>
              <a:t>() and unique() methods</a:t>
            </a:r>
          </a:p>
        </p:txBody>
      </p:sp>
      <p:graphicFrame>
        <p:nvGraphicFramePr>
          <p:cNvPr id="4" name="Table Placeholder 8">
            <a:extLst>
              <a:ext uri="{FF2B5EF4-FFF2-40B4-BE49-F238E27FC236}">
                <a16:creationId xmlns:a16="http://schemas.microsoft.com/office/drawing/2014/main" id="{AF5B19F3-0F95-8B56-DFD2-8187B198D096}"/>
              </a:ext>
            </a:extLst>
          </p:cNvPr>
          <p:cNvGraphicFramePr>
            <a:graphicFrameLocks/>
          </p:cNvGraphicFramePr>
          <p:nvPr>
            <p:extLst>
              <p:ext uri="{D42A27DB-BD31-4B8C-83A1-F6EECF244321}">
                <p14:modId xmlns:p14="http://schemas.microsoft.com/office/powerpoint/2010/main" val="597231627"/>
              </p:ext>
            </p:extLst>
          </p:nvPr>
        </p:nvGraphicFramePr>
        <p:xfrm>
          <a:off x="670770" y="2351901"/>
          <a:ext cx="10496811" cy="1188720"/>
        </p:xfrm>
        <a:graphic>
          <a:graphicData uri="http://schemas.openxmlformats.org/drawingml/2006/table">
            <a:tbl>
              <a:tblPr firstRow="1"/>
              <a:tblGrid>
                <a:gridCol w="4047360">
                  <a:extLst>
                    <a:ext uri="{9D8B030D-6E8A-4147-A177-3AD203B41FA5}">
                      <a16:colId xmlns:a16="http://schemas.microsoft.com/office/drawing/2014/main" val="1838857810"/>
                    </a:ext>
                  </a:extLst>
                </a:gridCol>
                <a:gridCol w="6449451">
                  <a:extLst>
                    <a:ext uri="{9D8B030D-6E8A-4147-A177-3AD203B41FA5}">
                      <a16:colId xmlns:a16="http://schemas.microsoft.com/office/drawing/2014/main" val="3817743586"/>
                    </a:ext>
                  </a:extLst>
                </a:gridCol>
              </a:tblGrid>
              <a:tr h="0">
                <a:tc>
                  <a:txBody>
                    <a:bodyPr/>
                    <a:lstStyle/>
                    <a:p>
                      <a:pPr marL="0" marR="0">
                        <a:spcBef>
                          <a:spcPts val="600"/>
                        </a:spcBef>
                        <a:spcAft>
                          <a:spcPts val="600"/>
                        </a:spcAft>
                        <a:tabLst>
                          <a:tab pos="1828800" algn="l"/>
                          <a:tab pos="457200" algn="l"/>
                        </a:tabLst>
                      </a:pPr>
                      <a:r>
                        <a:rPr lang="en-US" sz="2000" b="1" dirty="0">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Method</a:t>
                      </a: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Description</a:t>
                      </a:r>
                    </a:p>
                  </a:txBody>
                  <a:tcPr marL="68580" marR="68580">
                    <a:lnL>
                      <a:noFill/>
                    </a:lnL>
                    <a:lnR>
                      <a:noFill/>
                    </a:lnR>
                    <a:lnT>
                      <a:noFill/>
                    </a:lnT>
                    <a:lnB>
                      <a:noFill/>
                    </a:lnB>
                    <a:solidFill>
                      <a:srgbClr val="3D87B7"/>
                    </a:solidFill>
                  </a:tcPr>
                </a:tc>
                <a:extLst>
                  <a:ext uri="{0D108BD9-81ED-4DB2-BD59-A6C34878D82A}">
                    <a16:rowId xmlns:a16="http://schemas.microsoft.com/office/drawing/2014/main" val="1408461681"/>
                  </a:ext>
                </a:extLst>
              </a:tr>
              <a:tr h="0">
                <a:tc>
                  <a:txBody>
                    <a:bodyPr/>
                    <a:lstStyle/>
                    <a:p>
                      <a:pPr marL="0" marR="0" indent="0">
                        <a:spcBef>
                          <a:spcPts val="600"/>
                        </a:spcBef>
                        <a:spcAft>
                          <a:spcPts val="600"/>
                        </a:spcAft>
                        <a:tabLst>
                          <a:tab pos="800100" algn="l"/>
                          <a:tab pos="2514600" algn="l"/>
                          <a:tab pos="457200" algn="l"/>
                        </a:tabLst>
                      </a:pPr>
                      <a:r>
                        <a:rPr lang="en-US" sz="2000" b="1" dirty="0" err="1">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nunique</a:t>
                      </a:r>
                      <a:r>
                        <a:rPr lang="en-US" sz="2000" b="1" dirty="0">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a:t>
                      </a:r>
                      <a:r>
                        <a:rPr lang="en-US" sz="2000" b="1" dirty="0" err="1">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dropna</a:t>
                      </a:r>
                      <a:r>
                        <a:rPr lang="en-US" sz="2000" b="1" dirty="0">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=False)</a:t>
                      </a:r>
                      <a:endParaRPr lang="en-US" sz="2000" dirty="0">
                        <a:effectLst/>
                        <a:latin typeface="Cambria" panose="020405030504060302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Returns the </a:t>
                      </a:r>
                      <a:r>
                        <a:rPr lang="en-US" sz="2000" dirty="0">
                          <a:solidFill>
                            <a:srgbClr val="000000"/>
                          </a:solidFill>
                          <a:effectLst/>
                          <a:highlight>
                            <a:srgbClr val="FFFF00"/>
                          </a:highlight>
                          <a:latin typeface="Cambria" panose="02040503050406030204" pitchFamily="18" charset="0"/>
                          <a:ea typeface="Times New Roman" panose="02020603050405020304" pitchFamily="18" charset="0"/>
                        </a:rPr>
                        <a:t>number of unique values in each column</a:t>
                      </a:r>
                      <a:r>
                        <a:rPr lang="en-US" sz="2000" dirty="0">
                          <a:solidFill>
                            <a:srgbClr val="000000"/>
                          </a:solidFill>
                          <a:effectLst/>
                          <a:latin typeface="Cambria" panose="02040503050406030204" pitchFamily="18" charset="0"/>
                          <a:ea typeface="Times New Roman" panose="02020603050405020304" pitchFamily="18" charset="0"/>
                        </a:rPr>
                        <a:t>.</a:t>
                      </a:r>
                      <a:endParaRPr lang="en-US" sz="2000" dirty="0">
                        <a:effectLst/>
                        <a:latin typeface="Cambria" panose="020405030504060302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2422403020"/>
                  </a:ext>
                </a:extLst>
              </a:tr>
              <a:tr h="0">
                <a:tc>
                  <a:txBody>
                    <a:bodyPr/>
                    <a:lstStyle/>
                    <a:p>
                      <a:pPr marL="0" marR="0" indent="0">
                        <a:spcBef>
                          <a:spcPts val="600"/>
                        </a:spcBef>
                        <a:spcAft>
                          <a:spcPts val="600"/>
                        </a:spcAft>
                        <a:tabLst>
                          <a:tab pos="800100" algn="l"/>
                          <a:tab pos="2514600" algn="l"/>
                          <a:tab pos="457200" algn="l"/>
                        </a:tabLst>
                      </a:pPr>
                      <a:r>
                        <a:rPr lang="en-US" sz="2000" b="1" dirty="0">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unique()</a:t>
                      </a:r>
                      <a:endParaRPr lang="en-US" sz="2000" dirty="0">
                        <a:effectLst/>
                        <a:latin typeface="Cambria" panose="020405030504060302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Returns the unique values in each column.</a:t>
                      </a:r>
                      <a:endParaRPr lang="en-US" sz="2000" dirty="0">
                        <a:effectLst/>
                        <a:latin typeface="Cambria" panose="020405030504060302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3479890573"/>
                  </a:ext>
                </a:extLst>
              </a:tr>
            </a:tbl>
          </a:graphicData>
        </a:graphic>
      </p:graphicFrame>
      <p:sp>
        <p:nvSpPr>
          <p:cNvPr id="7" name="TextBox 6">
            <a:extLst>
              <a:ext uri="{FF2B5EF4-FFF2-40B4-BE49-F238E27FC236}">
                <a16:creationId xmlns:a16="http://schemas.microsoft.com/office/drawing/2014/main" id="{3DE39C38-9AAE-49BB-BD3E-0AF80D412284}"/>
              </a:ext>
            </a:extLst>
          </p:cNvPr>
          <p:cNvSpPr txBox="1"/>
          <p:nvPr/>
        </p:nvSpPr>
        <p:spPr>
          <a:xfrm>
            <a:off x="670770" y="4037706"/>
            <a:ext cx="10496811" cy="1631216"/>
          </a:xfrm>
          <a:prstGeom prst="rect">
            <a:avLst/>
          </a:prstGeom>
          <a:noFill/>
        </p:spPr>
        <p:txBody>
          <a:bodyPr wrap="square">
            <a:spAutoFit/>
          </a:bodyPr>
          <a:lstStyle/>
          <a:p>
            <a:r>
              <a:rPr lang="en-AU" sz="2000" b="1" dirty="0">
                <a:solidFill>
                  <a:srgbClr val="000000"/>
                </a:solidFill>
                <a:latin typeface="Cambria" panose="02040503050406030204" pitchFamily="18" charset="0"/>
              </a:rPr>
              <a:t>.</a:t>
            </a:r>
            <a:r>
              <a:rPr lang="en-AU" sz="2000" b="1" dirty="0" err="1">
                <a:solidFill>
                  <a:srgbClr val="000000"/>
                </a:solidFill>
                <a:latin typeface="Cambria" panose="02040503050406030204" pitchFamily="18" charset="0"/>
              </a:rPr>
              <a:t>nunique</a:t>
            </a:r>
            <a:r>
              <a:rPr lang="en-AU" sz="2000" b="1" dirty="0">
                <a:solidFill>
                  <a:srgbClr val="000000"/>
                </a:solidFill>
                <a:latin typeface="Cambria" panose="02040503050406030204" pitchFamily="18" charset="0"/>
              </a:rPr>
              <a:t>()</a:t>
            </a:r>
            <a:r>
              <a:rPr lang="en-AU" sz="2000" dirty="0">
                <a:solidFill>
                  <a:srgbClr val="000000"/>
                </a:solidFill>
                <a:latin typeface="Cambria" panose="02040503050406030204" pitchFamily="18" charset="0"/>
              </a:rPr>
              <a:t> naturally </a:t>
            </a:r>
            <a:r>
              <a:rPr lang="en-AU" sz="2000" b="1" dirty="0">
                <a:solidFill>
                  <a:srgbClr val="000000"/>
                </a:solidFill>
                <a:latin typeface="Cambria" panose="02040503050406030204" pitchFamily="18" charset="0"/>
              </a:rPr>
              <a:t>produces one number per column</a:t>
            </a:r>
            <a:r>
              <a:rPr lang="en-AU" sz="2000" dirty="0">
                <a:solidFill>
                  <a:srgbClr val="000000"/>
                </a:solidFill>
                <a:latin typeface="Cambria" panose="02040503050406030204" pitchFamily="18" charset="0"/>
              </a:rPr>
              <a:t>, while </a:t>
            </a:r>
            <a:r>
              <a:rPr lang="en-AU" sz="2000" b="1" dirty="0">
                <a:solidFill>
                  <a:srgbClr val="000000"/>
                </a:solidFill>
                <a:latin typeface="Cambria" panose="02040503050406030204" pitchFamily="18" charset="0"/>
              </a:rPr>
              <a:t>.unique() </a:t>
            </a:r>
            <a:r>
              <a:rPr lang="en-AU" sz="2000" dirty="0">
                <a:solidFill>
                  <a:srgbClr val="000000"/>
                </a:solidFill>
                <a:latin typeface="Cambria" panose="02040503050406030204" pitchFamily="18" charset="0"/>
              </a:rPr>
              <a:t>may produce arrays of </a:t>
            </a:r>
            <a:r>
              <a:rPr lang="en-AU" sz="2000" b="1" dirty="0">
                <a:solidFill>
                  <a:srgbClr val="000000"/>
                </a:solidFill>
                <a:latin typeface="Cambria" panose="02040503050406030204" pitchFamily="18" charset="0"/>
              </a:rPr>
              <a:t>different lengths for different columns</a:t>
            </a:r>
            <a:r>
              <a:rPr lang="en-AU" sz="2000" dirty="0">
                <a:solidFill>
                  <a:srgbClr val="000000"/>
                </a:solidFill>
                <a:latin typeface="Cambria" panose="02040503050406030204" pitchFamily="18" charset="0"/>
              </a:rPr>
              <a:t>. </a:t>
            </a:r>
          </a:p>
          <a:p>
            <a:endParaRPr lang="en-AU" sz="2000" dirty="0">
              <a:solidFill>
                <a:srgbClr val="000000"/>
              </a:solidFill>
              <a:latin typeface="Cambria" panose="02040503050406030204" pitchFamily="18" charset="0"/>
            </a:endParaRPr>
          </a:p>
          <a:p>
            <a:r>
              <a:rPr lang="en-AU" sz="2000" dirty="0">
                <a:solidFill>
                  <a:srgbClr val="000000"/>
                </a:solidFill>
                <a:latin typeface="Cambria" panose="02040503050406030204" pitchFamily="18" charset="0"/>
              </a:rPr>
              <a:t>Hence, </a:t>
            </a:r>
            <a:r>
              <a:rPr lang="en-AU" sz="2000" b="1" dirty="0">
                <a:solidFill>
                  <a:srgbClr val="000000"/>
                </a:solidFill>
                <a:highlight>
                  <a:srgbClr val="FFFF00"/>
                </a:highlight>
                <a:latin typeface="Cambria" panose="02040503050406030204" pitchFamily="18" charset="0"/>
              </a:rPr>
              <a:t>.unique() </a:t>
            </a:r>
            <a:r>
              <a:rPr lang="en-AU" sz="2000" dirty="0">
                <a:solidFill>
                  <a:srgbClr val="000000"/>
                </a:solidFill>
                <a:latin typeface="Cambria" panose="02040503050406030204" pitchFamily="18" charset="0"/>
              </a:rPr>
              <a:t>is used for a </a:t>
            </a:r>
            <a:r>
              <a:rPr lang="en-AU" sz="2000" b="1" dirty="0">
                <a:solidFill>
                  <a:srgbClr val="000000"/>
                </a:solidFill>
                <a:highlight>
                  <a:srgbClr val="FFFF00"/>
                </a:highlight>
                <a:latin typeface="Cambria" panose="02040503050406030204" pitchFamily="18" charset="0"/>
              </a:rPr>
              <a:t>single Series</a:t>
            </a:r>
            <a:r>
              <a:rPr lang="en-AU" sz="2000" b="1" dirty="0">
                <a:solidFill>
                  <a:srgbClr val="000000"/>
                </a:solidFill>
                <a:latin typeface="Cambria" panose="02040503050406030204" pitchFamily="18" charset="0"/>
              </a:rPr>
              <a:t>, </a:t>
            </a:r>
            <a:r>
              <a:rPr lang="en-AU" sz="2000" dirty="0">
                <a:solidFill>
                  <a:srgbClr val="000000"/>
                </a:solidFill>
                <a:latin typeface="Cambria" panose="02040503050406030204" pitchFamily="18" charset="0"/>
              </a:rPr>
              <a:t>while </a:t>
            </a:r>
            <a:r>
              <a:rPr lang="en-AU" sz="2000" b="1" dirty="0">
                <a:solidFill>
                  <a:srgbClr val="000000"/>
                </a:solidFill>
                <a:highlight>
                  <a:srgbClr val="00FFFF"/>
                </a:highlight>
                <a:latin typeface="Cambria" panose="02040503050406030204" pitchFamily="18" charset="0"/>
              </a:rPr>
              <a:t>.</a:t>
            </a:r>
            <a:r>
              <a:rPr lang="en-AU" sz="2000" b="1" dirty="0" err="1">
                <a:solidFill>
                  <a:srgbClr val="000000"/>
                </a:solidFill>
                <a:highlight>
                  <a:srgbClr val="00FFFF"/>
                </a:highlight>
                <a:latin typeface="Cambria" panose="02040503050406030204" pitchFamily="18" charset="0"/>
              </a:rPr>
              <a:t>nunique</a:t>
            </a:r>
            <a:r>
              <a:rPr lang="en-AU" sz="2000" b="1" dirty="0">
                <a:solidFill>
                  <a:srgbClr val="000000"/>
                </a:solidFill>
                <a:highlight>
                  <a:srgbClr val="00FFFF"/>
                </a:highlight>
                <a:latin typeface="Cambria" panose="02040503050406030204" pitchFamily="18" charset="0"/>
              </a:rPr>
              <a:t>()</a:t>
            </a:r>
            <a:r>
              <a:rPr lang="en-AU" sz="2000" dirty="0">
                <a:solidFill>
                  <a:srgbClr val="000000"/>
                </a:solidFill>
                <a:highlight>
                  <a:srgbClr val="00FFFF"/>
                </a:highlight>
                <a:latin typeface="Cambria" panose="02040503050406030204" pitchFamily="18" charset="0"/>
              </a:rPr>
              <a:t>  </a:t>
            </a:r>
            <a:r>
              <a:rPr lang="en-AU" sz="2000" dirty="0">
                <a:solidFill>
                  <a:srgbClr val="000000"/>
                </a:solidFill>
                <a:latin typeface="Cambria" panose="02040503050406030204" pitchFamily="18" charset="0"/>
              </a:rPr>
              <a:t>can be used for the whole </a:t>
            </a:r>
            <a:r>
              <a:rPr lang="en-AU" sz="2000" dirty="0" err="1">
                <a:solidFill>
                  <a:srgbClr val="000000"/>
                </a:solidFill>
                <a:highlight>
                  <a:srgbClr val="00FFFF"/>
                </a:highlight>
                <a:latin typeface="Cambria" panose="02040503050406030204" pitchFamily="18" charset="0"/>
              </a:rPr>
              <a:t>DataFrame</a:t>
            </a:r>
            <a:endParaRPr lang="en-AU" sz="2000" dirty="0">
              <a:solidFill>
                <a:srgbClr val="000000"/>
              </a:solidFill>
              <a:highlight>
                <a:srgbClr val="00FFFF"/>
              </a:highlight>
              <a:latin typeface="Cambria" panose="02040503050406030204" pitchFamily="18" charset="0"/>
            </a:endParaRPr>
          </a:p>
        </p:txBody>
      </p:sp>
    </p:spTree>
    <p:extLst>
      <p:ext uri="{BB962C8B-B14F-4D97-AF65-F5344CB8AC3E}">
        <p14:creationId xmlns:p14="http://schemas.microsoft.com/office/powerpoint/2010/main" val="502428085"/>
      </p:ext>
    </p:extLst>
  </p:cSld>
  <p:clrMapOvr>
    <a:masterClrMapping/>
  </p:clrMapOvr>
  <mc:AlternateContent xmlns:mc="http://schemas.openxmlformats.org/markup-compatibility/2006" xmlns:p14="http://schemas.microsoft.com/office/powerpoint/2010/main">
    <mc:Choice Requires="p14">
      <p:transition spd="slow" p14:dur="2000" advTm="17354"/>
    </mc:Choice>
    <mc:Fallback xmlns="">
      <p:transition spd="slow" advTm="1735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04F4E-A574-0081-FFBF-353FC018FD68}"/>
              </a:ext>
            </a:extLst>
          </p:cNvPr>
          <p:cNvSpPr>
            <a:spLocks noGrp="1"/>
          </p:cNvSpPr>
          <p:nvPr>
            <p:ph type="title"/>
          </p:nvPr>
        </p:nvSpPr>
        <p:spPr/>
        <p:txBody>
          <a:bodyPr>
            <a:normAutofit fontScale="90000"/>
          </a:bodyPr>
          <a:lstStyle/>
          <a:p>
            <a:r>
              <a:rPr lang="en-US" dirty="0"/>
              <a:t>Partial results for the </a:t>
            </a:r>
            <a:r>
              <a:rPr lang="en-US" dirty="0" err="1"/>
              <a:t>nunique</a:t>
            </a:r>
            <a:r>
              <a:rPr lang="en-US" dirty="0"/>
              <a:t>() method –</a:t>
            </a:r>
            <a:br>
              <a:rPr lang="en-US" dirty="0"/>
            </a:br>
            <a:r>
              <a:rPr lang="en-US" dirty="0"/>
              <a:t>the Polls data</a:t>
            </a:r>
          </a:p>
        </p:txBody>
      </p:sp>
      <p:pic>
        <p:nvPicPr>
          <p:cNvPr id="4" name="Content Placeholder 7" descr="Refer to page 203 in textbook">
            <a:extLst>
              <a:ext uri="{FF2B5EF4-FFF2-40B4-BE49-F238E27FC236}">
                <a16:creationId xmlns:a16="http://schemas.microsoft.com/office/drawing/2014/main" id="{0DCF9C02-AEB6-29ED-0B1B-4E87BB42D8A7}"/>
              </a:ext>
            </a:extLst>
          </p:cNvPr>
          <p:cNvPicPr>
            <a:picLocks noChangeAspect="1"/>
          </p:cNvPicPr>
          <p:nvPr/>
        </p:nvPicPr>
        <p:blipFill rotWithShape="1">
          <a:blip r:embed="rId2"/>
          <a:srcRect t="9142"/>
          <a:stretch/>
        </p:blipFill>
        <p:spPr>
          <a:xfrm>
            <a:off x="283923" y="2751657"/>
            <a:ext cx="7303008" cy="3434010"/>
          </a:xfrm>
          <a:prstGeom prst="rect">
            <a:avLst/>
          </a:prstGeom>
        </p:spPr>
      </p:pic>
      <p:pic>
        <p:nvPicPr>
          <p:cNvPr id="5" name="Picture 4">
            <a:extLst>
              <a:ext uri="{FF2B5EF4-FFF2-40B4-BE49-F238E27FC236}">
                <a16:creationId xmlns:a16="http://schemas.microsoft.com/office/drawing/2014/main" id="{6BFD86B9-D425-4BEA-1A3F-E3DE39FADC90}"/>
              </a:ext>
            </a:extLst>
          </p:cNvPr>
          <p:cNvPicPr>
            <a:picLocks noChangeAspect="1"/>
          </p:cNvPicPr>
          <p:nvPr/>
        </p:nvPicPr>
        <p:blipFill>
          <a:blip r:embed="rId3"/>
          <a:stretch>
            <a:fillRect/>
          </a:stretch>
        </p:blipFill>
        <p:spPr>
          <a:xfrm>
            <a:off x="610381" y="2233458"/>
            <a:ext cx="6528725" cy="422059"/>
          </a:xfrm>
          <a:prstGeom prst="rect">
            <a:avLst/>
          </a:prstGeom>
        </p:spPr>
      </p:pic>
    </p:spTree>
    <p:extLst>
      <p:ext uri="{BB962C8B-B14F-4D97-AF65-F5344CB8AC3E}">
        <p14:creationId xmlns:p14="http://schemas.microsoft.com/office/powerpoint/2010/main" val="4077052739"/>
      </p:ext>
    </p:extLst>
  </p:cSld>
  <p:clrMapOvr>
    <a:masterClrMapping/>
  </p:clrMapOvr>
  <mc:AlternateContent xmlns:mc="http://schemas.openxmlformats.org/markup-compatibility/2006" xmlns:p14="http://schemas.microsoft.com/office/powerpoint/2010/main">
    <mc:Choice Requires="p14">
      <p:transition spd="slow" p14:dur="2000" advTm="50496"/>
    </mc:Choice>
    <mc:Fallback xmlns="">
      <p:transition spd="slow" advTm="50496"/>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ABFC6EA2-A878-462E-B250-A0FFE1F53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47998" cy="22832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804F4E-A574-0081-FFBF-353FC018FD68}"/>
              </a:ext>
            </a:extLst>
          </p:cNvPr>
          <p:cNvSpPr>
            <a:spLocks noGrp="1"/>
          </p:cNvSpPr>
          <p:nvPr>
            <p:ph type="title"/>
          </p:nvPr>
        </p:nvSpPr>
        <p:spPr>
          <a:xfrm>
            <a:off x="220749" y="397275"/>
            <a:ext cx="2554257" cy="1617199"/>
          </a:xfrm>
        </p:spPr>
        <p:txBody>
          <a:bodyPr vert="horz" lIns="91440" tIns="45720" rIns="91440" bIns="45720" rtlCol="0" anchor="ctr">
            <a:normAutofit/>
          </a:bodyPr>
          <a:lstStyle/>
          <a:p>
            <a:pPr>
              <a:lnSpc>
                <a:spcPct val="90000"/>
              </a:lnSpc>
            </a:pPr>
            <a:r>
              <a:rPr lang="en-US" sz="2700" dirty="0"/>
              <a:t>Partial results for the unique() method –</a:t>
            </a:r>
            <a:br>
              <a:rPr lang="en-US" sz="2700" dirty="0"/>
            </a:br>
            <a:r>
              <a:rPr lang="en-US" sz="2700" dirty="0"/>
              <a:t>the Polls data</a:t>
            </a:r>
          </a:p>
        </p:txBody>
      </p:sp>
      <p:grpSp>
        <p:nvGrpSpPr>
          <p:cNvPr id="18" name="Group 17">
            <a:extLst>
              <a:ext uri="{FF2B5EF4-FFF2-40B4-BE49-F238E27FC236}">
                <a16:creationId xmlns:a16="http://schemas.microsoft.com/office/drawing/2014/main" id="{8E6AE698-618A-40C4-9717-024A2EABCE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283224"/>
            <a:ext cx="3048003" cy="4574776"/>
            <a:chOff x="6096002" y="-9073"/>
            <a:chExt cx="6095998" cy="6867073"/>
          </a:xfrm>
        </p:grpSpPr>
        <p:sp>
          <p:nvSpPr>
            <p:cNvPr id="19" name="Rectangle 18">
              <a:extLst>
                <a:ext uri="{FF2B5EF4-FFF2-40B4-BE49-F238E27FC236}">
                  <a16:creationId xmlns:a16="http://schemas.microsoft.com/office/drawing/2014/main" id="{1A6C384B-B15B-49B2-A765-4CC92348C6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E2C100C-6575-40D1-B4BD-4BC6CC523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7" name="Picture 6">
            <a:extLst>
              <a:ext uri="{FF2B5EF4-FFF2-40B4-BE49-F238E27FC236}">
                <a16:creationId xmlns:a16="http://schemas.microsoft.com/office/drawing/2014/main" id="{D913132A-3BBE-EB95-C4A4-013CD724BE6E}"/>
              </a:ext>
            </a:extLst>
          </p:cNvPr>
          <p:cNvPicPr>
            <a:picLocks noChangeAspect="1"/>
          </p:cNvPicPr>
          <p:nvPr/>
        </p:nvPicPr>
        <p:blipFill>
          <a:blip r:embed="rId2"/>
          <a:stretch>
            <a:fillRect/>
          </a:stretch>
        </p:blipFill>
        <p:spPr>
          <a:xfrm>
            <a:off x="3268747" y="191021"/>
            <a:ext cx="6889315" cy="6475957"/>
          </a:xfrm>
          <a:prstGeom prst="rect">
            <a:avLst/>
          </a:prstGeom>
        </p:spPr>
      </p:pic>
    </p:spTree>
    <p:extLst>
      <p:ext uri="{BB962C8B-B14F-4D97-AF65-F5344CB8AC3E}">
        <p14:creationId xmlns:p14="http://schemas.microsoft.com/office/powerpoint/2010/main" val="3199592053"/>
      </p:ext>
    </p:extLst>
  </p:cSld>
  <p:clrMapOvr>
    <a:masterClrMapping/>
  </p:clrMapOvr>
  <mc:AlternateContent xmlns:mc="http://schemas.openxmlformats.org/markup-compatibility/2006" xmlns:p14="http://schemas.microsoft.com/office/powerpoint/2010/main">
    <mc:Choice Requires="p14">
      <p:transition spd="slow" p14:dur="2000" advTm="33461"/>
    </mc:Choice>
    <mc:Fallback xmlns="">
      <p:transition spd="slow" advTm="33461"/>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6B603-5937-3031-31FD-E40407A41265}"/>
              </a:ext>
            </a:extLst>
          </p:cNvPr>
          <p:cNvSpPr>
            <a:spLocks noGrp="1"/>
          </p:cNvSpPr>
          <p:nvPr>
            <p:ph type="title"/>
          </p:nvPr>
        </p:nvSpPr>
        <p:spPr/>
        <p:txBody>
          <a:bodyPr/>
          <a:lstStyle/>
          <a:p>
            <a:r>
              <a:rPr lang="en-US" dirty="0"/>
              <a:t>The </a:t>
            </a:r>
            <a:r>
              <a:rPr lang="en-US" dirty="0" err="1"/>
              <a:t>value_counts</a:t>
            </a:r>
            <a:r>
              <a:rPr lang="en-US" dirty="0"/>
              <a:t>() Method</a:t>
            </a:r>
          </a:p>
        </p:txBody>
      </p:sp>
      <p:graphicFrame>
        <p:nvGraphicFramePr>
          <p:cNvPr id="4" name="Table Placeholder 10">
            <a:extLst>
              <a:ext uri="{FF2B5EF4-FFF2-40B4-BE49-F238E27FC236}">
                <a16:creationId xmlns:a16="http://schemas.microsoft.com/office/drawing/2014/main" id="{21D98B30-47C9-CEA3-93A3-4721203B000A}"/>
              </a:ext>
            </a:extLst>
          </p:cNvPr>
          <p:cNvGraphicFramePr>
            <a:graphicFrameLocks/>
          </p:cNvGraphicFramePr>
          <p:nvPr>
            <p:extLst>
              <p:ext uri="{D42A27DB-BD31-4B8C-83A1-F6EECF244321}">
                <p14:modId xmlns:p14="http://schemas.microsoft.com/office/powerpoint/2010/main" val="4075176577"/>
              </p:ext>
            </p:extLst>
          </p:nvPr>
        </p:nvGraphicFramePr>
        <p:xfrm>
          <a:off x="916303" y="2344398"/>
          <a:ext cx="10545011" cy="670560"/>
        </p:xfrm>
        <a:graphic>
          <a:graphicData uri="http://schemas.openxmlformats.org/drawingml/2006/table">
            <a:tbl>
              <a:tblPr firstRow="1"/>
              <a:tblGrid>
                <a:gridCol w="2628563">
                  <a:extLst>
                    <a:ext uri="{9D8B030D-6E8A-4147-A177-3AD203B41FA5}">
                      <a16:colId xmlns:a16="http://schemas.microsoft.com/office/drawing/2014/main" val="1715225585"/>
                    </a:ext>
                  </a:extLst>
                </a:gridCol>
                <a:gridCol w="7916448">
                  <a:extLst>
                    <a:ext uri="{9D8B030D-6E8A-4147-A177-3AD203B41FA5}">
                      <a16:colId xmlns:a16="http://schemas.microsoft.com/office/drawing/2014/main" val="848065021"/>
                    </a:ext>
                  </a:extLst>
                </a:gridCol>
              </a:tblGrid>
              <a:tr h="0">
                <a:tc>
                  <a:txBody>
                    <a:bodyPr/>
                    <a:lstStyle/>
                    <a:p>
                      <a:pPr marL="0" marR="0">
                        <a:spcBef>
                          <a:spcPts val="600"/>
                        </a:spcBef>
                        <a:spcAft>
                          <a:spcPts val="600"/>
                        </a:spcAft>
                        <a:tabLst>
                          <a:tab pos="1828800" algn="l"/>
                          <a:tab pos="457200" algn="l"/>
                        </a:tabLst>
                      </a:pPr>
                      <a:r>
                        <a:rPr lang="en-US" sz="1600" b="1" dirty="0">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Method</a:t>
                      </a: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1600" b="1" dirty="0">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Description</a:t>
                      </a:r>
                    </a:p>
                  </a:txBody>
                  <a:tcPr marL="68580" marR="68580">
                    <a:lnL>
                      <a:noFill/>
                    </a:lnL>
                    <a:lnR>
                      <a:noFill/>
                    </a:lnR>
                    <a:lnT>
                      <a:noFill/>
                    </a:lnT>
                    <a:lnB>
                      <a:noFill/>
                    </a:lnB>
                    <a:solidFill>
                      <a:srgbClr val="3D87B7"/>
                    </a:solidFill>
                  </a:tcPr>
                </a:tc>
                <a:extLst>
                  <a:ext uri="{0D108BD9-81ED-4DB2-BD59-A6C34878D82A}">
                    <a16:rowId xmlns:a16="http://schemas.microsoft.com/office/drawing/2014/main" val="3387718767"/>
                  </a:ext>
                </a:extLst>
              </a:tr>
              <a:tr h="0">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ambria" panose="02040503050406030204" pitchFamily="18" charset="0"/>
                          <a:ea typeface="Times New Roman" panose="02020603050405020304" pitchFamily="18" charset="0"/>
                        </a:rPr>
                        <a:t>value_counts</a:t>
                      </a:r>
                      <a:r>
                        <a:rPr lang="en-US" sz="1600" b="1" dirty="0">
                          <a:solidFill>
                            <a:srgbClr val="000000"/>
                          </a:solidFill>
                          <a:effectLst/>
                          <a:latin typeface="Cambria" panose="02040503050406030204" pitchFamily="18" charset="0"/>
                          <a:ea typeface="Times New Roman" panose="02020603050405020304" pitchFamily="18" charset="0"/>
                        </a:rPr>
                        <a:t>(params)</a:t>
                      </a:r>
                      <a:endParaRPr lang="en-US" sz="1600" dirty="0">
                        <a:effectLst/>
                        <a:latin typeface="Cambria" panose="020405030504060302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1600" dirty="0">
                          <a:solidFill>
                            <a:srgbClr val="000000"/>
                          </a:solidFill>
                          <a:effectLst/>
                          <a:latin typeface="Cambria" panose="02040503050406030204" pitchFamily="18" charset="0"/>
                          <a:ea typeface="Times New Roman" panose="02020603050405020304" pitchFamily="18" charset="0"/>
                        </a:rPr>
                        <a:t>Returns the </a:t>
                      </a:r>
                      <a:r>
                        <a:rPr lang="en-US" sz="1600" dirty="0">
                          <a:solidFill>
                            <a:srgbClr val="000000"/>
                          </a:solidFill>
                          <a:effectLst/>
                          <a:highlight>
                            <a:srgbClr val="FFFF00"/>
                          </a:highlight>
                          <a:latin typeface="Cambria" panose="02040503050406030204" pitchFamily="18" charset="0"/>
                          <a:ea typeface="Times New Roman" panose="02020603050405020304" pitchFamily="18" charset="0"/>
                        </a:rPr>
                        <a:t>count</a:t>
                      </a:r>
                      <a:r>
                        <a:rPr lang="en-US" sz="1600" dirty="0">
                          <a:solidFill>
                            <a:srgbClr val="000000"/>
                          </a:solidFill>
                          <a:effectLst/>
                          <a:latin typeface="Cambria" panose="02040503050406030204" pitchFamily="18" charset="0"/>
                          <a:ea typeface="Times New Roman" panose="02020603050405020304" pitchFamily="18" charset="0"/>
                        </a:rPr>
                        <a:t> for each of the </a:t>
                      </a:r>
                      <a:r>
                        <a:rPr lang="en-US" sz="1600" dirty="0">
                          <a:solidFill>
                            <a:srgbClr val="000000"/>
                          </a:solidFill>
                          <a:effectLst/>
                          <a:highlight>
                            <a:srgbClr val="FFFF00"/>
                          </a:highlight>
                          <a:latin typeface="Cambria" panose="02040503050406030204" pitchFamily="18" charset="0"/>
                          <a:ea typeface="Times New Roman" panose="02020603050405020304" pitchFamily="18" charset="0"/>
                        </a:rPr>
                        <a:t>unique values </a:t>
                      </a:r>
                      <a:r>
                        <a:rPr lang="en-US" sz="1600" dirty="0">
                          <a:solidFill>
                            <a:srgbClr val="000000"/>
                          </a:solidFill>
                          <a:effectLst/>
                          <a:latin typeface="Cambria" panose="02040503050406030204" pitchFamily="18" charset="0"/>
                          <a:ea typeface="Times New Roman" panose="02020603050405020304" pitchFamily="18" charset="0"/>
                        </a:rPr>
                        <a:t>in a series.</a:t>
                      </a:r>
                      <a:endParaRPr lang="en-US" sz="1600" dirty="0">
                        <a:effectLst/>
                        <a:latin typeface="Cambria" panose="020405030504060302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2913955413"/>
                  </a:ext>
                </a:extLst>
              </a:tr>
            </a:tbl>
          </a:graphicData>
        </a:graphic>
      </p:graphicFrame>
      <p:graphicFrame>
        <p:nvGraphicFramePr>
          <p:cNvPr id="6" name="Table Placeholder 11">
            <a:extLst>
              <a:ext uri="{FF2B5EF4-FFF2-40B4-BE49-F238E27FC236}">
                <a16:creationId xmlns:a16="http://schemas.microsoft.com/office/drawing/2014/main" id="{2BFB6494-9C02-29B0-4F87-78A5590B2AA1}"/>
              </a:ext>
            </a:extLst>
          </p:cNvPr>
          <p:cNvGraphicFramePr>
            <a:graphicFrameLocks/>
          </p:cNvGraphicFramePr>
          <p:nvPr>
            <p:extLst>
              <p:ext uri="{D42A27DB-BD31-4B8C-83A1-F6EECF244321}">
                <p14:modId xmlns:p14="http://schemas.microsoft.com/office/powerpoint/2010/main" val="1649213760"/>
              </p:ext>
            </p:extLst>
          </p:nvPr>
        </p:nvGraphicFramePr>
        <p:xfrm>
          <a:off x="916303" y="3721123"/>
          <a:ext cx="10545009" cy="1511106"/>
        </p:xfrm>
        <a:graphic>
          <a:graphicData uri="http://schemas.openxmlformats.org/drawingml/2006/table">
            <a:tbl>
              <a:tblPr firstRow="1"/>
              <a:tblGrid>
                <a:gridCol w="2590984">
                  <a:extLst>
                    <a:ext uri="{9D8B030D-6E8A-4147-A177-3AD203B41FA5}">
                      <a16:colId xmlns:a16="http://schemas.microsoft.com/office/drawing/2014/main" val="1983487201"/>
                    </a:ext>
                  </a:extLst>
                </a:gridCol>
                <a:gridCol w="7954025">
                  <a:extLst>
                    <a:ext uri="{9D8B030D-6E8A-4147-A177-3AD203B41FA5}">
                      <a16:colId xmlns:a16="http://schemas.microsoft.com/office/drawing/2014/main" val="658337860"/>
                    </a:ext>
                  </a:extLst>
                </a:gridCol>
              </a:tblGrid>
              <a:tr h="332299">
                <a:tc>
                  <a:txBody>
                    <a:bodyPr/>
                    <a:lstStyle/>
                    <a:p>
                      <a:pPr marL="0" marR="0">
                        <a:spcBef>
                          <a:spcPts val="600"/>
                        </a:spcBef>
                        <a:spcAft>
                          <a:spcPts val="600"/>
                        </a:spcAft>
                        <a:tabLst>
                          <a:tab pos="1828800" algn="l"/>
                          <a:tab pos="457200" algn="l"/>
                        </a:tabLst>
                      </a:pPr>
                      <a:r>
                        <a:rPr lang="en-US" sz="16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Parameter</a:t>
                      </a:r>
                      <a:endParaRPr lang="en-US" sz="1600" b="1" dirty="0">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16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1600" b="1" dirty="0">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a:lnL>
                      <a:noFill/>
                    </a:lnL>
                    <a:lnR>
                      <a:noFill/>
                    </a:lnR>
                    <a:lnT>
                      <a:noFill/>
                    </a:lnT>
                    <a:lnB>
                      <a:noFill/>
                    </a:lnB>
                    <a:solidFill>
                      <a:srgbClr val="3D87B7"/>
                    </a:solidFill>
                  </a:tcPr>
                </a:tc>
                <a:extLst>
                  <a:ext uri="{0D108BD9-81ED-4DB2-BD59-A6C34878D82A}">
                    <a16:rowId xmlns:a16="http://schemas.microsoft.com/office/drawing/2014/main" val="899291738"/>
                  </a:ext>
                </a:extLst>
              </a:tr>
              <a:tr h="587913">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ambria" panose="02040503050406030204" pitchFamily="18" charset="0"/>
                          <a:ea typeface="Times New Roman" panose="02020603050405020304" pitchFamily="18" charset="0"/>
                        </a:rPr>
                        <a:t>normalize</a:t>
                      </a:r>
                      <a:endParaRPr lang="en-US" sz="16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1600" dirty="0">
                          <a:solidFill>
                            <a:srgbClr val="000000"/>
                          </a:solidFill>
                          <a:effectLst/>
                          <a:latin typeface="Cambria" panose="02040503050406030204" pitchFamily="18" charset="0"/>
                          <a:ea typeface="Times New Roman" panose="02020603050405020304" pitchFamily="18" charset="0"/>
                        </a:rPr>
                        <a:t>If True, returns the </a:t>
                      </a:r>
                      <a:r>
                        <a:rPr lang="en-US" sz="1600" dirty="0">
                          <a:solidFill>
                            <a:srgbClr val="000000"/>
                          </a:solidFill>
                          <a:effectLst/>
                          <a:highlight>
                            <a:srgbClr val="FFFF00"/>
                          </a:highlight>
                          <a:latin typeface="Cambria" panose="02040503050406030204" pitchFamily="18" charset="0"/>
                          <a:ea typeface="Times New Roman" panose="02020603050405020304" pitchFamily="18" charset="0"/>
                        </a:rPr>
                        <a:t>counts as a percent of the total </a:t>
                      </a:r>
                      <a:r>
                        <a:rPr lang="en-US" sz="1600" dirty="0">
                          <a:solidFill>
                            <a:srgbClr val="000000"/>
                          </a:solidFill>
                          <a:effectLst/>
                          <a:latin typeface="Cambria" panose="02040503050406030204" pitchFamily="18" charset="0"/>
                          <a:ea typeface="Times New Roman" panose="02020603050405020304" pitchFamily="18" charset="0"/>
                        </a:rPr>
                        <a:t>rather than the actual counts.</a:t>
                      </a:r>
                      <a:endParaRPr lang="en-US" sz="16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153122879"/>
                  </a:ext>
                </a:extLst>
              </a:tr>
              <a:tr h="587913">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ambria" panose="02040503050406030204" pitchFamily="18" charset="0"/>
                          <a:ea typeface="Times New Roman" panose="02020603050405020304" pitchFamily="18" charset="0"/>
                        </a:rPr>
                        <a:t>dropna</a:t>
                      </a:r>
                      <a:endParaRPr lang="en-US" sz="16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1600" dirty="0">
                          <a:solidFill>
                            <a:srgbClr val="000000"/>
                          </a:solidFill>
                          <a:effectLst/>
                          <a:latin typeface="Cambria" panose="02040503050406030204" pitchFamily="18" charset="0"/>
                          <a:ea typeface="Times New Roman" panose="02020603050405020304" pitchFamily="18" charset="0"/>
                        </a:rPr>
                        <a:t>If True (the default), it </a:t>
                      </a:r>
                      <a:r>
                        <a:rPr lang="en-US" sz="1600" dirty="0">
                          <a:solidFill>
                            <a:srgbClr val="000000"/>
                          </a:solidFill>
                          <a:effectLst/>
                          <a:highlight>
                            <a:srgbClr val="FFFF00"/>
                          </a:highlight>
                          <a:latin typeface="Cambria" panose="02040503050406030204" pitchFamily="18" charset="0"/>
                          <a:ea typeface="Times New Roman" panose="02020603050405020304" pitchFamily="18" charset="0"/>
                        </a:rPr>
                        <a:t>ignores null values</a:t>
                      </a:r>
                      <a:r>
                        <a:rPr lang="en-US" sz="1600" dirty="0">
                          <a:solidFill>
                            <a:srgbClr val="000000"/>
                          </a:solidFill>
                          <a:effectLst/>
                          <a:latin typeface="Cambria" panose="02040503050406030204" pitchFamily="18" charset="0"/>
                          <a:ea typeface="Times New Roman" panose="02020603050405020304" pitchFamily="18" charset="0"/>
                        </a:rPr>
                        <a:t>. Can </a:t>
                      </a:r>
                      <a:r>
                        <a:rPr lang="en-US" sz="1600" dirty="0">
                          <a:solidFill>
                            <a:srgbClr val="000000"/>
                          </a:solidFill>
                          <a:effectLst/>
                          <a:highlight>
                            <a:srgbClr val="FFFF00"/>
                          </a:highlight>
                          <a:latin typeface="Cambria" panose="02040503050406030204" pitchFamily="18" charset="0"/>
                          <a:ea typeface="Times New Roman" panose="02020603050405020304" pitchFamily="18" charset="0"/>
                        </a:rPr>
                        <a:t>only</a:t>
                      </a:r>
                      <a:r>
                        <a:rPr lang="en-US" sz="1600" dirty="0">
                          <a:solidFill>
                            <a:srgbClr val="000000"/>
                          </a:solidFill>
                          <a:effectLst/>
                          <a:latin typeface="Cambria" panose="02040503050406030204" pitchFamily="18" charset="0"/>
                          <a:ea typeface="Times New Roman" panose="02020603050405020304" pitchFamily="18" charset="0"/>
                        </a:rPr>
                        <a:t> be used with </a:t>
                      </a:r>
                      <a:r>
                        <a:rPr lang="en-US" sz="1600" dirty="0">
                          <a:solidFill>
                            <a:srgbClr val="000000"/>
                          </a:solidFill>
                          <a:effectLst/>
                          <a:highlight>
                            <a:srgbClr val="FFFF00"/>
                          </a:highlight>
                          <a:latin typeface="Cambria" panose="02040503050406030204" pitchFamily="18" charset="0"/>
                          <a:ea typeface="Times New Roman" panose="02020603050405020304" pitchFamily="18" charset="0"/>
                        </a:rPr>
                        <a:t>Series</a:t>
                      </a:r>
                      <a:r>
                        <a:rPr lang="en-US" sz="1600" dirty="0">
                          <a:solidFill>
                            <a:srgbClr val="000000"/>
                          </a:solidFill>
                          <a:effectLst/>
                          <a:latin typeface="Cambria" panose="02040503050406030204" pitchFamily="18" charset="0"/>
                          <a:ea typeface="Times New Roman" panose="02020603050405020304" pitchFamily="18" charset="0"/>
                        </a:rPr>
                        <a:t> objects.</a:t>
                      </a:r>
                      <a:endParaRPr lang="en-US" sz="16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955177106"/>
                  </a:ext>
                </a:extLst>
              </a:tr>
            </a:tbl>
          </a:graphicData>
        </a:graphic>
      </p:graphicFrame>
    </p:spTree>
    <p:extLst>
      <p:ext uri="{BB962C8B-B14F-4D97-AF65-F5344CB8AC3E}">
        <p14:creationId xmlns:p14="http://schemas.microsoft.com/office/powerpoint/2010/main" val="1208256132"/>
      </p:ext>
    </p:extLst>
  </p:cSld>
  <p:clrMapOvr>
    <a:masterClrMapping/>
  </p:clrMapOvr>
  <mc:AlternateContent xmlns:mc="http://schemas.openxmlformats.org/markup-compatibility/2006" xmlns:p14="http://schemas.microsoft.com/office/powerpoint/2010/main">
    <mc:Choice Requires="p14">
      <p:transition spd="slow" p14:dur="2000" advTm="30602"/>
    </mc:Choice>
    <mc:Fallback xmlns="">
      <p:transition spd="slow" advTm="30602"/>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00154-1798-060B-E144-32234ADADC4F}"/>
              </a:ext>
            </a:extLst>
          </p:cNvPr>
          <p:cNvSpPr>
            <a:spLocks noGrp="1"/>
          </p:cNvSpPr>
          <p:nvPr>
            <p:ph type="title"/>
          </p:nvPr>
        </p:nvSpPr>
        <p:spPr/>
        <p:txBody>
          <a:bodyPr>
            <a:normAutofit fontScale="90000"/>
          </a:bodyPr>
          <a:lstStyle/>
          <a:p>
            <a:r>
              <a:rPr lang="en-US" dirty="0"/>
              <a:t>How to use </a:t>
            </a:r>
            <a:r>
              <a:rPr lang="en-US" dirty="0" err="1"/>
              <a:t>value_counts</a:t>
            </a:r>
            <a:r>
              <a:rPr lang="en-US" dirty="0"/>
              <a:t>() with </a:t>
            </a:r>
            <a:br>
              <a:rPr lang="en-US" dirty="0"/>
            </a:br>
            <a:r>
              <a:rPr lang="en-US" dirty="0"/>
              <a:t>the normalize Parameter</a:t>
            </a:r>
          </a:p>
        </p:txBody>
      </p:sp>
      <p:pic>
        <p:nvPicPr>
          <p:cNvPr id="6" name="Picture 5">
            <a:extLst>
              <a:ext uri="{FF2B5EF4-FFF2-40B4-BE49-F238E27FC236}">
                <a16:creationId xmlns:a16="http://schemas.microsoft.com/office/drawing/2014/main" id="{3C0B15BD-376B-FF0E-4F5A-EB09A9D0368C}"/>
              </a:ext>
            </a:extLst>
          </p:cNvPr>
          <p:cNvPicPr>
            <a:picLocks noChangeAspect="1"/>
          </p:cNvPicPr>
          <p:nvPr/>
        </p:nvPicPr>
        <p:blipFill>
          <a:blip r:embed="rId2"/>
          <a:stretch>
            <a:fillRect/>
          </a:stretch>
        </p:blipFill>
        <p:spPr>
          <a:xfrm>
            <a:off x="593943" y="1947786"/>
            <a:ext cx="10276622" cy="4215020"/>
          </a:xfrm>
          <a:prstGeom prst="rect">
            <a:avLst/>
          </a:prstGeom>
        </p:spPr>
      </p:pic>
    </p:spTree>
    <p:extLst>
      <p:ext uri="{BB962C8B-B14F-4D97-AF65-F5344CB8AC3E}">
        <p14:creationId xmlns:p14="http://schemas.microsoft.com/office/powerpoint/2010/main" val="3786476127"/>
      </p:ext>
    </p:extLst>
  </p:cSld>
  <p:clrMapOvr>
    <a:masterClrMapping/>
  </p:clrMapOvr>
  <mc:AlternateContent xmlns:mc="http://schemas.openxmlformats.org/markup-compatibility/2006" xmlns:p14="http://schemas.microsoft.com/office/powerpoint/2010/main">
    <mc:Choice Requires="p14">
      <p:transition spd="slow" p14:dur="2000" advTm="29290"/>
    </mc:Choice>
    <mc:Fallback xmlns="">
      <p:transition spd="slow" advTm="2929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00154-1798-060B-E144-32234ADADC4F}"/>
              </a:ext>
            </a:extLst>
          </p:cNvPr>
          <p:cNvSpPr>
            <a:spLocks noGrp="1"/>
          </p:cNvSpPr>
          <p:nvPr>
            <p:ph type="title"/>
          </p:nvPr>
        </p:nvSpPr>
        <p:spPr/>
        <p:txBody>
          <a:bodyPr>
            <a:normAutofit fontScale="90000"/>
          </a:bodyPr>
          <a:lstStyle/>
          <a:p>
            <a:r>
              <a:rPr lang="en-US" dirty="0"/>
              <a:t>How to use </a:t>
            </a:r>
            <a:r>
              <a:rPr lang="en-US" dirty="0" err="1"/>
              <a:t>value_counts</a:t>
            </a:r>
            <a:r>
              <a:rPr lang="en-US" dirty="0"/>
              <a:t>( ) with the </a:t>
            </a:r>
            <a:r>
              <a:rPr lang="en-US" dirty="0" err="1"/>
              <a:t>dropna</a:t>
            </a:r>
            <a:r>
              <a:rPr lang="en-US" dirty="0"/>
              <a:t> Parameter</a:t>
            </a:r>
          </a:p>
        </p:txBody>
      </p:sp>
      <p:pic>
        <p:nvPicPr>
          <p:cNvPr id="3" name="Picture 2">
            <a:extLst>
              <a:ext uri="{FF2B5EF4-FFF2-40B4-BE49-F238E27FC236}">
                <a16:creationId xmlns:a16="http://schemas.microsoft.com/office/drawing/2014/main" id="{2180ABA7-1CF6-8F56-D8DB-6F3063CA3DDB}"/>
              </a:ext>
            </a:extLst>
          </p:cNvPr>
          <p:cNvPicPr>
            <a:picLocks noChangeAspect="1"/>
          </p:cNvPicPr>
          <p:nvPr/>
        </p:nvPicPr>
        <p:blipFill>
          <a:blip r:embed="rId2"/>
          <a:stretch>
            <a:fillRect/>
          </a:stretch>
        </p:blipFill>
        <p:spPr>
          <a:xfrm>
            <a:off x="618995" y="2493433"/>
            <a:ext cx="11079514" cy="2667290"/>
          </a:xfrm>
          <a:prstGeom prst="rect">
            <a:avLst/>
          </a:prstGeom>
        </p:spPr>
      </p:pic>
    </p:spTree>
    <p:extLst>
      <p:ext uri="{BB962C8B-B14F-4D97-AF65-F5344CB8AC3E}">
        <p14:creationId xmlns:p14="http://schemas.microsoft.com/office/powerpoint/2010/main" val="41169380"/>
      </p:ext>
    </p:extLst>
  </p:cSld>
  <p:clrMapOvr>
    <a:masterClrMapping/>
  </p:clrMapOvr>
  <mc:AlternateContent xmlns:mc="http://schemas.openxmlformats.org/markup-compatibility/2006" xmlns:p14="http://schemas.microsoft.com/office/powerpoint/2010/main">
    <mc:Choice Requires="p14">
      <p:transition spd="slow" p14:dur="2000" advTm="25450"/>
    </mc:Choice>
    <mc:Fallback xmlns="">
      <p:transition spd="slow" advTm="2545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00154-1798-060B-E144-32234ADADC4F}"/>
              </a:ext>
            </a:extLst>
          </p:cNvPr>
          <p:cNvSpPr>
            <a:spLocks noGrp="1"/>
          </p:cNvSpPr>
          <p:nvPr>
            <p:ph type="title"/>
          </p:nvPr>
        </p:nvSpPr>
        <p:spPr/>
        <p:txBody>
          <a:bodyPr>
            <a:normAutofit fontScale="90000"/>
          </a:bodyPr>
          <a:lstStyle/>
          <a:p>
            <a:r>
              <a:rPr lang="en-US" dirty="0"/>
              <a:t>How to use </a:t>
            </a:r>
            <a:r>
              <a:rPr lang="en-US" dirty="0" err="1"/>
              <a:t>value_counts</a:t>
            </a:r>
            <a:r>
              <a:rPr lang="en-US" dirty="0"/>
              <a:t>( ) with </a:t>
            </a:r>
            <a:br>
              <a:rPr lang="en-US" dirty="0"/>
            </a:br>
            <a:r>
              <a:rPr lang="en-US" dirty="0">
                <a:solidFill>
                  <a:srgbClr val="FF0000"/>
                </a:solidFill>
              </a:rPr>
              <a:t>Multiple Columns</a:t>
            </a:r>
          </a:p>
        </p:txBody>
      </p:sp>
      <p:pic>
        <p:nvPicPr>
          <p:cNvPr id="4" name="Picture 3">
            <a:extLst>
              <a:ext uri="{FF2B5EF4-FFF2-40B4-BE49-F238E27FC236}">
                <a16:creationId xmlns:a16="http://schemas.microsoft.com/office/drawing/2014/main" id="{0509BDA9-7EEB-7F8C-C6D5-DBDD4BD7E74B}"/>
              </a:ext>
            </a:extLst>
          </p:cNvPr>
          <p:cNvPicPr>
            <a:picLocks noChangeAspect="1"/>
          </p:cNvPicPr>
          <p:nvPr/>
        </p:nvPicPr>
        <p:blipFill>
          <a:blip r:embed="rId2"/>
          <a:stretch>
            <a:fillRect/>
          </a:stretch>
        </p:blipFill>
        <p:spPr>
          <a:xfrm>
            <a:off x="618993" y="2000201"/>
            <a:ext cx="8399747" cy="4577322"/>
          </a:xfrm>
          <a:prstGeom prst="rect">
            <a:avLst/>
          </a:prstGeom>
        </p:spPr>
      </p:pic>
    </p:spTree>
    <p:extLst>
      <p:ext uri="{BB962C8B-B14F-4D97-AF65-F5344CB8AC3E}">
        <p14:creationId xmlns:p14="http://schemas.microsoft.com/office/powerpoint/2010/main" val="789737173"/>
      </p:ext>
    </p:extLst>
  </p:cSld>
  <p:clrMapOvr>
    <a:masterClrMapping/>
  </p:clrMapOvr>
  <mc:AlternateContent xmlns:mc="http://schemas.openxmlformats.org/markup-compatibility/2006" xmlns:p14="http://schemas.microsoft.com/office/powerpoint/2010/main">
    <mc:Choice Requires="p14">
      <p:transition spd="slow" p14:dur="2000" advTm="78496"/>
    </mc:Choice>
    <mc:Fallback xmlns="">
      <p:transition spd="slow" advTm="78496"/>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B1684-BC61-DFC5-EDC3-8167E1D070C1}"/>
              </a:ext>
            </a:extLst>
          </p:cNvPr>
          <p:cNvSpPr>
            <a:spLocks noGrp="1"/>
          </p:cNvSpPr>
          <p:nvPr>
            <p:ph type="title"/>
          </p:nvPr>
        </p:nvSpPr>
        <p:spPr>
          <a:xfrm>
            <a:off x="394636" y="365125"/>
            <a:ext cx="10959164" cy="1078664"/>
          </a:xfrm>
        </p:spPr>
        <p:txBody>
          <a:bodyPr>
            <a:normAutofit fontScale="90000"/>
          </a:bodyPr>
          <a:lstStyle/>
          <a:p>
            <a:r>
              <a:rPr lang="en-US" dirty="0"/>
              <a:t>Can you achieve the same results without using </a:t>
            </a:r>
            <a:r>
              <a:rPr lang="en-US" dirty="0" err="1"/>
              <a:t>value_counts</a:t>
            </a:r>
            <a:r>
              <a:rPr lang="en-US" dirty="0"/>
              <a:t>() ?</a:t>
            </a:r>
          </a:p>
        </p:txBody>
      </p:sp>
      <p:sp>
        <p:nvSpPr>
          <p:cNvPr id="3" name="Content Placeholder 2">
            <a:extLst>
              <a:ext uri="{FF2B5EF4-FFF2-40B4-BE49-F238E27FC236}">
                <a16:creationId xmlns:a16="http://schemas.microsoft.com/office/drawing/2014/main" id="{FAB32FAF-7821-1809-2ED6-9566B2BFEAA5}"/>
              </a:ext>
            </a:extLst>
          </p:cNvPr>
          <p:cNvSpPr>
            <a:spLocks noGrp="1"/>
          </p:cNvSpPr>
          <p:nvPr>
            <p:ph idx="1"/>
          </p:nvPr>
        </p:nvSpPr>
        <p:spPr>
          <a:xfrm>
            <a:off x="483476" y="2445443"/>
            <a:ext cx="5390742" cy="3339634"/>
          </a:xfrm>
        </p:spPr>
        <p:txBody>
          <a:bodyPr>
            <a:normAutofit/>
          </a:bodyPr>
          <a:lstStyle/>
          <a:p>
            <a:pPr>
              <a:lnSpc>
                <a:spcPct val="110000"/>
              </a:lnSpc>
            </a:pPr>
            <a:r>
              <a:rPr lang="en-US" sz="3600" dirty="0"/>
              <a:t>Ask </a:t>
            </a:r>
            <a:r>
              <a:rPr lang="en-US" sz="3600" dirty="0" err="1"/>
              <a:t>ChatGPT</a:t>
            </a:r>
            <a:r>
              <a:rPr lang="en-US" sz="3600" dirty="0"/>
              <a:t> </a:t>
            </a:r>
            <a:r>
              <a:rPr lang="en-US" sz="3600" dirty="0">
                <a:sym typeface="Wingdings" pitchFamily="2" charset="2"/>
              </a:rPr>
              <a:t></a:t>
            </a:r>
            <a:endParaRPr lang="en-US" sz="3600" dirty="0"/>
          </a:p>
        </p:txBody>
      </p:sp>
      <p:pic>
        <p:nvPicPr>
          <p:cNvPr id="1026" name="Picture 2" descr="Free Knowledge Curiosity photo and picture">
            <a:extLst>
              <a:ext uri="{FF2B5EF4-FFF2-40B4-BE49-F238E27FC236}">
                <a16:creationId xmlns:a16="http://schemas.microsoft.com/office/drawing/2014/main" id="{919A4985-9AF5-8006-5018-B2DC904960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570" r="14529" b="-1"/>
          <a:stretch/>
        </p:blipFill>
        <p:spPr bwMode="auto">
          <a:xfrm>
            <a:off x="5951619" y="1914764"/>
            <a:ext cx="6095998" cy="4578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0184880"/>
      </p:ext>
    </p:extLst>
  </p:cSld>
  <p:clrMapOvr>
    <a:masterClrMapping/>
  </p:clrMapOvr>
  <mc:AlternateContent xmlns:mc="http://schemas.openxmlformats.org/markup-compatibility/2006" xmlns:p14="http://schemas.microsoft.com/office/powerpoint/2010/main">
    <mc:Choice Requires="p14">
      <p:transition spd="slow" p14:dur="2000" advTm="13344"/>
    </mc:Choice>
    <mc:Fallback xmlns="">
      <p:transition spd="slow" advTm="13344"/>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Slide Background">
            <a:extLst>
              <a:ext uri="{FF2B5EF4-FFF2-40B4-BE49-F238E27FC236}">
                <a16:creationId xmlns:a16="http://schemas.microsoft.com/office/drawing/2014/main" id="{B874FC77-B1AD-4469-830E-1F1D54FBB4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 up of circuit board">
            <a:extLst>
              <a:ext uri="{FF2B5EF4-FFF2-40B4-BE49-F238E27FC236}">
                <a16:creationId xmlns:a16="http://schemas.microsoft.com/office/drawing/2014/main" id="{F87B63FE-3AC2-C03F-5C84-376CF2BBC77A}"/>
              </a:ext>
            </a:extLst>
          </p:cNvPr>
          <p:cNvPicPr>
            <a:picLocks noChangeAspect="1"/>
          </p:cNvPicPr>
          <p:nvPr/>
        </p:nvPicPr>
        <p:blipFill rotWithShape="1">
          <a:blip r:embed="rId3"/>
          <a:srcRect t="7109" b="8621"/>
          <a:stretch/>
        </p:blipFill>
        <p:spPr>
          <a:xfrm>
            <a:off x="20" y="10"/>
            <a:ext cx="12191979" cy="6857988"/>
          </a:xfrm>
          <a:prstGeom prst="rect">
            <a:avLst/>
          </a:prstGeom>
          <a:effectLst>
            <a:outerShdw blurRad="596900" dist="330200" dir="8820000" sx="87000" sy="87000" algn="ctr" rotWithShape="0">
              <a:srgbClr val="000000">
                <a:alpha val="29000"/>
              </a:srgbClr>
            </a:outerShdw>
          </a:effectLst>
        </p:spPr>
      </p:pic>
      <p:sp>
        <p:nvSpPr>
          <p:cNvPr id="13" name="Rectangle 12">
            <a:extLst>
              <a:ext uri="{FF2B5EF4-FFF2-40B4-BE49-F238E27FC236}">
                <a16:creationId xmlns:a16="http://schemas.microsoft.com/office/drawing/2014/main" id="{A6834A66-723F-4B47-BF01-F6D4B2A1B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6027"/>
            <a:ext cx="12192000" cy="22819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0426C9F-24EB-EDCE-3456-4830A6362F98}"/>
              </a:ext>
            </a:extLst>
          </p:cNvPr>
          <p:cNvSpPr>
            <a:spLocks noGrp="1"/>
          </p:cNvSpPr>
          <p:nvPr>
            <p:ph type="title"/>
          </p:nvPr>
        </p:nvSpPr>
        <p:spPr>
          <a:xfrm>
            <a:off x="322729" y="4850597"/>
            <a:ext cx="7885099" cy="1374756"/>
          </a:xfrm>
        </p:spPr>
        <p:txBody>
          <a:bodyPr vert="horz" lIns="91440" tIns="45720" rIns="91440" bIns="45720" rtlCol="0" anchor="ctr">
            <a:normAutofit/>
          </a:bodyPr>
          <a:lstStyle/>
          <a:p>
            <a:r>
              <a:rPr lang="en-US" sz="4000" dirty="0"/>
              <a:t>How to Simplify the Data</a:t>
            </a:r>
          </a:p>
        </p:txBody>
      </p:sp>
    </p:spTree>
    <p:extLst>
      <p:ext uri="{BB962C8B-B14F-4D97-AF65-F5344CB8AC3E}">
        <p14:creationId xmlns:p14="http://schemas.microsoft.com/office/powerpoint/2010/main" val="1700912278"/>
      </p:ext>
    </p:extLst>
  </p:cSld>
  <p:clrMapOvr>
    <a:masterClrMapping/>
  </p:clrMapOvr>
  <mc:AlternateContent xmlns:mc="http://schemas.openxmlformats.org/markup-compatibility/2006" xmlns:p14="http://schemas.microsoft.com/office/powerpoint/2010/main">
    <mc:Choice Requires="p14">
      <p:transition spd="slow" p14:dur="2000" advTm="8490"/>
    </mc:Choice>
    <mc:Fallback xmlns="">
      <p:transition spd="slow" advTm="849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6296A-501B-EDCE-4B6C-4DA9E90449A3}"/>
              </a:ext>
            </a:extLst>
          </p:cNvPr>
          <p:cNvSpPr>
            <a:spLocks noGrp="1"/>
          </p:cNvSpPr>
          <p:nvPr>
            <p:ph type="title"/>
          </p:nvPr>
        </p:nvSpPr>
        <p:spPr/>
        <p:txBody>
          <a:bodyPr/>
          <a:lstStyle/>
          <a:p>
            <a:r>
              <a:rPr lang="en-US" dirty="0"/>
              <a:t>The drop( ) Method</a:t>
            </a:r>
          </a:p>
        </p:txBody>
      </p:sp>
      <p:graphicFrame>
        <p:nvGraphicFramePr>
          <p:cNvPr id="4" name="Table Placeholder 10">
            <a:extLst>
              <a:ext uri="{FF2B5EF4-FFF2-40B4-BE49-F238E27FC236}">
                <a16:creationId xmlns:a16="http://schemas.microsoft.com/office/drawing/2014/main" id="{5D3C9A5A-DD3D-D990-F418-8CEFB94337BA}"/>
              </a:ext>
            </a:extLst>
          </p:cNvPr>
          <p:cNvGraphicFramePr>
            <a:graphicFrameLocks/>
          </p:cNvGraphicFramePr>
          <p:nvPr/>
        </p:nvGraphicFramePr>
        <p:xfrm>
          <a:off x="651352" y="2017726"/>
          <a:ext cx="10321447" cy="792480"/>
        </p:xfrm>
        <a:graphic>
          <a:graphicData uri="http://schemas.openxmlformats.org/drawingml/2006/table">
            <a:tbl>
              <a:tblPr firstRow="1"/>
              <a:tblGrid>
                <a:gridCol w="3015886">
                  <a:extLst>
                    <a:ext uri="{9D8B030D-6E8A-4147-A177-3AD203B41FA5}">
                      <a16:colId xmlns:a16="http://schemas.microsoft.com/office/drawing/2014/main" val="3109402720"/>
                    </a:ext>
                  </a:extLst>
                </a:gridCol>
                <a:gridCol w="7305561">
                  <a:extLst>
                    <a:ext uri="{9D8B030D-6E8A-4147-A177-3AD203B41FA5}">
                      <a16:colId xmlns:a16="http://schemas.microsoft.com/office/drawing/2014/main" val="1070439276"/>
                    </a:ext>
                  </a:extLst>
                </a:gridCol>
              </a:tblGrid>
              <a:tr h="0">
                <a:tc>
                  <a:txBody>
                    <a:bodyPr/>
                    <a:lstStyle/>
                    <a:p>
                      <a:pPr marL="0" marR="0">
                        <a:spcBef>
                          <a:spcPts val="600"/>
                        </a:spcBef>
                        <a:spcAft>
                          <a:spcPts val="600"/>
                        </a:spcAft>
                        <a:tabLst>
                          <a:tab pos="1828800" algn="l"/>
                          <a:tab pos="457200" algn="l"/>
                        </a:tabLst>
                      </a:pPr>
                      <a:r>
                        <a:rPr lang="en-US" sz="2000" b="1" dirty="0">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Method</a:t>
                      </a: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Description</a:t>
                      </a:r>
                    </a:p>
                  </a:txBody>
                  <a:tcPr marL="68580" marR="68580">
                    <a:lnL>
                      <a:noFill/>
                    </a:lnL>
                    <a:lnR>
                      <a:noFill/>
                    </a:lnR>
                    <a:lnT>
                      <a:noFill/>
                    </a:lnT>
                    <a:lnB>
                      <a:noFill/>
                    </a:lnB>
                    <a:solidFill>
                      <a:srgbClr val="3D87B7"/>
                    </a:solidFill>
                  </a:tcPr>
                </a:tc>
                <a:extLst>
                  <a:ext uri="{0D108BD9-81ED-4DB2-BD59-A6C34878D82A}">
                    <a16:rowId xmlns:a16="http://schemas.microsoft.com/office/drawing/2014/main" val="4206270785"/>
                  </a:ext>
                </a:extLst>
              </a:tr>
              <a:tr h="0">
                <a:tc>
                  <a:txBody>
                    <a:bodyPr/>
                    <a:lstStyle/>
                    <a:p>
                      <a:pPr marL="0" marR="0" indent="0">
                        <a:spcBef>
                          <a:spcPts val="600"/>
                        </a:spcBef>
                        <a:spcAft>
                          <a:spcPts val="600"/>
                        </a:spcAft>
                        <a:tabLst>
                          <a:tab pos="800100" algn="l"/>
                          <a:tab pos="2514600" algn="l"/>
                          <a:tab pos="457200" algn="l"/>
                        </a:tabLst>
                      </a:pPr>
                      <a:r>
                        <a:rPr lang="en-US" sz="2000" b="1" dirty="0">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drop(params)</a:t>
                      </a:r>
                      <a:endParaRPr lang="en-US" sz="2000" dirty="0">
                        <a:effectLst/>
                        <a:latin typeface="Cambria" panose="020405030504060302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Drops the columns that are specified by the columns parameter.</a:t>
                      </a:r>
                      <a:endParaRPr lang="en-US" sz="2000" dirty="0">
                        <a:effectLst/>
                        <a:latin typeface="Cambria" panose="020405030504060302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1812983618"/>
                  </a:ext>
                </a:extLst>
              </a:tr>
            </a:tbl>
          </a:graphicData>
        </a:graphic>
      </p:graphicFrame>
      <p:graphicFrame>
        <p:nvGraphicFramePr>
          <p:cNvPr id="6" name="Table Placeholder 11">
            <a:extLst>
              <a:ext uri="{FF2B5EF4-FFF2-40B4-BE49-F238E27FC236}">
                <a16:creationId xmlns:a16="http://schemas.microsoft.com/office/drawing/2014/main" id="{9BE93224-8CD3-CAEC-4B7F-F08E77DD7166}"/>
              </a:ext>
            </a:extLst>
          </p:cNvPr>
          <p:cNvGraphicFramePr>
            <a:graphicFrameLocks/>
          </p:cNvGraphicFramePr>
          <p:nvPr/>
        </p:nvGraphicFramePr>
        <p:xfrm>
          <a:off x="651353" y="3789430"/>
          <a:ext cx="10321446" cy="1975282"/>
        </p:xfrm>
        <a:graphic>
          <a:graphicData uri="http://schemas.openxmlformats.org/drawingml/2006/table">
            <a:tbl>
              <a:tblPr firstRow="1"/>
              <a:tblGrid>
                <a:gridCol w="3015886">
                  <a:extLst>
                    <a:ext uri="{9D8B030D-6E8A-4147-A177-3AD203B41FA5}">
                      <a16:colId xmlns:a16="http://schemas.microsoft.com/office/drawing/2014/main" val="465963046"/>
                    </a:ext>
                  </a:extLst>
                </a:gridCol>
                <a:gridCol w="7305560">
                  <a:extLst>
                    <a:ext uri="{9D8B030D-6E8A-4147-A177-3AD203B41FA5}">
                      <a16:colId xmlns:a16="http://schemas.microsoft.com/office/drawing/2014/main" val="288826731"/>
                    </a:ext>
                  </a:extLst>
                </a:gridCol>
              </a:tblGrid>
              <a:tr h="272300">
                <a:tc>
                  <a:txBody>
                    <a:bodyPr/>
                    <a:lstStyle/>
                    <a:p>
                      <a:pPr marL="0" marR="0">
                        <a:spcBef>
                          <a:spcPts val="600"/>
                        </a:spcBef>
                        <a:spcAft>
                          <a:spcPts val="600"/>
                        </a:spcAft>
                        <a:tabLst>
                          <a:tab pos="1828800" algn="l"/>
                          <a:tab pos="457200" algn="l"/>
                        </a:tabLst>
                      </a:pPr>
                      <a:r>
                        <a:rPr lang="en-US" sz="2000" b="1" dirty="0">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Parameter</a:t>
                      </a:r>
                    </a:p>
                  </a:txBody>
                  <a:tcPr marL="73152" marR="7315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Description</a:t>
                      </a:r>
                    </a:p>
                  </a:txBody>
                  <a:tcPr marL="73152" marR="73152">
                    <a:lnL>
                      <a:noFill/>
                    </a:lnL>
                    <a:lnR>
                      <a:noFill/>
                    </a:lnR>
                    <a:lnT>
                      <a:noFill/>
                    </a:lnT>
                    <a:lnB>
                      <a:noFill/>
                    </a:lnB>
                    <a:solidFill>
                      <a:srgbClr val="3D87B7"/>
                    </a:solidFill>
                  </a:tcPr>
                </a:tc>
                <a:extLst>
                  <a:ext uri="{0D108BD9-81ED-4DB2-BD59-A6C34878D82A}">
                    <a16:rowId xmlns:a16="http://schemas.microsoft.com/office/drawing/2014/main" val="993425133"/>
                  </a:ext>
                </a:extLst>
              </a:tr>
              <a:tr h="272300">
                <a:tc>
                  <a:txBody>
                    <a:bodyPr/>
                    <a:lstStyle/>
                    <a:p>
                      <a:pPr marL="0" marR="0" indent="0">
                        <a:spcBef>
                          <a:spcPts val="600"/>
                        </a:spcBef>
                        <a:spcAft>
                          <a:spcPts val="600"/>
                        </a:spcAft>
                        <a:tabLst>
                          <a:tab pos="800100" algn="l"/>
                          <a:tab pos="2514600" algn="l"/>
                          <a:tab pos="457200" algn="l"/>
                        </a:tabLst>
                      </a:pPr>
                      <a:r>
                        <a:rPr lang="en-US" sz="2000" b="1" dirty="0">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columns</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List of columns to be dropped.</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2842375433"/>
                  </a:ext>
                </a:extLst>
              </a:tr>
              <a:tr h="481762">
                <a:tc>
                  <a:txBody>
                    <a:bodyPr/>
                    <a:lstStyle/>
                    <a:p>
                      <a:pPr marL="0" marR="0" indent="0">
                        <a:spcBef>
                          <a:spcPts val="600"/>
                        </a:spcBef>
                        <a:spcAft>
                          <a:spcPts val="600"/>
                        </a:spcAft>
                        <a:tabLst>
                          <a:tab pos="800100" algn="l"/>
                          <a:tab pos="2514600" algn="l"/>
                          <a:tab pos="457200" algn="l"/>
                        </a:tabLst>
                      </a:pPr>
                      <a:r>
                        <a:rPr lang="en-US" sz="2000" b="1" dirty="0">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errors</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What to do if a specified column doesn’t exist: ‘ignore’ (the default) or ‘raise’.</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970441439"/>
                  </a:ext>
                </a:extLst>
              </a:tr>
              <a:tr h="481762">
                <a:tc>
                  <a:txBody>
                    <a:bodyPr/>
                    <a:lstStyle/>
                    <a:p>
                      <a:pPr marL="0" marR="0" indent="0">
                        <a:spcBef>
                          <a:spcPts val="600"/>
                        </a:spcBef>
                        <a:spcAft>
                          <a:spcPts val="600"/>
                        </a:spcAft>
                        <a:tabLst>
                          <a:tab pos="800100" algn="l"/>
                          <a:tab pos="2514600" algn="l"/>
                          <a:tab pos="457200" algn="l"/>
                        </a:tabLst>
                      </a:pPr>
                      <a:r>
                        <a:rPr lang="en-US" sz="2000" b="1" dirty="0" err="1">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inplace</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True makes the changes directly to the </a:t>
                      </a:r>
                      <a:r>
                        <a:rPr lang="en-US" sz="2000" dirty="0" err="1">
                          <a:solidFill>
                            <a:srgbClr val="000000"/>
                          </a:solidFill>
                          <a:effectLst/>
                          <a:latin typeface="Cambria" panose="02040503050406030204" pitchFamily="18" charset="0"/>
                          <a:ea typeface="Times New Roman" panose="02020603050405020304" pitchFamily="18" charset="0"/>
                        </a:rPr>
                        <a:t>DataFrame</a:t>
                      </a:r>
                      <a:r>
                        <a:rPr lang="en-US" sz="2000" dirty="0">
                          <a:solidFill>
                            <a:srgbClr val="000000"/>
                          </a:solidFill>
                          <a:effectLst/>
                          <a:latin typeface="Cambria" panose="02040503050406030204" pitchFamily="18" charset="0"/>
                          <a:ea typeface="Times New Roman" panose="02020603050405020304" pitchFamily="18" charset="0"/>
                        </a:rPr>
                        <a:t>.</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2425915470"/>
                  </a:ext>
                </a:extLst>
              </a:tr>
            </a:tbl>
          </a:graphicData>
        </a:graphic>
      </p:graphicFrame>
    </p:spTree>
    <p:extLst>
      <p:ext uri="{BB962C8B-B14F-4D97-AF65-F5344CB8AC3E}">
        <p14:creationId xmlns:p14="http://schemas.microsoft.com/office/powerpoint/2010/main" val="132325873"/>
      </p:ext>
    </p:extLst>
  </p:cSld>
  <p:clrMapOvr>
    <a:masterClrMapping/>
  </p:clrMapOvr>
  <mc:AlternateContent xmlns:mc="http://schemas.openxmlformats.org/markup-compatibility/2006" xmlns:p14="http://schemas.microsoft.com/office/powerpoint/2010/main">
    <mc:Choice Requires="p14">
      <p:transition spd="slow" p14:dur="2000" advTm="44672"/>
    </mc:Choice>
    <mc:Fallback xmlns="">
      <p:transition spd="slow" advTm="44672"/>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3ED35-B779-BB68-2F03-078254DC9B65}"/>
              </a:ext>
            </a:extLst>
          </p:cNvPr>
          <p:cNvSpPr>
            <a:spLocks noGrp="1"/>
          </p:cNvSpPr>
          <p:nvPr>
            <p:ph type="title"/>
          </p:nvPr>
        </p:nvSpPr>
        <p:spPr/>
        <p:txBody>
          <a:bodyPr>
            <a:normAutofit fontScale="90000"/>
          </a:bodyPr>
          <a:lstStyle/>
          <a:p>
            <a:r>
              <a:rPr lang="en-US" dirty="0"/>
              <a:t>Identifying the columns to drop using </a:t>
            </a:r>
            <a:br>
              <a:rPr lang="en-US" dirty="0"/>
            </a:br>
            <a:r>
              <a:rPr lang="en-US" dirty="0"/>
              <a:t>using </a:t>
            </a:r>
            <a:r>
              <a:rPr lang="en-US" dirty="0" err="1"/>
              <a:t>nunique</a:t>
            </a:r>
            <a:r>
              <a:rPr lang="en-US" dirty="0"/>
              <a:t>() </a:t>
            </a:r>
          </a:p>
        </p:txBody>
      </p:sp>
      <p:pic>
        <p:nvPicPr>
          <p:cNvPr id="4" name="Content Placeholder 6">
            <a:extLst>
              <a:ext uri="{FF2B5EF4-FFF2-40B4-BE49-F238E27FC236}">
                <a16:creationId xmlns:a16="http://schemas.microsoft.com/office/drawing/2014/main" id="{3E5355B7-C9C6-57E1-9B69-953B99228479}"/>
              </a:ext>
            </a:extLst>
          </p:cNvPr>
          <p:cNvPicPr>
            <a:picLocks noChangeAspect="1"/>
          </p:cNvPicPr>
          <p:nvPr/>
        </p:nvPicPr>
        <p:blipFill rotWithShape="1">
          <a:blip r:embed="rId2"/>
          <a:srcRect t="8928"/>
          <a:stretch/>
        </p:blipFill>
        <p:spPr>
          <a:xfrm>
            <a:off x="334028" y="2637422"/>
            <a:ext cx="8847550" cy="3907753"/>
          </a:xfrm>
          <a:prstGeom prst="rect">
            <a:avLst/>
          </a:prstGeom>
        </p:spPr>
      </p:pic>
      <p:pic>
        <p:nvPicPr>
          <p:cNvPr id="5" name="Picture 4">
            <a:extLst>
              <a:ext uri="{FF2B5EF4-FFF2-40B4-BE49-F238E27FC236}">
                <a16:creationId xmlns:a16="http://schemas.microsoft.com/office/drawing/2014/main" id="{D06B3CC9-B8F0-BFDE-8A0E-75EB1E58E3AB}"/>
              </a:ext>
            </a:extLst>
          </p:cNvPr>
          <p:cNvPicPr>
            <a:picLocks noChangeAspect="1"/>
          </p:cNvPicPr>
          <p:nvPr/>
        </p:nvPicPr>
        <p:blipFill>
          <a:blip r:embed="rId3"/>
          <a:stretch>
            <a:fillRect/>
          </a:stretch>
        </p:blipFill>
        <p:spPr>
          <a:xfrm>
            <a:off x="715027" y="1972849"/>
            <a:ext cx="6174288" cy="597512"/>
          </a:xfrm>
          <a:prstGeom prst="rect">
            <a:avLst/>
          </a:prstGeom>
        </p:spPr>
      </p:pic>
    </p:spTree>
    <p:extLst>
      <p:ext uri="{BB962C8B-B14F-4D97-AF65-F5344CB8AC3E}">
        <p14:creationId xmlns:p14="http://schemas.microsoft.com/office/powerpoint/2010/main" val="3203423805"/>
      </p:ext>
    </p:extLst>
  </p:cSld>
  <p:clrMapOvr>
    <a:masterClrMapping/>
  </p:clrMapOvr>
  <mc:AlternateContent xmlns:mc="http://schemas.openxmlformats.org/markup-compatibility/2006" xmlns:p14="http://schemas.microsoft.com/office/powerpoint/2010/main">
    <mc:Choice Requires="p14">
      <p:transition spd="slow" p14:dur="2000" advTm="29909"/>
    </mc:Choice>
    <mc:Fallback xmlns="">
      <p:transition spd="slow" advTm="29909"/>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87990-6355-AB4D-F32F-50E8E92F1B88}"/>
              </a:ext>
            </a:extLst>
          </p:cNvPr>
          <p:cNvSpPr>
            <a:spLocks noGrp="1"/>
          </p:cNvSpPr>
          <p:nvPr>
            <p:ph type="title"/>
          </p:nvPr>
        </p:nvSpPr>
        <p:spPr/>
        <p:txBody>
          <a:bodyPr>
            <a:normAutofit/>
          </a:bodyPr>
          <a:lstStyle/>
          <a:p>
            <a:r>
              <a:rPr lang="en-US" dirty="0"/>
              <a:t>Dropping Columns</a:t>
            </a:r>
          </a:p>
        </p:txBody>
      </p:sp>
      <p:pic>
        <p:nvPicPr>
          <p:cNvPr id="7" name="Picture 6">
            <a:extLst>
              <a:ext uri="{FF2B5EF4-FFF2-40B4-BE49-F238E27FC236}">
                <a16:creationId xmlns:a16="http://schemas.microsoft.com/office/drawing/2014/main" id="{B1B76983-759E-C9AD-086F-B72C4AAA423A}"/>
              </a:ext>
            </a:extLst>
          </p:cNvPr>
          <p:cNvPicPr>
            <a:picLocks noChangeAspect="1"/>
          </p:cNvPicPr>
          <p:nvPr/>
        </p:nvPicPr>
        <p:blipFill>
          <a:blip r:embed="rId2"/>
          <a:stretch>
            <a:fillRect/>
          </a:stretch>
        </p:blipFill>
        <p:spPr>
          <a:xfrm>
            <a:off x="484552" y="2223509"/>
            <a:ext cx="11164653" cy="2670170"/>
          </a:xfrm>
          <a:prstGeom prst="rect">
            <a:avLst/>
          </a:prstGeom>
        </p:spPr>
      </p:pic>
    </p:spTree>
    <p:extLst>
      <p:ext uri="{BB962C8B-B14F-4D97-AF65-F5344CB8AC3E}">
        <p14:creationId xmlns:p14="http://schemas.microsoft.com/office/powerpoint/2010/main" val="1634170583"/>
      </p:ext>
    </p:extLst>
  </p:cSld>
  <p:clrMapOvr>
    <a:masterClrMapping/>
  </p:clrMapOvr>
  <mc:AlternateContent xmlns:mc="http://schemas.openxmlformats.org/markup-compatibility/2006" xmlns:p14="http://schemas.microsoft.com/office/powerpoint/2010/main">
    <mc:Choice Requires="p14">
      <p:transition spd="slow" p14:dur="2000" advTm="54080"/>
    </mc:Choice>
    <mc:Fallback xmlns="">
      <p:transition spd="slow" advTm="5408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0CB9C-24D7-42F5-4A93-5A282A017E6B}"/>
              </a:ext>
            </a:extLst>
          </p:cNvPr>
          <p:cNvSpPr>
            <a:spLocks noGrp="1"/>
          </p:cNvSpPr>
          <p:nvPr>
            <p:ph type="title"/>
          </p:nvPr>
        </p:nvSpPr>
        <p:spPr/>
        <p:txBody>
          <a:bodyPr>
            <a:normAutofit/>
          </a:bodyPr>
          <a:lstStyle/>
          <a:p>
            <a:r>
              <a:rPr lang="en-US" dirty="0">
                <a:solidFill>
                  <a:srgbClr val="FF0000"/>
                </a:solidFill>
              </a:rPr>
              <a:t>Dropping</a:t>
            </a:r>
            <a:r>
              <a:rPr lang="en-US" dirty="0"/>
              <a:t> Rows based on Conditions</a:t>
            </a:r>
          </a:p>
        </p:txBody>
      </p:sp>
      <p:pic>
        <p:nvPicPr>
          <p:cNvPr id="5" name="Picture 4">
            <a:extLst>
              <a:ext uri="{FF2B5EF4-FFF2-40B4-BE49-F238E27FC236}">
                <a16:creationId xmlns:a16="http://schemas.microsoft.com/office/drawing/2014/main" id="{B33E904B-F222-AF6D-D204-DF78B37C1B0A}"/>
              </a:ext>
            </a:extLst>
          </p:cNvPr>
          <p:cNvPicPr>
            <a:picLocks noChangeAspect="1"/>
          </p:cNvPicPr>
          <p:nvPr/>
        </p:nvPicPr>
        <p:blipFill rotWithShape="1">
          <a:blip r:embed="rId2"/>
          <a:srcRect r="21007" b="66387"/>
          <a:stretch/>
        </p:blipFill>
        <p:spPr>
          <a:xfrm>
            <a:off x="572234" y="2410122"/>
            <a:ext cx="11247155" cy="2537658"/>
          </a:xfrm>
          <a:prstGeom prst="rect">
            <a:avLst/>
          </a:prstGeom>
        </p:spPr>
      </p:pic>
    </p:spTree>
    <p:extLst>
      <p:ext uri="{BB962C8B-B14F-4D97-AF65-F5344CB8AC3E}">
        <p14:creationId xmlns:p14="http://schemas.microsoft.com/office/powerpoint/2010/main" val="2056997872"/>
      </p:ext>
    </p:extLst>
  </p:cSld>
  <p:clrMapOvr>
    <a:masterClrMapping/>
  </p:clrMapOvr>
  <mc:AlternateContent xmlns:mc="http://schemas.openxmlformats.org/markup-compatibility/2006" xmlns:p14="http://schemas.microsoft.com/office/powerpoint/2010/main">
    <mc:Choice Requires="p14">
      <p:transition spd="slow" p14:dur="2000" advTm="34560"/>
    </mc:Choice>
    <mc:Fallback xmlns="">
      <p:transition spd="slow" advTm="3456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380A34A-731B-4B77-8D1A-4326EA6123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4799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B1DF3C-C819-173B-C321-A23F1918A08E}"/>
              </a:ext>
            </a:extLst>
          </p:cNvPr>
          <p:cNvSpPr>
            <a:spLocks noGrp="1"/>
          </p:cNvSpPr>
          <p:nvPr>
            <p:ph type="title"/>
          </p:nvPr>
        </p:nvSpPr>
        <p:spPr>
          <a:xfrm>
            <a:off x="146222" y="365125"/>
            <a:ext cx="2689847" cy="2783592"/>
          </a:xfrm>
        </p:spPr>
        <p:txBody>
          <a:bodyPr>
            <a:normAutofit/>
          </a:bodyPr>
          <a:lstStyle/>
          <a:p>
            <a:r>
              <a:rPr lang="en-US" sz="3200" dirty="0"/>
              <a:t>Dropping </a:t>
            </a:r>
            <a:r>
              <a:rPr lang="en-US" sz="3200" dirty="0">
                <a:solidFill>
                  <a:srgbClr val="FF0000"/>
                </a:solidFill>
              </a:rPr>
              <a:t>Duplicate</a:t>
            </a:r>
            <a:r>
              <a:rPr lang="en-US" sz="3200" dirty="0"/>
              <a:t> Rows</a:t>
            </a:r>
          </a:p>
        </p:txBody>
      </p:sp>
      <p:grpSp>
        <p:nvGrpSpPr>
          <p:cNvPr id="13" name="Group 12">
            <a:extLst>
              <a:ext uri="{FF2B5EF4-FFF2-40B4-BE49-F238E27FC236}">
                <a16:creationId xmlns:a16="http://schemas.microsoft.com/office/drawing/2014/main" id="{D637F229-3203-4783-BAA9-C5F4AE1369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429000"/>
            <a:ext cx="3047997" cy="3429000"/>
            <a:chOff x="0" y="3438071"/>
            <a:chExt cx="3047997" cy="3429000"/>
          </a:xfrm>
        </p:grpSpPr>
        <p:sp>
          <p:nvSpPr>
            <p:cNvPr id="14" name="Rectangle 13">
              <a:extLst>
                <a:ext uri="{FF2B5EF4-FFF2-40B4-BE49-F238E27FC236}">
                  <a16:creationId xmlns:a16="http://schemas.microsoft.com/office/drawing/2014/main" id="{258ED267-CBD7-48CA-8FBD-FC65502AA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 y="3438071"/>
              <a:ext cx="3047991" cy="3429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35AB1F4-1BAE-422B-9787-CAC85DB09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447142"/>
              <a:ext cx="3047997" cy="3419929"/>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7" name="Content Placeholder 2">
            <a:extLst>
              <a:ext uri="{FF2B5EF4-FFF2-40B4-BE49-F238E27FC236}">
                <a16:creationId xmlns:a16="http://schemas.microsoft.com/office/drawing/2014/main" id="{8E7DDDAA-041A-E8C0-65BF-081D176C7F24}"/>
              </a:ext>
            </a:extLst>
          </p:cNvPr>
          <p:cNvGraphicFramePr>
            <a:graphicFrameLocks noGrp="1"/>
          </p:cNvGraphicFramePr>
          <p:nvPr>
            <p:ph idx="1"/>
            <p:extLst>
              <p:ext uri="{D42A27DB-BD31-4B8C-83A1-F6EECF244321}">
                <p14:modId xmlns:p14="http://schemas.microsoft.com/office/powerpoint/2010/main" val="642362188"/>
              </p:ext>
            </p:extLst>
          </p:nvPr>
        </p:nvGraphicFramePr>
        <p:xfrm>
          <a:off x="3811656" y="551622"/>
          <a:ext cx="7742583" cy="56253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9575983"/>
      </p:ext>
    </p:extLst>
  </p:cSld>
  <p:clrMapOvr>
    <a:masterClrMapping/>
  </p:clrMapOvr>
  <mc:AlternateContent xmlns:mc="http://schemas.openxmlformats.org/markup-compatibility/2006" xmlns:p14="http://schemas.microsoft.com/office/powerpoint/2010/main">
    <mc:Choice Requires="p14">
      <p:transition spd="slow" p14:dur="2000" advTm="41120"/>
    </mc:Choice>
    <mc:Fallback xmlns="">
      <p:transition spd="slow" advTm="4112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DDF12-A42A-17DA-DD2B-86EB436FFFB5}"/>
              </a:ext>
            </a:extLst>
          </p:cNvPr>
          <p:cNvSpPr>
            <a:spLocks noGrp="1"/>
          </p:cNvSpPr>
          <p:nvPr>
            <p:ph type="title"/>
          </p:nvPr>
        </p:nvSpPr>
        <p:spPr/>
        <p:txBody>
          <a:bodyPr/>
          <a:lstStyle/>
          <a:p>
            <a:r>
              <a:rPr lang="en-US" dirty="0"/>
              <a:t>The duplicated( ) Method</a:t>
            </a:r>
          </a:p>
        </p:txBody>
      </p:sp>
      <p:graphicFrame>
        <p:nvGraphicFramePr>
          <p:cNvPr id="4" name="Table Placeholder 10">
            <a:extLst>
              <a:ext uri="{FF2B5EF4-FFF2-40B4-BE49-F238E27FC236}">
                <a16:creationId xmlns:a16="http://schemas.microsoft.com/office/drawing/2014/main" id="{4686F0C9-DB96-0E0C-E7C0-41A0D4EAEFF2}"/>
              </a:ext>
            </a:extLst>
          </p:cNvPr>
          <p:cNvGraphicFramePr>
            <a:graphicFrameLocks/>
          </p:cNvGraphicFramePr>
          <p:nvPr>
            <p:extLst>
              <p:ext uri="{D42A27DB-BD31-4B8C-83A1-F6EECF244321}">
                <p14:modId xmlns:p14="http://schemas.microsoft.com/office/powerpoint/2010/main" val="610316139"/>
              </p:ext>
            </p:extLst>
          </p:nvPr>
        </p:nvGraphicFramePr>
        <p:xfrm>
          <a:off x="726508" y="2323576"/>
          <a:ext cx="10396604" cy="1111686"/>
        </p:xfrm>
        <a:graphic>
          <a:graphicData uri="http://schemas.openxmlformats.org/drawingml/2006/table">
            <a:tbl>
              <a:tblPr firstRow="1"/>
              <a:tblGrid>
                <a:gridCol w="4776818">
                  <a:extLst>
                    <a:ext uri="{9D8B030D-6E8A-4147-A177-3AD203B41FA5}">
                      <a16:colId xmlns:a16="http://schemas.microsoft.com/office/drawing/2014/main" val="3243933903"/>
                    </a:ext>
                  </a:extLst>
                </a:gridCol>
                <a:gridCol w="5619786">
                  <a:extLst>
                    <a:ext uri="{9D8B030D-6E8A-4147-A177-3AD203B41FA5}">
                      <a16:colId xmlns:a16="http://schemas.microsoft.com/office/drawing/2014/main" val="4065332031"/>
                    </a:ext>
                  </a:extLst>
                </a:gridCol>
              </a:tblGrid>
              <a:tr h="555843">
                <a:tc>
                  <a:txBody>
                    <a:bodyPr/>
                    <a:lstStyle/>
                    <a:p>
                      <a:pPr marL="0" marR="0">
                        <a:spcBef>
                          <a:spcPts val="600"/>
                        </a:spcBef>
                        <a:spcAft>
                          <a:spcPts val="600"/>
                        </a:spcAft>
                        <a:tabLst>
                          <a:tab pos="1828800" algn="l"/>
                          <a:tab pos="457200" algn="l"/>
                        </a:tabLst>
                      </a:pPr>
                      <a:r>
                        <a:rPr lang="en-US" sz="2000" b="1" dirty="0">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Method</a:t>
                      </a:r>
                    </a:p>
                  </a:txBody>
                  <a:tcPr marL="68580" marR="68580" anchor="ctr">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Description</a:t>
                      </a:r>
                    </a:p>
                  </a:txBody>
                  <a:tcPr marL="68580" marR="68580" anchor="ctr">
                    <a:lnL>
                      <a:noFill/>
                    </a:lnL>
                    <a:lnR>
                      <a:noFill/>
                    </a:lnR>
                    <a:lnT>
                      <a:noFill/>
                    </a:lnT>
                    <a:lnB>
                      <a:noFill/>
                    </a:lnB>
                    <a:solidFill>
                      <a:srgbClr val="3D87B7"/>
                    </a:solidFill>
                  </a:tcPr>
                </a:tc>
                <a:extLst>
                  <a:ext uri="{0D108BD9-81ED-4DB2-BD59-A6C34878D82A}">
                    <a16:rowId xmlns:a16="http://schemas.microsoft.com/office/drawing/2014/main" val="187572578"/>
                  </a:ext>
                </a:extLst>
              </a:tr>
              <a:tr h="555843">
                <a:tc>
                  <a:txBody>
                    <a:bodyPr/>
                    <a:lstStyle/>
                    <a:p>
                      <a:pPr marL="0" marR="0" indent="0">
                        <a:spcBef>
                          <a:spcPts val="600"/>
                        </a:spcBef>
                        <a:spcAft>
                          <a:spcPts val="600"/>
                        </a:spcAft>
                        <a:tabLst>
                          <a:tab pos="800100" algn="l"/>
                          <a:tab pos="2514600" algn="l"/>
                          <a:tab pos="457200" algn="l"/>
                        </a:tabLst>
                      </a:pPr>
                      <a:r>
                        <a:rPr lang="en-US" sz="2000" b="1" dirty="0">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duplicated(params)</a:t>
                      </a:r>
                      <a:endParaRPr lang="en-US" sz="2000" dirty="0">
                        <a:effectLst/>
                        <a:latin typeface="Cambria" panose="020405030504060302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Identifies </a:t>
                      </a:r>
                      <a:r>
                        <a:rPr lang="en-US" sz="2000" dirty="0">
                          <a:solidFill>
                            <a:srgbClr val="FF0000"/>
                          </a:solidFill>
                          <a:effectLst/>
                          <a:latin typeface="Cambria" panose="02040503050406030204" pitchFamily="18" charset="0"/>
                          <a:ea typeface="Times New Roman" panose="02020603050405020304" pitchFamily="18" charset="0"/>
                        </a:rPr>
                        <a:t>duplicated rows</a:t>
                      </a:r>
                      <a:r>
                        <a:rPr lang="en-US" sz="2000" dirty="0">
                          <a:solidFill>
                            <a:srgbClr val="000000"/>
                          </a:solidFill>
                          <a:effectLst/>
                          <a:latin typeface="Cambria" panose="02040503050406030204" pitchFamily="18" charset="0"/>
                          <a:ea typeface="Times New Roman" panose="02020603050405020304" pitchFamily="18" charset="0"/>
                        </a:rPr>
                        <a:t>.</a:t>
                      </a:r>
                      <a:endParaRPr lang="en-US" sz="2000" dirty="0">
                        <a:effectLst/>
                        <a:latin typeface="Cambria" panose="020405030504060302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extLst>
                  <a:ext uri="{0D108BD9-81ED-4DB2-BD59-A6C34878D82A}">
                    <a16:rowId xmlns:a16="http://schemas.microsoft.com/office/drawing/2014/main" val="185148111"/>
                  </a:ext>
                </a:extLst>
              </a:tr>
            </a:tbl>
          </a:graphicData>
        </a:graphic>
      </p:graphicFrame>
      <p:graphicFrame>
        <p:nvGraphicFramePr>
          <p:cNvPr id="6" name="Table Placeholder 11">
            <a:extLst>
              <a:ext uri="{FF2B5EF4-FFF2-40B4-BE49-F238E27FC236}">
                <a16:creationId xmlns:a16="http://schemas.microsoft.com/office/drawing/2014/main" id="{15D1C4E0-E503-66C0-A406-5262F6997C17}"/>
              </a:ext>
            </a:extLst>
          </p:cNvPr>
          <p:cNvGraphicFramePr>
            <a:graphicFrameLocks/>
          </p:cNvGraphicFramePr>
          <p:nvPr>
            <p:extLst>
              <p:ext uri="{D42A27DB-BD31-4B8C-83A1-F6EECF244321}">
                <p14:modId xmlns:p14="http://schemas.microsoft.com/office/powerpoint/2010/main" val="3000308509"/>
              </p:ext>
            </p:extLst>
          </p:nvPr>
        </p:nvGraphicFramePr>
        <p:xfrm>
          <a:off x="726508" y="3723784"/>
          <a:ext cx="10396603" cy="2712720"/>
        </p:xfrm>
        <a:graphic>
          <a:graphicData uri="http://schemas.openxmlformats.org/drawingml/2006/table">
            <a:tbl>
              <a:tblPr firstRow="1"/>
              <a:tblGrid>
                <a:gridCol w="2328073">
                  <a:extLst>
                    <a:ext uri="{9D8B030D-6E8A-4147-A177-3AD203B41FA5}">
                      <a16:colId xmlns:a16="http://schemas.microsoft.com/office/drawing/2014/main" val="2497011723"/>
                    </a:ext>
                  </a:extLst>
                </a:gridCol>
                <a:gridCol w="8068530">
                  <a:extLst>
                    <a:ext uri="{9D8B030D-6E8A-4147-A177-3AD203B41FA5}">
                      <a16:colId xmlns:a16="http://schemas.microsoft.com/office/drawing/2014/main" val="768633115"/>
                    </a:ext>
                  </a:extLst>
                </a:gridCol>
              </a:tblGrid>
              <a:tr h="248172">
                <a:tc>
                  <a:txBody>
                    <a:bodyPr/>
                    <a:lstStyle/>
                    <a:p>
                      <a:pPr marL="0" marR="0">
                        <a:spcBef>
                          <a:spcPts val="600"/>
                        </a:spcBef>
                        <a:spcAft>
                          <a:spcPts val="600"/>
                        </a:spcAft>
                        <a:tabLst>
                          <a:tab pos="1828800" algn="l"/>
                          <a:tab pos="457200" algn="l"/>
                        </a:tabLst>
                      </a:pPr>
                      <a:r>
                        <a:rPr lang="en-US" sz="2000" b="1" dirty="0">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Parameter</a:t>
                      </a:r>
                    </a:p>
                  </a:txBody>
                  <a:tcPr marL="73152" marR="7315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Description</a:t>
                      </a:r>
                    </a:p>
                  </a:txBody>
                  <a:tcPr marL="73152" marR="73152">
                    <a:lnL>
                      <a:noFill/>
                    </a:lnL>
                    <a:lnR>
                      <a:noFill/>
                    </a:lnR>
                    <a:lnT>
                      <a:noFill/>
                    </a:lnT>
                    <a:lnB>
                      <a:noFill/>
                    </a:lnB>
                    <a:solidFill>
                      <a:srgbClr val="3D87B7"/>
                    </a:solidFill>
                  </a:tcPr>
                </a:tc>
                <a:extLst>
                  <a:ext uri="{0D108BD9-81ED-4DB2-BD59-A6C34878D82A}">
                    <a16:rowId xmlns:a16="http://schemas.microsoft.com/office/drawing/2014/main" val="568704746"/>
                  </a:ext>
                </a:extLst>
              </a:tr>
              <a:tr h="439074">
                <a:tc>
                  <a:txBody>
                    <a:bodyPr/>
                    <a:lstStyle/>
                    <a:p>
                      <a:pPr marL="0" marR="0" indent="0">
                        <a:spcBef>
                          <a:spcPts val="600"/>
                        </a:spcBef>
                        <a:spcAft>
                          <a:spcPts val="600"/>
                        </a:spcAft>
                        <a:tabLst>
                          <a:tab pos="800100" algn="l"/>
                          <a:tab pos="2514600" algn="l"/>
                          <a:tab pos="457200" algn="l"/>
                        </a:tabLst>
                      </a:pPr>
                      <a:r>
                        <a:rPr lang="en-US" sz="2000" b="1" dirty="0">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subset</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FF0000"/>
                          </a:solidFill>
                          <a:effectLst/>
                          <a:latin typeface="Cambria" panose="02040503050406030204" pitchFamily="18" charset="0"/>
                          <a:ea typeface="Times New Roman" panose="02020603050405020304" pitchFamily="18" charset="0"/>
                        </a:rPr>
                        <a:t>List of columns </a:t>
                      </a:r>
                      <a:r>
                        <a:rPr lang="en-US" sz="2000" dirty="0">
                          <a:solidFill>
                            <a:srgbClr val="000000"/>
                          </a:solidFill>
                          <a:effectLst/>
                          <a:latin typeface="Cambria" panose="02040503050406030204" pitchFamily="18" charset="0"/>
                          <a:ea typeface="Times New Roman" panose="02020603050405020304" pitchFamily="18" charset="0"/>
                        </a:rPr>
                        <a:t>to be used for identifying duplicates; otherwise, </a:t>
                      </a:r>
                      <a:r>
                        <a:rPr lang="en-US" sz="2000" dirty="0">
                          <a:solidFill>
                            <a:srgbClr val="FF0000"/>
                          </a:solidFill>
                          <a:effectLst/>
                          <a:latin typeface="Cambria" panose="02040503050406030204" pitchFamily="18" charset="0"/>
                          <a:ea typeface="Times New Roman" panose="02020603050405020304" pitchFamily="18" charset="0"/>
                        </a:rPr>
                        <a:t>all columns are used.</a:t>
                      </a:r>
                    </a:p>
                  </a:txBody>
                  <a:tcPr marL="73152" marR="73152">
                    <a:lnL>
                      <a:noFill/>
                    </a:lnL>
                    <a:lnR>
                      <a:noFill/>
                    </a:lnR>
                    <a:lnT>
                      <a:noFill/>
                    </a:lnT>
                    <a:lnB>
                      <a:noFill/>
                    </a:lnB>
                    <a:solidFill>
                      <a:srgbClr val="DFECF5"/>
                    </a:solidFill>
                  </a:tcPr>
                </a:tc>
                <a:extLst>
                  <a:ext uri="{0D108BD9-81ED-4DB2-BD59-A6C34878D82A}">
                    <a16:rowId xmlns:a16="http://schemas.microsoft.com/office/drawing/2014/main" val="2145138462"/>
                  </a:ext>
                </a:extLst>
              </a:tr>
              <a:tr h="820878">
                <a:tc>
                  <a:txBody>
                    <a:bodyPr/>
                    <a:lstStyle/>
                    <a:p>
                      <a:pPr marL="0" marR="0" indent="0">
                        <a:spcBef>
                          <a:spcPts val="600"/>
                        </a:spcBef>
                        <a:spcAft>
                          <a:spcPts val="600"/>
                        </a:spcAft>
                        <a:tabLst>
                          <a:tab pos="800100" algn="l"/>
                          <a:tab pos="2514600" algn="l"/>
                          <a:tab pos="457200" algn="l"/>
                        </a:tabLst>
                      </a:pPr>
                      <a:r>
                        <a:rPr lang="en-US" sz="2000" b="1" dirty="0">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keep</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If ‘first’ (the default), all duplicates are marked as True except for the first occurrence in each set. </a:t>
                      </a:r>
                    </a:p>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If ‘last’, all duplicates are marked as True except for the last occurrence. </a:t>
                      </a:r>
                    </a:p>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If False, all duplicates are marked as True.</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3503493146"/>
                  </a:ext>
                </a:extLst>
              </a:tr>
            </a:tbl>
          </a:graphicData>
        </a:graphic>
      </p:graphicFrame>
    </p:spTree>
    <p:extLst>
      <p:ext uri="{BB962C8B-B14F-4D97-AF65-F5344CB8AC3E}">
        <p14:creationId xmlns:p14="http://schemas.microsoft.com/office/powerpoint/2010/main" val="3009082453"/>
      </p:ext>
    </p:extLst>
  </p:cSld>
  <p:clrMapOvr>
    <a:masterClrMapping/>
  </p:clrMapOvr>
  <mc:AlternateContent xmlns:mc="http://schemas.openxmlformats.org/markup-compatibility/2006" xmlns:p14="http://schemas.microsoft.com/office/powerpoint/2010/main">
    <mc:Choice Requires="p14">
      <p:transition spd="slow" p14:dur="2000" advTm="91381"/>
    </mc:Choice>
    <mc:Fallback xmlns="">
      <p:transition spd="slow" advTm="91381"/>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DDF12-A42A-17DA-DD2B-86EB436FFFB5}"/>
              </a:ext>
            </a:extLst>
          </p:cNvPr>
          <p:cNvSpPr>
            <a:spLocks noGrp="1"/>
          </p:cNvSpPr>
          <p:nvPr>
            <p:ph type="title"/>
          </p:nvPr>
        </p:nvSpPr>
        <p:spPr/>
        <p:txBody>
          <a:bodyPr/>
          <a:lstStyle/>
          <a:p>
            <a:r>
              <a:rPr lang="en-US" dirty="0"/>
              <a:t>The </a:t>
            </a:r>
            <a:r>
              <a:rPr lang="en-US" dirty="0" err="1"/>
              <a:t>drop_duplicates</a:t>
            </a:r>
            <a:r>
              <a:rPr lang="en-US" dirty="0"/>
              <a:t>( ) Method</a:t>
            </a:r>
          </a:p>
        </p:txBody>
      </p:sp>
      <p:graphicFrame>
        <p:nvGraphicFramePr>
          <p:cNvPr id="3" name="Table Placeholder 10">
            <a:extLst>
              <a:ext uri="{FF2B5EF4-FFF2-40B4-BE49-F238E27FC236}">
                <a16:creationId xmlns:a16="http://schemas.microsoft.com/office/drawing/2014/main" id="{F0834EA7-E99D-4853-B2E0-18C11D90F75A}"/>
              </a:ext>
            </a:extLst>
          </p:cNvPr>
          <p:cNvGraphicFramePr>
            <a:graphicFrameLocks/>
          </p:cNvGraphicFramePr>
          <p:nvPr>
            <p:extLst>
              <p:ext uri="{D42A27DB-BD31-4B8C-83A1-F6EECF244321}">
                <p14:modId xmlns:p14="http://schemas.microsoft.com/office/powerpoint/2010/main" val="2484712812"/>
              </p:ext>
            </p:extLst>
          </p:nvPr>
        </p:nvGraphicFramePr>
        <p:xfrm>
          <a:off x="726510" y="2283057"/>
          <a:ext cx="10471759" cy="792480"/>
        </p:xfrm>
        <a:graphic>
          <a:graphicData uri="http://schemas.openxmlformats.org/drawingml/2006/table">
            <a:tbl>
              <a:tblPr firstRow="1"/>
              <a:tblGrid>
                <a:gridCol w="4521896">
                  <a:extLst>
                    <a:ext uri="{9D8B030D-6E8A-4147-A177-3AD203B41FA5}">
                      <a16:colId xmlns:a16="http://schemas.microsoft.com/office/drawing/2014/main" val="1411842448"/>
                    </a:ext>
                  </a:extLst>
                </a:gridCol>
                <a:gridCol w="5949863">
                  <a:extLst>
                    <a:ext uri="{9D8B030D-6E8A-4147-A177-3AD203B41FA5}">
                      <a16:colId xmlns:a16="http://schemas.microsoft.com/office/drawing/2014/main" val="321548399"/>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Method</a:t>
                      </a: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Description</a:t>
                      </a:r>
                    </a:p>
                  </a:txBody>
                  <a:tcPr marL="68580" marR="68580">
                    <a:lnL>
                      <a:noFill/>
                    </a:lnL>
                    <a:lnR>
                      <a:noFill/>
                    </a:lnR>
                    <a:lnT>
                      <a:noFill/>
                    </a:lnT>
                    <a:lnB>
                      <a:noFill/>
                    </a:lnB>
                    <a:solidFill>
                      <a:srgbClr val="3D87B7"/>
                    </a:solidFill>
                  </a:tcPr>
                </a:tc>
                <a:extLst>
                  <a:ext uri="{0D108BD9-81ED-4DB2-BD59-A6C34878D82A}">
                    <a16:rowId xmlns:a16="http://schemas.microsoft.com/office/drawing/2014/main" val="287973938"/>
                  </a:ext>
                </a:extLst>
              </a:tr>
              <a:tr h="0">
                <a:tc>
                  <a:txBody>
                    <a:bodyPr/>
                    <a:lstStyle/>
                    <a:p>
                      <a:pPr marL="0" marR="0" indent="0">
                        <a:spcBef>
                          <a:spcPts val="600"/>
                        </a:spcBef>
                        <a:spcAft>
                          <a:spcPts val="600"/>
                        </a:spcAft>
                        <a:tabLst>
                          <a:tab pos="800100" algn="l"/>
                          <a:tab pos="2514600" algn="l"/>
                          <a:tab pos="457200" algn="l"/>
                        </a:tabLst>
                      </a:pPr>
                      <a:r>
                        <a:rPr lang="en-US" sz="2000" b="1" dirty="0" err="1">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drop_duplicates</a:t>
                      </a:r>
                      <a:r>
                        <a:rPr lang="en-US" sz="2000" b="1" dirty="0">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(params)</a:t>
                      </a:r>
                      <a:endParaRPr lang="en-US" sz="2000" dirty="0">
                        <a:effectLst/>
                        <a:latin typeface="Cambria" panose="020405030504060302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Returns the </a:t>
                      </a:r>
                      <a:r>
                        <a:rPr lang="en-US" sz="2000" dirty="0" err="1">
                          <a:solidFill>
                            <a:srgbClr val="000000"/>
                          </a:solidFill>
                          <a:effectLst/>
                          <a:latin typeface="Cambria" panose="02040503050406030204" pitchFamily="18" charset="0"/>
                          <a:ea typeface="Times New Roman" panose="02020603050405020304" pitchFamily="18" charset="0"/>
                        </a:rPr>
                        <a:t>DataFrame</a:t>
                      </a:r>
                      <a:r>
                        <a:rPr lang="en-US" sz="2000" dirty="0">
                          <a:solidFill>
                            <a:srgbClr val="000000"/>
                          </a:solidFill>
                          <a:effectLst/>
                          <a:latin typeface="Cambria" panose="02040503050406030204" pitchFamily="18" charset="0"/>
                          <a:ea typeface="Times New Roman" panose="02020603050405020304" pitchFamily="18" charset="0"/>
                        </a:rPr>
                        <a:t> with duplicate rows removed.</a:t>
                      </a:r>
                      <a:endParaRPr lang="en-US" sz="2000" dirty="0">
                        <a:effectLst/>
                        <a:latin typeface="Cambria" panose="020405030504060302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3687416381"/>
                  </a:ext>
                </a:extLst>
              </a:tr>
            </a:tbl>
          </a:graphicData>
        </a:graphic>
      </p:graphicFrame>
      <p:graphicFrame>
        <p:nvGraphicFramePr>
          <p:cNvPr id="7" name="Table Placeholder 11">
            <a:extLst>
              <a:ext uri="{FF2B5EF4-FFF2-40B4-BE49-F238E27FC236}">
                <a16:creationId xmlns:a16="http://schemas.microsoft.com/office/drawing/2014/main" id="{46218F57-8EC2-B8A1-219E-8BD795A3E5FE}"/>
              </a:ext>
            </a:extLst>
          </p:cNvPr>
          <p:cNvGraphicFramePr>
            <a:graphicFrameLocks/>
          </p:cNvGraphicFramePr>
          <p:nvPr>
            <p:extLst>
              <p:ext uri="{D42A27DB-BD31-4B8C-83A1-F6EECF244321}">
                <p14:modId xmlns:p14="http://schemas.microsoft.com/office/powerpoint/2010/main" val="1395086149"/>
              </p:ext>
            </p:extLst>
          </p:nvPr>
        </p:nvGraphicFramePr>
        <p:xfrm>
          <a:off x="726510" y="3447042"/>
          <a:ext cx="10471758" cy="2651760"/>
        </p:xfrm>
        <a:graphic>
          <a:graphicData uri="http://schemas.openxmlformats.org/drawingml/2006/table">
            <a:tbl>
              <a:tblPr firstRow="1"/>
              <a:tblGrid>
                <a:gridCol w="2566941">
                  <a:extLst>
                    <a:ext uri="{9D8B030D-6E8A-4147-A177-3AD203B41FA5}">
                      <a16:colId xmlns:a16="http://schemas.microsoft.com/office/drawing/2014/main" val="1705381636"/>
                    </a:ext>
                  </a:extLst>
                </a:gridCol>
                <a:gridCol w="7904817">
                  <a:extLst>
                    <a:ext uri="{9D8B030D-6E8A-4147-A177-3AD203B41FA5}">
                      <a16:colId xmlns:a16="http://schemas.microsoft.com/office/drawing/2014/main" val="3314059642"/>
                    </a:ext>
                  </a:extLst>
                </a:gridCol>
              </a:tblGrid>
              <a:tr h="239093">
                <a:tc>
                  <a:txBody>
                    <a:bodyPr/>
                    <a:lstStyle/>
                    <a:p>
                      <a:pPr marL="0" marR="0">
                        <a:spcBef>
                          <a:spcPts val="600"/>
                        </a:spcBef>
                        <a:spcAft>
                          <a:spcPts val="600"/>
                        </a:spcAft>
                        <a:tabLst>
                          <a:tab pos="1828800" algn="l"/>
                          <a:tab pos="457200" algn="l"/>
                        </a:tabLst>
                      </a:pPr>
                      <a:r>
                        <a:rPr lang="en-US" sz="2000" b="1" dirty="0">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Parameter</a:t>
                      </a:r>
                    </a:p>
                  </a:txBody>
                  <a:tcPr marL="73152" marR="7315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Description</a:t>
                      </a:r>
                    </a:p>
                  </a:txBody>
                  <a:tcPr marL="73152" marR="73152">
                    <a:lnL>
                      <a:noFill/>
                    </a:lnL>
                    <a:lnR>
                      <a:noFill/>
                    </a:lnR>
                    <a:lnT>
                      <a:noFill/>
                    </a:lnT>
                    <a:lnB>
                      <a:noFill/>
                    </a:lnB>
                    <a:solidFill>
                      <a:srgbClr val="3D87B7"/>
                    </a:solidFill>
                  </a:tcPr>
                </a:tc>
                <a:extLst>
                  <a:ext uri="{0D108BD9-81ED-4DB2-BD59-A6C34878D82A}">
                    <a16:rowId xmlns:a16="http://schemas.microsoft.com/office/drawing/2014/main" val="850970622"/>
                  </a:ext>
                </a:extLst>
              </a:tr>
              <a:tr h="239093">
                <a:tc>
                  <a:txBody>
                    <a:bodyPr/>
                    <a:lstStyle/>
                    <a:p>
                      <a:pPr marL="0" marR="0" indent="0">
                        <a:spcBef>
                          <a:spcPts val="600"/>
                        </a:spcBef>
                        <a:spcAft>
                          <a:spcPts val="600"/>
                        </a:spcAft>
                        <a:tabLst>
                          <a:tab pos="800100" algn="l"/>
                          <a:tab pos="2514600" algn="l"/>
                          <a:tab pos="457200" algn="l"/>
                        </a:tabLst>
                      </a:pPr>
                      <a:r>
                        <a:rPr lang="en-US" sz="2000" b="1" dirty="0">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subset</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Same as for the duplicated() method.</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855007517"/>
                  </a:ext>
                </a:extLst>
              </a:tr>
              <a:tr h="423011">
                <a:tc>
                  <a:txBody>
                    <a:bodyPr/>
                    <a:lstStyle/>
                    <a:p>
                      <a:pPr marL="0" marR="0" indent="0">
                        <a:spcBef>
                          <a:spcPts val="600"/>
                        </a:spcBef>
                        <a:spcAft>
                          <a:spcPts val="600"/>
                        </a:spcAft>
                        <a:tabLst>
                          <a:tab pos="800100" algn="l"/>
                          <a:tab pos="2514600" algn="l"/>
                          <a:tab pos="457200" algn="l"/>
                        </a:tabLst>
                      </a:pPr>
                      <a:r>
                        <a:rPr lang="en-US" sz="2000" b="1" dirty="0">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keep</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Same as for the duplicated() method except that the duplicate rows are dropped, not marked.</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901305277"/>
                  </a:ext>
                </a:extLst>
              </a:tr>
              <a:tr h="606928">
                <a:tc>
                  <a:txBody>
                    <a:bodyPr/>
                    <a:lstStyle/>
                    <a:p>
                      <a:pPr marL="0" marR="0" indent="0">
                        <a:spcBef>
                          <a:spcPts val="600"/>
                        </a:spcBef>
                        <a:spcAft>
                          <a:spcPts val="600"/>
                        </a:spcAft>
                        <a:tabLst>
                          <a:tab pos="800100" algn="l"/>
                          <a:tab pos="2514600" algn="l"/>
                          <a:tab pos="457200" algn="l"/>
                        </a:tabLst>
                      </a:pPr>
                      <a:r>
                        <a:rPr lang="en-US" sz="2000" b="1" dirty="0" err="1">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inplace</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FF0000"/>
                          </a:solidFill>
                          <a:effectLst/>
                          <a:latin typeface="Cambria" panose="02040503050406030204" pitchFamily="18" charset="0"/>
                          <a:ea typeface="Times New Roman" panose="02020603050405020304" pitchFamily="18" charset="0"/>
                        </a:rPr>
                        <a:t>True</a:t>
                      </a:r>
                      <a:r>
                        <a:rPr lang="en-US" sz="2000" dirty="0">
                          <a:solidFill>
                            <a:srgbClr val="000000"/>
                          </a:solidFill>
                          <a:effectLst/>
                          <a:latin typeface="Cambria" panose="02040503050406030204" pitchFamily="18" charset="0"/>
                          <a:ea typeface="Times New Roman" panose="02020603050405020304" pitchFamily="18" charset="0"/>
                        </a:rPr>
                        <a:t> makes the </a:t>
                      </a:r>
                      <a:r>
                        <a:rPr lang="en-US" sz="2000" dirty="0">
                          <a:solidFill>
                            <a:srgbClr val="FF0000"/>
                          </a:solidFill>
                          <a:effectLst/>
                          <a:latin typeface="Cambria" panose="02040503050406030204" pitchFamily="18" charset="0"/>
                          <a:ea typeface="Times New Roman" panose="02020603050405020304" pitchFamily="18" charset="0"/>
                        </a:rPr>
                        <a:t>changes directly </a:t>
                      </a:r>
                      <a:r>
                        <a:rPr lang="en-US" sz="2000" dirty="0">
                          <a:solidFill>
                            <a:srgbClr val="000000"/>
                          </a:solidFill>
                          <a:effectLst/>
                          <a:latin typeface="Cambria" panose="02040503050406030204" pitchFamily="18" charset="0"/>
                          <a:ea typeface="Times New Roman" panose="02020603050405020304" pitchFamily="18" charset="0"/>
                        </a:rPr>
                        <a:t>to the </a:t>
                      </a:r>
                      <a:r>
                        <a:rPr lang="en-US" sz="2000" dirty="0" err="1">
                          <a:solidFill>
                            <a:srgbClr val="000000"/>
                          </a:solidFill>
                          <a:effectLst/>
                          <a:latin typeface="Cambria" panose="02040503050406030204" pitchFamily="18" charset="0"/>
                          <a:ea typeface="Times New Roman" panose="02020603050405020304" pitchFamily="18" charset="0"/>
                        </a:rPr>
                        <a:t>DataFrame</a:t>
                      </a:r>
                      <a:r>
                        <a:rPr lang="en-US" sz="2000" dirty="0">
                          <a:solidFill>
                            <a:srgbClr val="000000"/>
                          </a:solidFill>
                          <a:effectLst/>
                          <a:latin typeface="Cambria" panose="02040503050406030204" pitchFamily="18" charset="0"/>
                          <a:ea typeface="Times New Roman" panose="02020603050405020304" pitchFamily="18" charset="0"/>
                        </a:rPr>
                        <a:t>; </a:t>
                      </a:r>
                    </a:p>
                    <a:p>
                      <a:pPr marL="0" marR="0" indent="0">
                        <a:spcBef>
                          <a:spcPts val="600"/>
                        </a:spcBef>
                        <a:spcAft>
                          <a:spcPts val="600"/>
                        </a:spcAft>
                        <a:tabLst>
                          <a:tab pos="800100" algn="l"/>
                          <a:tab pos="2514600" algn="l"/>
                          <a:tab pos="457200" algn="l"/>
                        </a:tabLst>
                      </a:pPr>
                      <a:r>
                        <a:rPr lang="en-US" sz="2000" dirty="0">
                          <a:solidFill>
                            <a:srgbClr val="FF0000"/>
                          </a:solidFill>
                          <a:effectLst/>
                          <a:latin typeface="Cambria" panose="02040503050406030204" pitchFamily="18" charset="0"/>
                          <a:ea typeface="Times New Roman" panose="02020603050405020304" pitchFamily="18" charset="0"/>
                        </a:rPr>
                        <a:t>False (the default</a:t>
                      </a:r>
                      <a:r>
                        <a:rPr lang="en-US" sz="2000" dirty="0">
                          <a:solidFill>
                            <a:srgbClr val="000000"/>
                          </a:solidFill>
                          <a:effectLst/>
                          <a:latin typeface="Cambria" panose="02040503050406030204" pitchFamily="18" charset="0"/>
                          <a:ea typeface="Times New Roman" panose="02020603050405020304" pitchFamily="18" charset="0"/>
                        </a:rPr>
                        <a:t>) returns a </a:t>
                      </a:r>
                      <a:r>
                        <a:rPr lang="en-US" sz="2000" dirty="0">
                          <a:solidFill>
                            <a:srgbClr val="FF0000"/>
                          </a:solidFill>
                          <a:effectLst/>
                          <a:latin typeface="Cambria" panose="02040503050406030204" pitchFamily="18" charset="0"/>
                          <a:ea typeface="Times New Roman" panose="02020603050405020304" pitchFamily="18" charset="0"/>
                        </a:rPr>
                        <a:t>copy</a:t>
                      </a:r>
                      <a:r>
                        <a:rPr lang="en-US" sz="2000" dirty="0">
                          <a:solidFill>
                            <a:srgbClr val="000000"/>
                          </a:solidFill>
                          <a:effectLst/>
                          <a:latin typeface="Cambria" panose="02040503050406030204" pitchFamily="18" charset="0"/>
                          <a:ea typeface="Times New Roman" panose="02020603050405020304" pitchFamily="18" charset="0"/>
                        </a:rPr>
                        <a:t> of the </a:t>
                      </a:r>
                      <a:r>
                        <a:rPr lang="en-US" sz="2000" dirty="0" err="1">
                          <a:solidFill>
                            <a:srgbClr val="000000"/>
                          </a:solidFill>
                          <a:effectLst/>
                          <a:latin typeface="Cambria" panose="02040503050406030204" pitchFamily="18" charset="0"/>
                          <a:ea typeface="Times New Roman" panose="02020603050405020304" pitchFamily="18" charset="0"/>
                        </a:rPr>
                        <a:t>DataFrame</a:t>
                      </a:r>
                      <a:r>
                        <a:rPr lang="en-US" sz="2000" dirty="0">
                          <a:solidFill>
                            <a:srgbClr val="000000"/>
                          </a:solidFill>
                          <a:effectLst/>
                          <a:latin typeface="Cambria" panose="02040503050406030204" pitchFamily="18" charset="0"/>
                          <a:ea typeface="Times New Roman" panose="02020603050405020304" pitchFamily="18" charset="0"/>
                        </a:rPr>
                        <a:t> with the duplicates dropped.</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257656223"/>
                  </a:ext>
                </a:extLst>
              </a:tr>
            </a:tbl>
          </a:graphicData>
        </a:graphic>
      </p:graphicFrame>
    </p:spTree>
    <p:extLst>
      <p:ext uri="{BB962C8B-B14F-4D97-AF65-F5344CB8AC3E}">
        <p14:creationId xmlns:p14="http://schemas.microsoft.com/office/powerpoint/2010/main" val="990624150"/>
      </p:ext>
    </p:extLst>
  </p:cSld>
  <p:clrMapOvr>
    <a:masterClrMapping/>
  </p:clrMapOvr>
  <mc:AlternateContent xmlns:mc="http://schemas.openxmlformats.org/markup-compatibility/2006" xmlns:p14="http://schemas.microsoft.com/office/powerpoint/2010/main">
    <mc:Choice Requires="p14">
      <p:transition spd="slow" p14:dur="2000" advTm="17312"/>
    </mc:Choice>
    <mc:Fallback xmlns="">
      <p:transition spd="slow" advTm="17312"/>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BE66D35-6371-4809-9433-1EBF87915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7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68F13E-4CDC-F586-7700-430B43713F03}"/>
              </a:ext>
            </a:extLst>
          </p:cNvPr>
          <p:cNvSpPr>
            <a:spLocks noGrp="1"/>
          </p:cNvSpPr>
          <p:nvPr>
            <p:ph type="title"/>
          </p:nvPr>
        </p:nvSpPr>
        <p:spPr>
          <a:xfrm>
            <a:off x="146221" y="397275"/>
            <a:ext cx="2628785" cy="3761257"/>
          </a:xfrm>
        </p:spPr>
        <p:txBody>
          <a:bodyPr vert="horz" lIns="91440" tIns="45720" rIns="91440" bIns="45720" rtlCol="0" anchor="ctr">
            <a:normAutofit/>
          </a:bodyPr>
          <a:lstStyle/>
          <a:p>
            <a:r>
              <a:rPr lang="en-US" sz="3200" dirty="0"/>
              <a:t>Dropping Duplicate Rows (Cont.)</a:t>
            </a:r>
          </a:p>
        </p:txBody>
      </p:sp>
      <p:grpSp>
        <p:nvGrpSpPr>
          <p:cNvPr id="15" name="Group 14">
            <a:extLst>
              <a:ext uri="{FF2B5EF4-FFF2-40B4-BE49-F238E27FC236}">
                <a16:creationId xmlns:a16="http://schemas.microsoft.com/office/drawing/2014/main" id="{0EB82B4C-9249-4CFC-A372-7B0FF5E36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65226"/>
            <a:ext cx="3048003" cy="2292774"/>
            <a:chOff x="6096002" y="-9073"/>
            <a:chExt cx="6095998" cy="6867073"/>
          </a:xfrm>
        </p:grpSpPr>
        <p:sp>
          <p:nvSpPr>
            <p:cNvPr id="16" name="Rectangle 15">
              <a:extLst>
                <a:ext uri="{FF2B5EF4-FFF2-40B4-BE49-F238E27FC236}">
                  <a16:creationId xmlns:a16="http://schemas.microsoft.com/office/drawing/2014/main" id="{41B9437E-0974-4AB4-8491-D8BDD841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CB975E-33D1-4FB0-AA40-C2250AA66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Picture 2">
            <a:extLst>
              <a:ext uri="{FF2B5EF4-FFF2-40B4-BE49-F238E27FC236}">
                <a16:creationId xmlns:a16="http://schemas.microsoft.com/office/drawing/2014/main" id="{F4BFA60D-BC1D-BCBF-C1CC-6914913DA76A}"/>
              </a:ext>
            </a:extLst>
          </p:cNvPr>
          <p:cNvPicPr>
            <a:picLocks noChangeAspect="1"/>
          </p:cNvPicPr>
          <p:nvPr/>
        </p:nvPicPr>
        <p:blipFill>
          <a:blip r:embed="rId2"/>
          <a:stretch>
            <a:fillRect/>
          </a:stretch>
        </p:blipFill>
        <p:spPr>
          <a:xfrm>
            <a:off x="3194219" y="168121"/>
            <a:ext cx="8893427" cy="5656481"/>
          </a:xfrm>
          <a:prstGeom prst="rect">
            <a:avLst/>
          </a:prstGeom>
        </p:spPr>
      </p:pic>
    </p:spTree>
    <p:extLst>
      <p:ext uri="{BB962C8B-B14F-4D97-AF65-F5344CB8AC3E}">
        <p14:creationId xmlns:p14="http://schemas.microsoft.com/office/powerpoint/2010/main" val="2434187151"/>
      </p:ext>
    </p:extLst>
  </p:cSld>
  <p:clrMapOvr>
    <a:masterClrMapping/>
  </p:clrMapOvr>
  <mc:AlternateContent xmlns:mc="http://schemas.openxmlformats.org/markup-compatibility/2006" xmlns:p14="http://schemas.microsoft.com/office/powerpoint/2010/main">
    <mc:Choice Requires="p14">
      <p:transition spd="slow" p14:dur="2000" advTm="22773"/>
    </mc:Choice>
    <mc:Fallback xmlns="">
      <p:transition spd="slow" advTm="22773"/>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B1684-BC61-DFC5-EDC3-8167E1D070C1}"/>
              </a:ext>
            </a:extLst>
          </p:cNvPr>
          <p:cNvSpPr>
            <a:spLocks noGrp="1"/>
          </p:cNvSpPr>
          <p:nvPr>
            <p:ph type="title"/>
          </p:nvPr>
        </p:nvSpPr>
        <p:spPr>
          <a:xfrm>
            <a:off x="394636" y="365125"/>
            <a:ext cx="11292148" cy="1078664"/>
          </a:xfrm>
        </p:spPr>
        <p:txBody>
          <a:bodyPr>
            <a:normAutofit fontScale="90000"/>
          </a:bodyPr>
          <a:lstStyle/>
          <a:p>
            <a:r>
              <a:rPr lang="en-US" dirty="0"/>
              <a:t>What will happen if you run the following line? </a:t>
            </a:r>
          </a:p>
        </p:txBody>
      </p:sp>
      <p:sp>
        <p:nvSpPr>
          <p:cNvPr id="3" name="Content Placeholder 2">
            <a:extLst>
              <a:ext uri="{FF2B5EF4-FFF2-40B4-BE49-F238E27FC236}">
                <a16:creationId xmlns:a16="http://schemas.microsoft.com/office/drawing/2014/main" id="{FAB32FAF-7821-1809-2ED6-9566B2BFEAA5}"/>
              </a:ext>
            </a:extLst>
          </p:cNvPr>
          <p:cNvSpPr>
            <a:spLocks noGrp="1"/>
          </p:cNvSpPr>
          <p:nvPr>
            <p:ph idx="1"/>
          </p:nvPr>
        </p:nvSpPr>
        <p:spPr>
          <a:xfrm>
            <a:off x="483476" y="2445443"/>
            <a:ext cx="5390742" cy="3339634"/>
          </a:xfrm>
        </p:spPr>
        <p:txBody>
          <a:bodyPr>
            <a:normAutofit/>
          </a:bodyPr>
          <a:lstStyle/>
          <a:p>
            <a:pPr>
              <a:lnSpc>
                <a:spcPct val="110000"/>
              </a:lnSpc>
            </a:pPr>
            <a:endParaRPr lang="en-US" sz="3600" dirty="0"/>
          </a:p>
          <a:p>
            <a:pPr>
              <a:lnSpc>
                <a:spcPct val="110000"/>
              </a:lnSpc>
            </a:pPr>
            <a:endParaRPr lang="en-US" sz="3600" dirty="0"/>
          </a:p>
          <a:p>
            <a:pPr>
              <a:lnSpc>
                <a:spcPct val="110000"/>
              </a:lnSpc>
            </a:pPr>
            <a:r>
              <a:rPr lang="en-US" sz="3600" dirty="0"/>
              <a:t>Ask </a:t>
            </a:r>
            <a:r>
              <a:rPr lang="en-US" sz="3600" dirty="0" err="1"/>
              <a:t>ChatGPT</a:t>
            </a:r>
            <a:r>
              <a:rPr lang="en-US" sz="3600" dirty="0"/>
              <a:t> </a:t>
            </a:r>
            <a:r>
              <a:rPr lang="en-US" sz="3600" dirty="0">
                <a:sym typeface="Wingdings" pitchFamily="2" charset="2"/>
              </a:rPr>
              <a:t></a:t>
            </a:r>
            <a:endParaRPr lang="en-US" sz="3600" dirty="0"/>
          </a:p>
        </p:txBody>
      </p:sp>
      <p:pic>
        <p:nvPicPr>
          <p:cNvPr id="1026" name="Picture 2" descr="Free Knowledge Curiosity photo and picture">
            <a:extLst>
              <a:ext uri="{FF2B5EF4-FFF2-40B4-BE49-F238E27FC236}">
                <a16:creationId xmlns:a16="http://schemas.microsoft.com/office/drawing/2014/main" id="{919A4985-9AF5-8006-5018-B2DC904960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570" r="14529" b="-1"/>
          <a:stretch/>
        </p:blipFill>
        <p:spPr bwMode="auto">
          <a:xfrm>
            <a:off x="5951619" y="1914764"/>
            <a:ext cx="6095998" cy="457811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800C936D-5089-C309-308C-26DF87BD1639}"/>
              </a:ext>
            </a:extLst>
          </p:cNvPr>
          <p:cNvPicPr>
            <a:picLocks noChangeAspect="1"/>
          </p:cNvPicPr>
          <p:nvPr/>
        </p:nvPicPr>
        <p:blipFill>
          <a:blip r:embed="rId3"/>
          <a:stretch>
            <a:fillRect/>
          </a:stretch>
        </p:blipFill>
        <p:spPr>
          <a:xfrm>
            <a:off x="394636" y="2225455"/>
            <a:ext cx="10486095" cy="439976"/>
          </a:xfrm>
          <a:prstGeom prst="rect">
            <a:avLst/>
          </a:prstGeom>
        </p:spPr>
      </p:pic>
    </p:spTree>
    <p:extLst>
      <p:ext uri="{BB962C8B-B14F-4D97-AF65-F5344CB8AC3E}">
        <p14:creationId xmlns:p14="http://schemas.microsoft.com/office/powerpoint/2010/main" val="1267910275"/>
      </p:ext>
    </p:extLst>
  </p:cSld>
  <p:clrMapOvr>
    <a:masterClrMapping/>
  </p:clrMapOvr>
  <mc:AlternateContent xmlns:mc="http://schemas.openxmlformats.org/markup-compatibility/2006" xmlns:p14="http://schemas.microsoft.com/office/powerpoint/2010/main">
    <mc:Choice Requires="p14">
      <p:transition spd="slow" p14:dur="2000" advTm="19040"/>
    </mc:Choice>
    <mc:Fallback xmlns="">
      <p:transition spd="slow" advTm="1904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F06BE-4FE5-E234-DC36-222EE96A42C4}"/>
              </a:ext>
            </a:extLst>
          </p:cNvPr>
          <p:cNvSpPr>
            <a:spLocks noGrp="1"/>
          </p:cNvSpPr>
          <p:nvPr>
            <p:ph type="title"/>
          </p:nvPr>
        </p:nvSpPr>
        <p:spPr/>
        <p:txBody>
          <a:bodyPr/>
          <a:lstStyle/>
          <a:p>
            <a:r>
              <a:rPr lang="en-US" dirty="0"/>
              <a:t>The rename( ) Method</a:t>
            </a:r>
          </a:p>
        </p:txBody>
      </p:sp>
      <p:graphicFrame>
        <p:nvGraphicFramePr>
          <p:cNvPr id="4" name="Table Placeholder 10">
            <a:extLst>
              <a:ext uri="{FF2B5EF4-FFF2-40B4-BE49-F238E27FC236}">
                <a16:creationId xmlns:a16="http://schemas.microsoft.com/office/drawing/2014/main" id="{E91958BC-5180-E1B3-DC03-2A59895ADCF8}"/>
              </a:ext>
            </a:extLst>
          </p:cNvPr>
          <p:cNvGraphicFramePr>
            <a:graphicFrameLocks/>
          </p:cNvGraphicFramePr>
          <p:nvPr>
            <p:extLst>
              <p:ext uri="{D42A27DB-BD31-4B8C-83A1-F6EECF244321}">
                <p14:modId xmlns:p14="http://schemas.microsoft.com/office/powerpoint/2010/main" val="2064577620"/>
              </p:ext>
            </p:extLst>
          </p:nvPr>
        </p:nvGraphicFramePr>
        <p:xfrm>
          <a:off x="613775" y="2441617"/>
          <a:ext cx="10956930" cy="792480"/>
        </p:xfrm>
        <a:graphic>
          <a:graphicData uri="http://schemas.openxmlformats.org/drawingml/2006/table">
            <a:tbl>
              <a:tblPr firstRow="1"/>
              <a:tblGrid>
                <a:gridCol w="2702194">
                  <a:extLst>
                    <a:ext uri="{9D8B030D-6E8A-4147-A177-3AD203B41FA5}">
                      <a16:colId xmlns:a16="http://schemas.microsoft.com/office/drawing/2014/main" val="2581106435"/>
                    </a:ext>
                  </a:extLst>
                </a:gridCol>
                <a:gridCol w="8254736">
                  <a:extLst>
                    <a:ext uri="{9D8B030D-6E8A-4147-A177-3AD203B41FA5}">
                      <a16:colId xmlns:a16="http://schemas.microsoft.com/office/drawing/2014/main" val="3178750144"/>
                    </a:ext>
                  </a:extLst>
                </a:gridCol>
              </a:tblGrid>
              <a:tr h="0">
                <a:tc>
                  <a:txBody>
                    <a:bodyPr/>
                    <a:lstStyle/>
                    <a:p>
                      <a:pPr marL="0" marR="0">
                        <a:spcBef>
                          <a:spcPts val="600"/>
                        </a:spcBef>
                        <a:spcAft>
                          <a:spcPts val="600"/>
                        </a:spcAft>
                        <a:tabLst>
                          <a:tab pos="1828800" algn="l"/>
                          <a:tab pos="457200" algn="l"/>
                        </a:tabLst>
                      </a:pPr>
                      <a:r>
                        <a:rPr lang="en-US" sz="2000" b="1" dirty="0">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Method</a:t>
                      </a:r>
                    </a:p>
                  </a:txBody>
                  <a:tcPr marL="68580" marR="68580" anchor="ctr">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Description</a:t>
                      </a:r>
                    </a:p>
                  </a:txBody>
                  <a:tcPr marL="68580" marR="68580" anchor="ctr">
                    <a:lnL>
                      <a:noFill/>
                    </a:lnL>
                    <a:lnR>
                      <a:noFill/>
                    </a:lnR>
                    <a:lnT>
                      <a:noFill/>
                    </a:lnT>
                    <a:lnB>
                      <a:noFill/>
                    </a:lnB>
                    <a:solidFill>
                      <a:srgbClr val="3D87B7"/>
                    </a:solidFill>
                  </a:tcPr>
                </a:tc>
                <a:extLst>
                  <a:ext uri="{0D108BD9-81ED-4DB2-BD59-A6C34878D82A}">
                    <a16:rowId xmlns:a16="http://schemas.microsoft.com/office/drawing/2014/main" val="4048646870"/>
                  </a:ext>
                </a:extLst>
              </a:tr>
              <a:tr h="0">
                <a:tc>
                  <a:txBody>
                    <a:bodyPr/>
                    <a:lstStyle/>
                    <a:p>
                      <a:pPr marL="0" marR="0" indent="0">
                        <a:spcBef>
                          <a:spcPts val="600"/>
                        </a:spcBef>
                        <a:spcAft>
                          <a:spcPts val="600"/>
                        </a:spcAft>
                        <a:tabLst>
                          <a:tab pos="800100" algn="l"/>
                          <a:tab pos="2514600" algn="l"/>
                          <a:tab pos="457200" algn="l"/>
                        </a:tabLst>
                      </a:pPr>
                      <a:r>
                        <a:rPr lang="en-US" sz="2000" b="1" dirty="0">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rename(params)</a:t>
                      </a:r>
                      <a:endParaRPr lang="en-US" sz="2000" dirty="0">
                        <a:effectLst/>
                        <a:latin typeface="Cambria" panose="020405030504060302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Renames the columns of a </a:t>
                      </a:r>
                      <a:r>
                        <a:rPr lang="en-US" sz="2000" dirty="0" err="1">
                          <a:solidFill>
                            <a:srgbClr val="000000"/>
                          </a:solidFill>
                          <a:effectLst/>
                          <a:latin typeface="Cambria" panose="02040503050406030204" pitchFamily="18" charset="0"/>
                          <a:ea typeface="Times New Roman" panose="02020603050405020304" pitchFamily="18" charset="0"/>
                        </a:rPr>
                        <a:t>DataFrame</a:t>
                      </a:r>
                      <a:r>
                        <a:rPr lang="en-US" sz="2000" dirty="0">
                          <a:solidFill>
                            <a:srgbClr val="000000"/>
                          </a:solidFill>
                          <a:effectLst/>
                          <a:latin typeface="Cambria" panose="02040503050406030204" pitchFamily="18" charset="0"/>
                          <a:ea typeface="Times New Roman" panose="02020603050405020304" pitchFamily="18" charset="0"/>
                        </a:rPr>
                        <a:t>.</a:t>
                      </a:r>
                      <a:endParaRPr lang="en-US" sz="2000" dirty="0">
                        <a:effectLst/>
                        <a:latin typeface="Cambria" panose="020405030504060302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extLst>
                  <a:ext uri="{0D108BD9-81ED-4DB2-BD59-A6C34878D82A}">
                    <a16:rowId xmlns:a16="http://schemas.microsoft.com/office/drawing/2014/main" val="973934134"/>
                  </a:ext>
                </a:extLst>
              </a:tr>
            </a:tbl>
          </a:graphicData>
        </a:graphic>
      </p:graphicFrame>
      <p:graphicFrame>
        <p:nvGraphicFramePr>
          <p:cNvPr id="6" name="Table Placeholder 11">
            <a:extLst>
              <a:ext uri="{FF2B5EF4-FFF2-40B4-BE49-F238E27FC236}">
                <a16:creationId xmlns:a16="http://schemas.microsoft.com/office/drawing/2014/main" id="{BAE97477-EE13-2CE0-D582-1B1C3D8F4923}"/>
              </a:ext>
            </a:extLst>
          </p:cNvPr>
          <p:cNvGraphicFramePr>
            <a:graphicFrameLocks/>
          </p:cNvGraphicFramePr>
          <p:nvPr>
            <p:extLst>
              <p:ext uri="{D42A27DB-BD31-4B8C-83A1-F6EECF244321}">
                <p14:modId xmlns:p14="http://schemas.microsoft.com/office/powerpoint/2010/main" val="2828579134"/>
              </p:ext>
            </p:extLst>
          </p:nvPr>
        </p:nvGraphicFramePr>
        <p:xfrm>
          <a:off x="613775" y="3879937"/>
          <a:ext cx="10956930" cy="1685193"/>
        </p:xfrm>
        <a:graphic>
          <a:graphicData uri="http://schemas.openxmlformats.org/drawingml/2006/table">
            <a:tbl>
              <a:tblPr firstRow="1"/>
              <a:tblGrid>
                <a:gridCol w="2651686">
                  <a:extLst>
                    <a:ext uri="{9D8B030D-6E8A-4147-A177-3AD203B41FA5}">
                      <a16:colId xmlns:a16="http://schemas.microsoft.com/office/drawing/2014/main" val="3172557425"/>
                    </a:ext>
                  </a:extLst>
                </a:gridCol>
                <a:gridCol w="8305244">
                  <a:extLst>
                    <a:ext uri="{9D8B030D-6E8A-4147-A177-3AD203B41FA5}">
                      <a16:colId xmlns:a16="http://schemas.microsoft.com/office/drawing/2014/main" val="3447113177"/>
                    </a:ext>
                  </a:extLst>
                </a:gridCol>
              </a:tblGrid>
              <a:tr h="332299">
                <a:tc>
                  <a:txBody>
                    <a:bodyPr/>
                    <a:lstStyle/>
                    <a:p>
                      <a:pPr marL="0" marR="0">
                        <a:spcBef>
                          <a:spcPts val="600"/>
                        </a:spcBef>
                        <a:spcAft>
                          <a:spcPts val="600"/>
                        </a:spcAft>
                        <a:tabLst>
                          <a:tab pos="1828800" algn="l"/>
                          <a:tab pos="457200" algn="l"/>
                        </a:tabLst>
                      </a:pPr>
                      <a:r>
                        <a:rPr lang="en-US" sz="2000" b="1" dirty="0">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Parameter</a:t>
                      </a:r>
                    </a:p>
                  </a:txBody>
                  <a:tcPr marL="73152" marR="7315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Cambria" panose="02040503050406030204" pitchFamily="18" charset="0"/>
                          <a:ea typeface="Times New Roman" panose="02020603050405020304" pitchFamily="18" charset="0"/>
                          <a:cs typeface="Times New Roman" panose="02020603050405020304" pitchFamily="18" charset="0"/>
                        </a:rPr>
                        <a:t>Description</a:t>
                      </a:r>
                    </a:p>
                  </a:txBody>
                  <a:tcPr marL="73152" marR="73152">
                    <a:lnL>
                      <a:noFill/>
                    </a:lnL>
                    <a:lnR>
                      <a:noFill/>
                    </a:lnR>
                    <a:lnT>
                      <a:noFill/>
                    </a:lnT>
                    <a:lnB>
                      <a:noFill/>
                    </a:lnB>
                    <a:solidFill>
                      <a:srgbClr val="3D87B7"/>
                    </a:solidFill>
                  </a:tcPr>
                </a:tc>
                <a:extLst>
                  <a:ext uri="{0D108BD9-81ED-4DB2-BD59-A6C34878D82A}">
                    <a16:rowId xmlns:a16="http://schemas.microsoft.com/office/drawing/2014/main" val="781542254"/>
                  </a:ext>
                </a:extLst>
              </a:tr>
              <a:tr h="587913">
                <a:tc>
                  <a:txBody>
                    <a:bodyPr/>
                    <a:lstStyle/>
                    <a:p>
                      <a:pPr marL="0" marR="0" indent="0">
                        <a:spcBef>
                          <a:spcPts val="600"/>
                        </a:spcBef>
                        <a:spcAft>
                          <a:spcPts val="600"/>
                        </a:spcAft>
                        <a:tabLst>
                          <a:tab pos="800100" algn="l"/>
                          <a:tab pos="2514600" algn="l"/>
                          <a:tab pos="457200" algn="l"/>
                        </a:tabLst>
                      </a:pPr>
                      <a:r>
                        <a:rPr lang="en-US" sz="2000" b="1" dirty="0">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columns</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A </a:t>
                      </a:r>
                      <a:r>
                        <a:rPr lang="en-US" sz="2000" dirty="0">
                          <a:solidFill>
                            <a:srgbClr val="FF0000"/>
                          </a:solidFill>
                          <a:effectLst/>
                          <a:latin typeface="Cambria" panose="02040503050406030204" pitchFamily="18" charset="0"/>
                          <a:ea typeface="Times New Roman" panose="02020603050405020304" pitchFamily="18" charset="0"/>
                        </a:rPr>
                        <a:t>dictionary</a:t>
                      </a:r>
                      <a:r>
                        <a:rPr lang="en-US" sz="2000" dirty="0">
                          <a:solidFill>
                            <a:srgbClr val="000000"/>
                          </a:solidFill>
                          <a:effectLst/>
                          <a:latin typeface="Cambria" panose="02040503050406030204" pitchFamily="18" charset="0"/>
                          <a:ea typeface="Times New Roman" panose="02020603050405020304" pitchFamily="18" charset="0"/>
                        </a:rPr>
                        <a:t> that contains the columns to be renamed and the new names for those columns.</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3304428677"/>
                  </a:ext>
                </a:extLst>
              </a:tr>
              <a:tr h="587913">
                <a:tc>
                  <a:txBody>
                    <a:bodyPr/>
                    <a:lstStyle/>
                    <a:p>
                      <a:pPr marL="0" marR="0" indent="0">
                        <a:spcBef>
                          <a:spcPts val="600"/>
                        </a:spcBef>
                        <a:spcAft>
                          <a:spcPts val="600"/>
                        </a:spcAft>
                        <a:tabLst>
                          <a:tab pos="800100" algn="l"/>
                          <a:tab pos="2514600" algn="l"/>
                          <a:tab pos="457200" algn="l"/>
                        </a:tabLst>
                      </a:pPr>
                      <a:r>
                        <a:rPr lang="en-US" sz="2000" b="1" dirty="0" err="1">
                          <a:solidFill>
                            <a:srgbClr val="000000"/>
                          </a:solidFill>
                          <a:effectLst/>
                          <a:latin typeface="Cambria" panose="02040503050406030204" pitchFamily="18" charset="0"/>
                          <a:ea typeface="Times New Roman" panose="02020603050405020304" pitchFamily="18" charset="0"/>
                          <a:cs typeface="Courier New" panose="02070309020205020404" pitchFamily="49" charset="0"/>
                        </a:rPr>
                        <a:t>inplace</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Cambria" panose="02040503050406030204" pitchFamily="18" charset="0"/>
                          <a:ea typeface="Times New Roman" panose="02020603050405020304" pitchFamily="18" charset="0"/>
                        </a:rPr>
                        <a:t>Whether to make changes directly to the </a:t>
                      </a:r>
                      <a:r>
                        <a:rPr lang="en-US" sz="2000" dirty="0" err="1">
                          <a:solidFill>
                            <a:srgbClr val="000000"/>
                          </a:solidFill>
                          <a:effectLst/>
                          <a:latin typeface="Cambria" panose="02040503050406030204" pitchFamily="18" charset="0"/>
                          <a:ea typeface="Times New Roman" panose="02020603050405020304" pitchFamily="18" charset="0"/>
                        </a:rPr>
                        <a:t>DataFrame</a:t>
                      </a:r>
                      <a:r>
                        <a:rPr lang="en-US" sz="2000" dirty="0">
                          <a:solidFill>
                            <a:srgbClr val="000000"/>
                          </a:solidFill>
                          <a:effectLst/>
                          <a:latin typeface="Cambria" panose="02040503050406030204" pitchFamily="18" charset="0"/>
                          <a:ea typeface="Times New Roman" panose="02020603050405020304" pitchFamily="18" charset="0"/>
                        </a:rPr>
                        <a:t>. The </a:t>
                      </a:r>
                      <a:r>
                        <a:rPr lang="en-US" sz="2000" dirty="0">
                          <a:solidFill>
                            <a:srgbClr val="FF0000"/>
                          </a:solidFill>
                          <a:effectLst/>
                          <a:latin typeface="Cambria" panose="02040503050406030204" pitchFamily="18" charset="0"/>
                          <a:ea typeface="Times New Roman" panose="02020603050405020304" pitchFamily="18" charset="0"/>
                        </a:rPr>
                        <a:t>default is False</a:t>
                      </a:r>
                      <a:r>
                        <a:rPr lang="en-US" sz="2000" dirty="0">
                          <a:solidFill>
                            <a:srgbClr val="000000"/>
                          </a:solidFill>
                          <a:effectLst/>
                          <a:latin typeface="Cambria" panose="02040503050406030204" pitchFamily="18" charset="0"/>
                          <a:ea typeface="Times New Roman" panose="02020603050405020304" pitchFamily="18" charset="0"/>
                        </a:rPr>
                        <a:t>.</a:t>
                      </a:r>
                      <a:endParaRPr lang="en-US" sz="2000" dirty="0">
                        <a:effectLst/>
                        <a:latin typeface="Cambria" panose="020405030504060302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3891475957"/>
                  </a:ext>
                </a:extLst>
              </a:tr>
            </a:tbl>
          </a:graphicData>
        </a:graphic>
      </p:graphicFrame>
    </p:spTree>
    <p:extLst>
      <p:ext uri="{BB962C8B-B14F-4D97-AF65-F5344CB8AC3E}">
        <p14:creationId xmlns:p14="http://schemas.microsoft.com/office/powerpoint/2010/main" val="2231593180"/>
      </p:ext>
    </p:extLst>
  </p:cSld>
  <p:clrMapOvr>
    <a:masterClrMapping/>
  </p:clrMapOvr>
  <mc:AlternateContent xmlns:mc="http://schemas.openxmlformats.org/markup-compatibility/2006" xmlns:p14="http://schemas.microsoft.com/office/powerpoint/2010/main">
    <mc:Choice Requires="p14">
      <p:transition spd="slow" p14:dur="2000" advTm="10389"/>
    </mc:Choice>
    <mc:Fallback xmlns="">
      <p:transition spd="slow" advTm="10389"/>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BE66D35-6371-4809-9433-1EBF87915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7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3A5E96-441D-47E1-2E98-FC84E835A620}"/>
              </a:ext>
            </a:extLst>
          </p:cNvPr>
          <p:cNvSpPr>
            <a:spLocks noGrp="1"/>
          </p:cNvSpPr>
          <p:nvPr>
            <p:ph type="title"/>
          </p:nvPr>
        </p:nvSpPr>
        <p:spPr>
          <a:xfrm>
            <a:off x="284784" y="293071"/>
            <a:ext cx="2628785" cy="3761257"/>
          </a:xfrm>
        </p:spPr>
        <p:txBody>
          <a:bodyPr vert="horz" lIns="91440" tIns="45720" rIns="91440" bIns="45720" rtlCol="0" anchor="ctr">
            <a:normAutofit/>
          </a:bodyPr>
          <a:lstStyle/>
          <a:p>
            <a:r>
              <a:rPr lang="en-US" sz="3200" dirty="0"/>
              <a:t>Renaming Columns</a:t>
            </a:r>
          </a:p>
        </p:txBody>
      </p:sp>
      <p:grpSp>
        <p:nvGrpSpPr>
          <p:cNvPr id="15" name="Group 14">
            <a:extLst>
              <a:ext uri="{FF2B5EF4-FFF2-40B4-BE49-F238E27FC236}">
                <a16:creationId xmlns:a16="http://schemas.microsoft.com/office/drawing/2014/main" id="{0EB82B4C-9249-4CFC-A372-7B0FF5E36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65226"/>
            <a:ext cx="3048003" cy="2292774"/>
            <a:chOff x="6096002" y="-9073"/>
            <a:chExt cx="6095998" cy="6867073"/>
          </a:xfrm>
        </p:grpSpPr>
        <p:sp>
          <p:nvSpPr>
            <p:cNvPr id="16" name="Rectangle 15">
              <a:extLst>
                <a:ext uri="{FF2B5EF4-FFF2-40B4-BE49-F238E27FC236}">
                  <a16:creationId xmlns:a16="http://schemas.microsoft.com/office/drawing/2014/main" id="{41B9437E-0974-4AB4-8491-D8BDD841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CB975E-33D1-4FB0-AA40-C2250AA66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Picture 3">
            <a:extLst>
              <a:ext uri="{FF2B5EF4-FFF2-40B4-BE49-F238E27FC236}">
                <a16:creationId xmlns:a16="http://schemas.microsoft.com/office/drawing/2014/main" id="{40D0107E-3D05-D077-B6B5-94EABE03F102}"/>
              </a:ext>
            </a:extLst>
          </p:cNvPr>
          <p:cNvPicPr>
            <a:picLocks noChangeAspect="1"/>
          </p:cNvPicPr>
          <p:nvPr/>
        </p:nvPicPr>
        <p:blipFill>
          <a:blip r:embed="rId2"/>
          <a:stretch>
            <a:fillRect/>
          </a:stretch>
        </p:blipFill>
        <p:spPr>
          <a:xfrm>
            <a:off x="3047997" y="35952"/>
            <a:ext cx="9009575" cy="5788651"/>
          </a:xfrm>
          <a:prstGeom prst="rect">
            <a:avLst/>
          </a:prstGeom>
        </p:spPr>
      </p:pic>
    </p:spTree>
    <p:extLst>
      <p:ext uri="{BB962C8B-B14F-4D97-AF65-F5344CB8AC3E}">
        <p14:creationId xmlns:p14="http://schemas.microsoft.com/office/powerpoint/2010/main" val="815969790"/>
      </p:ext>
    </p:extLst>
  </p:cSld>
  <p:clrMapOvr>
    <a:masterClrMapping/>
  </p:clrMapOvr>
  <mc:AlternateContent xmlns:mc="http://schemas.openxmlformats.org/markup-compatibility/2006" xmlns:p14="http://schemas.microsoft.com/office/powerpoint/2010/main">
    <mc:Choice Requires="p14">
      <p:transition spd="slow" p14:dur="2000" advTm="116906"/>
    </mc:Choice>
    <mc:Fallback xmlns="">
      <p:transition spd="slow" advTm="116906"/>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77220-63F5-7BD7-15E1-8AF8DF54F91F}"/>
              </a:ext>
            </a:extLst>
          </p:cNvPr>
          <p:cNvSpPr>
            <a:spLocks noGrp="1"/>
          </p:cNvSpPr>
          <p:nvPr>
            <p:ph type="title"/>
          </p:nvPr>
        </p:nvSpPr>
        <p:spPr/>
        <p:txBody>
          <a:bodyPr>
            <a:normAutofit fontScale="90000"/>
          </a:bodyPr>
          <a:lstStyle/>
          <a:p>
            <a:r>
              <a:rPr lang="en-US" dirty="0"/>
              <a:t>Python Time </a:t>
            </a:r>
            <a:r>
              <a:rPr lang="en-US" dirty="0">
                <a:sym typeface="Wingdings" pitchFamily="2" charset="2"/>
              </a:rPr>
              <a:t> </a:t>
            </a:r>
            <a:br>
              <a:rPr lang="en-US" dirty="0">
                <a:sym typeface="Wingdings" pitchFamily="2" charset="2"/>
              </a:rPr>
            </a:br>
            <a:r>
              <a:rPr lang="en-US" dirty="0"/>
              <a:t>Regular Expressions</a:t>
            </a:r>
          </a:p>
        </p:txBody>
      </p:sp>
      <p:pic>
        <p:nvPicPr>
          <p:cNvPr id="4" name="Picture 3">
            <a:extLst>
              <a:ext uri="{FF2B5EF4-FFF2-40B4-BE49-F238E27FC236}">
                <a16:creationId xmlns:a16="http://schemas.microsoft.com/office/drawing/2014/main" id="{5DE04C87-C5E0-99E4-1A00-FB2FEAC0941A}"/>
              </a:ext>
            </a:extLst>
          </p:cNvPr>
          <p:cNvPicPr>
            <a:picLocks noChangeAspect="1"/>
          </p:cNvPicPr>
          <p:nvPr/>
        </p:nvPicPr>
        <p:blipFill rotWithShape="1">
          <a:blip r:embed="rId2"/>
          <a:srcRect l="3520" b="59887"/>
          <a:stretch/>
        </p:blipFill>
        <p:spPr>
          <a:xfrm>
            <a:off x="626302" y="1878156"/>
            <a:ext cx="8109442" cy="1115536"/>
          </a:xfrm>
          <a:prstGeom prst="rect">
            <a:avLst/>
          </a:prstGeom>
        </p:spPr>
      </p:pic>
      <p:pic>
        <p:nvPicPr>
          <p:cNvPr id="5" name="Picture 4">
            <a:extLst>
              <a:ext uri="{FF2B5EF4-FFF2-40B4-BE49-F238E27FC236}">
                <a16:creationId xmlns:a16="http://schemas.microsoft.com/office/drawing/2014/main" id="{C958B2A4-B02A-1C1D-8DCC-E0DAB9AC51AD}"/>
              </a:ext>
            </a:extLst>
          </p:cNvPr>
          <p:cNvPicPr>
            <a:picLocks noChangeAspect="1"/>
          </p:cNvPicPr>
          <p:nvPr/>
        </p:nvPicPr>
        <p:blipFill rotWithShape="1">
          <a:blip r:embed="rId2"/>
          <a:srcRect l="3520" t="35359"/>
          <a:stretch/>
        </p:blipFill>
        <p:spPr>
          <a:xfrm>
            <a:off x="656456" y="3296069"/>
            <a:ext cx="8079288" cy="1790970"/>
          </a:xfrm>
          <a:prstGeom prst="rect">
            <a:avLst/>
          </a:prstGeom>
        </p:spPr>
      </p:pic>
      <p:sp>
        <p:nvSpPr>
          <p:cNvPr id="8" name="TextBox 7">
            <a:extLst>
              <a:ext uri="{FF2B5EF4-FFF2-40B4-BE49-F238E27FC236}">
                <a16:creationId xmlns:a16="http://schemas.microsoft.com/office/drawing/2014/main" id="{35E23B99-E6DE-3B44-9CE7-14931262E454}"/>
              </a:ext>
            </a:extLst>
          </p:cNvPr>
          <p:cNvSpPr txBox="1"/>
          <p:nvPr/>
        </p:nvSpPr>
        <p:spPr>
          <a:xfrm>
            <a:off x="626302" y="5389416"/>
            <a:ext cx="6100174" cy="369332"/>
          </a:xfrm>
          <a:prstGeom prst="rect">
            <a:avLst/>
          </a:prstGeom>
          <a:noFill/>
        </p:spPr>
        <p:txBody>
          <a:bodyPr wrap="square">
            <a:spAutoFit/>
          </a:bodyPr>
          <a:lstStyle/>
          <a:p>
            <a:r>
              <a:rPr lang="en-US" dirty="0">
                <a:hlinkClick r:id="rId3"/>
              </a:rPr>
              <a:t>https://www.w3schools.com/python/python_regex.asp</a:t>
            </a:r>
            <a:r>
              <a:rPr lang="en-US" dirty="0"/>
              <a:t> </a:t>
            </a:r>
          </a:p>
        </p:txBody>
      </p:sp>
    </p:spTree>
    <p:extLst>
      <p:ext uri="{BB962C8B-B14F-4D97-AF65-F5344CB8AC3E}">
        <p14:creationId xmlns:p14="http://schemas.microsoft.com/office/powerpoint/2010/main" val="4289910867"/>
      </p:ext>
    </p:extLst>
  </p:cSld>
  <p:clrMapOvr>
    <a:masterClrMapping/>
  </p:clrMapOvr>
  <mc:AlternateContent xmlns:mc="http://schemas.openxmlformats.org/markup-compatibility/2006" xmlns:p14="http://schemas.microsoft.com/office/powerpoint/2010/main">
    <mc:Choice Requires="p14">
      <p:transition spd="slow" p14:dur="2000" advTm="14208"/>
    </mc:Choice>
    <mc:Fallback xmlns="">
      <p:transition spd="slow" advTm="14208"/>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Slide Background">
            <a:extLst>
              <a:ext uri="{FF2B5EF4-FFF2-40B4-BE49-F238E27FC236}">
                <a16:creationId xmlns:a16="http://schemas.microsoft.com/office/drawing/2014/main" id="{B874FC77-B1AD-4469-830E-1F1D54FBB4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 up of circuit board">
            <a:extLst>
              <a:ext uri="{FF2B5EF4-FFF2-40B4-BE49-F238E27FC236}">
                <a16:creationId xmlns:a16="http://schemas.microsoft.com/office/drawing/2014/main" id="{F87B63FE-3AC2-C03F-5C84-376CF2BBC77A}"/>
              </a:ext>
            </a:extLst>
          </p:cNvPr>
          <p:cNvPicPr>
            <a:picLocks noChangeAspect="1"/>
          </p:cNvPicPr>
          <p:nvPr/>
        </p:nvPicPr>
        <p:blipFill rotWithShape="1">
          <a:blip r:embed="rId3"/>
          <a:srcRect t="7109" b="8621"/>
          <a:stretch/>
        </p:blipFill>
        <p:spPr>
          <a:xfrm>
            <a:off x="20" y="10"/>
            <a:ext cx="12191979" cy="6857988"/>
          </a:xfrm>
          <a:prstGeom prst="rect">
            <a:avLst/>
          </a:prstGeom>
          <a:effectLst>
            <a:outerShdw blurRad="596900" dist="330200" dir="8820000" sx="87000" sy="87000" algn="ctr" rotWithShape="0">
              <a:srgbClr val="000000">
                <a:alpha val="29000"/>
              </a:srgbClr>
            </a:outerShdw>
          </a:effectLst>
        </p:spPr>
      </p:pic>
      <p:sp>
        <p:nvSpPr>
          <p:cNvPr id="13" name="Rectangle 12">
            <a:extLst>
              <a:ext uri="{FF2B5EF4-FFF2-40B4-BE49-F238E27FC236}">
                <a16:creationId xmlns:a16="http://schemas.microsoft.com/office/drawing/2014/main" id="{A6834A66-723F-4B47-BF01-F6D4B2A1B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6027"/>
            <a:ext cx="12192000" cy="22819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0426C9F-24EB-EDCE-3456-4830A6362F98}"/>
              </a:ext>
            </a:extLst>
          </p:cNvPr>
          <p:cNvSpPr>
            <a:spLocks noGrp="1"/>
          </p:cNvSpPr>
          <p:nvPr>
            <p:ph type="title"/>
          </p:nvPr>
        </p:nvSpPr>
        <p:spPr>
          <a:xfrm>
            <a:off x="322729" y="4850597"/>
            <a:ext cx="7885099" cy="1374756"/>
          </a:xfrm>
        </p:spPr>
        <p:txBody>
          <a:bodyPr vert="horz" lIns="91440" tIns="45720" rIns="91440" bIns="45720" rtlCol="0" anchor="ctr">
            <a:normAutofit/>
          </a:bodyPr>
          <a:lstStyle/>
          <a:p>
            <a:r>
              <a:rPr lang="en-US" sz="4000" dirty="0"/>
              <a:t>How to Find and Fix Missing Values</a:t>
            </a:r>
          </a:p>
        </p:txBody>
      </p:sp>
    </p:spTree>
    <p:extLst>
      <p:ext uri="{BB962C8B-B14F-4D97-AF65-F5344CB8AC3E}">
        <p14:creationId xmlns:p14="http://schemas.microsoft.com/office/powerpoint/2010/main" val="333931264"/>
      </p:ext>
    </p:extLst>
  </p:cSld>
  <p:clrMapOvr>
    <a:masterClrMapping/>
  </p:clrMapOvr>
  <mc:AlternateContent xmlns:mc="http://schemas.openxmlformats.org/markup-compatibility/2006" xmlns:p14="http://schemas.microsoft.com/office/powerpoint/2010/main">
    <mc:Choice Requires="p14">
      <p:transition spd="slow" p14:dur="2000" advTm="5664"/>
    </mc:Choice>
    <mc:Fallback xmlns="">
      <p:transition spd="slow" advTm="5664"/>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BE1AA-DF73-B301-D477-1D35EC3B75BF}"/>
              </a:ext>
            </a:extLst>
          </p:cNvPr>
          <p:cNvSpPr>
            <a:spLocks noGrp="1"/>
          </p:cNvSpPr>
          <p:nvPr>
            <p:ph type="title"/>
          </p:nvPr>
        </p:nvSpPr>
        <p:spPr/>
        <p:txBody>
          <a:bodyPr>
            <a:normAutofit fontScale="90000"/>
          </a:bodyPr>
          <a:lstStyle/>
          <a:p>
            <a:r>
              <a:rPr lang="en-US" dirty="0"/>
              <a:t>Finding the Number of Missing Values </a:t>
            </a:r>
            <a:br>
              <a:rPr lang="en-US" dirty="0"/>
            </a:br>
            <a:r>
              <a:rPr lang="en-US" dirty="0"/>
              <a:t>for </a:t>
            </a:r>
            <a:r>
              <a:rPr lang="en-US" dirty="0">
                <a:solidFill>
                  <a:srgbClr val="FF0000"/>
                </a:solidFill>
              </a:rPr>
              <a:t>each Column</a:t>
            </a:r>
          </a:p>
        </p:txBody>
      </p:sp>
      <p:pic>
        <p:nvPicPr>
          <p:cNvPr id="4" name="Picture 3">
            <a:extLst>
              <a:ext uri="{FF2B5EF4-FFF2-40B4-BE49-F238E27FC236}">
                <a16:creationId xmlns:a16="http://schemas.microsoft.com/office/drawing/2014/main" id="{75AF36FC-5847-FE7C-3B22-31F7BD252554}"/>
              </a:ext>
            </a:extLst>
          </p:cNvPr>
          <p:cNvPicPr>
            <a:picLocks noChangeAspect="1"/>
          </p:cNvPicPr>
          <p:nvPr/>
        </p:nvPicPr>
        <p:blipFill>
          <a:blip r:embed="rId2"/>
          <a:stretch>
            <a:fillRect/>
          </a:stretch>
        </p:blipFill>
        <p:spPr>
          <a:xfrm>
            <a:off x="484552" y="2149906"/>
            <a:ext cx="9536269" cy="3415377"/>
          </a:xfrm>
          <a:prstGeom prst="rect">
            <a:avLst/>
          </a:prstGeom>
        </p:spPr>
      </p:pic>
    </p:spTree>
    <p:extLst>
      <p:ext uri="{BB962C8B-B14F-4D97-AF65-F5344CB8AC3E}">
        <p14:creationId xmlns:p14="http://schemas.microsoft.com/office/powerpoint/2010/main" val="1564706450"/>
      </p:ext>
    </p:extLst>
  </p:cSld>
  <p:clrMapOvr>
    <a:masterClrMapping/>
  </p:clrMapOvr>
  <mc:AlternateContent xmlns:mc="http://schemas.openxmlformats.org/markup-compatibility/2006" xmlns:p14="http://schemas.microsoft.com/office/powerpoint/2010/main">
    <mc:Choice Requires="p14">
      <p:transition spd="slow" p14:dur="2000" advTm="104938"/>
    </mc:Choice>
    <mc:Fallback xmlns="">
      <p:transition spd="slow" advTm="104938"/>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1B879-F216-D219-362D-DA4A3C4DDE48}"/>
              </a:ext>
            </a:extLst>
          </p:cNvPr>
          <p:cNvSpPr>
            <a:spLocks noGrp="1"/>
          </p:cNvSpPr>
          <p:nvPr>
            <p:ph type="title"/>
          </p:nvPr>
        </p:nvSpPr>
        <p:spPr/>
        <p:txBody>
          <a:bodyPr>
            <a:normAutofit fontScale="90000"/>
          </a:bodyPr>
          <a:lstStyle/>
          <a:p>
            <a:r>
              <a:rPr lang="en-US" dirty="0"/>
              <a:t>Finding </a:t>
            </a:r>
            <a:r>
              <a:rPr lang="en-US" dirty="0">
                <a:solidFill>
                  <a:srgbClr val="FF0000"/>
                </a:solidFill>
              </a:rPr>
              <a:t>Rows with Missing Values </a:t>
            </a:r>
            <a:r>
              <a:rPr lang="en-US" dirty="0"/>
              <a:t>-</a:t>
            </a:r>
            <a:br>
              <a:rPr lang="en-US" dirty="0"/>
            </a:br>
            <a:r>
              <a:rPr lang="en-US" dirty="0">
                <a:solidFill>
                  <a:srgbClr val="FF0000"/>
                </a:solidFill>
              </a:rPr>
              <a:t>a Specific Column</a:t>
            </a:r>
          </a:p>
        </p:txBody>
      </p:sp>
      <p:pic>
        <p:nvPicPr>
          <p:cNvPr id="4" name="Picture 3">
            <a:extLst>
              <a:ext uri="{FF2B5EF4-FFF2-40B4-BE49-F238E27FC236}">
                <a16:creationId xmlns:a16="http://schemas.microsoft.com/office/drawing/2014/main" id="{CAF28E16-06F8-0AC0-152E-AD5620CF52DE}"/>
              </a:ext>
            </a:extLst>
          </p:cNvPr>
          <p:cNvPicPr>
            <a:picLocks noChangeAspect="1"/>
          </p:cNvPicPr>
          <p:nvPr/>
        </p:nvPicPr>
        <p:blipFill>
          <a:blip r:embed="rId2"/>
          <a:stretch>
            <a:fillRect/>
          </a:stretch>
        </p:blipFill>
        <p:spPr>
          <a:xfrm>
            <a:off x="484552" y="1928213"/>
            <a:ext cx="11323718" cy="3971546"/>
          </a:xfrm>
          <a:prstGeom prst="rect">
            <a:avLst/>
          </a:prstGeom>
        </p:spPr>
      </p:pic>
    </p:spTree>
    <p:extLst>
      <p:ext uri="{BB962C8B-B14F-4D97-AF65-F5344CB8AC3E}">
        <p14:creationId xmlns:p14="http://schemas.microsoft.com/office/powerpoint/2010/main" val="2655941804"/>
      </p:ext>
    </p:extLst>
  </p:cSld>
  <p:clrMapOvr>
    <a:masterClrMapping/>
  </p:clrMapOvr>
  <mc:AlternateContent xmlns:mc="http://schemas.openxmlformats.org/markup-compatibility/2006" xmlns:p14="http://schemas.microsoft.com/office/powerpoint/2010/main">
    <mc:Choice Requires="p14">
      <p:transition spd="slow" p14:dur="2000" advTm="34506"/>
    </mc:Choice>
    <mc:Fallback xmlns="">
      <p:transition spd="slow" advTm="34506"/>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BE1AA-DF73-B301-D477-1D35EC3B75BF}"/>
              </a:ext>
            </a:extLst>
          </p:cNvPr>
          <p:cNvSpPr>
            <a:spLocks noGrp="1"/>
          </p:cNvSpPr>
          <p:nvPr>
            <p:ph type="title"/>
          </p:nvPr>
        </p:nvSpPr>
        <p:spPr/>
        <p:txBody>
          <a:bodyPr>
            <a:normAutofit fontScale="90000"/>
          </a:bodyPr>
          <a:lstStyle/>
          <a:p>
            <a:r>
              <a:rPr lang="en-US" dirty="0"/>
              <a:t>Finding Rows with Missing Values –</a:t>
            </a:r>
            <a:br>
              <a:rPr lang="en-US" dirty="0"/>
            </a:br>
            <a:r>
              <a:rPr lang="en-US" dirty="0">
                <a:solidFill>
                  <a:srgbClr val="FF0000"/>
                </a:solidFill>
              </a:rPr>
              <a:t>Any Column</a:t>
            </a:r>
          </a:p>
        </p:txBody>
      </p:sp>
      <p:pic>
        <p:nvPicPr>
          <p:cNvPr id="3" name="Picture 2">
            <a:extLst>
              <a:ext uri="{FF2B5EF4-FFF2-40B4-BE49-F238E27FC236}">
                <a16:creationId xmlns:a16="http://schemas.microsoft.com/office/drawing/2014/main" id="{C1C47ECD-C4B6-E128-087B-EF49D76944B2}"/>
              </a:ext>
            </a:extLst>
          </p:cNvPr>
          <p:cNvPicPr>
            <a:picLocks noChangeAspect="1"/>
          </p:cNvPicPr>
          <p:nvPr/>
        </p:nvPicPr>
        <p:blipFill>
          <a:blip r:embed="rId2"/>
          <a:stretch>
            <a:fillRect/>
          </a:stretch>
        </p:blipFill>
        <p:spPr>
          <a:xfrm>
            <a:off x="572234" y="1901829"/>
            <a:ext cx="9552139" cy="4554230"/>
          </a:xfrm>
          <a:prstGeom prst="rect">
            <a:avLst/>
          </a:prstGeom>
        </p:spPr>
      </p:pic>
    </p:spTree>
    <p:extLst>
      <p:ext uri="{BB962C8B-B14F-4D97-AF65-F5344CB8AC3E}">
        <p14:creationId xmlns:p14="http://schemas.microsoft.com/office/powerpoint/2010/main" val="3311331900"/>
      </p:ext>
    </p:extLst>
  </p:cSld>
  <p:clrMapOvr>
    <a:masterClrMapping/>
  </p:clrMapOvr>
  <mc:AlternateContent xmlns:mc="http://schemas.openxmlformats.org/markup-compatibility/2006" xmlns:p14="http://schemas.microsoft.com/office/powerpoint/2010/main">
    <mc:Choice Requires="p14">
      <p:transition spd="slow" p14:dur="2000" advTm="40074"/>
    </mc:Choice>
    <mc:Fallback xmlns="">
      <p:transition spd="slow" advTm="40074"/>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16732-6E78-3171-167E-1E7AD8459403}"/>
              </a:ext>
            </a:extLst>
          </p:cNvPr>
          <p:cNvSpPr>
            <a:spLocks noGrp="1"/>
          </p:cNvSpPr>
          <p:nvPr>
            <p:ph type="title"/>
          </p:nvPr>
        </p:nvSpPr>
        <p:spPr/>
        <p:txBody>
          <a:bodyPr>
            <a:normAutofit fontScale="90000"/>
          </a:bodyPr>
          <a:lstStyle/>
          <a:p>
            <a:r>
              <a:rPr lang="en-US" dirty="0"/>
              <a:t>Python Time </a:t>
            </a:r>
            <a:r>
              <a:rPr lang="en-US" dirty="0">
                <a:sym typeface="Wingdings" pitchFamily="2" charset="2"/>
              </a:rPr>
              <a:t></a:t>
            </a:r>
            <a:br>
              <a:rPr lang="en-US" dirty="0">
                <a:sym typeface="Wingdings" pitchFamily="2" charset="2"/>
              </a:rPr>
            </a:br>
            <a:r>
              <a:rPr lang="en-US" dirty="0">
                <a:sym typeface="Wingdings" pitchFamily="2" charset="2"/>
              </a:rPr>
              <a:t>Using axis in </a:t>
            </a:r>
            <a:r>
              <a:rPr lang="en-US" dirty="0" err="1">
                <a:sym typeface="Wingdings" pitchFamily="2" charset="2"/>
              </a:rPr>
              <a:t>DataFrame</a:t>
            </a:r>
            <a:r>
              <a:rPr lang="en-US" dirty="0">
                <a:sym typeface="Wingdings" pitchFamily="2" charset="2"/>
              </a:rPr>
              <a:t> Operations</a:t>
            </a:r>
            <a:endParaRPr lang="en-US" dirty="0"/>
          </a:p>
        </p:txBody>
      </p:sp>
      <p:pic>
        <p:nvPicPr>
          <p:cNvPr id="5" name="Picture 4">
            <a:extLst>
              <a:ext uri="{FF2B5EF4-FFF2-40B4-BE49-F238E27FC236}">
                <a16:creationId xmlns:a16="http://schemas.microsoft.com/office/drawing/2014/main" id="{1C696A9D-AB26-3B61-E041-718B429CE8C3}"/>
              </a:ext>
            </a:extLst>
          </p:cNvPr>
          <p:cNvPicPr>
            <a:picLocks noChangeAspect="1"/>
          </p:cNvPicPr>
          <p:nvPr/>
        </p:nvPicPr>
        <p:blipFill>
          <a:blip r:embed="rId2"/>
          <a:stretch>
            <a:fillRect/>
          </a:stretch>
        </p:blipFill>
        <p:spPr>
          <a:xfrm>
            <a:off x="484551" y="1929430"/>
            <a:ext cx="8294535" cy="4483896"/>
          </a:xfrm>
          <a:prstGeom prst="rect">
            <a:avLst/>
          </a:prstGeom>
        </p:spPr>
      </p:pic>
    </p:spTree>
    <p:extLst>
      <p:ext uri="{BB962C8B-B14F-4D97-AF65-F5344CB8AC3E}">
        <p14:creationId xmlns:p14="http://schemas.microsoft.com/office/powerpoint/2010/main" val="4244452865"/>
      </p:ext>
    </p:extLst>
  </p:cSld>
  <p:clrMapOvr>
    <a:masterClrMapping/>
  </p:clrMapOvr>
  <mc:AlternateContent xmlns:mc="http://schemas.openxmlformats.org/markup-compatibility/2006" xmlns:p14="http://schemas.microsoft.com/office/powerpoint/2010/main">
    <mc:Choice Requires="p14">
      <p:transition spd="slow" p14:dur="2000" advTm="30336"/>
    </mc:Choice>
    <mc:Fallback xmlns="">
      <p:transition spd="slow" advTm="30336"/>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0BE66D35-6371-4809-9433-1EBF87915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7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32C758-75A5-1587-89BB-4ACDE9B89A70}"/>
              </a:ext>
            </a:extLst>
          </p:cNvPr>
          <p:cNvSpPr>
            <a:spLocks noGrp="1"/>
          </p:cNvSpPr>
          <p:nvPr>
            <p:ph type="title"/>
          </p:nvPr>
        </p:nvSpPr>
        <p:spPr>
          <a:xfrm>
            <a:off x="146221" y="397275"/>
            <a:ext cx="2901777" cy="3761257"/>
          </a:xfrm>
        </p:spPr>
        <p:txBody>
          <a:bodyPr vert="horz" lIns="91440" tIns="45720" rIns="91440" bIns="45720" rtlCol="0" anchor="ctr">
            <a:normAutofit/>
          </a:bodyPr>
          <a:lstStyle/>
          <a:p>
            <a:r>
              <a:rPr lang="en-US" sz="3200" dirty="0"/>
              <a:t>Finding Rows with </a:t>
            </a:r>
            <a:r>
              <a:rPr lang="en-US" sz="3200" dirty="0">
                <a:solidFill>
                  <a:srgbClr val="FF0000"/>
                </a:solidFill>
              </a:rPr>
              <a:t>No Missing Values </a:t>
            </a:r>
            <a:r>
              <a:rPr lang="en-US" sz="3200" dirty="0"/>
              <a:t>for a </a:t>
            </a:r>
            <a:r>
              <a:rPr lang="en-US" sz="3200" dirty="0">
                <a:solidFill>
                  <a:srgbClr val="FF0000"/>
                </a:solidFill>
              </a:rPr>
              <a:t>Specific Column</a:t>
            </a:r>
          </a:p>
        </p:txBody>
      </p:sp>
      <p:grpSp>
        <p:nvGrpSpPr>
          <p:cNvPr id="17" name="Group 16">
            <a:extLst>
              <a:ext uri="{FF2B5EF4-FFF2-40B4-BE49-F238E27FC236}">
                <a16:creationId xmlns:a16="http://schemas.microsoft.com/office/drawing/2014/main" id="{0EB82B4C-9249-4CFC-A372-7B0FF5E36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65226"/>
            <a:ext cx="3048003" cy="2292774"/>
            <a:chOff x="6096002" y="-9073"/>
            <a:chExt cx="6095998" cy="6867073"/>
          </a:xfrm>
        </p:grpSpPr>
        <p:sp>
          <p:nvSpPr>
            <p:cNvPr id="18" name="Rectangle 17">
              <a:extLst>
                <a:ext uri="{FF2B5EF4-FFF2-40B4-BE49-F238E27FC236}">
                  <a16:creationId xmlns:a16="http://schemas.microsoft.com/office/drawing/2014/main" id="{41B9437E-0974-4AB4-8491-D8BDD841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CB975E-33D1-4FB0-AA40-C2250AA66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Picture 5">
            <a:extLst>
              <a:ext uri="{FF2B5EF4-FFF2-40B4-BE49-F238E27FC236}">
                <a16:creationId xmlns:a16="http://schemas.microsoft.com/office/drawing/2014/main" id="{7CE1F6E8-C49F-DC05-05B5-AB5709B616B0}"/>
              </a:ext>
            </a:extLst>
          </p:cNvPr>
          <p:cNvPicPr>
            <a:picLocks noChangeAspect="1"/>
          </p:cNvPicPr>
          <p:nvPr/>
        </p:nvPicPr>
        <p:blipFill>
          <a:blip r:embed="rId2"/>
          <a:stretch>
            <a:fillRect/>
          </a:stretch>
        </p:blipFill>
        <p:spPr>
          <a:xfrm>
            <a:off x="3106977" y="37578"/>
            <a:ext cx="9002772" cy="5649238"/>
          </a:xfrm>
          <a:prstGeom prst="rect">
            <a:avLst/>
          </a:prstGeom>
        </p:spPr>
      </p:pic>
    </p:spTree>
    <p:extLst>
      <p:ext uri="{BB962C8B-B14F-4D97-AF65-F5344CB8AC3E}">
        <p14:creationId xmlns:p14="http://schemas.microsoft.com/office/powerpoint/2010/main" val="2423041096"/>
      </p:ext>
    </p:extLst>
  </p:cSld>
  <p:clrMapOvr>
    <a:masterClrMapping/>
  </p:clrMapOvr>
  <mc:AlternateContent xmlns:mc="http://schemas.openxmlformats.org/markup-compatibility/2006" xmlns:p14="http://schemas.microsoft.com/office/powerpoint/2010/main">
    <mc:Choice Requires="p14">
      <p:transition spd="slow" p14:dur="2000" advTm="34058"/>
    </mc:Choice>
    <mc:Fallback xmlns="">
      <p:transition spd="slow" advTm="34058"/>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0BE66D35-6371-4809-9433-1EBF87915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7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32C758-75A5-1587-89BB-4ACDE9B89A70}"/>
              </a:ext>
            </a:extLst>
          </p:cNvPr>
          <p:cNvSpPr>
            <a:spLocks noGrp="1"/>
          </p:cNvSpPr>
          <p:nvPr>
            <p:ph type="title"/>
          </p:nvPr>
        </p:nvSpPr>
        <p:spPr>
          <a:xfrm>
            <a:off x="146221" y="397275"/>
            <a:ext cx="2901777" cy="3761257"/>
          </a:xfrm>
        </p:spPr>
        <p:txBody>
          <a:bodyPr vert="horz" lIns="91440" tIns="45720" rIns="91440" bIns="45720" rtlCol="0" anchor="ctr">
            <a:normAutofit/>
          </a:bodyPr>
          <a:lstStyle/>
          <a:p>
            <a:r>
              <a:rPr lang="en-US" sz="3200" dirty="0"/>
              <a:t>Dropping Rows with </a:t>
            </a:r>
            <a:r>
              <a:rPr lang="en-US" sz="3200" dirty="0">
                <a:solidFill>
                  <a:srgbClr val="FF0000"/>
                </a:solidFill>
              </a:rPr>
              <a:t>Missing Values in any Column</a:t>
            </a:r>
          </a:p>
        </p:txBody>
      </p:sp>
      <p:grpSp>
        <p:nvGrpSpPr>
          <p:cNvPr id="17" name="Group 16">
            <a:extLst>
              <a:ext uri="{FF2B5EF4-FFF2-40B4-BE49-F238E27FC236}">
                <a16:creationId xmlns:a16="http://schemas.microsoft.com/office/drawing/2014/main" id="{0EB82B4C-9249-4CFC-A372-7B0FF5E36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65226"/>
            <a:ext cx="3048003" cy="2292774"/>
            <a:chOff x="6096002" y="-9073"/>
            <a:chExt cx="6095998" cy="6867073"/>
          </a:xfrm>
        </p:grpSpPr>
        <p:sp>
          <p:nvSpPr>
            <p:cNvPr id="18" name="Rectangle 17">
              <a:extLst>
                <a:ext uri="{FF2B5EF4-FFF2-40B4-BE49-F238E27FC236}">
                  <a16:creationId xmlns:a16="http://schemas.microsoft.com/office/drawing/2014/main" id="{41B9437E-0974-4AB4-8491-D8BDD841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CB975E-33D1-4FB0-AA40-C2250AA66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Picture 2">
            <a:extLst>
              <a:ext uri="{FF2B5EF4-FFF2-40B4-BE49-F238E27FC236}">
                <a16:creationId xmlns:a16="http://schemas.microsoft.com/office/drawing/2014/main" id="{04A94F6C-6A8C-DC4B-C2B0-C073E0296B95}"/>
              </a:ext>
            </a:extLst>
          </p:cNvPr>
          <p:cNvPicPr>
            <a:picLocks noChangeAspect="1"/>
          </p:cNvPicPr>
          <p:nvPr/>
        </p:nvPicPr>
        <p:blipFill>
          <a:blip r:embed="rId2"/>
          <a:stretch>
            <a:fillRect/>
          </a:stretch>
        </p:blipFill>
        <p:spPr>
          <a:xfrm>
            <a:off x="3194219" y="164397"/>
            <a:ext cx="8235955" cy="4573947"/>
          </a:xfrm>
          <a:prstGeom prst="rect">
            <a:avLst/>
          </a:prstGeom>
        </p:spPr>
      </p:pic>
    </p:spTree>
    <p:extLst>
      <p:ext uri="{BB962C8B-B14F-4D97-AF65-F5344CB8AC3E}">
        <p14:creationId xmlns:p14="http://schemas.microsoft.com/office/powerpoint/2010/main" val="35623914"/>
      </p:ext>
    </p:extLst>
  </p:cSld>
  <p:clrMapOvr>
    <a:masterClrMapping/>
  </p:clrMapOvr>
  <mc:AlternateContent xmlns:mc="http://schemas.openxmlformats.org/markup-compatibility/2006" xmlns:p14="http://schemas.microsoft.com/office/powerpoint/2010/main">
    <mc:Choice Requires="p14">
      <p:transition spd="slow" p14:dur="2000" advTm="48042"/>
    </mc:Choice>
    <mc:Fallback xmlns="">
      <p:transition spd="slow" advTm="48042"/>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3F79-97B2-2CF5-EF36-62400B255485}"/>
              </a:ext>
            </a:extLst>
          </p:cNvPr>
          <p:cNvSpPr>
            <a:spLocks noGrp="1"/>
          </p:cNvSpPr>
          <p:nvPr>
            <p:ph type="title"/>
          </p:nvPr>
        </p:nvSpPr>
        <p:spPr/>
        <p:txBody>
          <a:bodyPr>
            <a:normAutofit fontScale="90000"/>
          </a:bodyPr>
          <a:lstStyle/>
          <a:p>
            <a:r>
              <a:rPr lang="en-US" sz="4800" dirty="0"/>
              <a:t>Dropping Rows with Missing Values </a:t>
            </a:r>
            <a:br>
              <a:rPr lang="en-US" sz="4800" dirty="0"/>
            </a:br>
            <a:r>
              <a:rPr lang="en-US" sz="4800" dirty="0"/>
              <a:t>for a </a:t>
            </a:r>
            <a:r>
              <a:rPr lang="en-US" sz="4800" dirty="0">
                <a:solidFill>
                  <a:srgbClr val="FF0000"/>
                </a:solidFill>
              </a:rPr>
              <a:t>Threshold</a:t>
            </a:r>
            <a:endParaRPr lang="en-US" dirty="0">
              <a:solidFill>
                <a:srgbClr val="FF0000"/>
              </a:solidFill>
            </a:endParaRPr>
          </a:p>
        </p:txBody>
      </p:sp>
      <p:pic>
        <p:nvPicPr>
          <p:cNvPr id="4" name="Picture 3">
            <a:extLst>
              <a:ext uri="{FF2B5EF4-FFF2-40B4-BE49-F238E27FC236}">
                <a16:creationId xmlns:a16="http://schemas.microsoft.com/office/drawing/2014/main" id="{C513A075-DD9E-C218-83EE-E74E5EEC4732}"/>
              </a:ext>
            </a:extLst>
          </p:cNvPr>
          <p:cNvPicPr>
            <a:picLocks noChangeAspect="1"/>
          </p:cNvPicPr>
          <p:nvPr/>
        </p:nvPicPr>
        <p:blipFill>
          <a:blip r:embed="rId2"/>
          <a:stretch>
            <a:fillRect/>
          </a:stretch>
        </p:blipFill>
        <p:spPr>
          <a:xfrm>
            <a:off x="484552" y="2077407"/>
            <a:ext cx="11338607" cy="3797300"/>
          </a:xfrm>
          <a:prstGeom prst="rect">
            <a:avLst/>
          </a:prstGeom>
        </p:spPr>
      </p:pic>
    </p:spTree>
    <p:extLst>
      <p:ext uri="{BB962C8B-B14F-4D97-AF65-F5344CB8AC3E}">
        <p14:creationId xmlns:p14="http://schemas.microsoft.com/office/powerpoint/2010/main" val="594069343"/>
      </p:ext>
    </p:extLst>
  </p:cSld>
  <p:clrMapOvr>
    <a:masterClrMapping/>
  </p:clrMapOvr>
  <mc:AlternateContent xmlns:mc="http://schemas.openxmlformats.org/markup-compatibility/2006" xmlns:p14="http://schemas.microsoft.com/office/powerpoint/2010/main">
    <mc:Choice Requires="p14">
      <p:transition spd="slow" p14:dur="2000" advTm="64405"/>
    </mc:Choice>
    <mc:Fallback xmlns="">
      <p:transition spd="slow" advTm="64405"/>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3F79-97B2-2CF5-EF36-62400B255485}"/>
              </a:ext>
            </a:extLst>
          </p:cNvPr>
          <p:cNvSpPr>
            <a:spLocks noGrp="1"/>
          </p:cNvSpPr>
          <p:nvPr>
            <p:ph type="title"/>
          </p:nvPr>
        </p:nvSpPr>
        <p:spPr/>
        <p:txBody>
          <a:bodyPr>
            <a:normAutofit fontScale="90000"/>
          </a:bodyPr>
          <a:lstStyle/>
          <a:p>
            <a:r>
              <a:rPr lang="en-US" sz="4800" dirty="0"/>
              <a:t>Dropping Rows with Missing Values </a:t>
            </a:r>
            <a:br>
              <a:rPr lang="en-US" sz="4800" dirty="0"/>
            </a:br>
            <a:r>
              <a:rPr lang="en-US" sz="4800" dirty="0"/>
              <a:t>for a </a:t>
            </a:r>
            <a:r>
              <a:rPr lang="en-US" sz="4800" dirty="0">
                <a:solidFill>
                  <a:srgbClr val="FF0000"/>
                </a:solidFill>
              </a:rPr>
              <a:t>Subset of the Columns</a:t>
            </a:r>
            <a:endParaRPr lang="en-US" dirty="0">
              <a:solidFill>
                <a:srgbClr val="FF0000"/>
              </a:solidFill>
            </a:endParaRPr>
          </a:p>
        </p:txBody>
      </p:sp>
      <p:pic>
        <p:nvPicPr>
          <p:cNvPr id="5" name="Picture 4">
            <a:extLst>
              <a:ext uri="{FF2B5EF4-FFF2-40B4-BE49-F238E27FC236}">
                <a16:creationId xmlns:a16="http://schemas.microsoft.com/office/drawing/2014/main" id="{9041DDEF-1857-6869-C186-DD4DD43B3FE6}"/>
              </a:ext>
            </a:extLst>
          </p:cNvPr>
          <p:cNvPicPr>
            <a:picLocks noChangeAspect="1"/>
          </p:cNvPicPr>
          <p:nvPr/>
        </p:nvPicPr>
        <p:blipFill>
          <a:blip r:embed="rId2"/>
          <a:stretch>
            <a:fillRect/>
          </a:stretch>
        </p:blipFill>
        <p:spPr>
          <a:xfrm>
            <a:off x="572891" y="2070013"/>
            <a:ext cx="8232905" cy="4174636"/>
          </a:xfrm>
          <a:prstGeom prst="rect">
            <a:avLst/>
          </a:prstGeom>
        </p:spPr>
      </p:pic>
    </p:spTree>
    <p:extLst>
      <p:ext uri="{BB962C8B-B14F-4D97-AF65-F5344CB8AC3E}">
        <p14:creationId xmlns:p14="http://schemas.microsoft.com/office/powerpoint/2010/main" val="3352128501"/>
      </p:ext>
    </p:extLst>
  </p:cSld>
  <p:clrMapOvr>
    <a:masterClrMapping/>
  </p:clrMapOvr>
  <mc:AlternateContent xmlns:mc="http://schemas.openxmlformats.org/markup-compatibility/2006" xmlns:p14="http://schemas.microsoft.com/office/powerpoint/2010/main">
    <mc:Choice Requires="p14">
      <p:transition spd="slow" p14:dur="2000" advTm="29578"/>
    </mc:Choice>
    <mc:Fallback xmlns="">
      <p:transition spd="slow" advTm="29578"/>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70533-E543-BABA-9F67-182E0C5AD1F1}"/>
              </a:ext>
            </a:extLst>
          </p:cNvPr>
          <p:cNvSpPr>
            <a:spLocks noGrp="1"/>
          </p:cNvSpPr>
          <p:nvPr>
            <p:ph type="title"/>
          </p:nvPr>
        </p:nvSpPr>
        <p:spPr/>
        <p:txBody>
          <a:bodyPr>
            <a:normAutofit fontScale="90000"/>
          </a:bodyPr>
          <a:lstStyle/>
          <a:p>
            <a:r>
              <a:rPr lang="en-US" dirty="0">
                <a:solidFill>
                  <a:srgbClr val="FF0000"/>
                </a:solidFill>
              </a:rPr>
              <a:t>Fill</a:t>
            </a:r>
            <a:r>
              <a:rPr lang="en-US" dirty="0"/>
              <a:t> Missing Values in a </a:t>
            </a:r>
            <a:r>
              <a:rPr lang="en-US" dirty="0" err="1"/>
              <a:t>DataFrame</a:t>
            </a:r>
            <a:br>
              <a:rPr lang="en-US" dirty="0"/>
            </a:br>
            <a:r>
              <a:rPr lang="en-US" dirty="0"/>
              <a:t>using </a:t>
            </a:r>
            <a:r>
              <a:rPr lang="en-US" dirty="0" err="1"/>
              <a:t>filna</a:t>
            </a:r>
            <a:r>
              <a:rPr lang="en-US" dirty="0"/>
              <a:t>() – The  ‘</a:t>
            </a:r>
            <a:r>
              <a:rPr lang="en-US" dirty="0">
                <a:solidFill>
                  <a:srgbClr val="FF0000"/>
                </a:solidFill>
              </a:rPr>
              <a:t>mean</a:t>
            </a:r>
            <a:r>
              <a:rPr lang="en-US" dirty="0"/>
              <a:t>’ method</a:t>
            </a:r>
          </a:p>
        </p:txBody>
      </p:sp>
      <p:pic>
        <p:nvPicPr>
          <p:cNvPr id="4" name="Picture 3">
            <a:extLst>
              <a:ext uri="{FF2B5EF4-FFF2-40B4-BE49-F238E27FC236}">
                <a16:creationId xmlns:a16="http://schemas.microsoft.com/office/drawing/2014/main" id="{AE7A0D93-E816-9F20-05FE-28DE23BC032C}"/>
              </a:ext>
            </a:extLst>
          </p:cNvPr>
          <p:cNvPicPr>
            <a:picLocks noChangeAspect="1"/>
          </p:cNvPicPr>
          <p:nvPr/>
        </p:nvPicPr>
        <p:blipFill>
          <a:blip r:embed="rId2"/>
          <a:stretch>
            <a:fillRect/>
          </a:stretch>
        </p:blipFill>
        <p:spPr>
          <a:xfrm>
            <a:off x="638827" y="2163322"/>
            <a:ext cx="10310424" cy="3391186"/>
          </a:xfrm>
          <a:prstGeom prst="rect">
            <a:avLst/>
          </a:prstGeom>
        </p:spPr>
      </p:pic>
    </p:spTree>
    <p:extLst>
      <p:ext uri="{BB962C8B-B14F-4D97-AF65-F5344CB8AC3E}">
        <p14:creationId xmlns:p14="http://schemas.microsoft.com/office/powerpoint/2010/main" val="2558122564"/>
      </p:ext>
    </p:extLst>
  </p:cSld>
  <p:clrMapOvr>
    <a:masterClrMapping/>
  </p:clrMapOvr>
  <mc:AlternateContent xmlns:mc="http://schemas.openxmlformats.org/markup-compatibility/2006" xmlns:p14="http://schemas.microsoft.com/office/powerpoint/2010/main">
    <mc:Choice Requires="p14">
      <p:transition spd="slow" p14:dur="2000" advTm="27861"/>
    </mc:Choice>
    <mc:Fallback xmlns="">
      <p:transition spd="slow" advTm="27861"/>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70533-E543-BABA-9F67-182E0C5AD1F1}"/>
              </a:ext>
            </a:extLst>
          </p:cNvPr>
          <p:cNvSpPr>
            <a:spLocks noGrp="1"/>
          </p:cNvSpPr>
          <p:nvPr>
            <p:ph type="title"/>
          </p:nvPr>
        </p:nvSpPr>
        <p:spPr/>
        <p:txBody>
          <a:bodyPr>
            <a:normAutofit fontScale="90000"/>
          </a:bodyPr>
          <a:lstStyle/>
          <a:p>
            <a:r>
              <a:rPr lang="en-US" dirty="0"/>
              <a:t>Fill Missing Values in a </a:t>
            </a:r>
            <a:r>
              <a:rPr lang="en-US" dirty="0" err="1"/>
              <a:t>DataFrame</a:t>
            </a:r>
            <a:br>
              <a:rPr lang="en-US" dirty="0"/>
            </a:br>
            <a:r>
              <a:rPr lang="en-US" dirty="0"/>
              <a:t>using </a:t>
            </a:r>
            <a:r>
              <a:rPr lang="en-US" dirty="0" err="1"/>
              <a:t>filna</a:t>
            </a:r>
            <a:r>
              <a:rPr lang="en-US" dirty="0"/>
              <a:t>() – The ‘</a:t>
            </a:r>
            <a:r>
              <a:rPr lang="en-US" dirty="0">
                <a:solidFill>
                  <a:srgbClr val="FF0000"/>
                </a:solidFill>
              </a:rPr>
              <a:t>forward filling</a:t>
            </a:r>
            <a:r>
              <a:rPr lang="en-US" dirty="0"/>
              <a:t>’ method</a:t>
            </a:r>
          </a:p>
        </p:txBody>
      </p:sp>
      <p:pic>
        <p:nvPicPr>
          <p:cNvPr id="3" name="Picture 2">
            <a:extLst>
              <a:ext uri="{FF2B5EF4-FFF2-40B4-BE49-F238E27FC236}">
                <a16:creationId xmlns:a16="http://schemas.microsoft.com/office/drawing/2014/main" id="{A7ADB9A0-9EEF-9098-B511-EE325119A9DB}"/>
              </a:ext>
            </a:extLst>
          </p:cNvPr>
          <p:cNvPicPr>
            <a:picLocks noChangeAspect="1"/>
          </p:cNvPicPr>
          <p:nvPr/>
        </p:nvPicPr>
        <p:blipFill>
          <a:blip r:embed="rId2"/>
          <a:stretch>
            <a:fillRect/>
          </a:stretch>
        </p:blipFill>
        <p:spPr>
          <a:xfrm>
            <a:off x="644046" y="2082207"/>
            <a:ext cx="11160208" cy="3867656"/>
          </a:xfrm>
          <a:prstGeom prst="rect">
            <a:avLst/>
          </a:prstGeom>
        </p:spPr>
      </p:pic>
    </p:spTree>
    <p:extLst>
      <p:ext uri="{BB962C8B-B14F-4D97-AF65-F5344CB8AC3E}">
        <p14:creationId xmlns:p14="http://schemas.microsoft.com/office/powerpoint/2010/main" val="471658443"/>
      </p:ext>
    </p:extLst>
  </p:cSld>
  <p:clrMapOvr>
    <a:masterClrMapping/>
  </p:clrMapOvr>
  <mc:AlternateContent xmlns:mc="http://schemas.openxmlformats.org/markup-compatibility/2006" xmlns:p14="http://schemas.microsoft.com/office/powerpoint/2010/main">
    <mc:Choice Requires="p14">
      <p:transition spd="slow" p14:dur="2000" advTm="57013"/>
    </mc:Choice>
    <mc:Fallback xmlns="">
      <p:transition spd="slow" advTm="57013"/>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70533-E543-BABA-9F67-182E0C5AD1F1}"/>
              </a:ext>
            </a:extLst>
          </p:cNvPr>
          <p:cNvSpPr>
            <a:spLocks noGrp="1"/>
          </p:cNvSpPr>
          <p:nvPr>
            <p:ph type="title"/>
          </p:nvPr>
        </p:nvSpPr>
        <p:spPr/>
        <p:txBody>
          <a:bodyPr>
            <a:normAutofit fontScale="90000"/>
          </a:bodyPr>
          <a:lstStyle/>
          <a:p>
            <a:r>
              <a:rPr lang="en-US" dirty="0"/>
              <a:t>Fill Missing Values in a </a:t>
            </a:r>
            <a:r>
              <a:rPr lang="en-US" dirty="0" err="1"/>
              <a:t>DataFrame</a:t>
            </a:r>
            <a:br>
              <a:rPr lang="en-US" dirty="0"/>
            </a:br>
            <a:r>
              <a:rPr lang="en-US" dirty="0"/>
              <a:t>using </a:t>
            </a:r>
            <a:r>
              <a:rPr lang="en-US" dirty="0">
                <a:solidFill>
                  <a:srgbClr val="FF0000"/>
                </a:solidFill>
              </a:rPr>
              <a:t>interpolate()</a:t>
            </a:r>
          </a:p>
        </p:txBody>
      </p:sp>
      <p:pic>
        <p:nvPicPr>
          <p:cNvPr id="7" name="Picture 6">
            <a:extLst>
              <a:ext uri="{FF2B5EF4-FFF2-40B4-BE49-F238E27FC236}">
                <a16:creationId xmlns:a16="http://schemas.microsoft.com/office/drawing/2014/main" id="{545FD7FC-1EDB-907F-6993-66400B35FDC6}"/>
              </a:ext>
            </a:extLst>
          </p:cNvPr>
          <p:cNvPicPr>
            <a:picLocks noChangeAspect="1"/>
          </p:cNvPicPr>
          <p:nvPr/>
        </p:nvPicPr>
        <p:blipFill>
          <a:blip r:embed="rId2"/>
          <a:stretch>
            <a:fillRect/>
          </a:stretch>
        </p:blipFill>
        <p:spPr>
          <a:xfrm>
            <a:off x="484552" y="2130971"/>
            <a:ext cx="9740030" cy="4006723"/>
          </a:xfrm>
          <a:prstGeom prst="rect">
            <a:avLst/>
          </a:prstGeom>
        </p:spPr>
      </p:pic>
    </p:spTree>
    <p:extLst>
      <p:ext uri="{BB962C8B-B14F-4D97-AF65-F5344CB8AC3E}">
        <p14:creationId xmlns:p14="http://schemas.microsoft.com/office/powerpoint/2010/main" val="3421962147"/>
      </p:ext>
    </p:extLst>
  </p:cSld>
  <p:clrMapOvr>
    <a:masterClrMapping/>
  </p:clrMapOvr>
  <mc:AlternateContent xmlns:mc="http://schemas.openxmlformats.org/markup-compatibility/2006" xmlns:p14="http://schemas.microsoft.com/office/powerpoint/2010/main">
    <mc:Choice Requires="p14">
      <p:transition spd="slow" p14:dur="2000" advTm="42528"/>
    </mc:Choice>
    <mc:Fallback xmlns="">
      <p:transition spd="slow" advTm="42528"/>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31A7F-5514-D77D-F415-1F86B5BF8D0F}"/>
              </a:ext>
            </a:extLst>
          </p:cNvPr>
          <p:cNvSpPr>
            <a:spLocks noGrp="1"/>
          </p:cNvSpPr>
          <p:nvPr>
            <p:ph type="title"/>
          </p:nvPr>
        </p:nvSpPr>
        <p:spPr/>
        <p:txBody>
          <a:bodyPr/>
          <a:lstStyle/>
          <a:p>
            <a:r>
              <a:rPr lang="en-US" dirty="0"/>
              <a:t>Interpolation</a:t>
            </a:r>
          </a:p>
        </p:txBody>
      </p:sp>
      <p:sp>
        <p:nvSpPr>
          <p:cNvPr id="3" name="Content Placeholder 2">
            <a:extLst>
              <a:ext uri="{FF2B5EF4-FFF2-40B4-BE49-F238E27FC236}">
                <a16:creationId xmlns:a16="http://schemas.microsoft.com/office/drawing/2014/main" id="{40A70FEC-43A9-6AD7-888E-FC1E4B15D570}"/>
              </a:ext>
            </a:extLst>
          </p:cNvPr>
          <p:cNvSpPr>
            <a:spLocks noGrp="1"/>
          </p:cNvSpPr>
          <p:nvPr>
            <p:ph idx="1"/>
          </p:nvPr>
        </p:nvSpPr>
        <p:spPr/>
        <p:txBody>
          <a:bodyPr/>
          <a:lstStyle/>
          <a:p>
            <a:pPr marL="342900" indent="-342900">
              <a:buFont typeface="Arial" panose="020B0604020202020204" pitchFamily="34" charset="0"/>
              <a:buChar char="•"/>
            </a:pPr>
            <a:r>
              <a:rPr lang="en-US" dirty="0"/>
              <a:t>Interpolation is a method used to </a:t>
            </a:r>
            <a:r>
              <a:rPr lang="en-US" dirty="0">
                <a:highlight>
                  <a:srgbClr val="FFFF00"/>
                </a:highlight>
              </a:rPr>
              <a:t>estimate values </a:t>
            </a:r>
            <a:r>
              <a:rPr lang="en-US" dirty="0"/>
              <a:t>for data points that are missing or have not been observed.</a:t>
            </a:r>
          </a:p>
          <a:p>
            <a:pPr marL="342900" indent="-342900">
              <a:buFont typeface="Arial" panose="020B0604020202020204" pitchFamily="34" charset="0"/>
              <a:buChar char="•"/>
            </a:pPr>
            <a:r>
              <a:rPr lang="en-US" dirty="0"/>
              <a:t>Often used when missing values are present in a </a:t>
            </a:r>
            <a:r>
              <a:rPr lang="en-US" dirty="0">
                <a:highlight>
                  <a:srgbClr val="FFFF00"/>
                </a:highlight>
              </a:rPr>
              <a:t>time series or other continuous data </a:t>
            </a:r>
            <a:r>
              <a:rPr lang="en-US" dirty="0"/>
              <a:t>set.</a:t>
            </a:r>
          </a:p>
          <a:p>
            <a:br>
              <a:rPr lang="en-US" dirty="0"/>
            </a:br>
            <a:endParaRPr lang="en-US" dirty="0"/>
          </a:p>
        </p:txBody>
      </p:sp>
      <p:pic>
        <p:nvPicPr>
          <p:cNvPr id="4" name="Picture 3">
            <a:extLst>
              <a:ext uri="{FF2B5EF4-FFF2-40B4-BE49-F238E27FC236}">
                <a16:creationId xmlns:a16="http://schemas.microsoft.com/office/drawing/2014/main" id="{657CFC55-0F4A-E5CB-7993-AC36301ED495}"/>
              </a:ext>
            </a:extLst>
          </p:cNvPr>
          <p:cNvPicPr>
            <a:picLocks noChangeAspect="1"/>
          </p:cNvPicPr>
          <p:nvPr/>
        </p:nvPicPr>
        <p:blipFill rotWithShape="1">
          <a:blip r:embed="rId2"/>
          <a:srcRect r="77182"/>
          <a:stretch/>
        </p:blipFill>
        <p:spPr>
          <a:xfrm>
            <a:off x="1909175" y="4113648"/>
            <a:ext cx="1773476" cy="1780673"/>
          </a:xfrm>
          <a:prstGeom prst="rect">
            <a:avLst/>
          </a:prstGeom>
        </p:spPr>
      </p:pic>
      <p:pic>
        <p:nvPicPr>
          <p:cNvPr id="5" name="Picture 4">
            <a:extLst>
              <a:ext uri="{FF2B5EF4-FFF2-40B4-BE49-F238E27FC236}">
                <a16:creationId xmlns:a16="http://schemas.microsoft.com/office/drawing/2014/main" id="{EC5B6C0F-A97B-E637-AF71-83B2F5847DA0}"/>
              </a:ext>
            </a:extLst>
          </p:cNvPr>
          <p:cNvPicPr>
            <a:picLocks noChangeAspect="1"/>
          </p:cNvPicPr>
          <p:nvPr/>
        </p:nvPicPr>
        <p:blipFill rotWithShape="1">
          <a:blip r:embed="rId3"/>
          <a:srcRect r="11267" b="7146"/>
          <a:stretch/>
        </p:blipFill>
        <p:spPr>
          <a:xfrm>
            <a:off x="5546986" y="4113648"/>
            <a:ext cx="2265076" cy="1780673"/>
          </a:xfrm>
          <a:prstGeom prst="rect">
            <a:avLst/>
          </a:prstGeom>
        </p:spPr>
      </p:pic>
      <p:cxnSp>
        <p:nvCxnSpPr>
          <p:cNvPr id="7" name="Straight Arrow Connector 6">
            <a:extLst>
              <a:ext uri="{FF2B5EF4-FFF2-40B4-BE49-F238E27FC236}">
                <a16:creationId xmlns:a16="http://schemas.microsoft.com/office/drawing/2014/main" id="{39E38F66-0149-CB59-63A1-72DAA1FC4CF4}"/>
              </a:ext>
            </a:extLst>
          </p:cNvPr>
          <p:cNvCxnSpPr/>
          <p:nvPr/>
        </p:nvCxnSpPr>
        <p:spPr>
          <a:xfrm>
            <a:off x="3809626" y="4922729"/>
            <a:ext cx="1737360" cy="0"/>
          </a:xfrm>
          <a:prstGeom prst="straightConnector1">
            <a:avLst/>
          </a:prstGeom>
          <a:ln w="1301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DA86478-B362-AD87-3D7F-1648ADBF6060}"/>
              </a:ext>
            </a:extLst>
          </p:cNvPr>
          <p:cNvSpPr txBox="1"/>
          <p:nvPr/>
        </p:nvSpPr>
        <p:spPr>
          <a:xfrm>
            <a:off x="3836327" y="4087081"/>
            <a:ext cx="1533580" cy="646331"/>
          </a:xfrm>
          <a:prstGeom prst="rect">
            <a:avLst/>
          </a:prstGeom>
          <a:noFill/>
        </p:spPr>
        <p:txBody>
          <a:bodyPr wrap="square" rtlCol="0">
            <a:spAutoFit/>
          </a:bodyPr>
          <a:lstStyle/>
          <a:p>
            <a:r>
              <a:rPr lang="en-US" dirty="0"/>
              <a:t>Linear Interpolation</a:t>
            </a:r>
          </a:p>
        </p:txBody>
      </p:sp>
    </p:spTree>
    <p:extLst>
      <p:ext uri="{BB962C8B-B14F-4D97-AF65-F5344CB8AC3E}">
        <p14:creationId xmlns:p14="http://schemas.microsoft.com/office/powerpoint/2010/main" val="3265428349"/>
      </p:ext>
    </p:extLst>
  </p:cSld>
  <p:clrMapOvr>
    <a:masterClrMapping/>
  </p:clrMapOvr>
  <mc:AlternateContent xmlns:mc="http://schemas.openxmlformats.org/markup-compatibility/2006" xmlns:p14="http://schemas.microsoft.com/office/powerpoint/2010/main">
    <mc:Choice Requires="p14">
      <p:transition spd="slow" p14:dur="2000" advTm="42773"/>
    </mc:Choice>
    <mc:Fallback xmlns="">
      <p:transition spd="slow" advTm="42773"/>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Slide Background">
            <a:extLst>
              <a:ext uri="{FF2B5EF4-FFF2-40B4-BE49-F238E27FC236}">
                <a16:creationId xmlns:a16="http://schemas.microsoft.com/office/drawing/2014/main" id="{B874FC77-B1AD-4469-830E-1F1D54FBB4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 up of circuit board">
            <a:extLst>
              <a:ext uri="{FF2B5EF4-FFF2-40B4-BE49-F238E27FC236}">
                <a16:creationId xmlns:a16="http://schemas.microsoft.com/office/drawing/2014/main" id="{F87B63FE-3AC2-C03F-5C84-376CF2BBC77A}"/>
              </a:ext>
            </a:extLst>
          </p:cNvPr>
          <p:cNvPicPr>
            <a:picLocks noChangeAspect="1"/>
          </p:cNvPicPr>
          <p:nvPr/>
        </p:nvPicPr>
        <p:blipFill rotWithShape="1">
          <a:blip r:embed="rId3"/>
          <a:srcRect t="7109" b="8621"/>
          <a:stretch/>
        </p:blipFill>
        <p:spPr>
          <a:xfrm>
            <a:off x="20" y="10"/>
            <a:ext cx="12191979" cy="6857988"/>
          </a:xfrm>
          <a:prstGeom prst="rect">
            <a:avLst/>
          </a:prstGeom>
          <a:effectLst>
            <a:outerShdw blurRad="596900" dist="330200" dir="8820000" sx="87000" sy="87000" algn="ctr" rotWithShape="0">
              <a:srgbClr val="000000">
                <a:alpha val="29000"/>
              </a:srgbClr>
            </a:outerShdw>
          </a:effectLst>
        </p:spPr>
      </p:pic>
      <p:sp>
        <p:nvSpPr>
          <p:cNvPr id="13" name="Rectangle 12">
            <a:extLst>
              <a:ext uri="{FF2B5EF4-FFF2-40B4-BE49-F238E27FC236}">
                <a16:creationId xmlns:a16="http://schemas.microsoft.com/office/drawing/2014/main" id="{A6834A66-723F-4B47-BF01-F6D4B2A1B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6027"/>
            <a:ext cx="12192000" cy="22819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0426C9F-24EB-EDCE-3456-4830A6362F98}"/>
              </a:ext>
            </a:extLst>
          </p:cNvPr>
          <p:cNvSpPr>
            <a:spLocks noGrp="1"/>
          </p:cNvSpPr>
          <p:nvPr>
            <p:ph type="title"/>
          </p:nvPr>
        </p:nvSpPr>
        <p:spPr>
          <a:xfrm>
            <a:off x="322729" y="4850597"/>
            <a:ext cx="7885099" cy="1374756"/>
          </a:xfrm>
        </p:spPr>
        <p:txBody>
          <a:bodyPr vert="horz" lIns="91440" tIns="45720" rIns="91440" bIns="45720" rtlCol="0" anchor="ctr">
            <a:normAutofit/>
          </a:bodyPr>
          <a:lstStyle/>
          <a:p>
            <a:r>
              <a:rPr lang="en-US" sz="4000" dirty="0"/>
              <a:t>How to Fix </a:t>
            </a:r>
            <a:r>
              <a:rPr lang="en-US" sz="4000" dirty="0">
                <a:solidFill>
                  <a:srgbClr val="FF0000"/>
                </a:solidFill>
              </a:rPr>
              <a:t>Data Type Problems</a:t>
            </a:r>
          </a:p>
        </p:txBody>
      </p:sp>
    </p:spTree>
    <p:extLst>
      <p:ext uri="{BB962C8B-B14F-4D97-AF65-F5344CB8AC3E}">
        <p14:creationId xmlns:p14="http://schemas.microsoft.com/office/powerpoint/2010/main" val="1653567262"/>
      </p:ext>
    </p:extLst>
  </p:cSld>
  <p:clrMapOvr>
    <a:masterClrMapping/>
  </p:clrMapOvr>
  <mc:AlternateContent xmlns:mc="http://schemas.openxmlformats.org/markup-compatibility/2006" xmlns:p14="http://schemas.microsoft.com/office/powerpoint/2010/main">
    <mc:Choice Requires="p14">
      <p:transition spd="slow" p14:dur="2000" advTm="6240"/>
    </mc:Choice>
    <mc:Fallback xmlns="">
      <p:transition spd="slow" advTm="624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A0586-1400-EF6E-00CE-7F59BB253B6B}"/>
              </a:ext>
            </a:extLst>
          </p:cNvPr>
          <p:cNvSpPr>
            <a:spLocks noGrp="1"/>
          </p:cNvSpPr>
          <p:nvPr>
            <p:ph type="title"/>
          </p:nvPr>
        </p:nvSpPr>
        <p:spPr/>
        <p:txBody>
          <a:bodyPr>
            <a:normAutofit fontScale="90000"/>
          </a:bodyPr>
          <a:lstStyle/>
          <a:p>
            <a:r>
              <a:rPr lang="en-US" dirty="0"/>
              <a:t>Finding Date and Number Columns that are Imported as Objects</a:t>
            </a:r>
          </a:p>
        </p:txBody>
      </p:sp>
      <p:pic>
        <p:nvPicPr>
          <p:cNvPr id="4" name="Picture 3">
            <a:extLst>
              <a:ext uri="{FF2B5EF4-FFF2-40B4-BE49-F238E27FC236}">
                <a16:creationId xmlns:a16="http://schemas.microsoft.com/office/drawing/2014/main" id="{19948759-BEE3-70E6-429B-913278825FEE}"/>
              </a:ext>
            </a:extLst>
          </p:cNvPr>
          <p:cNvPicPr>
            <a:picLocks noChangeAspect="1"/>
          </p:cNvPicPr>
          <p:nvPr/>
        </p:nvPicPr>
        <p:blipFill rotWithShape="1">
          <a:blip r:embed="rId2"/>
          <a:srcRect t="43" r="52364" b="66088"/>
          <a:stretch/>
        </p:blipFill>
        <p:spPr>
          <a:xfrm>
            <a:off x="631521" y="2476360"/>
            <a:ext cx="7986386" cy="1350955"/>
          </a:xfrm>
          <a:prstGeom prst="rect">
            <a:avLst/>
          </a:prstGeom>
        </p:spPr>
      </p:pic>
      <p:pic>
        <p:nvPicPr>
          <p:cNvPr id="5" name="Picture 4">
            <a:extLst>
              <a:ext uri="{FF2B5EF4-FFF2-40B4-BE49-F238E27FC236}">
                <a16:creationId xmlns:a16="http://schemas.microsoft.com/office/drawing/2014/main" id="{F71AF557-38DD-BA79-BB85-F7EAE65803BC}"/>
              </a:ext>
            </a:extLst>
          </p:cNvPr>
          <p:cNvPicPr>
            <a:picLocks noChangeAspect="1"/>
          </p:cNvPicPr>
          <p:nvPr/>
        </p:nvPicPr>
        <p:blipFill rotWithShape="1">
          <a:blip r:embed="rId2"/>
          <a:srcRect t="29455"/>
          <a:stretch/>
        </p:blipFill>
        <p:spPr>
          <a:xfrm>
            <a:off x="631521" y="3883066"/>
            <a:ext cx="10774220" cy="1808323"/>
          </a:xfrm>
          <a:prstGeom prst="rect">
            <a:avLst/>
          </a:prstGeom>
        </p:spPr>
      </p:pic>
    </p:spTree>
    <p:extLst>
      <p:ext uri="{BB962C8B-B14F-4D97-AF65-F5344CB8AC3E}">
        <p14:creationId xmlns:p14="http://schemas.microsoft.com/office/powerpoint/2010/main" val="1382448800"/>
      </p:ext>
    </p:extLst>
  </p:cSld>
  <p:clrMapOvr>
    <a:masterClrMapping/>
  </p:clrMapOvr>
  <mc:AlternateContent xmlns:mc="http://schemas.openxmlformats.org/markup-compatibility/2006" xmlns:p14="http://schemas.microsoft.com/office/powerpoint/2010/main">
    <mc:Choice Requires="p14">
      <p:transition spd="slow" p14:dur="2000" advTm="33344"/>
    </mc:Choice>
    <mc:Fallback xmlns="">
      <p:transition spd="slow" advTm="33344"/>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BE66D35-6371-4809-9433-1EBF87915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7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9A0586-1400-EF6E-00CE-7F59BB253B6B}"/>
              </a:ext>
            </a:extLst>
          </p:cNvPr>
          <p:cNvSpPr>
            <a:spLocks noGrp="1"/>
          </p:cNvSpPr>
          <p:nvPr>
            <p:ph type="title"/>
          </p:nvPr>
        </p:nvSpPr>
        <p:spPr>
          <a:xfrm>
            <a:off x="146221" y="397275"/>
            <a:ext cx="3047993" cy="3761257"/>
          </a:xfrm>
        </p:spPr>
        <p:txBody>
          <a:bodyPr vert="horz" lIns="91440" tIns="45720" rIns="91440" bIns="45720" rtlCol="0" anchor="ctr">
            <a:normAutofit/>
          </a:bodyPr>
          <a:lstStyle/>
          <a:p>
            <a:r>
              <a:rPr lang="en-US" sz="3200" dirty="0"/>
              <a:t>Converting </a:t>
            </a:r>
            <a:r>
              <a:rPr lang="en-US" sz="3200" dirty="0">
                <a:solidFill>
                  <a:srgbClr val="FF0000"/>
                </a:solidFill>
              </a:rPr>
              <a:t>date and time strings to datetime</a:t>
            </a:r>
          </a:p>
        </p:txBody>
      </p:sp>
      <p:grpSp>
        <p:nvGrpSpPr>
          <p:cNvPr id="14" name="Group 13">
            <a:extLst>
              <a:ext uri="{FF2B5EF4-FFF2-40B4-BE49-F238E27FC236}">
                <a16:creationId xmlns:a16="http://schemas.microsoft.com/office/drawing/2014/main" id="{0EB82B4C-9249-4CFC-A372-7B0FF5E36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65226"/>
            <a:ext cx="3048003" cy="2292774"/>
            <a:chOff x="6096002" y="-9073"/>
            <a:chExt cx="6095998" cy="6867073"/>
          </a:xfrm>
        </p:grpSpPr>
        <p:sp>
          <p:nvSpPr>
            <p:cNvPr id="15" name="Rectangle 14">
              <a:extLst>
                <a:ext uri="{FF2B5EF4-FFF2-40B4-BE49-F238E27FC236}">
                  <a16:creationId xmlns:a16="http://schemas.microsoft.com/office/drawing/2014/main" id="{41B9437E-0974-4AB4-8491-D8BDD841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DCB975E-33D1-4FB0-AA40-C2250AA66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Picture 2">
            <a:extLst>
              <a:ext uri="{FF2B5EF4-FFF2-40B4-BE49-F238E27FC236}">
                <a16:creationId xmlns:a16="http://schemas.microsoft.com/office/drawing/2014/main" id="{340EE90F-6D12-896F-2679-4CC6EE95131C}"/>
              </a:ext>
            </a:extLst>
          </p:cNvPr>
          <p:cNvPicPr>
            <a:picLocks noChangeAspect="1"/>
          </p:cNvPicPr>
          <p:nvPr/>
        </p:nvPicPr>
        <p:blipFill>
          <a:blip r:embed="rId2"/>
          <a:stretch>
            <a:fillRect/>
          </a:stretch>
        </p:blipFill>
        <p:spPr>
          <a:xfrm>
            <a:off x="3194219" y="177312"/>
            <a:ext cx="8760496" cy="5760025"/>
          </a:xfrm>
          <a:prstGeom prst="rect">
            <a:avLst/>
          </a:prstGeom>
        </p:spPr>
      </p:pic>
    </p:spTree>
    <p:extLst>
      <p:ext uri="{BB962C8B-B14F-4D97-AF65-F5344CB8AC3E}">
        <p14:creationId xmlns:p14="http://schemas.microsoft.com/office/powerpoint/2010/main" val="95351279"/>
      </p:ext>
    </p:extLst>
  </p:cSld>
  <p:clrMapOvr>
    <a:masterClrMapping/>
  </p:clrMapOvr>
  <mc:AlternateContent xmlns:mc="http://schemas.openxmlformats.org/markup-compatibility/2006" xmlns:p14="http://schemas.microsoft.com/office/powerpoint/2010/main">
    <mc:Choice Requires="p14">
      <p:transition spd="slow" p14:dur="2000" advTm="62261"/>
    </mc:Choice>
    <mc:Fallback xmlns="">
      <p:transition spd="slow" advTm="62261"/>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F5F23-050C-9CD8-D1CB-C6F8C580F495}"/>
              </a:ext>
            </a:extLst>
          </p:cNvPr>
          <p:cNvSpPr>
            <a:spLocks noGrp="1"/>
          </p:cNvSpPr>
          <p:nvPr>
            <p:ph type="title"/>
          </p:nvPr>
        </p:nvSpPr>
        <p:spPr/>
        <p:txBody>
          <a:bodyPr/>
          <a:lstStyle/>
          <a:p>
            <a:r>
              <a:rPr lang="en-US" dirty="0"/>
              <a:t>Formatting the </a:t>
            </a:r>
            <a:r>
              <a:rPr lang="en-US" sz="4800" dirty="0"/>
              <a:t>datetime Columns</a:t>
            </a:r>
            <a:endParaRPr lang="en-US" dirty="0"/>
          </a:p>
        </p:txBody>
      </p:sp>
      <p:pic>
        <p:nvPicPr>
          <p:cNvPr id="4" name="Picture 3">
            <a:extLst>
              <a:ext uri="{FF2B5EF4-FFF2-40B4-BE49-F238E27FC236}">
                <a16:creationId xmlns:a16="http://schemas.microsoft.com/office/drawing/2014/main" id="{057A0BCA-2D04-4BE3-0E0C-4BA931E5857C}"/>
              </a:ext>
            </a:extLst>
          </p:cNvPr>
          <p:cNvPicPr>
            <a:picLocks noChangeAspect="1"/>
          </p:cNvPicPr>
          <p:nvPr/>
        </p:nvPicPr>
        <p:blipFill>
          <a:blip r:embed="rId2"/>
          <a:stretch>
            <a:fillRect/>
          </a:stretch>
        </p:blipFill>
        <p:spPr>
          <a:xfrm>
            <a:off x="597285" y="2163910"/>
            <a:ext cx="9091107" cy="2871553"/>
          </a:xfrm>
          <a:prstGeom prst="rect">
            <a:avLst/>
          </a:prstGeom>
        </p:spPr>
      </p:pic>
    </p:spTree>
    <p:extLst>
      <p:ext uri="{BB962C8B-B14F-4D97-AF65-F5344CB8AC3E}">
        <p14:creationId xmlns:p14="http://schemas.microsoft.com/office/powerpoint/2010/main" val="3257979732"/>
      </p:ext>
    </p:extLst>
  </p:cSld>
  <p:clrMapOvr>
    <a:masterClrMapping/>
  </p:clrMapOvr>
  <mc:AlternateContent xmlns:mc="http://schemas.openxmlformats.org/markup-compatibility/2006" xmlns:p14="http://schemas.microsoft.com/office/powerpoint/2010/main">
    <mc:Choice Requires="p14">
      <p:transition spd="slow" p14:dur="2000" advTm="46784"/>
    </mc:Choice>
    <mc:Fallback xmlns="">
      <p:transition spd="slow" advTm="46784"/>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BE66D35-6371-4809-9433-1EBF87915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7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0F5F23-050C-9CD8-D1CB-C6F8C580F495}"/>
              </a:ext>
            </a:extLst>
          </p:cNvPr>
          <p:cNvSpPr>
            <a:spLocks noGrp="1"/>
          </p:cNvSpPr>
          <p:nvPr>
            <p:ph type="title"/>
          </p:nvPr>
        </p:nvSpPr>
        <p:spPr>
          <a:xfrm>
            <a:off x="146221" y="397275"/>
            <a:ext cx="2901777" cy="3761257"/>
          </a:xfrm>
        </p:spPr>
        <p:txBody>
          <a:bodyPr vert="horz" lIns="91440" tIns="45720" rIns="91440" bIns="45720" rtlCol="0" anchor="ctr">
            <a:normAutofit/>
          </a:bodyPr>
          <a:lstStyle/>
          <a:p>
            <a:r>
              <a:rPr lang="en-US" sz="3200" dirty="0"/>
              <a:t>Converting </a:t>
            </a:r>
            <a:r>
              <a:rPr lang="en-US" sz="3200" dirty="0">
                <a:solidFill>
                  <a:srgbClr val="FF0000"/>
                </a:solidFill>
              </a:rPr>
              <a:t>Object Columns to </a:t>
            </a:r>
            <a:br>
              <a:rPr lang="en-US" sz="3200" dirty="0">
                <a:solidFill>
                  <a:srgbClr val="FF0000"/>
                </a:solidFill>
              </a:rPr>
            </a:br>
            <a:r>
              <a:rPr lang="en-US" sz="3200" dirty="0">
                <a:solidFill>
                  <a:srgbClr val="FF0000"/>
                </a:solidFill>
              </a:rPr>
              <a:t>Numeric</a:t>
            </a:r>
          </a:p>
        </p:txBody>
      </p:sp>
      <p:grpSp>
        <p:nvGrpSpPr>
          <p:cNvPr id="14" name="Group 13">
            <a:extLst>
              <a:ext uri="{FF2B5EF4-FFF2-40B4-BE49-F238E27FC236}">
                <a16:creationId xmlns:a16="http://schemas.microsoft.com/office/drawing/2014/main" id="{0EB82B4C-9249-4CFC-A372-7B0FF5E36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65226"/>
            <a:ext cx="3048003" cy="2292774"/>
            <a:chOff x="6096002" y="-9073"/>
            <a:chExt cx="6095998" cy="6867073"/>
          </a:xfrm>
        </p:grpSpPr>
        <p:sp>
          <p:nvSpPr>
            <p:cNvPr id="15" name="Rectangle 14">
              <a:extLst>
                <a:ext uri="{FF2B5EF4-FFF2-40B4-BE49-F238E27FC236}">
                  <a16:creationId xmlns:a16="http://schemas.microsoft.com/office/drawing/2014/main" id="{41B9437E-0974-4AB4-8491-D8BDD841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DCB975E-33D1-4FB0-AA40-C2250AA66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Picture 2">
            <a:extLst>
              <a:ext uri="{FF2B5EF4-FFF2-40B4-BE49-F238E27FC236}">
                <a16:creationId xmlns:a16="http://schemas.microsoft.com/office/drawing/2014/main" id="{15D2AAC8-6DEC-F61C-0E31-AD4DD0C07392}"/>
              </a:ext>
            </a:extLst>
          </p:cNvPr>
          <p:cNvPicPr>
            <a:picLocks noChangeAspect="1"/>
          </p:cNvPicPr>
          <p:nvPr/>
        </p:nvPicPr>
        <p:blipFill>
          <a:blip r:embed="rId2"/>
          <a:stretch>
            <a:fillRect/>
          </a:stretch>
        </p:blipFill>
        <p:spPr>
          <a:xfrm>
            <a:off x="3194218" y="282486"/>
            <a:ext cx="8854229" cy="5091180"/>
          </a:xfrm>
          <a:prstGeom prst="rect">
            <a:avLst/>
          </a:prstGeom>
        </p:spPr>
      </p:pic>
    </p:spTree>
    <p:extLst>
      <p:ext uri="{BB962C8B-B14F-4D97-AF65-F5344CB8AC3E}">
        <p14:creationId xmlns:p14="http://schemas.microsoft.com/office/powerpoint/2010/main" val="769882619"/>
      </p:ext>
    </p:extLst>
  </p:cSld>
  <p:clrMapOvr>
    <a:masterClrMapping/>
  </p:clrMapOvr>
  <mc:AlternateContent xmlns:mc="http://schemas.openxmlformats.org/markup-compatibility/2006" xmlns:p14="http://schemas.microsoft.com/office/powerpoint/2010/main">
    <mc:Choice Requires="p14">
      <p:transition spd="slow" p14:dur="2000" advTm="79018"/>
    </mc:Choice>
    <mc:Fallback xmlns="">
      <p:transition spd="slow" advTm="79018"/>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0BE66D35-6371-4809-9433-1EBF87915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7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DA5175-2763-CBD1-EBE0-A4BA6441DA5B}"/>
              </a:ext>
            </a:extLst>
          </p:cNvPr>
          <p:cNvSpPr>
            <a:spLocks noGrp="1"/>
          </p:cNvSpPr>
          <p:nvPr>
            <p:ph type="title"/>
          </p:nvPr>
        </p:nvSpPr>
        <p:spPr>
          <a:xfrm>
            <a:off x="146221" y="397275"/>
            <a:ext cx="2628785" cy="3761257"/>
          </a:xfrm>
        </p:spPr>
        <p:txBody>
          <a:bodyPr vert="horz" lIns="91440" tIns="45720" rIns="91440" bIns="45720" rtlCol="0" anchor="ctr">
            <a:normAutofit/>
          </a:bodyPr>
          <a:lstStyle/>
          <a:p>
            <a:r>
              <a:rPr lang="en-US" sz="2200" dirty="0"/>
              <a:t>Python Time </a:t>
            </a:r>
            <a:r>
              <a:rPr lang="en-US" sz="2200" dirty="0">
                <a:sym typeface="Wingdings" pitchFamily="2" charset="2"/>
              </a:rPr>
              <a:t></a:t>
            </a:r>
            <a:br>
              <a:rPr lang="en-US" sz="2200" dirty="0">
                <a:sym typeface="Wingdings" pitchFamily="2" charset="2"/>
              </a:rPr>
            </a:br>
            <a:r>
              <a:rPr lang="en-US" sz="2200" dirty="0" err="1">
                <a:sym typeface="Wingdings" pitchFamily="2" charset="2"/>
              </a:rPr>
              <a:t>pandas_to_numeric</a:t>
            </a:r>
            <a:endParaRPr lang="en-US" sz="2200" dirty="0"/>
          </a:p>
        </p:txBody>
      </p:sp>
      <p:grpSp>
        <p:nvGrpSpPr>
          <p:cNvPr id="28" name="Group 27">
            <a:extLst>
              <a:ext uri="{FF2B5EF4-FFF2-40B4-BE49-F238E27FC236}">
                <a16:creationId xmlns:a16="http://schemas.microsoft.com/office/drawing/2014/main" id="{0EB82B4C-9249-4CFC-A372-7B0FF5E36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65226"/>
            <a:ext cx="3048003" cy="2292774"/>
            <a:chOff x="6096002" y="-9073"/>
            <a:chExt cx="6095998" cy="6867073"/>
          </a:xfrm>
        </p:grpSpPr>
        <p:sp>
          <p:nvSpPr>
            <p:cNvPr id="29" name="Rectangle 28">
              <a:extLst>
                <a:ext uri="{FF2B5EF4-FFF2-40B4-BE49-F238E27FC236}">
                  <a16:creationId xmlns:a16="http://schemas.microsoft.com/office/drawing/2014/main" id="{41B9437E-0974-4AB4-8491-D8BDD841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DCB975E-33D1-4FB0-AA40-C2250AA66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Picture 3">
            <a:extLst>
              <a:ext uri="{FF2B5EF4-FFF2-40B4-BE49-F238E27FC236}">
                <a16:creationId xmlns:a16="http://schemas.microsoft.com/office/drawing/2014/main" id="{EC84E3A0-0E49-0B1C-9C80-722FDD2FE9A3}"/>
              </a:ext>
            </a:extLst>
          </p:cNvPr>
          <p:cNvPicPr>
            <a:picLocks noChangeAspect="1"/>
          </p:cNvPicPr>
          <p:nvPr/>
        </p:nvPicPr>
        <p:blipFill>
          <a:blip r:embed="rId2"/>
          <a:stretch>
            <a:fillRect/>
          </a:stretch>
        </p:blipFill>
        <p:spPr>
          <a:xfrm>
            <a:off x="3194219" y="183714"/>
            <a:ext cx="8220029" cy="6041721"/>
          </a:xfrm>
          <a:prstGeom prst="rect">
            <a:avLst/>
          </a:prstGeom>
        </p:spPr>
      </p:pic>
    </p:spTree>
    <p:extLst>
      <p:ext uri="{BB962C8B-B14F-4D97-AF65-F5344CB8AC3E}">
        <p14:creationId xmlns:p14="http://schemas.microsoft.com/office/powerpoint/2010/main" val="1706018363"/>
      </p:ext>
    </p:extLst>
  </p:cSld>
  <p:clrMapOvr>
    <a:masterClrMapping/>
  </p:clrMapOvr>
  <mc:AlternateContent xmlns:mc="http://schemas.openxmlformats.org/markup-compatibility/2006" xmlns:p14="http://schemas.microsoft.com/office/powerpoint/2010/main">
    <mc:Choice Requires="p14">
      <p:transition spd="slow" p14:dur="2000" advTm="24133"/>
    </mc:Choice>
    <mc:Fallback xmlns="">
      <p:transition spd="slow" advTm="24133"/>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BE66D35-6371-4809-9433-1EBF87915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7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2D60A3-2EA1-6793-2DC7-221C296E56E5}"/>
              </a:ext>
            </a:extLst>
          </p:cNvPr>
          <p:cNvSpPr>
            <a:spLocks noGrp="1"/>
          </p:cNvSpPr>
          <p:nvPr>
            <p:ph type="title"/>
          </p:nvPr>
        </p:nvSpPr>
        <p:spPr>
          <a:xfrm>
            <a:off x="146221" y="397275"/>
            <a:ext cx="2628785" cy="3761257"/>
          </a:xfrm>
        </p:spPr>
        <p:txBody>
          <a:bodyPr vert="horz" lIns="91440" tIns="45720" rIns="91440" bIns="45720" rtlCol="0" anchor="ctr">
            <a:normAutofit/>
          </a:bodyPr>
          <a:lstStyle/>
          <a:p>
            <a:r>
              <a:rPr lang="en-US" sz="3200" dirty="0"/>
              <a:t>Working with </a:t>
            </a:r>
            <a:r>
              <a:rPr lang="en-US" sz="3200" dirty="0">
                <a:solidFill>
                  <a:srgbClr val="FF0000"/>
                </a:solidFill>
              </a:rPr>
              <a:t>Category Data</a:t>
            </a:r>
          </a:p>
        </p:txBody>
      </p:sp>
      <p:grpSp>
        <p:nvGrpSpPr>
          <p:cNvPr id="15" name="Group 14">
            <a:extLst>
              <a:ext uri="{FF2B5EF4-FFF2-40B4-BE49-F238E27FC236}">
                <a16:creationId xmlns:a16="http://schemas.microsoft.com/office/drawing/2014/main" id="{0EB82B4C-9249-4CFC-A372-7B0FF5E36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65226"/>
            <a:ext cx="3048003" cy="2292774"/>
            <a:chOff x="6096002" y="-9073"/>
            <a:chExt cx="6095998" cy="6867073"/>
          </a:xfrm>
        </p:grpSpPr>
        <p:sp>
          <p:nvSpPr>
            <p:cNvPr id="16" name="Rectangle 15">
              <a:extLst>
                <a:ext uri="{FF2B5EF4-FFF2-40B4-BE49-F238E27FC236}">
                  <a16:creationId xmlns:a16="http://schemas.microsoft.com/office/drawing/2014/main" id="{41B9437E-0974-4AB4-8491-D8BDD841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CB975E-33D1-4FB0-AA40-C2250AA66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Picture 3" descr="Graphical user interface, table&#10;&#10;Description automatically generated with medium confidence">
            <a:extLst>
              <a:ext uri="{FF2B5EF4-FFF2-40B4-BE49-F238E27FC236}">
                <a16:creationId xmlns:a16="http://schemas.microsoft.com/office/drawing/2014/main" id="{9282C9CD-FDB6-64E5-6779-A527A9D74A23}"/>
              </a:ext>
            </a:extLst>
          </p:cNvPr>
          <p:cNvPicPr>
            <a:picLocks noChangeAspect="1"/>
          </p:cNvPicPr>
          <p:nvPr/>
        </p:nvPicPr>
        <p:blipFill>
          <a:blip r:embed="rId2"/>
          <a:stretch>
            <a:fillRect/>
          </a:stretch>
        </p:blipFill>
        <p:spPr>
          <a:xfrm>
            <a:off x="3383288" y="397275"/>
            <a:ext cx="7154472" cy="5562600"/>
          </a:xfrm>
          <a:prstGeom prst="rect">
            <a:avLst/>
          </a:prstGeom>
        </p:spPr>
      </p:pic>
    </p:spTree>
    <p:extLst>
      <p:ext uri="{BB962C8B-B14F-4D97-AF65-F5344CB8AC3E}">
        <p14:creationId xmlns:p14="http://schemas.microsoft.com/office/powerpoint/2010/main" val="494175505"/>
      </p:ext>
    </p:extLst>
  </p:cSld>
  <p:clrMapOvr>
    <a:masterClrMapping/>
  </p:clrMapOvr>
  <mc:AlternateContent xmlns:mc="http://schemas.openxmlformats.org/markup-compatibility/2006" xmlns:p14="http://schemas.microsoft.com/office/powerpoint/2010/main">
    <mc:Choice Requires="p14">
      <p:transition spd="slow" p14:dur="2000" advTm="66517"/>
    </mc:Choice>
    <mc:Fallback xmlns="">
      <p:transition spd="slow" advTm="66517"/>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BE66D35-6371-4809-9433-1EBF87915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7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2D60A3-2EA1-6793-2DC7-221C296E56E5}"/>
              </a:ext>
            </a:extLst>
          </p:cNvPr>
          <p:cNvSpPr>
            <a:spLocks noGrp="1"/>
          </p:cNvSpPr>
          <p:nvPr>
            <p:ph type="title"/>
          </p:nvPr>
        </p:nvSpPr>
        <p:spPr>
          <a:xfrm>
            <a:off x="146221" y="397275"/>
            <a:ext cx="2628785" cy="3761257"/>
          </a:xfrm>
        </p:spPr>
        <p:txBody>
          <a:bodyPr vert="horz" lIns="91440" tIns="45720" rIns="91440" bIns="45720" rtlCol="0" anchor="ctr">
            <a:normAutofit/>
          </a:bodyPr>
          <a:lstStyle/>
          <a:p>
            <a:r>
              <a:rPr lang="en-US" sz="3200" dirty="0"/>
              <a:t>Working with Category Data (Cont.)</a:t>
            </a:r>
          </a:p>
        </p:txBody>
      </p:sp>
      <p:grpSp>
        <p:nvGrpSpPr>
          <p:cNvPr id="15" name="Group 14">
            <a:extLst>
              <a:ext uri="{FF2B5EF4-FFF2-40B4-BE49-F238E27FC236}">
                <a16:creationId xmlns:a16="http://schemas.microsoft.com/office/drawing/2014/main" id="{0EB82B4C-9249-4CFC-A372-7B0FF5E36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65226"/>
            <a:ext cx="3048003" cy="2292774"/>
            <a:chOff x="6096002" y="-9073"/>
            <a:chExt cx="6095998" cy="6867073"/>
          </a:xfrm>
        </p:grpSpPr>
        <p:sp>
          <p:nvSpPr>
            <p:cNvPr id="16" name="Rectangle 15">
              <a:extLst>
                <a:ext uri="{FF2B5EF4-FFF2-40B4-BE49-F238E27FC236}">
                  <a16:creationId xmlns:a16="http://schemas.microsoft.com/office/drawing/2014/main" id="{41B9437E-0974-4AB4-8491-D8BDD841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CB975E-33D1-4FB0-AA40-C2250AA66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a:extLst>
              <a:ext uri="{FF2B5EF4-FFF2-40B4-BE49-F238E27FC236}">
                <a16:creationId xmlns:a16="http://schemas.microsoft.com/office/drawing/2014/main" id="{B7D8B1D4-811E-072B-CBCD-44737E7FA83F}"/>
              </a:ext>
            </a:extLst>
          </p:cNvPr>
          <p:cNvPicPr>
            <a:picLocks noChangeAspect="1"/>
          </p:cNvPicPr>
          <p:nvPr/>
        </p:nvPicPr>
        <p:blipFill>
          <a:blip r:embed="rId2"/>
          <a:stretch>
            <a:fillRect/>
          </a:stretch>
        </p:blipFill>
        <p:spPr>
          <a:xfrm>
            <a:off x="3106346" y="234739"/>
            <a:ext cx="8364009" cy="2663993"/>
          </a:xfrm>
          <a:prstGeom prst="rect">
            <a:avLst/>
          </a:prstGeom>
        </p:spPr>
      </p:pic>
      <p:pic>
        <p:nvPicPr>
          <p:cNvPr id="7" name="Picture 6">
            <a:extLst>
              <a:ext uri="{FF2B5EF4-FFF2-40B4-BE49-F238E27FC236}">
                <a16:creationId xmlns:a16="http://schemas.microsoft.com/office/drawing/2014/main" id="{6E51BEDC-E1E2-5426-31F9-B65787957385}"/>
              </a:ext>
            </a:extLst>
          </p:cNvPr>
          <p:cNvPicPr>
            <a:picLocks noChangeAspect="1"/>
          </p:cNvPicPr>
          <p:nvPr/>
        </p:nvPicPr>
        <p:blipFill>
          <a:blip r:embed="rId3"/>
          <a:stretch>
            <a:fillRect/>
          </a:stretch>
        </p:blipFill>
        <p:spPr>
          <a:xfrm>
            <a:off x="1074776" y="3438143"/>
            <a:ext cx="10865408" cy="3206915"/>
          </a:xfrm>
          <a:prstGeom prst="rect">
            <a:avLst/>
          </a:prstGeom>
        </p:spPr>
      </p:pic>
    </p:spTree>
    <p:extLst>
      <p:ext uri="{BB962C8B-B14F-4D97-AF65-F5344CB8AC3E}">
        <p14:creationId xmlns:p14="http://schemas.microsoft.com/office/powerpoint/2010/main" val="2789237727"/>
      </p:ext>
    </p:extLst>
  </p:cSld>
  <p:clrMapOvr>
    <a:masterClrMapping/>
  </p:clrMapOvr>
  <mc:AlternateContent xmlns:mc="http://schemas.openxmlformats.org/markup-compatibility/2006" xmlns:p14="http://schemas.microsoft.com/office/powerpoint/2010/main">
    <mc:Choice Requires="p14">
      <p:transition spd="slow" p14:dur="2000" advTm="109653"/>
    </mc:Choice>
    <mc:Fallback xmlns="">
      <p:transition spd="slow" advTm="109653"/>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2F275-7A5A-A046-8FAF-3207347A4F0B}"/>
              </a:ext>
            </a:extLst>
          </p:cNvPr>
          <p:cNvSpPr>
            <a:spLocks noGrp="1"/>
          </p:cNvSpPr>
          <p:nvPr>
            <p:ph type="title"/>
          </p:nvPr>
        </p:nvSpPr>
        <p:spPr/>
        <p:txBody>
          <a:bodyPr>
            <a:normAutofit/>
          </a:bodyPr>
          <a:lstStyle/>
          <a:p>
            <a:r>
              <a:rPr lang="en-US" dirty="0"/>
              <a:t>Replacing Invalid Values</a:t>
            </a:r>
          </a:p>
        </p:txBody>
      </p:sp>
      <p:pic>
        <p:nvPicPr>
          <p:cNvPr id="4" name="Picture 3">
            <a:extLst>
              <a:ext uri="{FF2B5EF4-FFF2-40B4-BE49-F238E27FC236}">
                <a16:creationId xmlns:a16="http://schemas.microsoft.com/office/drawing/2014/main" id="{A761E387-E9A2-4A78-3398-C69DBDBAC72E}"/>
              </a:ext>
            </a:extLst>
          </p:cNvPr>
          <p:cNvPicPr>
            <a:picLocks noChangeAspect="1"/>
          </p:cNvPicPr>
          <p:nvPr/>
        </p:nvPicPr>
        <p:blipFill>
          <a:blip r:embed="rId2"/>
          <a:stretch>
            <a:fillRect/>
          </a:stretch>
        </p:blipFill>
        <p:spPr>
          <a:xfrm>
            <a:off x="606472" y="1860966"/>
            <a:ext cx="5042488" cy="2938428"/>
          </a:xfrm>
          <a:prstGeom prst="rect">
            <a:avLst/>
          </a:prstGeom>
        </p:spPr>
      </p:pic>
      <p:pic>
        <p:nvPicPr>
          <p:cNvPr id="3" name="Picture 2">
            <a:extLst>
              <a:ext uri="{FF2B5EF4-FFF2-40B4-BE49-F238E27FC236}">
                <a16:creationId xmlns:a16="http://schemas.microsoft.com/office/drawing/2014/main" id="{BCD3C899-E154-9FA7-0591-B33008CF1246}"/>
              </a:ext>
            </a:extLst>
          </p:cNvPr>
          <p:cNvPicPr>
            <a:picLocks noChangeAspect="1"/>
          </p:cNvPicPr>
          <p:nvPr/>
        </p:nvPicPr>
        <p:blipFill>
          <a:blip r:embed="rId3"/>
          <a:stretch>
            <a:fillRect/>
          </a:stretch>
        </p:blipFill>
        <p:spPr>
          <a:xfrm>
            <a:off x="657271" y="4880674"/>
            <a:ext cx="8315657" cy="1355530"/>
          </a:xfrm>
          <a:prstGeom prst="rect">
            <a:avLst/>
          </a:prstGeom>
        </p:spPr>
      </p:pic>
    </p:spTree>
    <p:extLst>
      <p:ext uri="{BB962C8B-B14F-4D97-AF65-F5344CB8AC3E}">
        <p14:creationId xmlns:p14="http://schemas.microsoft.com/office/powerpoint/2010/main" val="3742669077"/>
      </p:ext>
    </p:extLst>
  </p:cSld>
  <p:clrMapOvr>
    <a:masterClrMapping/>
  </p:clrMapOvr>
  <mc:AlternateContent xmlns:mc="http://schemas.openxmlformats.org/markup-compatibility/2006" xmlns:p14="http://schemas.microsoft.com/office/powerpoint/2010/main">
    <mc:Choice Requires="p14">
      <p:transition spd="slow" p14:dur="2000" advTm="109301"/>
    </mc:Choice>
    <mc:Fallback xmlns="">
      <p:transition spd="slow" advTm="109301"/>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2F275-7A5A-A046-8FAF-3207347A4F0B}"/>
              </a:ext>
            </a:extLst>
          </p:cNvPr>
          <p:cNvSpPr>
            <a:spLocks noGrp="1"/>
          </p:cNvSpPr>
          <p:nvPr>
            <p:ph type="title"/>
          </p:nvPr>
        </p:nvSpPr>
        <p:spPr/>
        <p:txBody>
          <a:bodyPr>
            <a:normAutofit/>
          </a:bodyPr>
          <a:lstStyle/>
          <a:p>
            <a:r>
              <a:rPr lang="en-US" dirty="0"/>
              <a:t>Replacing Invalid Values (Cont.)</a:t>
            </a:r>
          </a:p>
        </p:txBody>
      </p:sp>
      <p:pic>
        <p:nvPicPr>
          <p:cNvPr id="5" name="Picture 4">
            <a:extLst>
              <a:ext uri="{FF2B5EF4-FFF2-40B4-BE49-F238E27FC236}">
                <a16:creationId xmlns:a16="http://schemas.microsoft.com/office/drawing/2014/main" id="{8C80CB06-464E-45C9-9D24-09AB709FD20A}"/>
              </a:ext>
            </a:extLst>
          </p:cNvPr>
          <p:cNvPicPr>
            <a:picLocks noChangeAspect="1"/>
          </p:cNvPicPr>
          <p:nvPr/>
        </p:nvPicPr>
        <p:blipFill>
          <a:blip r:embed="rId2"/>
          <a:stretch>
            <a:fillRect/>
          </a:stretch>
        </p:blipFill>
        <p:spPr>
          <a:xfrm>
            <a:off x="624839" y="2065336"/>
            <a:ext cx="10674869" cy="3410904"/>
          </a:xfrm>
          <a:prstGeom prst="rect">
            <a:avLst/>
          </a:prstGeom>
        </p:spPr>
      </p:pic>
    </p:spTree>
    <p:extLst>
      <p:ext uri="{BB962C8B-B14F-4D97-AF65-F5344CB8AC3E}">
        <p14:creationId xmlns:p14="http://schemas.microsoft.com/office/powerpoint/2010/main" val="1525778336"/>
      </p:ext>
    </p:extLst>
  </p:cSld>
  <p:clrMapOvr>
    <a:masterClrMapping/>
  </p:clrMapOvr>
  <mc:AlternateContent xmlns:mc="http://schemas.openxmlformats.org/markup-compatibility/2006" xmlns:p14="http://schemas.microsoft.com/office/powerpoint/2010/main">
    <mc:Choice Requires="p14">
      <p:transition spd="slow" p14:dur="2000" advTm="10949"/>
    </mc:Choice>
    <mc:Fallback xmlns="">
      <p:transition spd="slow" advTm="10949"/>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2F275-7A5A-A046-8FAF-3207347A4F0B}"/>
              </a:ext>
            </a:extLst>
          </p:cNvPr>
          <p:cNvSpPr>
            <a:spLocks noGrp="1"/>
          </p:cNvSpPr>
          <p:nvPr>
            <p:ph type="title"/>
          </p:nvPr>
        </p:nvSpPr>
        <p:spPr/>
        <p:txBody>
          <a:bodyPr>
            <a:normAutofit/>
          </a:bodyPr>
          <a:lstStyle/>
          <a:p>
            <a:r>
              <a:rPr lang="en-US" dirty="0"/>
              <a:t>Replacing Invalid Values (Cont.)</a:t>
            </a:r>
          </a:p>
        </p:txBody>
      </p:sp>
      <p:pic>
        <p:nvPicPr>
          <p:cNvPr id="3" name="Picture 2">
            <a:extLst>
              <a:ext uri="{FF2B5EF4-FFF2-40B4-BE49-F238E27FC236}">
                <a16:creationId xmlns:a16="http://schemas.microsoft.com/office/drawing/2014/main" id="{1F078212-396A-3F43-2135-3E27BF87FF70}"/>
              </a:ext>
            </a:extLst>
          </p:cNvPr>
          <p:cNvPicPr>
            <a:picLocks noChangeAspect="1"/>
          </p:cNvPicPr>
          <p:nvPr/>
        </p:nvPicPr>
        <p:blipFill>
          <a:blip r:embed="rId2"/>
          <a:stretch>
            <a:fillRect/>
          </a:stretch>
        </p:blipFill>
        <p:spPr>
          <a:xfrm>
            <a:off x="484552" y="2064639"/>
            <a:ext cx="11540861" cy="3071288"/>
          </a:xfrm>
          <a:prstGeom prst="rect">
            <a:avLst/>
          </a:prstGeom>
        </p:spPr>
      </p:pic>
      <p:cxnSp>
        <p:nvCxnSpPr>
          <p:cNvPr id="6" name="Straight Arrow Connector 5">
            <a:extLst>
              <a:ext uri="{FF2B5EF4-FFF2-40B4-BE49-F238E27FC236}">
                <a16:creationId xmlns:a16="http://schemas.microsoft.com/office/drawing/2014/main" id="{067ED9A7-6F45-1359-6B3C-66D334B344E0}"/>
              </a:ext>
            </a:extLst>
          </p:cNvPr>
          <p:cNvCxnSpPr/>
          <p:nvPr/>
        </p:nvCxnSpPr>
        <p:spPr>
          <a:xfrm>
            <a:off x="11490960" y="2468880"/>
            <a:ext cx="233680" cy="4368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3126506"/>
      </p:ext>
    </p:extLst>
  </p:cSld>
  <p:clrMapOvr>
    <a:masterClrMapping/>
  </p:clrMapOvr>
  <mc:AlternateContent xmlns:mc="http://schemas.openxmlformats.org/markup-compatibility/2006" xmlns:p14="http://schemas.microsoft.com/office/powerpoint/2010/main">
    <mc:Choice Requires="p14">
      <p:transition spd="slow" p14:dur="2000" advTm="44728"/>
    </mc:Choice>
    <mc:Fallback xmlns="">
      <p:transition spd="slow" advTm="44728"/>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BE66D35-6371-4809-9433-1EBF87915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7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3E4EC0-DDFF-955C-3316-EBF63EB64B88}"/>
              </a:ext>
            </a:extLst>
          </p:cNvPr>
          <p:cNvSpPr>
            <a:spLocks noGrp="1"/>
          </p:cNvSpPr>
          <p:nvPr>
            <p:ph type="title"/>
          </p:nvPr>
        </p:nvSpPr>
        <p:spPr>
          <a:xfrm>
            <a:off x="146221" y="397275"/>
            <a:ext cx="3047998" cy="3761257"/>
          </a:xfrm>
        </p:spPr>
        <p:txBody>
          <a:bodyPr vert="horz" lIns="91440" tIns="45720" rIns="91440" bIns="45720" rtlCol="0" anchor="ctr">
            <a:normAutofit/>
          </a:bodyPr>
          <a:lstStyle/>
          <a:p>
            <a:r>
              <a:rPr lang="en-US" sz="2800" dirty="0"/>
              <a:t>Fixing Data Type Problems </a:t>
            </a:r>
            <a:br>
              <a:rPr lang="en-US" sz="2800" dirty="0"/>
            </a:br>
            <a:r>
              <a:rPr lang="en-US" sz="2800" dirty="0"/>
              <a:t>when Importing the Data</a:t>
            </a:r>
          </a:p>
        </p:txBody>
      </p:sp>
      <p:grpSp>
        <p:nvGrpSpPr>
          <p:cNvPr id="15" name="Group 14">
            <a:extLst>
              <a:ext uri="{FF2B5EF4-FFF2-40B4-BE49-F238E27FC236}">
                <a16:creationId xmlns:a16="http://schemas.microsoft.com/office/drawing/2014/main" id="{0EB82B4C-9249-4CFC-A372-7B0FF5E36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65226"/>
            <a:ext cx="3048003" cy="2292774"/>
            <a:chOff x="6096002" y="-9073"/>
            <a:chExt cx="6095998" cy="6867073"/>
          </a:xfrm>
        </p:grpSpPr>
        <p:sp>
          <p:nvSpPr>
            <p:cNvPr id="16" name="Rectangle 15">
              <a:extLst>
                <a:ext uri="{FF2B5EF4-FFF2-40B4-BE49-F238E27FC236}">
                  <a16:creationId xmlns:a16="http://schemas.microsoft.com/office/drawing/2014/main" id="{41B9437E-0974-4AB4-8491-D8BDD841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CB975E-33D1-4FB0-AA40-C2250AA66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Picture 3" descr="Text&#10;&#10;Description automatically generated with low confidence">
            <a:extLst>
              <a:ext uri="{FF2B5EF4-FFF2-40B4-BE49-F238E27FC236}">
                <a16:creationId xmlns:a16="http://schemas.microsoft.com/office/drawing/2014/main" id="{F2F58FFD-8786-91E6-0C63-45AFA13C89EB}"/>
              </a:ext>
            </a:extLst>
          </p:cNvPr>
          <p:cNvPicPr>
            <a:picLocks noChangeAspect="1"/>
          </p:cNvPicPr>
          <p:nvPr/>
        </p:nvPicPr>
        <p:blipFill rotWithShape="1">
          <a:blip r:embed="rId2"/>
          <a:srcRect l="429"/>
          <a:stretch/>
        </p:blipFill>
        <p:spPr>
          <a:xfrm>
            <a:off x="3574120" y="342393"/>
            <a:ext cx="7874256" cy="5140313"/>
          </a:xfrm>
          <a:prstGeom prst="rect">
            <a:avLst/>
          </a:prstGeom>
        </p:spPr>
      </p:pic>
      <p:cxnSp>
        <p:nvCxnSpPr>
          <p:cNvPr id="7" name="Straight Arrow Connector 6">
            <a:extLst>
              <a:ext uri="{FF2B5EF4-FFF2-40B4-BE49-F238E27FC236}">
                <a16:creationId xmlns:a16="http://schemas.microsoft.com/office/drawing/2014/main" id="{5CB239AE-EDCA-8CD3-FA3C-4852E13068D0}"/>
              </a:ext>
            </a:extLst>
          </p:cNvPr>
          <p:cNvCxnSpPr>
            <a:cxnSpLocks/>
          </p:cNvCxnSpPr>
          <p:nvPr/>
        </p:nvCxnSpPr>
        <p:spPr>
          <a:xfrm>
            <a:off x="3427899" y="3009423"/>
            <a:ext cx="0" cy="142342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1975707"/>
      </p:ext>
    </p:extLst>
  </p:cSld>
  <p:clrMapOvr>
    <a:masterClrMapping/>
  </p:clrMapOvr>
  <mc:AlternateContent xmlns:mc="http://schemas.openxmlformats.org/markup-compatibility/2006" xmlns:p14="http://schemas.microsoft.com/office/powerpoint/2010/main">
    <mc:Choice Requires="p14">
      <p:transition spd="slow" p14:dur="2000" advTm="51018"/>
    </mc:Choice>
    <mc:Fallback xmlns="">
      <p:transition spd="slow" advTm="51018"/>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Slide Background">
            <a:extLst>
              <a:ext uri="{FF2B5EF4-FFF2-40B4-BE49-F238E27FC236}">
                <a16:creationId xmlns:a16="http://schemas.microsoft.com/office/drawing/2014/main" id="{B874FC77-B1AD-4469-830E-1F1D54FBB4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 up of circuit board">
            <a:extLst>
              <a:ext uri="{FF2B5EF4-FFF2-40B4-BE49-F238E27FC236}">
                <a16:creationId xmlns:a16="http://schemas.microsoft.com/office/drawing/2014/main" id="{F87B63FE-3AC2-C03F-5C84-376CF2BBC77A}"/>
              </a:ext>
            </a:extLst>
          </p:cNvPr>
          <p:cNvPicPr>
            <a:picLocks noChangeAspect="1"/>
          </p:cNvPicPr>
          <p:nvPr/>
        </p:nvPicPr>
        <p:blipFill rotWithShape="1">
          <a:blip r:embed="rId3"/>
          <a:srcRect t="7109" b="8621"/>
          <a:stretch/>
        </p:blipFill>
        <p:spPr>
          <a:xfrm>
            <a:off x="20" y="10"/>
            <a:ext cx="12191979" cy="6857988"/>
          </a:xfrm>
          <a:prstGeom prst="rect">
            <a:avLst/>
          </a:prstGeom>
          <a:effectLst>
            <a:outerShdw blurRad="596900" dist="330200" dir="8820000" sx="87000" sy="87000" algn="ctr" rotWithShape="0">
              <a:srgbClr val="000000">
                <a:alpha val="29000"/>
              </a:srgbClr>
            </a:outerShdw>
          </a:effectLst>
        </p:spPr>
      </p:pic>
      <p:sp>
        <p:nvSpPr>
          <p:cNvPr id="13" name="Rectangle 12">
            <a:extLst>
              <a:ext uri="{FF2B5EF4-FFF2-40B4-BE49-F238E27FC236}">
                <a16:creationId xmlns:a16="http://schemas.microsoft.com/office/drawing/2014/main" id="{A6834A66-723F-4B47-BF01-F6D4B2A1B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6027"/>
            <a:ext cx="12192000" cy="22819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0426C9F-24EB-EDCE-3456-4830A6362F98}"/>
              </a:ext>
            </a:extLst>
          </p:cNvPr>
          <p:cNvSpPr>
            <a:spLocks noGrp="1"/>
          </p:cNvSpPr>
          <p:nvPr>
            <p:ph type="title"/>
          </p:nvPr>
        </p:nvSpPr>
        <p:spPr>
          <a:xfrm>
            <a:off x="322729" y="4850597"/>
            <a:ext cx="7885099" cy="1374756"/>
          </a:xfrm>
        </p:spPr>
        <p:txBody>
          <a:bodyPr vert="horz" lIns="91440" tIns="45720" rIns="91440" bIns="45720" rtlCol="0" anchor="ctr">
            <a:normAutofit/>
          </a:bodyPr>
          <a:lstStyle/>
          <a:p>
            <a:r>
              <a:rPr lang="en-US" sz="4000" dirty="0"/>
              <a:t>How to Find and Fix Outliers</a:t>
            </a:r>
          </a:p>
        </p:txBody>
      </p:sp>
    </p:spTree>
    <p:extLst>
      <p:ext uri="{BB962C8B-B14F-4D97-AF65-F5344CB8AC3E}">
        <p14:creationId xmlns:p14="http://schemas.microsoft.com/office/powerpoint/2010/main" val="2264855769"/>
      </p:ext>
    </p:extLst>
  </p:cSld>
  <p:clrMapOvr>
    <a:masterClrMapping/>
  </p:clrMapOvr>
  <mc:AlternateContent xmlns:mc="http://schemas.openxmlformats.org/markup-compatibility/2006" xmlns:p14="http://schemas.microsoft.com/office/powerpoint/2010/main">
    <mc:Choice Requires="p14">
      <p:transition spd="slow" p14:dur="2000" advTm="6368"/>
    </mc:Choice>
    <mc:Fallback xmlns="">
      <p:transition spd="slow" advTm="6368"/>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BE66D35-6371-4809-9433-1EBF87915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7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7E633C-E247-D5AC-7539-35D458A65CEA}"/>
              </a:ext>
            </a:extLst>
          </p:cNvPr>
          <p:cNvSpPr>
            <a:spLocks noGrp="1"/>
          </p:cNvSpPr>
          <p:nvPr>
            <p:ph type="title"/>
          </p:nvPr>
        </p:nvSpPr>
        <p:spPr>
          <a:xfrm>
            <a:off x="146221" y="397275"/>
            <a:ext cx="2628785" cy="3761257"/>
          </a:xfrm>
        </p:spPr>
        <p:txBody>
          <a:bodyPr vert="horz" lIns="91440" tIns="45720" rIns="91440" bIns="45720" rtlCol="0" anchor="ctr">
            <a:normAutofit/>
          </a:bodyPr>
          <a:lstStyle/>
          <a:p>
            <a:r>
              <a:rPr lang="en-US" sz="3200" dirty="0"/>
              <a:t>Finding Outliers</a:t>
            </a:r>
          </a:p>
        </p:txBody>
      </p:sp>
      <p:grpSp>
        <p:nvGrpSpPr>
          <p:cNvPr id="15" name="Group 14">
            <a:extLst>
              <a:ext uri="{FF2B5EF4-FFF2-40B4-BE49-F238E27FC236}">
                <a16:creationId xmlns:a16="http://schemas.microsoft.com/office/drawing/2014/main" id="{0EB82B4C-9249-4CFC-A372-7B0FF5E36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65226"/>
            <a:ext cx="3048003" cy="2292774"/>
            <a:chOff x="6096002" y="-9073"/>
            <a:chExt cx="6095998" cy="6867073"/>
          </a:xfrm>
        </p:grpSpPr>
        <p:sp>
          <p:nvSpPr>
            <p:cNvPr id="16" name="Rectangle 15">
              <a:extLst>
                <a:ext uri="{FF2B5EF4-FFF2-40B4-BE49-F238E27FC236}">
                  <a16:creationId xmlns:a16="http://schemas.microsoft.com/office/drawing/2014/main" id="{41B9437E-0974-4AB4-8491-D8BDD841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CB975E-33D1-4FB0-AA40-C2250AA66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Picture 3">
            <a:extLst>
              <a:ext uri="{FF2B5EF4-FFF2-40B4-BE49-F238E27FC236}">
                <a16:creationId xmlns:a16="http://schemas.microsoft.com/office/drawing/2014/main" id="{373F7AA5-9E3B-E2EE-6482-AB349D207E3A}"/>
              </a:ext>
            </a:extLst>
          </p:cNvPr>
          <p:cNvPicPr>
            <a:picLocks noChangeAspect="1"/>
          </p:cNvPicPr>
          <p:nvPr/>
        </p:nvPicPr>
        <p:blipFill>
          <a:blip r:embed="rId2"/>
          <a:stretch>
            <a:fillRect/>
          </a:stretch>
        </p:blipFill>
        <p:spPr>
          <a:xfrm>
            <a:off x="3194219" y="79672"/>
            <a:ext cx="6578331" cy="6249414"/>
          </a:xfrm>
          <a:prstGeom prst="rect">
            <a:avLst/>
          </a:prstGeom>
        </p:spPr>
      </p:pic>
    </p:spTree>
    <p:extLst>
      <p:ext uri="{BB962C8B-B14F-4D97-AF65-F5344CB8AC3E}">
        <p14:creationId xmlns:p14="http://schemas.microsoft.com/office/powerpoint/2010/main" val="369158322"/>
      </p:ext>
    </p:extLst>
  </p:cSld>
  <p:clrMapOvr>
    <a:masterClrMapping/>
  </p:clrMapOvr>
  <mc:AlternateContent xmlns:mc="http://schemas.openxmlformats.org/markup-compatibility/2006" xmlns:p14="http://schemas.microsoft.com/office/powerpoint/2010/main">
    <mc:Choice Requires="p14">
      <p:transition spd="slow" p14:dur="2000" advTm="71754"/>
    </mc:Choice>
    <mc:Fallback xmlns="">
      <p:transition spd="slow" advTm="71754"/>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BE66D35-6371-4809-9433-1EBF87915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7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FA13DC-6356-144F-5C6E-4B85E588C926}"/>
              </a:ext>
            </a:extLst>
          </p:cNvPr>
          <p:cNvSpPr>
            <a:spLocks noGrp="1"/>
          </p:cNvSpPr>
          <p:nvPr>
            <p:ph type="title"/>
          </p:nvPr>
        </p:nvSpPr>
        <p:spPr>
          <a:xfrm>
            <a:off x="146221" y="397275"/>
            <a:ext cx="2790019" cy="3761257"/>
          </a:xfrm>
        </p:spPr>
        <p:txBody>
          <a:bodyPr vert="horz" lIns="91440" tIns="45720" rIns="91440" bIns="45720" rtlCol="0" anchor="ctr">
            <a:normAutofit/>
          </a:bodyPr>
          <a:lstStyle/>
          <a:p>
            <a:r>
              <a:rPr lang="en-US" sz="3200" dirty="0"/>
              <a:t>Fixing Outliers</a:t>
            </a:r>
          </a:p>
        </p:txBody>
      </p:sp>
      <p:grpSp>
        <p:nvGrpSpPr>
          <p:cNvPr id="15" name="Group 14">
            <a:extLst>
              <a:ext uri="{FF2B5EF4-FFF2-40B4-BE49-F238E27FC236}">
                <a16:creationId xmlns:a16="http://schemas.microsoft.com/office/drawing/2014/main" id="{0EB82B4C-9249-4CFC-A372-7B0FF5E36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65226"/>
            <a:ext cx="3048003" cy="2292774"/>
            <a:chOff x="6096002" y="-9073"/>
            <a:chExt cx="6095998" cy="6867073"/>
          </a:xfrm>
        </p:grpSpPr>
        <p:sp>
          <p:nvSpPr>
            <p:cNvPr id="16" name="Rectangle 15">
              <a:extLst>
                <a:ext uri="{FF2B5EF4-FFF2-40B4-BE49-F238E27FC236}">
                  <a16:creationId xmlns:a16="http://schemas.microsoft.com/office/drawing/2014/main" id="{41B9437E-0974-4AB4-8491-D8BDD841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CB975E-33D1-4FB0-AA40-C2250AA66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Picture 3" descr="Graphical user interface&#10;&#10;Description automatically generated">
            <a:extLst>
              <a:ext uri="{FF2B5EF4-FFF2-40B4-BE49-F238E27FC236}">
                <a16:creationId xmlns:a16="http://schemas.microsoft.com/office/drawing/2014/main" id="{A81D24A7-AE34-D53C-1D2E-8548567DD98D}"/>
              </a:ext>
            </a:extLst>
          </p:cNvPr>
          <p:cNvPicPr>
            <a:picLocks noChangeAspect="1"/>
          </p:cNvPicPr>
          <p:nvPr/>
        </p:nvPicPr>
        <p:blipFill>
          <a:blip r:embed="rId2"/>
          <a:stretch>
            <a:fillRect/>
          </a:stretch>
        </p:blipFill>
        <p:spPr>
          <a:xfrm>
            <a:off x="3194219" y="121920"/>
            <a:ext cx="8069865" cy="6233970"/>
          </a:xfrm>
          <a:prstGeom prst="rect">
            <a:avLst/>
          </a:prstGeom>
        </p:spPr>
      </p:pic>
    </p:spTree>
    <p:extLst>
      <p:ext uri="{BB962C8B-B14F-4D97-AF65-F5344CB8AC3E}">
        <p14:creationId xmlns:p14="http://schemas.microsoft.com/office/powerpoint/2010/main" val="179695825"/>
      </p:ext>
    </p:extLst>
  </p:cSld>
  <p:clrMapOvr>
    <a:masterClrMapping/>
  </p:clrMapOvr>
  <mc:AlternateContent xmlns:mc="http://schemas.openxmlformats.org/markup-compatibility/2006" xmlns:p14="http://schemas.microsoft.com/office/powerpoint/2010/main">
    <mc:Choice Requires="p14">
      <p:transition spd="slow" p14:dur="2000" advTm="192672"/>
    </mc:Choice>
    <mc:Fallback xmlns="">
      <p:transition spd="slow" advTm="192672"/>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BE66D35-6371-4809-9433-1EBF87915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7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FA13DC-6356-144F-5C6E-4B85E588C926}"/>
              </a:ext>
            </a:extLst>
          </p:cNvPr>
          <p:cNvSpPr>
            <a:spLocks noGrp="1"/>
          </p:cNvSpPr>
          <p:nvPr>
            <p:ph type="title"/>
          </p:nvPr>
        </p:nvSpPr>
        <p:spPr>
          <a:xfrm>
            <a:off x="146221" y="397275"/>
            <a:ext cx="2901777" cy="3761257"/>
          </a:xfrm>
        </p:spPr>
        <p:txBody>
          <a:bodyPr vert="horz" lIns="91440" tIns="45720" rIns="91440" bIns="45720" rtlCol="0" anchor="ctr">
            <a:normAutofit/>
          </a:bodyPr>
          <a:lstStyle/>
          <a:p>
            <a:r>
              <a:rPr lang="en-US" sz="3200" dirty="0"/>
              <a:t>Fixing Outliers (Cont.)</a:t>
            </a:r>
          </a:p>
        </p:txBody>
      </p:sp>
      <p:grpSp>
        <p:nvGrpSpPr>
          <p:cNvPr id="15" name="Group 14">
            <a:extLst>
              <a:ext uri="{FF2B5EF4-FFF2-40B4-BE49-F238E27FC236}">
                <a16:creationId xmlns:a16="http://schemas.microsoft.com/office/drawing/2014/main" id="{0EB82B4C-9249-4CFC-A372-7B0FF5E36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65226"/>
            <a:ext cx="3048003" cy="2292774"/>
            <a:chOff x="6096002" y="-9073"/>
            <a:chExt cx="6095998" cy="6867073"/>
          </a:xfrm>
        </p:grpSpPr>
        <p:sp>
          <p:nvSpPr>
            <p:cNvPr id="16" name="Rectangle 15">
              <a:extLst>
                <a:ext uri="{FF2B5EF4-FFF2-40B4-BE49-F238E27FC236}">
                  <a16:creationId xmlns:a16="http://schemas.microsoft.com/office/drawing/2014/main" id="{41B9437E-0974-4AB4-8491-D8BDD841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CB975E-33D1-4FB0-AA40-C2250AA66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Picture 3">
            <a:extLst>
              <a:ext uri="{FF2B5EF4-FFF2-40B4-BE49-F238E27FC236}">
                <a16:creationId xmlns:a16="http://schemas.microsoft.com/office/drawing/2014/main" id="{8165BEB5-8766-F0A4-D823-D774718796AC}"/>
              </a:ext>
            </a:extLst>
          </p:cNvPr>
          <p:cNvPicPr>
            <a:picLocks noChangeAspect="1"/>
          </p:cNvPicPr>
          <p:nvPr/>
        </p:nvPicPr>
        <p:blipFill>
          <a:blip r:embed="rId2"/>
          <a:stretch>
            <a:fillRect/>
          </a:stretch>
        </p:blipFill>
        <p:spPr>
          <a:xfrm>
            <a:off x="3963525" y="0"/>
            <a:ext cx="6869737" cy="4195794"/>
          </a:xfrm>
          <a:prstGeom prst="rect">
            <a:avLst/>
          </a:prstGeom>
        </p:spPr>
      </p:pic>
      <p:pic>
        <p:nvPicPr>
          <p:cNvPr id="6" name="Picture 5">
            <a:extLst>
              <a:ext uri="{FF2B5EF4-FFF2-40B4-BE49-F238E27FC236}">
                <a16:creationId xmlns:a16="http://schemas.microsoft.com/office/drawing/2014/main" id="{C371E9BF-090A-62E8-CF4B-43AC0A7505C4}"/>
              </a:ext>
            </a:extLst>
          </p:cNvPr>
          <p:cNvPicPr>
            <a:picLocks noChangeAspect="1"/>
          </p:cNvPicPr>
          <p:nvPr/>
        </p:nvPicPr>
        <p:blipFill>
          <a:blip r:embed="rId3"/>
          <a:stretch>
            <a:fillRect/>
          </a:stretch>
        </p:blipFill>
        <p:spPr>
          <a:xfrm>
            <a:off x="3656348" y="3801331"/>
            <a:ext cx="7484092" cy="3056669"/>
          </a:xfrm>
          <a:prstGeom prst="rect">
            <a:avLst/>
          </a:prstGeom>
        </p:spPr>
      </p:pic>
    </p:spTree>
    <p:extLst>
      <p:ext uri="{BB962C8B-B14F-4D97-AF65-F5344CB8AC3E}">
        <p14:creationId xmlns:p14="http://schemas.microsoft.com/office/powerpoint/2010/main" val="1823259313"/>
      </p:ext>
    </p:extLst>
  </p:cSld>
  <p:clrMapOvr>
    <a:masterClrMapping/>
  </p:clrMapOvr>
  <mc:AlternateContent xmlns:mc="http://schemas.openxmlformats.org/markup-compatibility/2006" xmlns:p14="http://schemas.microsoft.com/office/powerpoint/2010/main">
    <mc:Choice Requires="p14">
      <p:transition spd="slow" p14:dur="2000" advTm="112599"/>
    </mc:Choice>
    <mc:Fallback xmlns="">
      <p:transition spd="slow" advTm="112599"/>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B1684-BC61-DFC5-EDC3-8167E1D070C1}"/>
              </a:ext>
            </a:extLst>
          </p:cNvPr>
          <p:cNvSpPr>
            <a:spLocks noGrp="1"/>
          </p:cNvSpPr>
          <p:nvPr>
            <p:ph type="title"/>
          </p:nvPr>
        </p:nvSpPr>
        <p:spPr>
          <a:xfrm>
            <a:off x="394636" y="365125"/>
            <a:ext cx="11292148" cy="1078664"/>
          </a:xfrm>
        </p:spPr>
        <p:txBody>
          <a:bodyPr>
            <a:normAutofit fontScale="90000"/>
          </a:bodyPr>
          <a:lstStyle/>
          <a:p>
            <a:r>
              <a:rPr lang="en-US" dirty="0"/>
              <a:t>Annotate the Plots to Highlight the Changes</a:t>
            </a:r>
          </a:p>
        </p:txBody>
      </p:sp>
      <p:pic>
        <p:nvPicPr>
          <p:cNvPr id="1026" name="Picture 2" descr="Free Knowledge Curiosity photo and picture">
            <a:extLst>
              <a:ext uri="{FF2B5EF4-FFF2-40B4-BE49-F238E27FC236}">
                <a16:creationId xmlns:a16="http://schemas.microsoft.com/office/drawing/2014/main" id="{919A4985-9AF5-8006-5018-B2DC904960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570" r="14529" b="-1"/>
          <a:stretch/>
        </p:blipFill>
        <p:spPr bwMode="auto">
          <a:xfrm>
            <a:off x="5951619" y="1914764"/>
            <a:ext cx="6095998" cy="4578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2038056"/>
      </p:ext>
    </p:extLst>
  </p:cSld>
  <p:clrMapOvr>
    <a:masterClrMapping/>
  </p:clrMapOvr>
  <mc:AlternateContent xmlns:mc="http://schemas.openxmlformats.org/markup-compatibility/2006" xmlns:p14="http://schemas.microsoft.com/office/powerpoint/2010/main">
    <mc:Choice Requires="p14">
      <p:transition spd="slow" p14:dur="2000" advTm="8768"/>
    </mc:Choice>
    <mc:Fallback xmlns="">
      <p:transition spd="slow" advTm="8768"/>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A3F5F-2B13-28BD-3ECD-8AB6AFE2D0AB}"/>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05EAA102-EDE6-9B55-37B7-018D15104C33}"/>
              </a:ext>
            </a:extLst>
          </p:cNvPr>
          <p:cNvSpPr>
            <a:spLocks noGrp="1"/>
          </p:cNvSpPr>
          <p:nvPr>
            <p:ph idx="1"/>
          </p:nvPr>
        </p:nvSpPr>
        <p:spPr/>
        <p:txBody>
          <a:bodyPr>
            <a:normAutofit fontScale="92500" lnSpcReduction="20000"/>
          </a:bodyPr>
          <a:lstStyle/>
          <a:p>
            <a:pPr marL="342900" indent="-342900">
              <a:buFont typeface="Arial" panose="020B0604020202020204" pitchFamily="34" charset="0"/>
              <a:buChar char="•"/>
            </a:pPr>
            <a:r>
              <a:rPr lang="en-US" dirty="0"/>
              <a:t>Data science from scratch: first principles with Python, Joel Grus, O'Reilly Media, 2019</a:t>
            </a:r>
          </a:p>
          <a:p>
            <a:pPr marL="342900" indent="-342900">
              <a:buFont typeface="Arial" panose="020B0604020202020204" pitchFamily="34" charset="0"/>
              <a:buChar char="•"/>
            </a:pPr>
            <a:r>
              <a:rPr lang="en-US" dirty="0"/>
              <a:t>Python for Data Analysis: Data Wrangling with Pandas, NumPy, and </a:t>
            </a:r>
            <a:r>
              <a:rPr lang="en-US" dirty="0" err="1"/>
              <a:t>IPython</a:t>
            </a:r>
            <a:r>
              <a:rPr lang="en-US" dirty="0"/>
              <a:t>, Wes McKinney, O'Reilly Media, 3rd edition, 2022. </a:t>
            </a:r>
          </a:p>
          <a:p>
            <a:pPr marL="342900" indent="-342900">
              <a:buFont typeface="Arial" panose="020B0604020202020204" pitchFamily="34" charset="0"/>
              <a:buChar char="•"/>
            </a:pPr>
            <a:r>
              <a:rPr lang="en-US" dirty="0"/>
              <a:t>Python Data Science Handbook: Essential Tools for Working with Data, Jake </a:t>
            </a:r>
            <a:r>
              <a:rPr lang="en-US" dirty="0" err="1"/>
              <a:t>Vanderplas</a:t>
            </a:r>
            <a:r>
              <a:rPr lang="en-US" dirty="0"/>
              <a:t>, O'Reilly Media, 2022</a:t>
            </a:r>
          </a:p>
          <a:p>
            <a:pPr marL="342900" indent="-342900">
              <a:buFont typeface="Arial" panose="020B0604020202020204" pitchFamily="34" charset="0"/>
              <a:buChar char="•"/>
            </a:pPr>
            <a:r>
              <a:rPr lang="en-US" dirty="0" err="1"/>
              <a:t>Murach’s</a:t>
            </a:r>
            <a:r>
              <a:rPr lang="en-US" dirty="0"/>
              <a:t> Python for Data Analysis, Scott McCoy, Mike </a:t>
            </a:r>
            <a:r>
              <a:rPr lang="en-US" dirty="0" err="1"/>
              <a:t>Murach</a:t>
            </a:r>
            <a:r>
              <a:rPr lang="en-US" dirty="0"/>
              <a:t> &amp; Associates, Incorporated, 2021.</a:t>
            </a:r>
          </a:p>
          <a:p>
            <a:pPr marL="342900" indent="-342900">
              <a:buFont typeface="Arial" panose="020B0604020202020204" pitchFamily="34" charset="0"/>
              <a:buChar char="•"/>
            </a:pPr>
            <a:r>
              <a:rPr lang="en-US" dirty="0"/>
              <a:t>Intro to Python for Computer Science and Data Science: Learning to Program with AI, Big Data and The Cloud, Paul </a:t>
            </a:r>
            <a:r>
              <a:rPr lang="en-US" dirty="0" err="1"/>
              <a:t>Deitel</a:t>
            </a:r>
            <a:r>
              <a:rPr lang="en-US" dirty="0"/>
              <a:t>, Pearson Education Limited, 2021.</a:t>
            </a:r>
          </a:p>
          <a:p>
            <a:pPr marL="342900" indent="-342900">
              <a:buFont typeface="Arial" panose="020B0604020202020204" pitchFamily="34" charset="0"/>
              <a:buChar char="•"/>
            </a:pPr>
            <a:r>
              <a:rPr lang="en-US" dirty="0" err="1"/>
              <a:t>ChatGPT</a:t>
            </a:r>
            <a:endParaRPr lang="en-US" dirty="0"/>
          </a:p>
          <a:p>
            <a:br>
              <a:rPr lang="en-US" dirty="0"/>
            </a:br>
            <a:endParaRPr lang="en-US" dirty="0"/>
          </a:p>
        </p:txBody>
      </p:sp>
    </p:spTree>
    <p:extLst>
      <p:ext uri="{BB962C8B-B14F-4D97-AF65-F5344CB8AC3E}">
        <p14:creationId xmlns:p14="http://schemas.microsoft.com/office/powerpoint/2010/main" val="34939364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88" name="Rectangle 3087">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90" name="Slide Background">
            <a:extLst>
              <a:ext uri="{FF2B5EF4-FFF2-40B4-BE49-F238E27FC236}">
                <a16:creationId xmlns:a16="http://schemas.microsoft.com/office/drawing/2014/main" id="{B874FC77-B1AD-4469-830E-1F1D54FBB4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6" name="Picture 4" descr="Free Meeting Modern photo and picture">
            <a:extLst>
              <a:ext uri="{FF2B5EF4-FFF2-40B4-BE49-F238E27FC236}">
                <a16:creationId xmlns:a16="http://schemas.microsoft.com/office/drawing/2014/main" id="{76FBD399-7BE7-EC10-DA33-19A99166B2B1}"/>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17332" b="7668"/>
          <a:stretch/>
        </p:blipFill>
        <p:spPr bwMode="auto">
          <a:xfrm>
            <a:off x="20" y="10"/>
            <a:ext cx="12191979" cy="6857988"/>
          </a:xfrm>
          <a:prstGeom prst="rect">
            <a:avLst/>
          </a:prstGeom>
          <a:noFill/>
          <a:effectLst>
            <a:outerShdw blurRad="596900" dist="330200" dir="8820000" sx="87000" sy="87000" algn="ctr" rotWithShape="0">
              <a:srgbClr val="000000">
                <a:alpha val="29000"/>
              </a:srgbClr>
            </a:outerShdw>
          </a:effectLst>
          <a:extLst>
            <a:ext uri="{909E8E84-426E-40DD-AFC4-6F175D3DCCD1}">
              <a14:hiddenFill xmlns:a14="http://schemas.microsoft.com/office/drawing/2010/main">
                <a:solidFill>
                  <a:srgbClr val="FFFFFF"/>
                </a:solidFill>
              </a14:hiddenFill>
            </a:ext>
          </a:extLst>
        </p:spPr>
      </p:pic>
      <p:sp>
        <p:nvSpPr>
          <p:cNvPr id="3092" name="Rectangle 3091">
            <a:extLst>
              <a:ext uri="{FF2B5EF4-FFF2-40B4-BE49-F238E27FC236}">
                <a16:creationId xmlns:a16="http://schemas.microsoft.com/office/drawing/2014/main" id="{A6834A66-723F-4B47-BF01-F6D4B2A1B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6027"/>
            <a:ext cx="12192000" cy="22819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C61879D-F756-F7EC-BF8D-7396BD0CFCD6}"/>
              </a:ext>
            </a:extLst>
          </p:cNvPr>
          <p:cNvSpPr>
            <a:spLocks noGrp="1"/>
          </p:cNvSpPr>
          <p:nvPr>
            <p:ph type="title"/>
          </p:nvPr>
        </p:nvSpPr>
        <p:spPr>
          <a:xfrm>
            <a:off x="322730" y="4850597"/>
            <a:ext cx="5741086" cy="1374756"/>
          </a:xfrm>
        </p:spPr>
        <p:txBody>
          <a:bodyPr vert="horz" lIns="91440" tIns="45720" rIns="91440" bIns="45720" rtlCol="0" anchor="ctr">
            <a:normAutofit/>
          </a:bodyPr>
          <a:lstStyle/>
          <a:p>
            <a:r>
              <a:rPr lang="en-US" sz="3600" dirty="0"/>
              <a:t>End of lecture …</a:t>
            </a:r>
          </a:p>
        </p:txBody>
      </p:sp>
    </p:spTree>
    <p:extLst>
      <p:ext uri="{BB962C8B-B14F-4D97-AF65-F5344CB8AC3E}">
        <p14:creationId xmlns:p14="http://schemas.microsoft.com/office/powerpoint/2010/main" val="3639124216"/>
      </p:ext>
    </p:extLst>
  </p:cSld>
  <p:clrMapOvr>
    <a:masterClrMapping/>
  </p:clrMapOvr>
  <mc:AlternateContent xmlns:mc="http://schemas.openxmlformats.org/markup-compatibility/2006" xmlns:p14="http://schemas.microsoft.com/office/powerpoint/2010/main">
    <mc:Choice Requires="p14">
      <p:transition spd="slow" p14:dur="2000" advTm="56512"/>
    </mc:Choice>
    <mc:Fallback xmlns="">
      <p:transition spd="slow" advTm="56512"/>
    </mc:Fallback>
  </mc:AlternateContent>
</p:sld>
</file>

<file path=ppt/theme/theme1.xml><?xml version="1.0" encoding="utf-8"?>
<a:theme xmlns:a="http://schemas.openxmlformats.org/drawingml/2006/main" name="MatrixVTI">
  <a:themeElements>
    <a:clrScheme name="AnalogousFromDarkSeedLeftStep">
      <a:dk1>
        <a:srgbClr val="000000"/>
      </a:dk1>
      <a:lt1>
        <a:srgbClr val="FFFFFF"/>
      </a:lt1>
      <a:dk2>
        <a:srgbClr val="2F1B2F"/>
      </a:dk2>
      <a:lt2>
        <a:srgbClr val="F0F3F2"/>
      </a:lt2>
      <a:accent1>
        <a:srgbClr val="E72989"/>
      </a:accent1>
      <a:accent2>
        <a:srgbClr val="D517C6"/>
      </a:accent2>
      <a:accent3>
        <a:srgbClr val="A629E7"/>
      </a:accent3>
      <a:accent4>
        <a:srgbClr val="542AD8"/>
      </a:accent4>
      <a:accent5>
        <a:srgbClr val="294AE7"/>
      </a:accent5>
      <a:accent6>
        <a:srgbClr val="1787D5"/>
      </a:accent6>
      <a:hlink>
        <a:srgbClr val="3F40BF"/>
      </a:hlink>
      <a:folHlink>
        <a:srgbClr val="7F7F7F"/>
      </a:folHlink>
    </a:clrScheme>
    <a:fontScheme name="Custom 4">
      <a:majorFont>
        <a:latin typeface="Bahnschrif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trixVTI" id="{A2576CCC-A559-4FD4-A542-772649F65A84}" vid="{5CBC41A9-80A0-44C6-90CD-6D86303435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{92A7E645-25A4-9944-AA59-369BA7A7B2F7}tf10001070</Template>
  <TotalTime>21702</TotalTime>
  <Words>2341</Words>
  <Application>Microsoft Office PowerPoint</Application>
  <PresentationFormat>Widescreen</PresentationFormat>
  <Paragraphs>230</Paragraphs>
  <Slides>71</Slides>
  <Notes>8</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71</vt:i4>
      </vt:variant>
    </vt:vector>
  </HeadingPairs>
  <TitlesOfParts>
    <vt:vector size="79" baseType="lpstr">
      <vt:lpstr>Arial</vt:lpstr>
      <vt:lpstr>Avenir Next LT Pro</vt:lpstr>
      <vt:lpstr>Calibri</vt:lpstr>
      <vt:lpstr>Cambria</vt:lpstr>
      <vt:lpstr>Montserrat Medium</vt:lpstr>
      <vt:lpstr>Times New Roman</vt:lpstr>
      <vt:lpstr>Wingdings</vt:lpstr>
      <vt:lpstr>MatrixVTI</vt:lpstr>
      <vt:lpstr>Cleaning the Data</vt:lpstr>
      <vt:lpstr>Objectives</vt:lpstr>
      <vt:lpstr>Introduction to Data Cleaning</vt:lpstr>
      <vt:lpstr>What is Data Cleaning?</vt:lpstr>
      <vt:lpstr>Why Data Cleaning?</vt:lpstr>
      <vt:lpstr>Data Cleaning Techniques</vt:lpstr>
      <vt:lpstr>A General Plan for Cleaning a DataFrame</vt:lpstr>
      <vt:lpstr>Before Cleaning …</vt:lpstr>
      <vt:lpstr>Data Cleaning Takes Time …</vt:lpstr>
      <vt:lpstr>How to Identify the Problems?</vt:lpstr>
      <vt:lpstr>Using Documentation</vt:lpstr>
      <vt:lpstr>Documentation that Identifies Some  Data Problems …</vt:lpstr>
      <vt:lpstr>What the info() Method Can Tell You</vt:lpstr>
      <vt:lpstr>The Three Parameters of  the info() Method</vt:lpstr>
      <vt:lpstr>What the info() Method Can Tell You (Cont.)</vt:lpstr>
      <vt:lpstr>What You Should be Looking for …</vt:lpstr>
      <vt:lpstr>Partial Results for the info() Method - The Polls Data</vt:lpstr>
      <vt:lpstr>Partial Results for the info() Method –  The Jobs Data </vt:lpstr>
      <vt:lpstr>The nunique() and unique() methods</vt:lpstr>
      <vt:lpstr>Partial results for the nunique() method – the Polls data</vt:lpstr>
      <vt:lpstr>Partial results for the unique() method – the Polls data</vt:lpstr>
      <vt:lpstr>The value_counts() Method</vt:lpstr>
      <vt:lpstr>How to use value_counts() with  the normalize Parameter</vt:lpstr>
      <vt:lpstr>How to use value_counts( ) with the dropna Parameter</vt:lpstr>
      <vt:lpstr>How to use value_counts( ) with  Multiple Columns</vt:lpstr>
      <vt:lpstr>Can you achieve the same results without using value_counts() ?</vt:lpstr>
      <vt:lpstr>How to Simplify the Data</vt:lpstr>
      <vt:lpstr>The drop( ) Method</vt:lpstr>
      <vt:lpstr>Identifying the columns to drop using  using nunique() </vt:lpstr>
      <vt:lpstr>Dropping Columns</vt:lpstr>
      <vt:lpstr>Dropping Rows based on Conditions</vt:lpstr>
      <vt:lpstr>Dropping Duplicate Rows</vt:lpstr>
      <vt:lpstr>The duplicated( ) Method</vt:lpstr>
      <vt:lpstr>The drop_duplicates( ) Method</vt:lpstr>
      <vt:lpstr>Dropping Duplicate Rows (Cont.)</vt:lpstr>
      <vt:lpstr>What will happen if you run the following line? </vt:lpstr>
      <vt:lpstr>The rename( ) Method</vt:lpstr>
      <vt:lpstr>Renaming Columns</vt:lpstr>
      <vt:lpstr>Python Time   Regular Expressions</vt:lpstr>
      <vt:lpstr>How to Find and Fix Missing Values</vt:lpstr>
      <vt:lpstr>Finding the Number of Missing Values  for each Column</vt:lpstr>
      <vt:lpstr>Finding Rows with Missing Values - a Specific Column</vt:lpstr>
      <vt:lpstr>Finding Rows with Missing Values – Any Column</vt:lpstr>
      <vt:lpstr>Python Time  Using axis in DataFrame Operations</vt:lpstr>
      <vt:lpstr>Finding Rows with No Missing Values for a Specific Column</vt:lpstr>
      <vt:lpstr>Dropping Rows with Missing Values in any Column</vt:lpstr>
      <vt:lpstr>Dropping Rows with Missing Values  for a Threshold</vt:lpstr>
      <vt:lpstr>Dropping Rows with Missing Values  for a Subset of the Columns</vt:lpstr>
      <vt:lpstr>Fill Missing Values in a DataFrame using filna() – The  ‘mean’ method</vt:lpstr>
      <vt:lpstr>Fill Missing Values in a DataFrame using filna() – The ‘forward filling’ method</vt:lpstr>
      <vt:lpstr>Fill Missing Values in a DataFrame using interpolate()</vt:lpstr>
      <vt:lpstr>Interpolation</vt:lpstr>
      <vt:lpstr>How to Fix Data Type Problems</vt:lpstr>
      <vt:lpstr>Finding Date and Number Columns that are Imported as Objects</vt:lpstr>
      <vt:lpstr>Converting date and time strings to datetime</vt:lpstr>
      <vt:lpstr>Formatting the datetime Columns</vt:lpstr>
      <vt:lpstr>Converting Object Columns to  Numeric</vt:lpstr>
      <vt:lpstr>Python Time  pandas_to_numeric</vt:lpstr>
      <vt:lpstr>Working with Category Data</vt:lpstr>
      <vt:lpstr>Working with Category Data (Cont.)</vt:lpstr>
      <vt:lpstr>Replacing Invalid Values</vt:lpstr>
      <vt:lpstr>Replacing Invalid Values (Cont.)</vt:lpstr>
      <vt:lpstr>Replacing Invalid Values (Cont.)</vt:lpstr>
      <vt:lpstr>Fixing Data Type Problems  when Importing the Data</vt:lpstr>
      <vt:lpstr>How to Find and Fix Outliers</vt:lpstr>
      <vt:lpstr>Finding Outliers</vt:lpstr>
      <vt:lpstr>Fixing Outliers</vt:lpstr>
      <vt:lpstr>Fixing Outliers (Cont.)</vt:lpstr>
      <vt:lpstr>Annotate the Plots to Highlight the Changes</vt:lpstr>
      <vt:lpstr>References</vt:lpstr>
      <vt:lpstr>End of lecture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Science</dc:title>
  <dc:creator>Davoud Mougouei</dc:creator>
  <cp:lastModifiedBy>Fatima Ansarizadeh</cp:lastModifiedBy>
  <cp:revision>824</cp:revision>
  <dcterms:created xsi:type="dcterms:W3CDTF">2023-02-28T21:57:24Z</dcterms:created>
  <dcterms:modified xsi:type="dcterms:W3CDTF">2026-08-02T11:40:46Z</dcterms:modified>
</cp:coreProperties>
</file>
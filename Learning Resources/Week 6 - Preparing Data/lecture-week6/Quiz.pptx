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9" r:id="rId2"/>
    <p:sldId id="658" r:id="rId3"/>
    <p:sldId id="660" r:id="rId4"/>
    <p:sldId id="661" r:id="rId5"/>
    <p:sldId id="662" r:id="rId6"/>
    <p:sldId id="663" r:id="rId7"/>
    <p:sldId id="6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3587A-9309-4C87-9BFA-7E5831F7B721}" v="4" dt="2026-08-16T05:00:42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custSel modSld modMainMaster">
      <pc:chgData name="Fatima Ansarizadeh" userId="2e2f4077-aba0-49c7-b26f-c647714fbdc0" providerId="ADAL" clId="{4AF819A5-1A07-4075-8C4E-D726B4CE70A1}" dt="2026-08-16T05:03:27.445" v="43" actId="20577"/>
      <pc:docMkLst>
        <pc:docMk/>
      </pc:docMkLst>
      <pc:sldChg chg="modSp mod">
        <pc:chgData name="Fatima Ansarizadeh" userId="2e2f4077-aba0-49c7-b26f-c647714fbdc0" providerId="ADAL" clId="{4AF819A5-1A07-4075-8C4E-D726B4CE70A1}" dt="2026-08-16T05:02:47.987" v="26" actId="5793"/>
        <pc:sldMkLst>
          <pc:docMk/>
          <pc:sldMk cId="106865386" sldId="658"/>
        </pc:sldMkLst>
        <pc:spChg chg="mod">
          <ac:chgData name="Fatima Ansarizadeh" userId="2e2f4077-aba0-49c7-b26f-c647714fbdc0" providerId="ADAL" clId="{4AF819A5-1A07-4075-8C4E-D726B4CE70A1}" dt="2026-08-16T05:02:47.987" v="26" actId="5793"/>
          <ac:spMkLst>
            <pc:docMk/>
            <pc:sldMk cId="106865386" sldId="658"/>
            <ac:spMk id="3" creationId="{296CD646-596F-4004-EE76-2DC6DE18A254}"/>
          </ac:spMkLst>
        </pc:spChg>
      </pc:sldChg>
      <pc:sldChg chg="modSp mod">
        <pc:chgData name="Fatima Ansarizadeh" userId="2e2f4077-aba0-49c7-b26f-c647714fbdc0" providerId="ADAL" clId="{4AF819A5-1A07-4075-8C4E-D726B4CE70A1}" dt="2026-08-16T05:02:54.421" v="28" actId="1076"/>
        <pc:sldMkLst>
          <pc:docMk/>
          <pc:sldMk cId="3068468060" sldId="659"/>
        </pc:sldMkLst>
        <pc:spChg chg="mod">
          <ac:chgData name="Fatima Ansarizadeh" userId="2e2f4077-aba0-49c7-b26f-c647714fbdc0" providerId="ADAL" clId="{4AF819A5-1A07-4075-8C4E-D726B4CE70A1}" dt="2026-08-16T05:02:54.421" v="28" actId="1076"/>
          <ac:spMkLst>
            <pc:docMk/>
            <pc:sldMk cId="3068468060" sldId="659"/>
            <ac:spMk id="3" creationId="{4DDD689A-C064-726D-CA38-12A9483A93D3}"/>
          </ac:spMkLst>
        </pc:spChg>
      </pc:sldChg>
      <pc:sldChg chg="modSp mod">
        <pc:chgData name="Fatima Ansarizadeh" userId="2e2f4077-aba0-49c7-b26f-c647714fbdc0" providerId="ADAL" clId="{4AF819A5-1A07-4075-8C4E-D726B4CE70A1}" dt="2026-08-16T05:02:40.119" v="25" actId="5793"/>
        <pc:sldMkLst>
          <pc:docMk/>
          <pc:sldMk cId="863528772" sldId="660"/>
        </pc:sldMkLst>
        <pc:spChg chg="mod">
          <ac:chgData name="Fatima Ansarizadeh" userId="2e2f4077-aba0-49c7-b26f-c647714fbdc0" providerId="ADAL" clId="{4AF819A5-1A07-4075-8C4E-D726B4CE70A1}" dt="2026-08-16T05:02:40.119" v="25" actId="5793"/>
          <ac:spMkLst>
            <pc:docMk/>
            <pc:sldMk cId="863528772" sldId="660"/>
            <ac:spMk id="3" creationId="{F47B9F45-6A32-68D0-92D8-4F6C97E34C41}"/>
          </ac:spMkLst>
        </pc:spChg>
        <pc:spChg chg="mod">
          <ac:chgData name="Fatima Ansarizadeh" userId="2e2f4077-aba0-49c7-b26f-c647714fbdc0" providerId="ADAL" clId="{4AF819A5-1A07-4075-8C4E-D726B4CE70A1}" dt="2026-08-16T05:02:17.365" v="10" actId="1076"/>
          <ac:spMkLst>
            <pc:docMk/>
            <pc:sldMk cId="863528772" sldId="660"/>
            <ac:spMk id="6" creationId="{2F22BE3F-2A45-E11F-D602-3768EAE95B38}"/>
          </ac:spMkLst>
        </pc:spChg>
      </pc:sldChg>
      <pc:sldChg chg="modSp mod">
        <pc:chgData name="Fatima Ansarizadeh" userId="2e2f4077-aba0-49c7-b26f-c647714fbdc0" providerId="ADAL" clId="{4AF819A5-1A07-4075-8C4E-D726B4CE70A1}" dt="2026-08-16T05:02:59.124" v="29" actId="5793"/>
        <pc:sldMkLst>
          <pc:docMk/>
          <pc:sldMk cId="2642017546" sldId="661"/>
        </pc:sldMkLst>
        <pc:spChg chg="mod">
          <ac:chgData name="Fatima Ansarizadeh" userId="2e2f4077-aba0-49c7-b26f-c647714fbdc0" providerId="ADAL" clId="{4AF819A5-1A07-4075-8C4E-D726B4CE70A1}" dt="2026-08-16T05:02:59.124" v="29" actId="5793"/>
          <ac:spMkLst>
            <pc:docMk/>
            <pc:sldMk cId="2642017546" sldId="661"/>
            <ac:spMk id="3" creationId="{5F594099-1F7D-E94C-3EAE-46744346CFC4}"/>
          </ac:spMkLst>
        </pc:spChg>
      </pc:sldChg>
      <pc:sldChg chg="modSp mod">
        <pc:chgData name="Fatima Ansarizadeh" userId="2e2f4077-aba0-49c7-b26f-c647714fbdc0" providerId="ADAL" clId="{4AF819A5-1A07-4075-8C4E-D726B4CE70A1}" dt="2026-08-16T05:02:37.206" v="24" actId="5793"/>
        <pc:sldMkLst>
          <pc:docMk/>
          <pc:sldMk cId="2348685679" sldId="662"/>
        </pc:sldMkLst>
        <pc:spChg chg="mod">
          <ac:chgData name="Fatima Ansarizadeh" userId="2e2f4077-aba0-49c7-b26f-c647714fbdc0" providerId="ADAL" clId="{4AF819A5-1A07-4075-8C4E-D726B4CE70A1}" dt="2026-08-16T05:02:37.206" v="24" actId="5793"/>
          <ac:spMkLst>
            <pc:docMk/>
            <pc:sldMk cId="2348685679" sldId="662"/>
            <ac:spMk id="3" creationId="{699875AE-4B2A-863A-A248-21971C38100B}"/>
          </ac:spMkLst>
        </pc:spChg>
      </pc:sldChg>
      <pc:sldChg chg="modSp mod">
        <pc:chgData name="Fatima Ansarizadeh" userId="2e2f4077-aba0-49c7-b26f-c647714fbdc0" providerId="ADAL" clId="{4AF819A5-1A07-4075-8C4E-D726B4CE70A1}" dt="2026-08-16T05:03:16.075" v="37" actId="1076"/>
        <pc:sldMkLst>
          <pc:docMk/>
          <pc:sldMk cId="4021436155" sldId="663"/>
        </pc:sldMkLst>
        <pc:spChg chg="mod">
          <ac:chgData name="Fatima Ansarizadeh" userId="2e2f4077-aba0-49c7-b26f-c647714fbdc0" providerId="ADAL" clId="{4AF819A5-1A07-4075-8C4E-D726B4CE70A1}" dt="2026-08-16T05:03:06.404" v="34" actId="20577"/>
          <ac:spMkLst>
            <pc:docMk/>
            <pc:sldMk cId="4021436155" sldId="663"/>
            <ac:spMk id="3" creationId="{309FFCBA-75EE-C168-BA21-4992E990F623}"/>
          </ac:spMkLst>
        </pc:spChg>
        <pc:spChg chg="mod">
          <ac:chgData name="Fatima Ansarizadeh" userId="2e2f4077-aba0-49c7-b26f-c647714fbdc0" providerId="ADAL" clId="{4AF819A5-1A07-4075-8C4E-D726B4CE70A1}" dt="2026-08-16T05:03:16.075" v="37" actId="1076"/>
          <ac:spMkLst>
            <pc:docMk/>
            <pc:sldMk cId="4021436155" sldId="663"/>
            <ac:spMk id="6" creationId="{560C98AE-0092-686D-F4B3-5867B0BBDB8C}"/>
          </ac:spMkLst>
        </pc:spChg>
      </pc:sldChg>
      <pc:sldChg chg="modSp mod">
        <pc:chgData name="Fatima Ansarizadeh" userId="2e2f4077-aba0-49c7-b26f-c647714fbdc0" providerId="ADAL" clId="{4AF819A5-1A07-4075-8C4E-D726B4CE70A1}" dt="2026-08-16T05:03:27.445" v="43" actId="20577"/>
        <pc:sldMkLst>
          <pc:docMk/>
          <pc:sldMk cId="938942753" sldId="664"/>
        </pc:sldMkLst>
        <pc:spChg chg="mod">
          <ac:chgData name="Fatima Ansarizadeh" userId="2e2f4077-aba0-49c7-b26f-c647714fbdc0" providerId="ADAL" clId="{4AF819A5-1A07-4075-8C4E-D726B4CE70A1}" dt="2026-08-16T05:03:27.445" v="43" actId="20577"/>
          <ac:spMkLst>
            <pc:docMk/>
            <pc:sldMk cId="938942753" sldId="664"/>
            <ac:spMk id="3" creationId="{4A0810D1-3DA9-FC49-AE35-4A153C187798}"/>
          </ac:spMkLst>
        </pc:spChg>
        <pc:spChg chg="mod">
          <ac:chgData name="Fatima Ansarizadeh" userId="2e2f4077-aba0-49c7-b26f-c647714fbdc0" providerId="ADAL" clId="{4AF819A5-1A07-4075-8C4E-D726B4CE70A1}" dt="2026-08-16T05:03:23.761" v="38" actId="1076"/>
          <ac:spMkLst>
            <pc:docMk/>
            <pc:sldMk cId="938942753" sldId="664"/>
            <ac:spMk id="4" creationId="{E0088DA9-B626-DAB2-957D-8237A845783A}"/>
          </ac:spMkLst>
        </pc:spChg>
      </pc:sldChg>
      <pc:sldMasterChg chg="modSldLayout">
        <pc:chgData name="Fatima Ansarizadeh" userId="2e2f4077-aba0-49c7-b26f-c647714fbdc0" providerId="ADAL" clId="{4AF819A5-1A07-4075-8C4E-D726B4CE70A1}" dt="2026-08-16T05:00:42.027" v="1"/>
        <pc:sldMasterMkLst>
          <pc:docMk/>
          <pc:sldMasterMk cId="3058354458" sldId="2147483648"/>
        </pc:sldMasterMkLst>
        <pc:sldLayoutChg chg="delSp setBg">
          <pc:chgData name="Fatima Ansarizadeh" userId="2e2f4077-aba0-49c7-b26f-c647714fbdc0" providerId="ADAL" clId="{4AF819A5-1A07-4075-8C4E-D726B4CE70A1}" dt="2026-08-16T05:00:42.027" v="1"/>
          <pc:sldLayoutMkLst>
            <pc:docMk/>
            <pc:sldMasterMk cId="3058354458" sldId="2147483648"/>
            <pc:sldLayoutMk cId="3674740787" sldId="2147483650"/>
          </pc:sldLayoutMkLst>
          <pc:spChg chg="del">
            <ac:chgData name="Fatima Ansarizadeh" userId="2e2f4077-aba0-49c7-b26f-c647714fbdc0" providerId="ADAL" clId="{4AF819A5-1A07-4075-8C4E-D726B4CE70A1}" dt="2026-08-16T05:00:42.027" v="1"/>
            <ac:spMkLst>
              <pc:docMk/>
              <pc:sldMasterMk cId="3058354458" sldId="2147483648"/>
              <pc:sldLayoutMk cId="3674740787" sldId="2147483650"/>
              <ac:spMk id="4" creationId="{F676A634-6CE2-9CD5-C825-8C45B1A1480B}"/>
            </ac:spMkLst>
          </pc:spChg>
          <pc:spChg chg="del">
            <ac:chgData name="Fatima Ansarizadeh" userId="2e2f4077-aba0-49c7-b26f-c647714fbdc0" providerId="ADAL" clId="{4AF819A5-1A07-4075-8C4E-D726B4CE70A1}" dt="2026-08-16T05:00:42.027" v="1"/>
            <ac:spMkLst>
              <pc:docMk/>
              <pc:sldMasterMk cId="3058354458" sldId="2147483648"/>
              <pc:sldLayoutMk cId="3674740787" sldId="2147483650"/>
              <ac:spMk id="5" creationId="{7084616F-4F41-D535-1ECE-2F1FD0EA0442}"/>
            </ac:spMkLst>
          </pc:spChg>
          <pc:spChg chg="del">
            <ac:chgData name="Fatima Ansarizadeh" userId="2e2f4077-aba0-49c7-b26f-c647714fbdc0" providerId="ADAL" clId="{4AF819A5-1A07-4075-8C4E-D726B4CE70A1}" dt="2026-08-16T05:00:42.027" v="1"/>
            <ac:spMkLst>
              <pc:docMk/>
              <pc:sldMasterMk cId="3058354458" sldId="2147483648"/>
              <pc:sldLayoutMk cId="3674740787" sldId="2147483650"/>
              <ac:spMk id="6" creationId="{C167552C-5191-D983-13D9-EB3BDD2E1536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9FBA-DCC2-B817-48DB-B4CC03A8E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4E6B-07E1-9E2D-B9D2-E4F5471EA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ADC3-5437-2A14-A5C7-5168BCA1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BE263-1B84-7EC5-5FF7-320B6602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13083-4F0F-C988-D29E-EC0A670D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781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1E21-D347-962C-DC3C-86504589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D507-E994-DD9F-0323-D8216B645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740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0B76-006F-3BD0-7D36-77BBF092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79D24-D0B7-2A00-4698-C51E717F4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78968-E630-445B-C5F9-B300A6B9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FD8FA-CBFA-32EA-A5D6-3A1FDD9D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EE495-3F23-8115-271F-A9CD0F2D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12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EAEE-63D3-6A9A-B38B-EA09CED9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69CA-DB8B-123F-23C4-16459F85A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603A2-3040-82CB-1E71-C368907DB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F4CCD-6459-FE76-9928-1F5F563D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92BD1-D723-9796-AB1B-82DF68E1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C5F0-153A-105D-42B3-49937B61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612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5B39-F45E-A834-B86F-8283C22BC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66770-B8EB-6250-363A-A57F2DB4D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47659-2FC7-E914-C158-7BEC2E5EB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F6AE6-1343-1BB2-181E-F92CA0871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8E2DD-5554-F0E8-98DE-667A4758C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98C41C-1812-13AB-AA1B-CB745FA39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53F43-6D4B-F368-3791-6E96F675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A4730-6A85-8638-A9C2-2453E533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45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9310-F4B6-874E-E8E7-26A06E95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B7615-E304-44C1-E940-57965327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C088B-2F85-E974-183C-5C9460F3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CEB86-E653-B200-EE9A-8F34E36A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21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58E36-AD67-7AD2-E8F3-CB9002BC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CACB0-E0F5-8B2D-5B8B-1EDD2F0D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D53EF-D3A8-85C0-CE8C-3D1C15DD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92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7A52-3F2B-BD19-E925-E6B22A36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F2FCB-8307-A748-2A46-120F1CFC8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EAAB-8111-FF65-AC36-AD60962EE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9FC1B-F5CE-EAD0-E38A-4FF2EB7B3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2E4B7-9B7D-8B1E-77C5-FC95A363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D6E0C-5A29-FDA0-87D8-6FEC44AE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0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6DD3-AEF4-1090-B19D-7ED9E88D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42B10-600E-DBC6-E9DA-DFEFBA37F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4B226-43BE-CA7E-FB4F-85BDB810A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F1591-857D-2E7F-BE5C-EF6EAF6E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DA941-9566-8515-2539-8D488292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8F71B-F2B0-B786-F11A-0E4E2374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01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520B-5B99-5309-D9A0-09C435CB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3AD06-A6A2-E730-0D3C-201846382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C7CFB-BBA3-84CD-B8E3-93336836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8F627-7BC1-404D-9E0E-17AFEB83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CCA89-047F-F7A1-6A2E-F60AD532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276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9130E-1007-9F7F-D6E0-1BE584047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84269-0877-C800-8B4E-AB46F7133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9DBB-2961-B641-596F-CBF37F1B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81F8F-B3D0-C460-AB66-A6F9E6F6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3AD92-D480-DBA6-DBDF-A421825E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14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B6EE4-5540-F8DB-DF72-C3208ECB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E8EB2-D4D9-EE6C-5EEB-132D7525F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B6F79-E0D3-53E0-522F-1CC3C1230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08774-CD89-470A-9161-EB886E80B919}" type="datetimeFigureOut">
              <a:rPr lang="en-AU" smtClean="0"/>
              <a:t>16/08/2026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002AB-C267-2445-EB92-4CE4F33A6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EF681-9A83-401E-9584-17F0B80AD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DEBB1-6A2E-4EF4-9225-9259977C54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835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FF99-A227-28D3-FCB6-2104AF96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5E03-49E2-EE61-D34B-545810FD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689A-C064-726D-CA38-12A9483A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731044"/>
            <a:ext cx="10869248" cy="3891713"/>
          </a:xfrm>
        </p:spPr>
        <p:txBody>
          <a:bodyPr>
            <a:normAutofit lnSpcReduction="10000"/>
          </a:bodyPr>
          <a:lstStyle/>
          <a:p>
            <a:r>
              <a:rPr lang="en-AU" dirty="0"/>
              <a:t>Choose the best answer for each question. Discuss your choice with the student beside you before the answer is revealed.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b="1" dirty="0"/>
              <a:t>1. Data-Type Detective 🔍</a:t>
            </a:r>
          </a:p>
          <a:p>
            <a:r>
              <a:rPr lang="en-AU" dirty="0"/>
              <a:t>Which code displays the data type of </a:t>
            </a:r>
            <a:r>
              <a:rPr lang="en-AU" b="1" dirty="0"/>
              <a:t>every column</a:t>
            </a:r>
            <a:r>
              <a:rPr lang="en-AU" dirty="0"/>
              <a:t> in fires?</a:t>
            </a:r>
          </a:p>
          <a:p>
            <a:r>
              <a:rPr lang="en-AU" dirty="0"/>
              <a:t>A. </a:t>
            </a:r>
            <a:r>
              <a:rPr lang="en-AU" dirty="0" err="1"/>
              <a:t>fires.dtype</a:t>
            </a:r>
            <a:br>
              <a:rPr lang="en-AU" dirty="0"/>
            </a:br>
            <a:r>
              <a:rPr lang="en-AU" dirty="0"/>
              <a:t>B. </a:t>
            </a:r>
            <a:r>
              <a:rPr lang="en-AU" dirty="0" err="1"/>
              <a:t>fires.dtypes</a:t>
            </a:r>
            <a:br>
              <a:rPr lang="en-AU" dirty="0"/>
            </a:br>
            <a:r>
              <a:rPr lang="en-AU" dirty="0"/>
              <a:t>C. </a:t>
            </a:r>
            <a:r>
              <a:rPr lang="en-AU" dirty="0" err="1"/>
              <a:t>fires.type</a:t>
            </a:r>
            <a:r>
              <a:rPr lang="en-AU" dirty="0"/>
              <a:t>()</a:t>
            </a:r>
            <a:br>
              <a:rPr lang="en-AU" dirty="0"/>
            </a:br>
            <a:r>
              <a:rPr lang="en-AU" dirty="0"/>
              <a:t>D. </a:t>
            </a:r>
            <a:r>
              <a:rPr lang="en-AU" dirty="0" err="1"/>
              <a:t>fires.columns</a:t>
            </a:r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B760C-3075-F58E-E6A2-136C09263F61}"/>
              </a:ext>
            </a:extLst>
          </p:cNvPr>
          <p:cNvSpPr txBox="1"/>
          <p:nvPr/>
        </p:nvSpPr>
        <p:spPr>
          <a:xfrm>
            <a:off x="860079" y="7260879"/>
            <a:ext cx="3276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1    Answer: B — </a:t>
            </a:r>
            <a:r>
              <a:rPr lang="en-AU" b="1" dirty="0" err="1"/>
              <a:t>fires.dtypes</a:t>
            </a:r>
            <a:endParaRPr lang="en-AU" dirty="0"/>
          </a:p>
          <a:p>
            <a:endParaRPr lang="en-AU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D209138-3B93-600C-B529-B36EBB0ECECE}"/>
              </a:ext>
            </a:extLst>
          </p:cNvPr>
          <p:cNvSpPr/>
          <p:nvPr/>
        </p:nvSpPr>
        <p:spPr>
          <a:xfrm>
            <a:off x="7252580" y="3676901"/>
            <a:ext cx="4771176" cy="2879002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/>
              <a:t>Answer: B — fires.dtypes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84680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18A4-2C80-4E8B-B45C-B344E1C2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CD646-596F-4004-EE76-2DC6DE18A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536745"/>
            <a:ext cx="10869248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2. Fix the Index 🔢</a:t>
            </a:r>
          </a:p>
          <a:p>
            <a:r>
              <a:rPr lang="en-AU" dirty="0"/>
              <a:t>The first row of fires has index 16. Which code creates a new index beginning at 0 and removes the old index?</a:t>
            </a:r>
          </a:p>
          <a:p>
            <a:r>
              <a:rPr lang="en-AU" dirty="0"/>
              <a:t>A. </a:t>
            </a:r>
            <a:r>
              <a:rPr lang="en-AU" dirty="0" err="1"/>
              <a:t>fires.reset_index</a:t>
            </a:r>
            <a:r>
              <a:rPr lang="en-AU" dirty="0"/>
              <a:t>()</a:t>
            </a:r>
            <a:br>
              <a:rPr lang="en-AU" dirty="0"/>
            </a:br>
            <a:r>
              <a:rPr lang="en-AU" dirty="0"/>
              <a:t>B. </a:t>
            </a:r>
            <a:r>
              <a:rPr lang="en-AU" dirty="0" err="1"/>
              <a:t>fires.reset_index</a:t>
            </a:r>
            <a:r>
              <a:rPr lang="en-AU" dirty="0"/>
              <a:t>(drop=True)</a:t>
            </a:r>
            <a:br>
              <a:rPr lang="en-AU" dirty="0"/>
            </a:br>
            <a:r>
              <a:rPr lang="en-AU" dirty="0"/>
              <a:t>C. </a:t>
            </a:r>
            <a:r>
              <a:rPr lang="en-AU" dirty="0" err="1"/>
              <a:t>fires.drop_index</a:t>
            </a:r>
            <a:r>
              <a:rPr lang="en-AU" dirty="0"/>
              <a:t>()</a:t>
            </a:r>
            <a:br>
              <a:rPr lang="en-AU" dirty="0"/>
            </a:br>
            <a:r>
              <a:rPr lang="en-AU" dirty="0"/>
              <a:t>D. </a:t>
            </a:r>
            <a:r>
              <a:rPr lang="en-AU" dirty="0" err="1"/>
              <a:t>fires.index</a:t>
            </a:r>
            <a:r>
              <a:rPr lang="en-AU" dirty="0"/>
              <a:t>(0)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8BAF6-B68A-FC0C-9B10-C581B9017298}"/>
              </a:ext>
            </a:extLst>
          </p:cNvPr>
          <p:cNvSpPr txBox="1"/>
          <p:nvPr/>
        </p:nvSpPr>
        <p:spPr>
          <a:xfrm>
            <a:off x="334978" y="7278986"/>
            <a:ext cx="4772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Answer: B — </a:t>
            </a:r>
            <a:r>
              <a:rPr lang="en-AU" b="1" dirty="0" err="1"/>
              <a:t>fires.reset_index</a:t>
            </a:r>
            <a:r>
              <a:rPr lang="en-AU" b="1" dirty="0"/>
              <a:t>(drop=True)</a:t>
            </a:r>
            <a:endParaRPr lang="en-AU" dirty="0"/>
          </a:p>
          <a:p>
            <a:endParaRPr lang="en-AU" dirty="0"/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3811AFF9-4A2C-0862-8F44-3AFE015CD2EC}"/>
              </a:ext>
            </a:extLst>
          </p:cNvPr>
          <p:cNvSpPr/>
          <p:nvPr/>
        </p:nvSpPr>
        <p:spPr>
          <a:xfrm>
            <a:off x="6790853" y="4211900"/>
            <a:ext cx="3973717" cy="2181885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Answer: B — </a:t>
            </a:r>
            <a:r>
              <a:rPr lang="en-AU" b="1" dirty="0" err="1"/>
              <a:t>fires.reset_index</a:t>
            </a:r>
            <a:r>
              <a:rPr lang="en-AU" b="1" dirty="0"/>
              <a:t>(drop=True)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86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73C4-C4A2-A191-0FF9-BFA0C6DA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DE82-8D35-6F47-7EAC-4893542D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B9F45-6A32-68D0-92D8-4F6C97E34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902505"/>
            <a:ext cx="10869248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3. Find the Fire Month 📅</a:t>
            </a:r>
          </a:p>
          <a:p>
            <a:r>
              <a:rPr lang="en-AU" dirty="0"/>
              <a:t>What does this code store in </a:t>
            </a:r>
            <a:r>
              <a:rPr lang="en-AU" dirty="0" err="1"/>
              <a:t>fire_month</a:t>
            </a:r>
            <a:r>
              <a:rPr lang="en-AU" dirty="0"/>
              <a:t>?</a:t>
            </a:r>
          </a:p>
          <a:p>
            <a:r>
              <a:rPr lang="en-AU" dirty="0"/>
              <a:t>fires['</a:t>
            </a:r>
            <a:r>
              <a:rPr lang="en-AU" dirty="0" err="1"/>
              <a:t>fire_month</a:t>
            </a:r>
            <a:r>
              <a:rPr lang="en-AU" dirty="0"/>
              <a:t>'] = </a:t>
            </a:r>
            <a:r>
              <a:rPr lang="en-AU" dirty="0" err="1"/>
              <a:t>fires.discovery_date.dt.month</a:t>
            </a:r>
            <a:endParaRPr lang="en-AU" dirty="0"/>
          </a:p>
          <a:p>
            <a:r>
              <a:rPr lang="en-AU" dirty="0"/>
              <a:t>A. The complete discovery date</a:t>
            </a:r>
            <a:br>
              <a:rPr lang="en-AU" dirty="0"/>
            </a:br>
            <a:r>
              <a:rPr lang="en-AU" dirty="0"/>
              <a:t>B. The name of the month</a:t>
            </a:r>
            <a:br>
              <a:rPr lang="en-AU" dirty="0"/>
            </a:br>
            <a:r>
              <a:rPr lang="en-AU" dirty="0"/>
              <a:t>C. The month as a number from 1 to 12</a:t>
            </a:r>
            <a:br>
              <a:rPr lang="en-AU" dirty="0"/>
            </a:br>
            <a:r>
              <a:rPr lang="en-AU" dirty="0"/>
              <a:t>D. The year of the fire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7C4EE-778A-E288-FFA1-7B1680194DD7}"/>
              </a:ext>
            </a:extLst>
          </p:cNvPr>
          <p:cNvSpPr txBox="1"/>
          <p:nvPr/>
        </p:nvSpPr>
        <p:spPr>
          <a:xfrm>
            <a:off x="334978" y="7278986"/>
            <a:ext cx="5594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Answer: C — the month as a number from 1 to 12</a:t>
            </a:r>
            <a:endParaRPr lang="en-AU" dirty="0"/>
          </a:p>
          <a:p>
            <a:endParaRPr lang="en-AU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2F22BE3F-2A45-E11F-D602-3768EAE95B38}"/>
              </a:ext>
            </a:extLst>
          </p:cNvPr>
          <p:cNvSpPr/>
          <p:nvPr/>
        </p:nvSpPr>
        <p:spPr>
          <a:xfrm>
            <a:off x="7110259" y="3556067"/>
            <a:ext cx="3973717" cy="2181885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Answer: C — the month as a number from 1 to 12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352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F5D3-4024-FB50-CD12-B2EAF33F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0366-232E-3A23-B169-BD8D688E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4099-1F7D-E94C-3EAE-46744346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04" y="1690688"/>
            <a:ext cx="10869248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4. Name Makeover ✨</a:t>
            </a:r>
          </a:p>
          <a:p>
            <a:r>
              <a:rPr lang="en-AU" dirty="0"/>
              <a:t>Suppose a fire name is stored as "BIG RIVER FIRE". What will this code produce?</a:t>
            </a:r>
          </a:p>
          <a:p>
            <a:r>
              <a:rPr lang="en-AU" dirty="0" err="1"/>
              <a:t>fires.fire_name.str.title</a:t>
            </a:r>
            <a:r>
              <a:rPr lang="en-AU" dirty="0"/>
              <a:t>()</a:t>
            </a:r>
          </a:p>
          <a:p>
            <a:r>
              <a:rPr lang="en-AU" dirty="0"/>
              <a:t>A. BIG RIVER FIRE</a:t>
            </a:r>
            <a:br>
              <a:rPr lang="en-AU" dirty="0"/>
            </a:br>
            <a:r>
              <a:rPr lang="en-AU" dirty="0"/>
              <a:t>B. big river fire</a:t>
            </a:r>
            <a:br>
              <a:rPr lang="en-AU" dirty="0"/>
            </a:br>
            <a:r>
              <a:rPr lang="en-AU" dirty="0"/>
              <a:t>C. Big River Fire</a:t>
            </a:r>
            <a:br>
              <a:rPr lang="en-AU" dirty="0"/>
            </a:br>
            <a:r>
              <a:rPr lang="en-AU" dirty="0"/>
              <a:t>D. Big river fire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96BB5-8D3D-6891-F200-96AE0D92CE63}"/>
              </a:ext>
            </a:extLst>
          </p:cNvPr>
          <p:cNvSpPr txBox="1"/>
          <p:nvPr/>
        </p:nvSpPr>
        <p:spPr>
          <a:xfrm>
            <a:off x="334978" y="7278986"/>
            <a:ext cx="3077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Answer: C — Big River Fire</a:t>
            </a:r>
            <a:endParaRPr lang="en-AU" dirty="0"/>
          </a:p>
          <a:p>
            <a:endParaRPr lang="en-AU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A91474A-D48B-D6D5-CE21-770DF1260D3F}"/>
              </a:ext>
            </a:extLst>
          </p:cNvPr>
          <p:cNvSpPr/>
          <p:nvPr/>
        </p:nvSpPr>
        <p:spPr>
          <a:xfrm>
            <a:off x="6763692" y="3816983"/>
            <a:ext cx="4943756" cy="2420855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Answer: C — Big River Fire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201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5D42-7F26-9674-0AB9-6A0B6FD3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8130-C3C8-7B56-4B49-BB72BAF2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75AE-4B2A-863A-A248-21971C38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902505"/>
            <a:ext cx="10869248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5. Decode the Lambda ⚡</a:t>
            </a:r>
          </a:p>
          <a:p>
            <a:r>
              <a:rPr lang="en-AU" dirty="0"/>
              <a:t>What will this expression return if </a:t>
            </a:r>
            <a:r>
              <a:rPr lang="en-AU" dirty="0" err="1"/>
              <a:t>row.wrkstat</a:t>
            </a:r>
            <a:r>
              <a:rPr lang="en-AU" dirty="0"/>
              <a:t> is 2.0?</a:t>
            </a:r>
          </a:p>
          <a:p>
            <a:r>
              <a:rPr lang="en-AU" dirty="0"/>
              <a:t>lambda row: 'full-time' if </a:t>
            </a:r>
            <a:r>
              <a:rPr lang="en-AU" dirty="0" err="1"/>
              <a:t>row.wrkstat</a:t>
            </a:r>
            <a:r>
              <a:rPr lang="en-AU" dirty="0"/>
              <a:t> == 1.0 else 'part-time'</a:t>
            </a:r>
          </a:p>
          <a:p>
            <a:r>
              <a:rPr lang="en-AU" dirty="0"/>
              <a:t>A. full-time</a:t>
            </a:r>
            <a:br>
              <a:rPr lang="en-AU" dirty="0"/>
            </a:br>
            <a:r>
              <a:rPr lang="en-AU" dirty="0"/>
              <a:t>B. part-time</a:t>
            </a:r>
            <a:br>
              <a:rPr lang="en-AU" dirty="0"/>
            </a:br>
            <a:r>
              <a:rPr lang="en-AU" dirty="0"/>
              <a:t>C. 2.0</a:t>
            </a:r>
            <a:br>
              <a:rPr lang="en-AU" dirty="0"/>
            </a:br>
            <a:r>
              <a:rPr lang="en-AU" dirty="0"/>
              <a:t>D. </a:t>
            </a:r>
            <a:r>
              <a:rPr lang="en-AU" dirty="0" err="1"/>
              <a:t>NaN</a:t>
            </a:r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8390C-63C5-19F7-8C45-C0BFDA6DBB22}"/>
              </a:ext>
            </a:extLst>
          </p:cNvPr>
          <p:cNvSpPr txBox="1"/>
          <p:nvPr/>
        </p:nvSpPr>
        <p:spPr>
          <a:xfrm>
            <a:off x="298764" y="7278986"/>
            <a:ext cx="261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Answer: B — part-time</a:t>
            </a:r>
            <a:endParaRPr lang="en-AU" dirty="0"/>
          </a:p>
          <a:p>
            <a:endParaRPr lang="en-AU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9BC09C4A-C448-DA05-1A8D-544E535F930A}"/>
              </a:ext>
            </a:extLst>
          </p:cNvPr>
          <p:cNvSpPr/>
          <p:nvPr/>
        </p:nvSpPr>
        <p:spPr>
          <a:xfrm>
            <a:off x="6735778" y="4128379"/>
            <a:ext cx="4218915" cy="2082297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Answer: B — part-time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868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49C9-AC83-1AD6-DCCF-F82A65909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E773-4C83-9748-8792-872B3A6B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FFCBA-75EE-C168-BA21-4992E990F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902505"/>
            <a:ext cx="10869248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6. Duplicate Detective 👯</a:t>
            </a:r>
          </a:p>
          <a:p>
            <a:r>
              <a:rPr lang="en-AU" dirty="0"/>
              <a:t>What does this code do?</a:t>
            </a:r>
          </a:p>
          <a:p>
            <a:r>
              <a:rPr lang="en-AU" dirty="0" err="1"/>
              <a:t>gameData.drop_duplicates</a:t>
            </a:r>
            <a:r>
              <a:rPr lang="en-AU" dirty="0"/>
              <a:t>(keep='first', </a:t>
            </a:r>
            <a:r>
              <a:rPr lang="en-AU" dirty="0" err="1"/>
              <a:t>inplace</a:t>
            </a:r>
            <a:r>
              <a:rPr lang="en-AU" dirty="0"/>
              <a:t>=True)</a:t>
            </a:r>
          </a:p>
          <a:p>
            <a:r>
              <a:rPr lang="en-AU" dirty="0"/>
              <a:t>A. Keeps every duplicate</a:t>
            </a:r>
            <a:br>
              <a:rPr lang="en-AU" dirty="0"/>
            </a:br>
            <a:r>
              <a:rPr lang="en-AU" dirty="0"/>
              <a:t>B. Removes all rows</a:t>
            </a:r>
            <a:br>
              <a:rPr lang="en-AU" dirty="0"/>
            </a:br>
            <a:r>
              <a:rPr lang="en-AU" dirty="0"/>
              <a:t>C. Keeps the first occurrence and removes later duplicates</a:t>
            </a:r>
            <a:br>
              <a:rPr lang="en-AU" dirty="0"/>
            </a:br>
            <a:r>
              <a:rPr lang="en-AU" dirty="0"/>
              <a:t>D. Creates a new </a:t>
            </a:r>
            <a:r>
              <a:rPr lang="en-AU" dirty="0" err="1"/>
              <a:t>DataFrame</a:t>
            </a:r>
            <a:r>
              <a:rPr lang="en-AU" dirty="0"/>
              <a:t> without changing </a:t>
            </a:r>
            <a:r>
              <a:rPr lang="en-AU" dirty="0" err="1"/>
              <a:t>gameData</a:t>
            </a:r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E9D2C-1993-1A50-14EC-3F303BDC27F4}"/>
              </a:ext>
            </a:extLst>
          </p:cNvPr>
          <p:cNvSpPr txBox="1"/>
          <p:nvPr/>
        </p:nvSpPr>
        <p:spPr>
          <a:xfrm>
            <a:off x="298764" y="7278986"/>
            <a:ext cx="8314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Answer: C — it keeps the first occurrence and modifies </a:t>
            </a:r>
            <a:r>
              <a:rPr lang="en-AU" b="1" dirty="0" err="1"/>
              <a:t>gameData</a:t>
            </a:r>
            <a:r>
              <a:rPr lang="en-AU" b="1" dirty="0"/>
              <a:t> directly</a:t>
            </a:r>
            <a:endParaRPr lang="en-AU" dirty="0"/>
          </a:p>
          <a:p>
            <a:endParaRPr lang="en-AU" dirty="0"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560C98AE-0092-686D-F4B3-5867B0BBDB8C}"/>
              </a:ext>
            </a:extLst>
          </p:cNvPr>
          <p:cNvSpPr/>
          <p:nvPr/>
        </p:nvSpPr>
        <p:spPr>
          <a:xfrm>
            <a:off x="6849745" y="143283"/>
            <a:ext cx="4187063" cy="2238327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Answer: C — it keeps the first occurrence and modifies </a:t>
            </a:r>
            <a:r>
              <a:rPr lang="en-AU" b="1" dirty="0" err="1"/>
              <a:t>gameData</a:t>
            </a:r>
            <a:r>
              <a:rPr lang="en-AU" b="1" dirty="0"/>
              <a:t> directly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14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4011-264C-8FAA-0522-3AB8D9B3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0BC6-045B-E950-CE55-35497BA2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810D1-3DA9-FC49-AE35-4A153C187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902505"/>
            <a:ext cx="10869248" cy="4096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7. Join Battle 🔗</a:t>
            </a:r>
          </a:p>
          <a:p>
            <a:r>
              <a:rPr lang="en-AU" dirty="0"/>
              <a:t>The left </a:t>
            </a:r>
            <a:r>
              <a:rPr lang="en-AU" dirty="0" err="1"/>
              <a:t>DataFrame</a:t>
            </a:r>
            <a:r>
              <a:rPr lang="en-AU" dirty="0"/>
              <a:t> contains IDs A, B and C.</a:t>
            </a:r>
            <a:br>
              <a:rPr lang="en-AU" dirty="0"/>
            </a:br>
            <a:r>
              <a:rPr lang="en-AU" dirty="0"/>
              <a:t>The right </a:t>
            </a:r>
            <a:r>
              <a:rPr lang="en-AU" dirty="0" err="1"/>
              <a:t>DataFrame</a:t>
            </a:r>
            <a:r>
              <a:rPr lang="en-AU" dirty="0"/>
              <a:t> contains IDs B, C and D.</a:t>
            </a:r>
          </a:p>
          <a:p>
            <a:r>
              <a:rPr lang="en-AU" dirty="0"/>
              <a:t>Which IDs remain after an </a:t>
            </a:r>
            <a:r>
              <a:rPr lang="en-AU" b="1" dirty="0"/>
              <a:t>inner join</a:t>
            </a:r>
            <a:r>
              <a:rPr lang="en-AU" dirty="0"/>
              <a:t>?</a:t>
            </a:r>
          </a:p>
          <a:p>
            <a:r>
              <a:rPr lang="en-AU" dirty="0"/>
              <a:t>A. A, B, C, D</a:t>
            </a:r>
            <a:br>
              <a:rPr lang="en-AU" dirty="0"/>
            </a:br>
            <a:r>
              <a:rPr lang="en-AU" dirty="0"/>
              <a:t>B. A, B, C</a:t>
            </a:r>
            <a:br>
              <a:rPr lang="en-AU" dirty="0"/>
            </a:br>
            <a:r>
              <a:rPr lang="en-AU" dirty="0" err="1"/>
              <a:t>C</a:t>
            </a:r>
            <a:r>
              <a:rPr lang="en-AU" dirty="0"/>
              <a:t>. B, C</a:t>
            </a:r>
            <a:br>
              <a:rPr lang="en-AU" dirty="0"/>
            </a:br>
            <a:r>
              <a:rPr lang="en-AU" dirty="0"/>
              <a:t>D. D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E2C40-3FAF-06D5-7ADA-3EEA5E713855}"/>
              </a:ext>
            </a:extLst>
          </p:cNvPr>
          <p:cNvSpPr txBox="1"/>
          <p:nvPr/>
        </p:nvSpPr>
        <p:spPr>
          <a:xfrm>
            <a:off x="298764" y="7278986"/>
            <a:ext cx="6709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Answer: C — B and C</a:t>
            </a:r>
            <a:endParaRPr lang="en-AU" dirty="0"/>
          </a:p>
          <a:p>
            <a:r>
              <a:rPr lang="en-AU" dirty="0"/>
              <a:t>An inner join keeps only keys that appear in </a:t>
            </a:r>
            <a:r>
              <a:rPr lang="en-AU" b="1" dirty="0"/>
              <a:t>both</a:t>
            </a:r>
            <a:r>
              <a:rPr lang="en-AU" dirty="0"/>
              <a:t> </a:t>
            </a:r>
            <a:r>
              <a:rPr lang="en-AU" dirty="0" err="1"/>
              <a:t>DataFrames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E0088DA9-B626-DAB2-957D-8237A845783A}"/>
              </a:ext>
            </a:extLst>
          </p:cNvPr>
          <p:cNvSpPr/>
          <p:nvPr/>
        </p:nvSpPr>
        <p:spPr>
          <a:xfrm>
            <a:off x="6936272" y="3331683"/>
            <a:ext cx="4771176" cy="2879002"/>
          </a:xfrm>
          <a:prstGeom prst="cloudCallou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Answer: C — B and C</a:t>
            </a:r>
            <a:endParaRPr lang="en-AU" dirty="0"/>
          </a:p>
          <a:p>
            <a:r>
              <a:rPr lang="en-AU" dirty="0"/>
              <a:t>An inner join keeps only keys that appear in </a:t>
            </a:r>
            <a:r>
              <a:rPr lang="en-AU" b="1" dirty="0"/>
              <a:t>both</a:t>
            </a:r>
            <a:r>
              <a:rPr lang="en-AU" dirty="0"/>
              <a:t> </a:t>
            </a:r>
            <a:r>
              <a:rPr lang="en-AU" dirty="0" err="1"/>
              <a:t>DataFrames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94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586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Quiz</vt:lpstr>
      <vt:lpstr>Quiz</vt:lpstr>
      <vt:lpstr>Quiz</vt:lpstr>
      <vt:lpstr>Quiz</vt:lpstr>
      <vt:lpstr>Quiz</vt:lpstr>
      <vt:lpstr>Quiz</vt:lpstr>
      <vt:lpstr>Quiz</vt:lpstr>
    </vt:vector>
  </TitlesOfParts>
  <Company>Deakin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Ansarizadeh</dc:creator>
  <cp:lastModifiedBy>Fatima Ansarizadeh</cp:lastModifiedBy>
  <cp:revision>1</cp:revision>
  <dcterms:created xsi:type="dcterms:W3CDTF">2026-08-16T04:58:25Z</dcterms:created>
  <dcterms:modified xsi:type="dcterms:W3CDTF">2026-08-16T05:03:31Z</dcterms:modified>
</cp:coreProperties>
</file>
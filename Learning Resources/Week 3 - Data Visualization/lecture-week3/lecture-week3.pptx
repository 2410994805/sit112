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1.xml" ContentType="application/vnd.openxmlformats-officedocument.presentationml.tags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56"/>
  </p:notesMasterIdLst>
  <p:sldIdLst>
    <p:sldId id="256" r:id="rId2"/>
    <p:sldId id="339" r:id="rId3"/>
    <p:sldId id="426" r:id="rId4"/>
    <p:sldId id="427" r:id="rId5"/>
    <p:sldId id="375" r:id="rId6"/>
    <p:sldId id="357" r:id="rId7"/>
    <p:sldId id="448" r:id="rId8"/>
    <p:sldId id="452" r:id="rId9"/>
    <p:sldId id="455" r:id="rId10"/>
    <p:sldId id="456" r:id="rId11"/>
    <p:sldId id="404" r:id="rId12"/>
    <p:sldId id="451" r:id="rId13"/>
    <p:sldId id="450" r:id="rId14"/>
    <p:sldId id="449" r:id="rId15"/>
    <p:sldId id="443" r:id="rId16"/>
    <p:sldId id="447" r:id="rId17"/>
    <p:sldId id="446" r:id="rId18"/>
    <p:sldId id="445" r:id="rId19"/>
    <p:sldId id="444" r:id="rId20"/>
    <p:sldId id="489" r:id="rId21"/>
    <p:sldId id="490" r:id="rId22"/>
    <p:sldId id="491" r:id="rId23"/>
    <p:sldId id="492" r:id="rId24"/>
    <p:sldId id="493" r:id="rId25"/>
    <p:sldId id="453" r:id="rId26"/>
    <p:sldId id="454" r:id="rId27"/>
    <p:sldId id="457" r:id="rId28"/>
    <p:sldId id="488" r:id="rId29"/>
    <p:sldId id="459" r:id="rId30"/>
    <p:sldId id="460" r:id="rId31"/>
    <p:sldId id="461" r:id="rId32"/>
    <p:sldId id="463" r:id="rId33"/>
    <p:sldId id="462" r:id="rId34"/>
    <p:sldId id="467" r:id="rId35"/>
    <p:sldId id="468" r:id="rId36"/>
    <p:sldId id="470" r:id="rId37"/>
    <p:sldId id="471" r:id="rId38"/>
    <p:sldId id="472" r:id="rId39"/>
    <p:sldId id="473" r:id="rId40"/>
    <p:sldId id="474" r:id="rId41"/>
    <p:sldId id="475" r:id="rId42"/>
    <p:sldId id="476" r:id="rId43"/>
    <p:sldId id="477" r:id="rId44"/>
    <p:sldId id="478" r:id="rId45"/>
    <p:sldId id="479" r:id="rId46"/>
    <p:sldId id="480" r:id="rId47"/>
    <p:sldId id="482" r:id="rId48"/>
    <p:sldId id="483" r:id="rId49"/>
    <p:sldId id="484" r:id="rId50"/>
    <p:sldId id="485" r:id="rId51"/>
    <p:sldId id="487" r:id="rId52"/>
    <p:sldId id="428" r:id="rId53"/>
    <p:sldId id="340" r:id="rId54"/>
    <p:sldId id="342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FA00"/>
    <a:srgbClr val="FFFD78"/>
    <a:srgbClr val="D5FC79"/>
    <a:srgbClr val="FFD579"/>
    <a:srgbClr val="FCCDCD"/>
    <a:srgbClr val="FFB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42"/>
    <p:restoredTop sz="79464" autoAdjust="0"/>
  </p:normalViewPr>
  <p:slideViewPr>
    <p:cSldViewPr snapToGrid="0">
      <p:cViewPr varScale="1">
        <p:scale>
          <a:sx n="118" d="100"/>
          <a:sy n="118" d="100"/>
        </p:scale>
        <p:origin x="1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Ansarizadeh" userId="2e2f4077-aba0-49c7-b26f-c647714fbdc0" providerId="ADAL" clId="{4AF819A5-1A07-4075-8C4E-D726B4CE70A1}"/>
    <pc:docChg chg="undo custSel addSld delSld modSld">
      <pc:chgData name="Fatima Ansarizadeh" userId="2e2f4077-aba0-49c7-b26f-c647714fbdc0" providerId="ADAL" clId="{4AF819A5-1A07-4075-8C4E-D726B4CE70A1}" dt="2026-07-21T23:54:54.996" v="616" actId="47"/>
      <pc:docMkLst>
        <pc:docMk/>
      </pc:docMkLst>
      <pc:sldChg chg="modSp mod">
        <pc:chgData name="Fatima Ansarizadeh" userId="2e2f4077-aba0-49c7-b26f-c647714fbdc0" providerId="ADAL" clId="{4AF819A5-1A07-4075-8C4E-D726B4CE70A1}" dt="2026-07-13T09:41:36.395" v="31" actId="20577"/>
        <pc:sldMkLst>
          <pc:docMk/>
          <pc:sldMk cId="1332387644" sldId="256"/>
        </pc:sldMkLst>
        <pc:spChg chg="mod">
          <ac:chgData name="Fatima Ansarizadeh" userId="2e2f4077-aba0-49c7-b26f-c647714fbdc0" providerId="ADAL" clId="{4AF819A5-1A07-4075-8C4E-D726B4CE70A1}" dt="2026-07-13T09:41:36.395" v="31" actId="20577"/>
          <ac:spMkLst>
            <pc:docMk/>
            <pc:sldMk cId="1332387644" sldId="256"/>
            <ac:spMk id="6" creationId="{60EB6CD3-1079-C315-AFA6-5381F1AB7B61}"/>
          </ac:spMkLst>
        </pc:spChg>
      </pc:sldChg>
      <pc:sldChg chg="modSp mod">
        <pc:chgData name="Fatima Ansarizadeh" userId="2e2f4077-aba0-49c7-b26f-c647714fbdc0" providerId="ADAL" clId="{4AF819A5-1A07-4075-8C4E-D726B4CE70A1}" dt="2026-07-19T21:28:57.133" v="483" actId="13926"/>
        <pc:sldMkLst>
          <pc:docMk/>
          <pc:sldMk cId="3931624780" sldId="339"/>
        </pc:sldMkLst>
        <pc:spChg chg="mod">
          <ac:chgData name="Fatima Ansarizadeh" userId="2e2f4077-aba0-49c7-b26f-c647714fbdc0" providerId="ADAL" clId="{4AF819A5-1A07-4075-8C4E-D726B4CE70A1}" dt="2026-07-19T21:28:57.133" v="483" actId="13926"/>
          <ac:spMkLst>
            <pc:docMk/>
            <pc:sldMk cId="3931624780" sldId="339"/>
            <ac:spMk id="3" creationId="{35A7EBEF-C5EF-C27F-584B-2C710C594F8F}"/>
          </ac:spMkLst>
        </pc:spChg>
      </pc:sldChg>
      <pc:sldChg chg="modNotesTx">
        <pc:chgData name="Fatima Ansarizadeh" userId="2e2f4077-aba0-49c7-b26f-c647714fbdc0" providerId="ADAL" clId="{4AF819A5-1A07-4075-8C4E-D726B4CE70A1}" dt="2026-07-19T22:15:14.231" v="528" actId="20577"/>
        <pc:sldMkLst>
          <pc:docMk/>
          <pc:sldMk cId="1310766766" sldId="357"/>
        </pc:sldMkLst>
      </pc:sldChg>
      <pc:sldChg chg="modSp mod modNotesTx">
        <pc:chgData name="Fatima Ansarizadeh" userId="2e2f4077-aba0-49c7-b26f-c647714fbdc0" providerId="ADAL" clId="{4AF819A5-1A07-4075-8C4E-D726B4CE70A1}" dt="2026-07-19T21:48:18.152" v="509" actId="113"/>
        <pc:sldMkLst>
          <pc:docMk/>
          <pc:sldMk cId="4153472029" sldId="426"/>
        </pc:sldMkLst>
        <pc:graphicFrameChg chg="mod modGraphic">
          <ac:chgData name="Fatima Ansarizadeh" userId="2e2f4077-aba0-49c7-b26f-c647714fbdc0" providerId="ADAL" clId="{4AF819A5-1A07-4075-8C4E-D726B4CE70A1}" dt="2026-07-13T13:42:51.829" v="58" actId="113"/>
          <ac:graphicFrameMkLst>
            <pc:docMk/>
            <pc:sldMk cId="4153472029" sldId="426"/>
            <ac:graphicFrameMk id="5" creationId="{07985B78-83FE-9724-66C9-08A194BDD25B}"/>
          </ac:graphicFrameMkLst>
        </pc:graphicFrameChg>
      </pc:sldChg>
      <pc:sldChg chg="modNotesTx">
        <pc:chgData name="Fatima Ansarizadeh" userId="2e2f4077-aba0-49c7-b26f-c647714fbdc0" providerId="ADAL" clId="{4AF819A5-1A07-4075-8C4E-D726B4CE70A1}" dt="2026-07-19T21:35:25.058" v="506" actId="20577"/>
        <pc:sldMkLst>
          <pc:docMk/>
          <pc:sldMk cId="14877615" sldId="427"/>
        </pc:sldMkLst>
      </pc:sldChg>
      <pc:sldChg chg="modNotesTx">
        <pc:chgData name="Fatima Ansarizadeh" userId="2e2f4077-aba0-49c7-b26f-c647714fbdc0" providerId="ADAL" clId="{4AF819A5-1A07-4075-8C4E-D726B4CE70A1}" dt="2026-07-19T23:24:01.797" v="568" actId="113"/>
        <pc:sldMkLst>
          <pc:docMk/>
          <pc:sldMk cId="1558633144" sldId="444"/>
        </pc:sldMkLst>
      </pc:sldChg>
      <pc:sldChg chg="modSp mod">
        <pc:chgData name="Fatima Ansarizadeh" userId="2e2f4077-aba0-49c7-b26f-c647714fbdc0" providerId="ADAL" clId="{4AF819A5-1A07-4075-8C4E-D726B4CE70A1}" dt="2026-07-19T23:18:31.027" v="565" actId="13926"/>
        <pc:sldMkLst>
          <pc:docMk/>
          <pc:sldMk cId="4158992040" sldId="446"/>
        </pc:sldMkLst>
        <pc:spChg chg="mod">
          <ac:chgData name="Fatima Ansarizadeh" userId="2e2f4077-aba0-49c7-b26f-c647714fbdc0" providerId="ADAL" clId="{4AF819A5-1A07-4075-8C4E-D726B4CE70A1}" dt="2026-07-19T23:18:31.027" v="565" actId="13926"/>
          <ac:spMkLst>
            <pc:docMk/>
            <pc:sldMk cId="4158992040" sldId="446"/>
            <ac:spMk id="3" creationId="{3D5848BF-69A1-97F7-76F6-AE5AE0C6D0A1}"/>
          </ac:spMkLst>
        </pc:spChg>
      </pc:sldChg>
      <pc:sldChg chg="modSp mod">
        <pc:chgData name="Fatima Ansarizadeh" userId="2e2f4077-aba0-49c7-b26f-c647714fbdc0" providerId="ADAL" clId="{4AF819A5-1A07-4075-8C4E-D726B4CE70A1}" dt="2026-07-19T23:13:59.115" v="562" actId="1076"/>
        <pc:sldMkLst>
          <pc:docMk/>
          <pc:sldMk cId="639876511" sldId="447"/>
        </pc:sldMkLst>
        <pc:spChg chg="mod">
          <ac:chgData name="Fatima Ansarizadeh" userId="2e2f4077-aba0-49c7-b26f-c647714fbdc0" providerId="ADAL" clId="{4AF819A5-1A07-4075-8C4E-D726B4CE70A1}" dt="2026-07-19T23:13:59.115" v="562" actId="1076"/>
          <ac:spMkLst>
            <pc:docMk/>
            <pc:sldMk cId="639876511" sldId="447"/>
            <ac:spMk id="3" creationId="{3D5848BF-69A1-97F7-76F6-AE5AE0C6D0A1}"/>
          </ac:spMkLst>
        </pc:spChg>
      </pc:sldChg>
      <pc:sldChg chg="modSp mod">
        <pc:chgData name="Fatima Ansarizadeh" userId="2e2f4077-aba0-49c7-b26f-c647714fbdc0" providerId="ADAL" clId="{4AF819A5-1A07-4075-8C4E-D726B4CE70A1}" dt="2026-07-16T00:53:23.203" v="92" actId="1076"/>
        <pc:sldMkLst>
          <pc:docMk/>
          <pc:sldMk cId="1099015048" sldId="448"/>
        </pc:sldMkLst>
        <pc:spChg chg="mod">
          <ac:chgData name="Fatima Ansarizadeh" userId="2e2f4077-aba0-49c7-b26f-c647714fbdc0" providerId="ADAL" clId="{4AF819A5-1A07-4075-8C4E-D726B4CE70A1}" dt="2026-07-16T00:53:23.203" v="92" actId="1076"/>
          <ac:spMkLst>
            <pc:docMk/>
            <pc:sldMk cId="1099015048" sldId="448"/>
            <ac:spMk id="3" creationId="{3D5848BF-69A1-97F7-76F6-AE5AE0C6D0A1}"/>
          </ac:spMkLst>
        </pc:spChg>
      </pc:sldChg>
      <pc:sldChg chg="delSp modSp mod">
        <pc:chgData name="Fatima Ansarizadeh" userId="2e2f4077-aba0-49c7-b26f-c647714fbdc0" providerId="ADAL" clId="{4AF819A5-1A07-4075-8C4E-D726B4CE70A1}" dt="2026-07-19T23:03:25.404" v="556" actId="20577"/>
        <pc:sldMkLst>
          <pc:docMk/>
          <pc:sldMk cId="1078950966" sldId="449"/>
        </pc:sldMkLst>
        <pc:spChg chg="mod">
          <ac:chgData name="Fatima Ansarizadeh" userId="2e2f4077-aba0-49c7-b26f-c647714fbdc0" providerId="ADAL" clId="{4AF819A5-1A07-4075-8C4E-D726B4CE70A1}" dt="2026-07-19T23:03:25.404" v="556" actId="20577"/>
          <ac:spMkLst>
            <pc:docMk/>
            <pc:sldMk cId="1078950966" sldId="449"/>
            <ac:spMk id="3" creationId="{3D5848BF-69A1-97F7-76F6-AE5AE0C6D0A1}"/>
          </ac:spMkLst>
        </pc:spChg>
      </pc:sldChg>
      <pc:sldChg chg="modNotesTx">
        <pc:chgData name="Fatima Ansarizadeh" userId="2e2f4077-aba0-49c7-b26f-c647714fbdc0" providerId="ADAL" clId="{4AF819A5-1A07-4075-8C4E-D726B4CE70A1}" dt="2026-07-19T22:53:47.881" v="544" actId="20577"/>
        <pc:sldMkLst>
          <pc:docMk/>
          <pc:sldMk cId="1450125835" sldId="451"/>
        </pc:sldMkLst>
      </pc:sldChg>
      <pc:sldChg chg="modNotesTx">
        <pc:chgData name="Fatima Ansarizadeh" userId="2e2f4077-aba0-49c7-b26f-c647714fbdc0" providerId="ADAL" clId="{4AF819A5-1A07-4075-8C4E-D726B4CE70A1}" dt="2026-07-19T22:40:21.971" v="529" actId="20577"/>
        <pc:sldMkLst>
          <pc:docMk/>
          <pc:sldMk cId="2574689068" sldId="452"/>
        </pc:sldMkLst>
      </pc:sldChg>
      <pc:sldChg chg="modNotesTx">
        <pc:chgData name="Fatima Ansarizadeh" userId="2e2f4077-aba0-49c7-b26f-c647714fbdc0" providerId="ADAL" clId="{4AF819A5-1A07-4075-8C4E-D726B4CE70A1}" dt="2026-07-19T23:33:55.412" v="570" actId="113"/>
        <pc:sldMkLst>
          <pc:docMk/>
          <pc:sldMk cId="4137701212" sldId="453"/>
        </pc:sldMkLst>
      </pc:sldChg>
      <pc:sldChg chg="modNotesTx">
        <pc:chgData name="Fatima Ansarizadeh" userId="2e2f4077-aba0-49c7-b26f-c647714fbdc0" providerId="ADAL" clId="{4AF819A5-1A07-4075-8C4E-D726B4CE70A1}" dt="2026-07-19T22:42:04.751" v="531" actId="313"/>
        <pc:sldMkLst>
          <pc:docMk/>
          <pc:sldMk cId="231397482" sldId="455"/>
        </pc:sldMkLst>
      </pc:sldChg>
      <pc:sldChg chg="modSp mod">
        <pc:chgData name="Fatima Ansarizadeh" userId="2e2f4077-aba0-49c7-b26f-c647714fbdc0" providerId="ADAL" clId="{4AF819A5-1A07-4075-8C4E-D726B4CE70A1}" dt="2026-07-20T00:07:29.907" v="603" actId="20577"/>
        <pc:sldMkLst>
          <pc:docMk/>
          <pc:sldMk cId="1595966523" sldId="467"/>
        </pc:sldMkLst>
        <pc:spChg chg="mod">
          <ac:chgData name="Fatima Ansarizadeh" userId="2e2f4077-aba0-49c7-b26f-c647714fbdc0" providerId="ADAL" clId="{4AF819A5-1A07-4075-8C4E-D726B4CE70A1}" dt="2026-07-20T00:07:29.907" v="603" actId="20577"/>
          <ac:spMkLst>
            <pc:docMk/>
            <pc:sldMk cId="1595966523" sldId="467"/>
            <ac:spMk id="6" creationId="{454C6B8E-7455-0496-9BFE-DB3937EF46D0}"/>
          </ac:spMkLst>
        </pc:spChg>
      </pc:sldChg>
      <pc:sldChg chg="modNotesTx">
        <pc:chgData name="Fatima Ansarizadeh" userId="2e2f4077-aba0-49c7-b26f-c647714fbdc0" providerId="ADAL" clId="{4AF819A5-1A07-4075-8C4E-D726B4CE70A1}" dt="2026-07-18T12:54:13.794" v="108" actId="20577"/>
        <pc:sldMkLst>
          <pc:docMk/>
          <pc:sldMk cId="4176833839" sldId="470"/>
        </pc:sldMkLst>
      </pc:sldChg>
      <pc:sldChg chg="modSp mod modNotesTx">
        <pc:chgData name="Fatima Ansarizadeh" userId="2e2f4077-aba0-49c7-b26f-c647714fbdc0" providerId="ADAL" clId="{4AF819A5-1A07-4075-8C4E-D726B4CE70A1}" dt="2026-07-18T13:31:52.038" v="181" actId="1076"/>
        <pc:sldMkLst>
          <pc:docMk/>
          <pc:sldMk cId="401590815" sldId="471"/>
        </pc:sldMkLst>
        <pc:spChg chg="mod">
          <ac:chgData name="Fatima Ansarizadeh" userId="2e2f4077-aba0-49c7-b26f-c647714fbdc0" providerId="ADAL" clId="{4AF819A5-1A07-4075-8C4E-D726B4CE70A1}" dt="2026-07-18T13:31:52.038" v="181" actId="1076"/>
          <ac:spMkLst>
            <pc:docMk/>
            <pc:sldMk cId="401590815" sldId="471"/>
            <ac:spMk id="3" creationId="{D8A4C220-875D-1224-664A-15BB127ED959}"/>
          </ac:spMkLst>
        </pc:spChg>
      </pc:sldChg>
      <pc:sldChg chg="modNotesTx">
        <pc:chgData name="Fatima Ansarizadeh" userId="2e2f4077-aba0-49c7-b26f-c647714fbdc0" providerId="ADAL" clId="{4AF819A5-1A07-4075-8C4E-D726B4CE70A1}" dt="2026-07-18T14:03:15.891" v="184" actId="20577"/>
        <pc:sldMkLst>
          <pc:docMk/>
          <pc:sldMk cId="2821165250" sldId="472"/>
        </pc:sldMkLst>
      </pc:sldChg>
      <pc:sldChg chg="modSp mod modNotesTx">
        <pc:chgData name="Fatima Ansarizadeh" userId="2e2f4077-aba0-49c7-b26f-c647714fbdc0" providerId="ADAL" clId="{4AF819A5-1A07-4075-8C4E-D726B4CE70A1}" dt="2026-07-19T02:06:00.828" v="218" actId="20577"/>
        <pc:sldMkLst>
          <pc:docMk/>
          <pc:sldMk cId="2841607734" sldId="474"/>
        </pc:sldMkLst>
        <pc:spChg chg="mod">
          <ac:chgData name="Fatima Ansarizadeh" userId="2e2f4077-aba0-49c7-b26f-c647714fbdc0" providerId="ADAL" clId="{4AF819A5-1A07-4075-8C4E-D726B4CE70A1}" dt="2026-07-19T01:59:47.702" v="203" actId="20577"/>
          <ac:spMkLst>
            <pc:docMk/>
            <pc:sldMk cId="2841607734" sldId="474"/>
            <ac:spMk id="5" creationId="{FD177DE2-603A-1475-B29B-AEBD73EFD570}"/>
          </ac:spMkLst>
        </pc:spChg>
      </pc:sldChg>
      <pc:sldChg chg="modNotesTx">
        <pc:chgData name="Fatima Ansarizadeh" userId="2e2f4077-aba0-49c7-b26f-c647714fbdc0" providerId="ADAL" clId="{4AF819A5-1A07-4075-8C4E-D726B4CE70A1}" dt="2026-07-19T03:58:48.491" v="351" actId="20577"/>
        <pc:sldMkLst>
          <pc:docMk/>
          <pc:sldMk cId="1684551023" sldId="479"/>
        </pc:sldMkLst>
      </pc:sldChg>
      <pc:sldChg chg="modSp mod">
        <pc:chgData name="Fatima Ansarizadeh" userId="2e2f4077-aba0-49c7-b26f-c647714fbdc0" providerId="ADAL" clId="{4AF819A5-1A07-4075-8C4E-D726B4CE70A1}" dt="2026-07-19T10:39:46.048" v="372" actId="13926"/>
        <pc:sldMkLst>
          <pc:docMk/>
          <pc:sldMk cId="2774917088" sldId="482"/>
        </pc:sldMkLst>
        <pc:spChg chg="mod">
          <ac:chgData name="Fatima Ansarizadeh" userId="2e2f4077-aba0-49c7-b26f-c647714fbdc0" providerId="ADAL" clId="{4AF819A5-1A07-4075-8C4E-D726B4CE70A1}" dt="2026-07-19T10:39:46.048" v="372" actId="13926"/>
          <ac:spMkLst>
            <pc:docMk/>
            <pc:sldMk cId="2774917088" sldId="482"/>
            <ac:spMk id="3" creationId="{D8A4C220-875D-1224-664A-15BB127ED959}"/>
          </ac:spMkLst>
        </pc:spChg>
        <pc:picChg chg="mod">
          <ac:chgData name="Fatima Ansarizadeh" userId="2e2f4077-aba0-49c7-b26f-c647714fbdc0" providerId="ADAL" clId="{4AF819A5-1A07-4075-8C4E-D726B4CE70A1}" dt="2026-07-19T10:37:36.227" v="367" actId="14100"/>
          <ac:picMkLst>
            <pc:docMk/>
            <pc:sldMk cId="2774917088" sldId="482"/>
            <ac:picMk id="4" creationId="{F2A171DD-1E56-4CF5-B93B-2CC35632711E}"/>
          </ac:picMkLst>
        </pc:picChg>
      </pc:sldChg>
      <pc:sldChg chg="modSp mod">
        <pc:chgData name="Fatima Ansarizadeh" userId="2e2f4077-aba0-49c7-b26f-c647714fbdc0" providerId="ADAL" clId="{4AF819A5-1A07-4075-8C4E-D726B4CE70A1}" dt="2026-07-19T11:00:27.160" v="399" actId="1076"/>
        <pc:sldMkLst>
          <pc:docMk/>
          <pc:sldMk cId="2215166830" sldId="484"/>
        </pc:sldMkLst>
        <pc:picChg chg="mod">
          <ac:chgData name="Fatima Ansarizadeh" userId="2e2f4077-aba0-49c7-b26f-c647714fbdc0" providerId="ADAL" clId="{4AF819A5-1A07-4075-8C4E-D726B4CE70A1}" dt="2026-07-19T11:00:27.160" v="399" actId="1076"/>
          <ac:picMkLst>
            <pc:docMk/>
            <pc:sldMk cId="2215166830" sldId="484"/>
            <ac:picMk id="3" creationId="{F067CF48-ABCB-E305-7B0C-A0ECDB9A5CA8}"/>
          </ac:picMkLst>
        </pc:picChg>
      </pc:sldChg>
      <pc:sldChg chg="modNotesTx">
        <pc:chgData name="Fatima Ansarizadeh" userId="2e2f4077-aba0-49c7-b26f-c647714fbdc0" providerId="ADAL" clId="{4AF819A5-1A07-4075-8C4E-D726B4CE70A1}" dt="2026-07-19T11:43:47.761" v="435" actId="5793"/>
        <pc:sldMkLst>
          <pc:docMk/>
          <pc:sldMk cId="3309541903" sldId="485"/>
        </pc:sldMkLst>
      </pc:sldChg>
      <pc:sldChg chg="addSp delSp modSp del mod modNotesTx">
        <pc:chgData name="Fatima Ansarizadeh" userId="2e2f4077-aba0-49c7-b26f-c647714fbdc0" providerId="ADAL" clId="{4AF819A5-1A07-4075-8C4E-D726B4CE70A1}" dt="2026-07-21T23:54:48.280" v="615" actId="47"/>
        <pc:sldMkLst>
          <pc:docMk/>
          <pc:sldMk cId="973862983" sldId="486"/>
        </pc:sldMkLst>
        <pc:picChg chg="add mod">
          <ac:chgData name="Fatima Ansarizadeh" userId="2e2f4077-aba0-49c7-b26f-c647714fbdc0" providerId="ADAL" clId="{4AF819A5-1A07-4075-8C4E-D726B4CE70A1}" dt="2026-07-19T11:47:21.252" v="437" actId="1076"/>
          <ac:picMkLst>
            <pc:docMk/>
            <pc:sldMk cId="973862983" sldId="486"/>
            <ac:picMk id="4" creationId="{4540D668-F6D2-E304-3D75-76BCD4CA2E39}"/>
          </ac:picMkLst>
        </pc:picChg>
        <pc:picChg chg="add mod">
          <ac:chgData name="Fatima Ansarizadeh" userId="2e2f4077-aba0-49c7-b26f-c647714fbdc0" providerId="ADAL" clId="{4AF819A5-1A07-4075-8C4E-D726B4CE70A1}" dt="2026-07-19T11:56:45.976" v="446" actId="1076"/>
          <ac:picMkLst>
            <pc:docMk/>
            <pc:sldMk cId="973862983" sldId="486"/>
            <ac:picMk id="7" creationId="{760D5BD4-82DC-107B-387A-6DBCCA9F923F}"/>
          </ac:picMkLst>
        </pc:picChg>
        <pc:picChg chg="add mod">
          <ac:chgData name="Fatima Ansarizadeh" userId="2e2f4077-aba0-49c7-b26f-c647714fbdc0" providerId="ADAL" clId="{4AF819A5-1A07-4075-8C4E-D726B4CE70A1}" dt="2026-07-19T11:48:12.552" v="445" actId="14100"/>
          <ac:picMkLst>
            <pc:docMk/>
            <pc:sldMk cId="973862983" sldId="486"/>
            <ac:picMk id="10" creationId="{81889EC6-7030-C0AC-7CF7-873A307B69FE}"/>
          </ac:picMkLst>
        </pc:picChg>
        <pc:picChg chg="add mod">
          <ac:chgData name="Fatima Ansarizadeh" userId="2e2f4077-aba0-49c7-b26f-c647714fbdc0" providerId="ADAL" clId="{4AF819A5-1A07-4075-8C4E-D726B4CE70A1}" dt="2026-07-19T12:03:57.960" v="476" actId="1076"/>
          <ac:picMkLst>
            <pc:docMk/>
            <pc:sldMk cId="973862983" sldId="486"/>
            <ac:picMk id="19" creationId="{39899A66-CD5B-19FE-D699-58F1C164B2C4}"/>
          </ac:picMkLst>
        </pc:picChg>
        <pc:picChg chg="add mod">
          <ac:chgData name="Fatima Ansarizadeh" userId="2e2f4077-aba0-49c7-b26f-c647714fbdc0" providerId="ADAL" clId="{4AF819A5-1A07-4075-8C4E-D726B4CE70A1}" dt="2026-07-19T12:03:55.773" v="475" actId="1076"/>
          <ac:picMkLst>
            <pc:docMk/>
            <pc:sldMk cId="973862983" sldId="486"/>
            <ac:picMk id="21" creationId="{B3C8FAFF-3ACB-9250-AECC-5BFFEBDCD18E}"/>
          </ac:picMkLst>
        </pc:picChg>
      </pc:sldChg>
      <pc:sldChg chg="modSp mod">
        <pc:chgData name="Fatima Ansarizadeh" userId="2e2f4077-aba0-49c7-b26f-c647714fbdc0" providerId="ADAL" clId="{4AF819A5-1A07-4075-8C4E-D726B4CE70A1}" dt="2026-07-19T12:06:42.053" v="480" actId="1076"/>
        <pc:sldMkLst>
          <pc:docMk/>
          <pc:sldMk cId="1983705654" sldId="487"/>
        </pc:sldMkLst>
        <pc:spChg chg="mod">
          <ac:chgData name="Fatima Ansarizadeh" userId="2e2f4077-aba0-49c7-b26f-c647714fbdc0" providerId="ADAL" clId="{4AF819A5-1A07-4075-8C4E-D726B4CE70A1}" dt="2026-07-19T12:06:42.053" v="480" actId="1076"/>
          <ac:spMkLst>
            <pc:docMk/>
            <pc:sldMk cId="1983705654" sldId="487"/>
            <ac:spMk id="2" creationId="{D335ACE9-6EAD-A059-079D-A38FAA0682E9}"/>
          </ac:spMkLst>
        </pc:spChg>
      </pc:sldChg>
      <pc:sldChg chg="addSp delSp modSp new del mod modShow">
        <pc:chgData name="Fatima Ansarizadeh" userId="2e2f4077-aba0-49c7-b26f-c647714fbdc0" providerId="ADAL" clId="{4AF819A5-1A07-4075-8C4E-D726B4CE70A1}" dt="2026-07-21T23:53:18.499" v="606" actId="47"/>
        <pc:sldMkLst>
          <pc:docMk/>
          <pc:sldMk cId="2451208530" sldId="494"/>
        </pc:sldMkLst>
      </pc:sldChg>
      <pc:sldChg chg="del">
        <pc:chgData name="Fatima Ansarizadeh" userId="2e2f4077-aba0-49c7-b26f-c647714fbdc0" providerId="ADAL" clId="{4AF819A5-1A07-4075-8C4E-D726B4CE70A1}" dt="2026-07-21T23:53:22.263" v="607" actId="47"/>
        <pc:sldMkLst>
          <pc:docMk/>
          <pc:sldMk cId="23033148" sldId="495"/>
        </pc:sldMkLst>
      </pc:sldChg>
      <pc:sldChg chg="del">
        <pc:chgData name="Fatima Ansarizadeh" userId="2e2f4077-aba0-49c7-b26f-c647714fbdc0" providerId="ADAL" clId="{4AF819A5-1A07-4075-8C4E-D726B4CE70A1}" dt="2026-07-21T23:53:25.108" v="608" actId="47"/>
        <pc:sldMkLst>
          <pc:docMk/>
          <pc:sldMk cId="1565470909" sldId="496"/>
        </pc:sldMkLst>
      </pc:sldChg>
      <pc:sldChg chg="del">
        <pc:chgData name="Fatima Ansarizadeh" userId="2e2f4077-aba0-49c7-b26f-c647714fbdc0" providerId="ADAL" clId="{4AF819A5-1A07-4075-8C4E-D726B4CE70A1}" dt="2026-07-21T23:53:26.873" v="609" actId="47"/>
        <pc:sldMkLst>
          <pc:docMk/>
          <pc:sldMk cId="4109793108" sldId="497"/>
        </pc:sldMkLst>
      </pc:sldChg>
      <pc:sldChg chg="del">
        <pc:chgData name="Fatima Ansarizadeh" userId="2e2f4077-aba0-49c7-b26f-c647714fbdc0" providerId="ADAL" clId="{4AF819A5-1A07-4075-8C4E-D726B4CE70A1}" dt="2026-07-21T23:53:29.123" v="610" actId="47"/>
        <pc:sldMkLst>
          <pc:docMk/>
          <pc:sldMk cId="3854248455" sldId="498"/>
        </pc:sldMkLst>
      </pc:sldChg>
      <pc:sldChg chg="del">
        <pc:chgData name="Fatima Ansarizadeh" userId="2e2f4077-aba0-49c7-b26f-c647714fbdc0" providerId="ADAL" clId="{4AF819A5-1A07-4075-8C4E-D726B4CE70A1}" dt="2026-07-21T23:53:30.965" v="611" actId="47"/>
        <pc:sldMkLst>
          <pc:docMk/>
          <pc:sldMk cId="2290818141" sldId="499"/>
        </pc:sldMkLst>
      </pc:sldChg>
      <pc:sldChg chg="addSp delSp modSp new del mod modShow modNotesTx">
        <pc:chgData name="Fatima Ansarizadeh" userId="2e2f4077-aba0-49c7-b26f-c647714fbdc0" providerId="ADAL" clId="{4AF819A5-1A07-4075-8C4E-D726B4CE70A1}" dt="2026-07-21T23:53:37.467" v="612" actId="47"/>
        <pc:sldMkLst>
          <pc:docMk/>
          <pc:sldMk cId="3954994156" sldId="500"/>
        </pc:sldMkLst>
        <pc:picChg chg="add mod ord">
          <ac:chgData name="Fatima Ansarizadeh" userId="2e2f4077-aba0-49c7-b26f-c647714fbdc0" providerId="ADAL" clId="{4AF819A5-1A07-4075-8C4E-D726B4CE70A1}" dt="2026-07-18T13:03:28.986" v="126" actId="1076"/>
          <ac:picMkLst>
            <pc:docMk/>
            <pc:sldMk cId="3954994156" sldId="500"/>
            <ac:picMk id="5" creationId="{32FBEDF9-6898-DA8D-D302-9AF2050F2324}"/>
          </ac:picMkLst>
        </pc:picChg>
        <pc:picChg chg="add mod">
          <ac:chgData name="Fatima Ansarizadeh" userId="2e2f4077-aba0-49c7-b26f-c647714fbdc0" providerId="ADAL" clId="{4AF819A5-1A07-4075-8C4E-D726B4CE70A1}" dt="2026-07-18T12:57:21.575" v="110" actId="1076"/>
          <ac:picMkLst>
            <pc:docMk/>
            <pc:sldMk cId="3954994156" sldId="500"/>
            <ac:picMk id="7" creationId="{0388C41A-766D-53E8-F133-1AC4F78F6E93}"/>
          </ac:picMkLst>
        </pc:picChg>
        <pc:picChg chg="add mod">
          <ac:chgData name="Fatima Ansarizadeh" userId="2e2f4077-aba0-49c7-b26f-c647714fbdc0" providerId="ADAL" clId="{4AF819A5-1A07-4075-8C4E-D726B4CE70A1}" dt="2026-07-18T12:59:59.437" v="112" actId="1076"/>
          <ac:picMkLst>
            <pc:docMk/>
            <pc:sldMk cId="3954994156" sldId="500"/>
            <ac:picMk id="9" creationId="{55287D95-7EFD-5553-1A58-741DFF0AF0F9}"/>
          </ac:picMkLst>
        </pc:picChg>
        <pc:picChg chg="add mod">
          <ac:chgData name="Fatima Ansarizadeh" userId="2e2f4077-aba0-49c7-b26f-c647714fbdc0" providerId="ADAL" clId="{4AF819A5-1A07-4075-8C4E-D726B4CE70A1}" dt="2026-07-18T13:01:25.033" v="119" actId="1076"/>
          <ac:picMkLst>
            <pc:docMk/>
            <pc:sldMk cId="3954994156" sldId="500"/>
            <ac:picMk id="11" creationId="{36B8D60A-E04A-A066-017D-78F5ADCE6F7A}"/>
          </ac:picMkLst>
        </pc:picChg>
        <pc:picChg chg="add mod">
          <ac:chgData name="Fatima Ansarizadeh" userId="2e2f4077-aba0-49c7-b26f-c647714fbdc0" providerId="ADAL" clId="{4AF819A5-1A07-4075-8C4E-D726B4CE70A1}" dt="2026-07-18T13:03:25.426" v="124" actId="1076"/>
          <ac:picMkLst>
            <pc:docMk/>
            <pc:sldMk cId="3954994156" sldId="500"/>
            <ac:picMk id="13" creationId="{2216F290-9BAD-BC57-35D3-76B732BFBCA6}"/>
          </ac:picMkLst>
        </pc:picChg>
        <pc:picChg chg="add mod">
          <ac:chgData name="Fatima Ansarizadeh" userId="2e2f4077-aba0-49c7-b26f-c647714fbdc0" providerId="ADAL" clId="{4AF819A5-1A07-4075-8C4E-D726B4CE70A1}" dt="2026-07-18T13:05:37.391" v="129" actId="1076"/>
          <ac:picMkLst>
            <pc:docMk/>
            <pc:sldMk cId="3954994156" sldId="500"/>
            <ac:picMk id="15" creationId="{CE449FF4-7C25-F78B-201B-5FA7AA4BDA1B}"/>
          </ac:picMkLst>
        </pc:picChg>
      </pc:sldChg>
      <pc:sldChg chg="addSp delSp modSp new del mod modShow">
        <pc:chgData name="Fatima Ansarizadeh" userId="2e2f4077-aba0-49c7-b26f-c647714fbdc0" providerId="ADAL" clId="{4AF819A5-1A07-4075-8C4E-D726B4CE70A1}" dt="2026-07-21T23:54:54.996" v="616" actId="47"/>
        <pc:sldMkLst>
          <pc:docMk/>
          <pc:sldMk cId="2455190404" sldId="501"/>
        </pc:sldMkLst>
        <pc:picChg chg="add mod">
          <ac:chgData name="Fatima Ansarizadeh" userId="2e2f4077-aba0-49c7-b26f-c647714fbdc0" providerId="ADAL" clId="{4AF819A5-1A07-4075-8C4E-D726B4CE70A1}" dt="2026-07-19T02:11:10.400" v="227" actId="14100"/>
          <ac:picMkLst>
            <pc:docMk/>
            <pc:sldMk cId="2455190404" sldId="501"/>
            <ac:picMk id="6" creationId="{BEEE26CC-DA21-A2F1-4E84-E12D95D58995}"/>
          </ac:picMkLst>
        </pc:picChg>
        <pc:picChg chg="add mod">
          <ac:chgData name="Fatima Ansarizadeh" userId="2e2f4077-aba0-49c7-b26f-c647714fbdc0" providerId="ADAL" clId="{4AF819A5-1A07-4075-8C4E-D726B4CE70A1}" dt="2026-07-19T02:08:40.623" v="222" actId="1076"/>
          <ac:picMkLst>
            <pc:docMk/>
            <pc:sldMk cId="2455190404" sldId="501"/>
            <ac:picMk id="8" creationId="{5DCD7648-68C7-6695-DED9-FB62556471FB}"/>
          </ac:picMkLst>
        </pc:picChg>
        <pc:picChg chg="add mod ord">
          <ac:chgData name="Fatima Ansarizadeh" userId="2e2f4077-aba0-49c7-b26f-c647714fbdc0" providerId="ADAL" clId="{4AF819A5-1A07-4075-8C4E-D726B4CE70A1}" dt="2026-07-19T02:08:42.920" v="223" actId="1076"/>
          <ac:picMkLst>
            <pc:docMk/>
            <pc:sldMk cId="2455190404" sldId="501"/>
            <ac:picMk id="10" creationId="{C292E55B-D358-E43F-89C5-34128367E209}"/>
          </ac:picMkLst>
        </pc:picChg>
        <pc:picChg chg="add mod">
          <ac:chgData name="Fatima Ansarizadeh" userId="2e2f4077-aba0-49c7-b26f-c647714fbdc0" providerId="ADAL" clId="{4AF819A5-1A07-4075-8C4E-D726B4CE70A1}" dt="2026-07-19T02:09:37.570" v="226" actId="1076"/>
          <ac:picMkLst>
            <pc:docMk/>
            <pc:sldMk cId="2455190404" sldId="501"/>
            <ac:picMk id="12" creationId="{A0F29AFC-6440-9EA3-AB48-A9463BB9C27F}"/>
          </ac:picMkLst>
        </pc:picChg>
        <pc:picChg chg="add mod">
          <ac:chgData name="Fatima Ansarizadeh" userId="2e2f4077-aba0-49c7-b26f-c647714fbdc0" providerId="ADAL" clId="{4AF819A5-1A07-4075-8C4E-D726B4CE70A1}" dt="2026-07-19T02:11:15.832" v="230" actId="1076"/>
          <ac:picMkLst>
            <pc:docMk/>
            <pc:sldMk cId="2455190404" sldId="501"/>
            <ac:picMk id="14" creationId="{A7640827-09F5-FC08-E1E4-8743F8034A91}"/>
          </ac:picMkLst>
        </pc:picChg>
        <pc:picChg chg="add mod">
          <ac:chgData name="Fatima Ansarizadeh" userId="2e2f4077-aba0-49c7-b26f-c647714fbdc0" providerId="ADAL" clId="{4AF819A5-1A07-4075-8C4E-D726B4CE70A1}" dt="2026-07-19T02:16:48.704" v="235" actId="1076"/>
          <ac:picMkLst>
            <pc:docMk/>
            <pc:sldMk cId="2455190404" sldId="501"/>
            <ac:picMk id="16" creationId="{BAE55D45-6593-5117-8FA1-D44F7D0669B7}"/>
          </ac:picMkLst>
        </pc:picChg>
      </pc:sldChg>
      <pc:sldChg chg="addSp delSp modSp new del mod modShow">
        <pc:chgData name="Fatima Ansarizadeh" userId="2e2f4077-aba0-49c7-b26f-c647714fbdc0" providerId="ADAL" clId="{4AF819A5-1A07-4075-8C4E-D726B4CE70A1}" dt="2026-07-21T23:53:41.216" v="613" actId="47"/>
        <pc:sldMkLst>
          <pc:docMk/>
          <pc:sldMk cId="3791901319" sldId="502"/>
        </pc:sldMkLst>
        <pc:picChg chg="add mod ord">
          <ac:chgData name="Fatima Ansarizadeh" userId="2e2f4077-aba0-49c7-b26f-c647714fbdc0" providerId="ADAL" clId="{4AF819A5-1A07-4075-8C4E-D726B4CE70A1}" dt="2026-07-19T02:31:07.448" v="260" actId="1076"/>
          <ac:picMkLst>
            <pc:docMk/>
            <pc:sldMk cId="3791901319" sldId="502"/>
            <ac:picMk id="5" creationId="{6F906D47-8800-4502-2656-26744E0950AC}"/>
          </ac:picMkLst>
        </pc:picChg>
        <pc:picChg chg="add mod">
          <ac:chgData name="Fatima Ansarizadeh" userId="2e2f4077-aba0-49c7-b26f-c647714fbdc0" providerId="ADAL" clId="{4AF819A5-1A07-4075-8C4E-D726B4CE70A1}" dt="2026-07-19T02:31:05.855" v="259" actId="1076"/>
          <ac:picMkLst>
            <pc:docMk/>
            <pc:sldMk cId="3791901319" sldId="502"/>
            <ac:picMk id="7" creationId="{7C4423B3-C2F2-6553-1E5D-7A96C5AD6458}"/>
          </ac:picMkLst>
        </pc:picChg>
        <pc:picChg chg="add mod">
          <ac:chgData name="Fatima Ansarizadeh" userId="2e2f4077-aba0-49c7-b26f-c647714fbdc0" providerId="ADAL" clId="{4AF819A5-1A07-4075-8C4E-D726B4CE70A1}" dt="2026-07-19T10:49:52.488" v="389" actId="1076"/>
          <ac:picMkLst>
            <pc:docMk/>
            <pc:sldMk cId="3791901319" sldId="502"/>
            <ac:picMk id="9" creationId="{7CAFB18A-F3F2-3604-EA8F-9EE99217C75F}"/>
          </ac:picMkLst>
        </pc:picChg>
        <pc:picChg chg="add mod">
          <ac:chgData name="Fatima Ansarizadeh" userId="2e2f4077-aba0-49c7-b26f-c647714fbdc0" providerId="ADAL" clId="{4AF819A5-1A07-4075-8C4E-D726B4CE70A1}" dt="2026-07-19T10:49:56.752" v="391" actId="1076"/>
          <ac:picMkLst>
            <pc:docMk/>
            <pc:sldMk cId="3791901319" sldId="502"/>
            <ac:picMk id="11" creationId="{249DA642-7AA9-29A7-C9BA-94074F277F2E}"/>
          </ac:picMkLst>
        </pc:picChg>
        <pc:picChg chg="add mod">
          <ac:chgData name="Fatima Ansarizadeh" userId="2e2f4077-aba0-49c7-b26f-c647714fbdc0" providerId="ADAL" clId="{4AF819A5-1A07-4075-8C4E-D726B4CE70A1}" dt="2026-07-19T10:50:03.163" v="394" actId="1076"/>
          <ac:picMkLst>
            <pc:docMk/>
            <pc:sldMk cId="3791901319" sldId="502"/>
            <ac:picMk id="13" creationId="{B1EFF744-9B0C-FD3B-80C0-C45FC37AD036}"/>
          </ac:picMkLst>
        </pc:picChg>
        <pc:picChg chg="add mod">
          <ac:chgData name="Fatima Ansarizadeh" userId="2e2f4077-aba0-49c7-b26f-c647714fbdc0" providerId="ADAL" clId="{4AF819A5-1A07-4075-8C4E-D726B4CE70A1}" dt="2026-07-19T10:48:00.022" v="383" actId="1076"/>
          <ac:picMkLst>
            <pc:docMk/>
            <pc:sldMk cId="3791901319" sldId="502"/>
            <ac:picMk id="15" creationId="{2CA5F445-C8BE-87B2-3D1A-3596D3595820}"/>
          </ac:picMkLst>
        </pc:picChg>
        <pc:picChg chg="add mod">
          <ac:chgData name="Fatima Ansarizadeh" userId="2e2f4077-aba0-49c7-b26f-c647714fbdc0" providerId="ADAL" clId="{4AF819A5-1A07-4075-8C4E-D726B4CE70A1}" dt="2026-07-19T10:49:18.302" v="387" actId="1076"/>
          <ac:picMkLst>
            <pc:docMk/>
            <pc:sldMk cId="3791901319" sldId="502"/>
            <ac:picMk id="17" creationId="{EA092645-9D6C-2C8D-0685-D198DC2D3813}"/>
          </ac:picMkLst>
        </pc:picChg>
        <pc:picChg chg="add mod">
          <ac:chgData name="Fatima Ansarizadeh" userId="2e2f4077-aba0-49c7-b26f-c647714fbdc0" providerId="ADAL" clId="{4AF819A5-1A07-4075-8C4E-D726B4CE70A1}" dt="2026-07-19T10:50:23.130" v="397" actId="1076"/>
          <ac:picMkLst>
            <pc:docMk/>
            <pc:sldMk cId="3791901319" sldId="502"/>
            <ac:picMk id="19" creationId="{92002065-6190-9405-2C31-4A5B2C300A07}"/>
          </ac:picMkLst>
        </pc:picChg>
      </pc:sldChg>
      <pc:sldChg chg="addSp delSp modSp new del mod modShow">
        <pc:chgData name="Fatima Ansarizadeh" userId="2e2f4077-aba0-49c7-b26f-c647714fbdc0" providerId="ADAL" clId="{4AF819A5-1A07-4075-8C4E-D726B4CE70A1}" dt="2026-07-21T23:53:43.797" v="614" actId="47"/>
        <pc:sldMkLst>
          <pc:docMk/>
          <pc:sldMk cId="3561969541" sldId="503"/>
        </pc:sldMkLst>
        <pc:spChg chg="add mod">
          <ac:chgData name="Fatima Ansarizadeh" userId="2e2f4077-aba0-49c7-b26f-c647714fbdc0" providerId="ADAL" clId="{4AF819A5-1A07-4075-8C4E-D726B4CE70A1}" dt="2026-07-19T11:34:03.472" v="417" actId="1076"/>
          <ac:spMkLst>
            <pc:docMk/>
            <pc:sldMk cId="3561969541" sldId="503"/>
            <ac:spMk id="9" creationId="{9108E72D-1CAC-5991-F588-843ECBB3168F}"/>
          </ac:spMkLst>
        </pc:spChg>
        <pc:picChg chg="add mod ord">
          <ac:chgData name="Fatima Ansarizadeh" userId="2e2f4077-aba0-49c7-b26f-c647714fbdc0" providerId="ADAL" clId="{4AF819A5-1A07-4075-8C4E-D726B4CE70A1}" dt="2026-07-19T11:28:35.437" v="413" actId="1076"/>
          <ac:picMkLst>
            <pc:docMk/>
            <pc:sldMk cId="3561969541" sldId="503"/>
            <ac:picMk id="5" creationId="{E48AB8C3-ADAE-F40F-3645-28533667FC5C}"/>
          </ac:picMkLst>
        </pc:picChg>
        <pc:picChg chg="add mod">
          <ac:chgData name="Fatima Ansarizadeh" userId="2e2f4077-aba0-49c7-b26f-c647714fbdc0" providerId="ADAL" clId="{4AF819A5-1A07-4075-8C4E-D726B4CE70A1}" dt="2026-07-19T11:28:37.620" v="414" actId="1076"/>
          <ac:picMkLst>
            <pc:docMk/>
            <pc:sldMk cId="3561969541" sldId="503"/>
            <ac:picMk id="7" creationId="{038FDDDA-F0B4-4728-FB16-1EA23C2BA373}"/>
          </ac:picMkLst>
        </pc:picChg>
        <pc:picChg chg="add mod">
          <ac:chgData name="Fatima Ansarizadeh" userId="2e2f4077-aba0-49c7-b26f-c647714fbdc0" providerId="ADAL" clId="{4AF819A5-1A07-4075-8C4E-D726B4CE70A1}" dt="2026-07-19T11:43:08.760" v="431" actId="1076"/>
          <ac:picMkLst>
            <pc:docMk/>
            <pc:sldMk cId="3561969541" sldId="503"/>
            <ac:picMk id="11" creationId="{9D11E60C-EE20-2D80-EA48-B86CB9FD6F01}"/>
          </ac:picMkLst>
        </pc:picChg>
        <pc:picChg chg="add mod">
          <ac:chgData name="Fatima Ansarizadeh" userId="2e2f4077-aba0-49c7-b26f-c647714fbdc0" providerId="ADAL" clId="{4AF819A5-1A07-4075-8C4E-D726B4CE70A1}" dt="2026-07-19T12:01:32.090" v="471" actId="1076"/>
          <ac:picMkLst>
            <pc:docMk/>
            <pc:sldMk cId="3561969541" sldId="503"/>
            <ac:picMk id="13" creationId="{B61F57CC-1FB8-E2C7-28EB-8662692EDB3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8C8327-C671-4407-B45D-6FBED85AD21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2059FC0-C4D0-4FA0-AEF9-06258E258B31}">
      <dgm:prSet/>
      <dgm:spPr/>
      <dgm:t>
        <a:bodyPr/>
        <a:lstStyle/>
        <a:p>
          <a:pPr>
            <a:defRPr cap="all"/>
          </a:pPr>
          <a:r>
            <a:rPr lang="en-US" b="1" cap="none" dirty="0">
              <a:latin typeface="Cambria" panose="02040503050406030204" pitchFamily="18" charset="0"/>
            </a:rPr>
            <a:t>Understand</a:t>
          </a:r>
          <a:r>
            <a:rPr lang="en-US" cap="none" dirty="0">
              <a:latin typeface="Cambria" panose="02040503050406030204" pitchFamily="18" charset="0"/>
            </a:rPr>
            <a:t> Your Data More Easily.</a:t>
          </a:r>
        </a:p>
      </dgm:t>
    </dgm:pt>
    <dgm:pt modelId="{7949225E-68AB-4CE6-9238-32ECB308023B}" type="parTrans" cxnId="{81E7847A-A2F1-4C8B-926B-4C1CA7F9951A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AB92DCBA-E691-4405-BC3F-20712B59CF27}" type="sibTrans" cxnId="{81E7847A-A2F1-4C8B-926B-4C1CA7F9951A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F8163DEF-7686-45B1-A438-E8248A185A4C}">
      <dgm:prSet/>
      <dgm:spPr/>
      <dgm:t>
        <a:bodyPr/>
        <a:lstStyle/>
        <a:p>
          <a:pPr>
            <a:defRPr cap="all"/>
          </a:pPr>
          <a:r>
            <a:rPr lang="en-US" cap="none" dirty="0">
              <a:latin typeface="Cambria" panose="02040503050406030204" pitchFamily="18" charset="0"/>
            </a:rPr>
            <a:t>See the </a:t>
          </a:r>
          <a:r>
            <a:rPr lang="en-US" b="1" cap="none" dirty="0">
              <a:latin typeface="Cambria" panose="02040503050406030204" pitchFamily="18" charset="0"/>
            </a:rPr>
            <a:t>Relationships</a:t>
          </a:r>
          <a:r>
            <a:rPr lang="en-US" cap="none" dirty="0">
              <a:latin typeface="Cambria" panose="02040503050406030204" pitchFamily="18" charset="0"/>
            </a:rPr>
            <a:t> Between Variables</a:t>
          </a:r>
          <a:r>
            <a:rPr lang="en-US" dirty="0">
              <a:latin typeface="Cambria" panose="02040503050406030204" pitchFamily="18" charset="0"/>
            </a:rPr>
            <a:t>.</a:t>
          </a:r>
        </a:p>
      </dgm:t>
    </dgm:pt>
    <dgm:pt modelId="{EB96B283-A292-4B26-98F7-EFE078885388}" type="parTrans" cxnId="{C6CEBAA6-1A72-4272-9AF1-75D3FD2AEA13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14A2B667-8C2E-4EA3-A1AD-DE75F3780125}" type="sibTrans" cxnId="{C6CEBAA6-1A72-4272-9AF1-75D3FD2AEA13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539482E3-33C1-492A-82BD-BA6566AA71E1}">
      <dgm:prSet/>
      <dgm:spPr/>
      <dgm:t>
        <a:bodyPr/>
        <a:lstStyle/>
        <a:p>
          <a:pPr>
            <a:defRPr cap="all"/>
          </a:pPr>
          <a:r>
            <a:rPr lang="en-US" cap="none" dirty="0">
              <a:latin typeface="Cambria" panose="02040503050406030204" pitchFamily="18" charset="0"/>
            </a:rPr>
            <a:t>Spot Unusual Datapoints Like </a:t>
          </a:r>
          <a:r>
            <a:rPr lang="en-US" b="1" cap="none" dirty="0">
              <a:latin typeface="Cambria" panose="02040503050406030204" pitchFamily="18" charset="0"/>
            </a:rPr>
            <a:t>Outliers</a:t>
          </a:r>
          <a:r>
            <a:rPr lang="en-US" cap="none" dirty="0">
              <a:latin typeface="Cambria" panose="02040503050406030204" pitchFamily="18" charset="0"/>
            </a:rPr>
            <a:t>.</a:t>
          </a:r>
        </a:p>
      </dgm:t>
    </dgm:pt>
    <dgm:pt modelId="{02DBE74A-52AF-41C6-BCB2-725390C3347F}" type="parTrans" cxnId="{1A1A78EC-8D90-4D1B-BD19-CDBB3562DD5D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F979702F-DC5E-4124-A95D-FB839779409A}" type="sibTrans" cxnId="{1A1A78EC-8D90-4D1B-BD19-CDBB3562DD5D}">
      <dgm:prSet/>
      <dgm:spPr/>
      <dgm:t>
        <a:bodyPr/>
        <a:lstStyle/>
        <a:p>
          <a:endParaRPr lang="en-US">
            <a:latin typeface="Cambria" panose="02040503050406030204" pitchFamily="18" charset="0"/>
          </a:endParaRPr>
        </a:p>
      </dgm:t>
    </dgm:pt>
    <dgm:pt modelId="{7C954043-C12B-40B4-ABC3-27CE36448A17}" type="pres">
      <dgm:prSet presAssocID="{FB8C8327-C671-4407-B45D-6FBED85AD217}" presName="root" presStyleCnt="0">
        <dgm:presLayoutVars>
          <dgm:dir/>
          <dgm:resizeHandles val="exact"/>
        </dgm:presLayoutVars>
      </dgm:prSet>
      <dgm:spPr/>
    </dgm:pt>
    <dgm:pt modelId="{F4EFAFC8-ED62-4E08-9D88-7843D6E5AA48}" type="pres">
      <dgm:prSet presAssocID="{72059FC0-C4D0-4FA0-AEF9-06258E258B31}" presName="compNode" presStyleCnt="0"/>
      <dgm:spPr/>
    </dgm:pt>
    <dgm:pt modelId="{13606ACE-E2B4-4474-AC16-AC224E5236E8}" type="pres">
      <dgm:prSet presAssocID="{72059FC0-C4D0-4FA0-AEF9-06258E258B31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EC27E5E-86FD-4838-9668-61E1E84F002A}" type="pres">
      <dgm:prSet presAssocID="{72059FC0-C4D0-4FA0-AEF9-06258E258B3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D18692D-13E3-484C-B198-98AA0CA6FA4D}" type="pres">
      <dgm:prSet presAssocID="{72059FC0-C4D0-4FA0-AEF9-06258E258B31}" presName="spaceRect" presStyleCnt="0"/>
      <dgm:spPr/>
    </dgm:pt>
    <dgm:pt modelId="{96FC6AB3-BFB8-4E91-9FFA-133466FA347F}" type="pres">
      <dgm:prSet presAssocID="{72059FC0-C4D0-4FA0-AEF9-06258E258B31}" presName="textRect" presStyleLbl="revTx" presStyleIdx="0" presStyleCnt="3">
        <dgm:presLayoutVars>
          <dgm:chMax val="1"/>
          <dgm:chPref val="1"/>
        </dgm:presLayoutVars>
      </dgm:prSet>
      <dgm:spPr/>
    </dgm:pt>
    <dgm:pt modelId="{7DA85FB0-226D-413F-89AE-FE4DF49B0EF4}" type="pres">
      <dgm:prSet presAssocID="{AB92DCBA-E691-4405-BC3F-20712B59CF27}" presName="sibTrans" presStyleCnt="0"/>
      <dgm:spPr/>
    </dgm:pt>
    <dgm:pt modelId="{005991A3-18CE-4DF1-9404-13E7A2496697}" type="pres">
      <dgm:prSet presAssocID="{F8163DEF-7686-45B1-A438-E8248A185A4C}" presName="compNode" presStyleCnt="0"/>
      <dgm:spPr/>
    </dgm:pt>
    <dgm:pt modelId="{8B819BD6-7B30-4F82-BE3D-D1449987727A}" type="pres">
      <dgm:prSet presAssocID="{F8163DEF-7686-45B1-A438-E8248A185A4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2C68235-C350-4BFE-8F96-38CA8CA31630}" type="pres">
      <dgm:prSet presAssocID="{F8163DEF-7686-45B1-A438-E8248A185A4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9EAE6C37-D5CB-4FEE-A53E-AA7FBD9F6580}" type="pres">
      <dgm:prSet presAssocID="{F8163DEF-7686-45B1-A438-E8248A185A4C}" presName="spaceRect" presStyleCnt="0"/>
      <dgm:spPr/>
    </dgm:pt>
    <dgm:pt modelId="{BE0CEC57-541B-4863-8ED4-1B5D27920C75}" type="pres">
      <dgm:prSet presAssocID="{F8163DEF-7686-45B1-A438-E8248A185A4C}" presName="textRect" presStyleLbl="revTx" presStyleIdx="1" presStyleCnt="3">
        <dgm:presLayoutVars>
          <dgm:chMax val="1"/>
          <dgm:chPref val="1"/>
        </dgm:presLayoutVars>
      </dgm:prSet>
      <dgm:spPr/>
    </dgm:pt>
    <dgm:pt modelId="{7A57F25E-3C18-4202-9015-D42A5036EE58}" type="pres">
      <dgm:prSet presAssocID="{14A2B667-8C2E-4EA3-A1AD-DE75F3780125}" presName="sibTrans" presStyleCnt="0"/>
      <dgm:spPr/>
    </dgm:pt>
    <dgm:pt modelId="{58ED562A-316E-482A-9033-BF7454FABA5F}" type="pres">
      <dgm:prSet presAssocID="{539482E3-33C1-492A-82BD-BA6566AA71E1}" presName="compNode" presStyleCnt="0"/>
      <dgm:spPr/>
    </dgm:pt>
    <dgm:pt modelId="{99A82FDF-CB81-4D9B-94CE-6C3435D935D6}" type="pres">
      <dgm:prSet presAssocID="{539482E3-33C1-492A-82BD-BA6566AA71E1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3B2E7CC-33FC-449E-A678-92366289AF7E}" type="pres">
      <dgm:prSet presAssocID="{539482E3-33C1-492A-82BD-BA6566AA71E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E2F33DAC-9A21-4A0C-8B8F-707C04E744C6}" type="pres">
      <dgm:prSet presAssocID="{539482E3-33C1-492A-82BD-BA6566AA71E1}" presName="spaceRect" presStyleCnt="0"/>
      <dgm:spPr/>
    </dgm:pt>
    <dgm:pt modelId="{9FC558E0-347D-441C-B08D-0979351E464A}" type="pres">
      <dgm:prSet presAssocID="{539482E3-33C1-492A-82BD-BA6566AA71E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C94F840-D01C-4E9E-9699-2889750AF12E}" type="presOf" srcId="{F8163DEF-7686-45B1-A438-E8248A185A4C}" destId="{BE0CEC57-541B-4863-8ED4-1B5D27920C75}" srcOrd="0" destOrd="0" presId="urn:microsoft.com/office/officeart/2018/5/layout/IconLeafLabelList"/>
    <dgm:cxn modelId="{7026B459-5A12-48EA-A2E8-6DD4B79A3BA9}" type="presOf" srcId="{72059FC0-C4D0-4FA0-AEF9-06258E258B31}" destId="{96FC6AB3-BFB8-4E91-9FFA-133466FA347F}" srcOrd="0" destOrd="0" presId="urn:microsoft.com/office/officeart/2018/5/layout/IconLeafLabelList"/>
    <dgm:cxn modelId="{81E7847A-A2F1-4C8B-926B-4C1CA7F9951A}" srcId="{FB8C8327-C671-4407-B45D-6FBED85AD217}" destId="{72059FC0-C4D0-4FA0-AEF9-06258E258B31}" srcOrd="0" destOrd="0" parTransId="{7949225E-68AB-4CE6-9238-32ECB308023B}" sibTransId="{AB92DCBA-E691-4405-BC3F-20712B59CF27}"/>
    <dgm:cxn modelId="{C1D9938E-F8BC-4D2C-935F-0FDF5CFAB37A}" type="presOf" srcId="{FB8C8327-C671-4407-B45D-6FBED85AD217}" destId="{7C954043-C12B-40B4-ABC3-27CE36448A17}" srcOrd="0" destOrd="0" presId="urn:microsoft.com/office/officeart/2018/5/layout/IconLeafLabelList"/>
    <dgm:cxn modelId="{C6CEBAA6-1A72-4272-9AF1-75D3FD2AEA13}" srcId="{FB8C8327-C671-4407-B45D-6FBED85AD217}" destId="{F8163DEF-7686-45B1-A438-E8248A185A4C}" srcOrd="1" destOrd="0" parTransId="{EB96B283-A292-4B26-98F7-EFE078885388}" sibTransId="{14A2B667-8C2E-4EA3-A1AD-DE75F3780125}"/>
    <dgm:cxn modelId="{F49B8FB1-9BE8-4EBD-94BC-F603EFCD848D}" type="presOf" srcId="{539482E3-33C1-492A-82BD-BA6566AA71E1}" destId="{9FC558E0-347D-441C-B08D-0979351E464A}" srcOrd="0" destOrd="0" presId="urn:microsoft.com/office/officeart/2018/5/layout/IconLeafLabelList"/>
    <dgm:cxn modelId="{1A1A78EC-8D90-4D1B-BD19-CDBB3562DD5D}" srcId="{FB8C8327-C671-4407-B45D-6FBED85AD217}" destId="{539482E3-33C1-492A-82BD-BA6566AA71E1}" srcOrd="2" destOrd="0" parTransId="{02DBE74A-52AF-41C6-BCB2-725390C3347F}" sibTransId="{F979702F-DC5E-4124-A95D-FB839779409A}"/>
    <dgm:cxn modelId="{BEFCC0BA-EBEF-407F-8092-E17C611B552A}" type="presParOf" srcId="{7C954043-C12B-40B4-ABC3-27CE36448A17}" destId="{F4EFAFC8-ED62-4E08-9D88-7843D6E5AA48}" srcOrd="0" destOrd="0" presId="urn:microsoft.com/office/officeart/2018/5/layout/IconLeafLabelList"/>
    <dgm:cxn modelId="{DA98DA74-ED1C-4714-B866-BFE7ECF1FC7C}" type="presParOf" srcId="{F4EFAFC8-ED62-4E08-9D88-7843D6E5AA48}" destId="{13606ACE-E2B4-4474-AC16-AC224E5236E8}" srcOrd="0" destOrd="0" presId="urn:microsoft.com/office/officeart/2018/5/layout/IconLeafLabelList"/>
    <dgm:cxn modelId="{61B27084-D2A0-4B6C-90AA-9EC90FB8504E}" type="presParOf" srcId="{F4EFAFC8-ED62-4E08-9D88-7843D6E5AA48}" destId="{1EC27E5E-86FD-4838-9668-61E1E84F002A}" srcOrd="1" destOrd="0" presId="urn:microsoft.com/office/officeart/2018/5/layout/IconLeafLabelList"/>
    <dgm:cxn modelId="{07D0EE45-0C05-42C4-8DFB-BFD7B2D981BD}" type="presParOf" srcId="{F4EFAFC8-ED62-4E08-9D88-7843D6E5AA48}" destId="{5D18692D-13E3-484C-B198-98AA0CA6FA4D}" srcOrd="2" destOrd="0" presId="urn:microsoft.com/office/officeart/2018/5/layout/IconLeafLabelList"/>
    <dgm:cxn modelId="{0DF1B415-A15B-43A9-A8C1-2814FD240D93}" type="presParOf" srcId="{F4EFAFC8-ED62-4E08-9D88-7843D6E5AA48}" destId="{96FC6AB3-BFB8-4E91-9FFA-133466FA347F}" srcOrd="3" destOrd="0" presId="urn:microsoft.com/office/officeart/2018/5/layout/IconLeafLabelList"/>
    <dgm:cxn modelId="{516497F5-9D69-4F2F-9871-9A00944A1953}" type="presParOf" srcId="{7C954043-C12B-40B4-ABC3-27CE36448A17}" destId="{7DA85FB0-226D-413F-89AE-FE4DF49B0EF4}" srcOrd="1" destOrd="0" presId="urn:microsoft.com/office/officeart/2018/5/layout/IconLeafLabelList"/>
    <dgm:cxn modelId="{FFC9F702-EE48-4A86-BEB4-1C72AB078878}" type="presParOf" srcId="{7C954043-C12B-40B4-ABC3-27CE36448A17}" destId="{005991A3-18CE-4DF1-9404-13E7A2496697}" srcOrd="2" destOrd="0" presId="urn:microsoft.com/office/officeart/2018/5/layout/IconLeafLabelList"/>
    <dgm:cxn modelId="{1117B4DC-4955-4A42-A98D-5AF50CA5746D}" type="presParOf" srcId="{005991A3-18CE-4DF1-9404-13E7A2496697}" destId="{8B819BD6-7B30-4F82-BE3D-D1449987727A}" srcOrd="0" destOrd="0" presId="urn:microsoft.com/office/officeart/2018/5/layout/IconLeafLabelList"/>
    <dgm:cxn modelId="{B30D0B13-B7D0-43C2-B83A-F17812EA2EF9}" type="presParOf" srcId="{005991A3-18CE-4DF1-9404-13E7A2496697}" destId="{82C68235-C350-4BFE-8F96-38CA8CA31630}" srcOrd="1" destOrd="0" presId="urn:microsoft.com/office/officeart/2018/5/layout/IconLeafLabelList"/>
    <dgm:cxn modelId="{5775C05E-A7C2-4577-9290-D580C3A342CD}" type="presParOf" srcId="{005991A3-18CE-4DF1-9404-13E7A2496697}" destId="{9EAE6C37-D5CB-4FEE-A53E-AA7FBD9F6580}" srcOrd="2" destOrd="0" presId="urn:microsoft.com/office/officeart/2018/5/layout/IconLeafLabelList"/>
    <dgm:cxn modelId="{8F8C8EA8-D5F1-40B4-B372-F27CC8FC736D}" type="presParOf" srcId="{005991A3-18CE-4DF1-9404-13E7A2496697}" destId="{BE0CEC57-541B-4863-8ED4-1B5D27920C75}" srcOrd="3" destOrd="0" presId="urn:microsoft.com/office/officeart/2018/5/layout/IconLeafLabelList"/>
    <dgm:cxn modelId="{E62EDAF8-44DE-46B7-906C-F650C82A9946}" type="presParOf" srcId="{7C954043-C12B-40B4-ABC3-27CE36448A17}" destId="{7A57F25E-3C18-4202-9015-D42A5036EE58}" srcOrd="3" destOrd="0" presId="urn:microsoft.com/office/officeart/2018/5/layout/IconLeafLabelList"/>
    <dgm:cxn modelId="{1B7BDF20-9B50-4539-903B-300855200F1B}" type="presParOf" srcId="{7C954043-C12B-40B4-ABC3-27CE36448A17}" destId="{58ED562A-316E-482A-9033-BF7454FABA5F}" srcOrd="4" destOrd="0" presId="urn:microsoft.com/office/officeart/2018/5/layout/IconLeafLabelList"/>
    <dgm:cxn modelId="{44BC3806-B7BC-431E-A791-272817CFDB59}" type="presParOf" srcId="{58ED562A-316E-482A-9033-BF7454FABA5F}" destId="{99A82FDF-CB81-4D9B-94CE-6C3435D935D6}" srcOrd="0" destOrd="0" presId="urn:microsoft.com/office/officeart/2018/5/layout/IconLeafLabelList"/>
    <dgm:cxn modelId="{07F39753-3444-4271-9FC6-F701E0863F50}" type="presParOf" srcId="{58ED562A-316E-482A-9033-BF7454FABA5F}" destId="{53B2E7CC-33FC-449E-A678-92366289AF7E}" srcOrd="1" destOrd="0" presId="urn:microsoft.com/office/officeart/2018/5/layout/IconLeafLabelList"/>
    <dgm:cxn modelId="{64ABA5AD-277C-4E5C-AE7F-BB1D758C121C}" type="presParOf" srcId="{58ED562A-316E-482A-9033-BF7454FABA5F}" destId="{E2F33DAC-9A21-4A0C-8B8F-707C04E744C6}" srcOrd="2" destOrd="0" presId="urn:microsoft.com/office/officeart/2018/5/layout/IconLeafLabelList"/>
    <dgm:cxn modelId="{7772BC64-0AB1-496D-8E79-1A816CB48F2B}" type="presParOf" srcId="{58ED562A-316E-482A-9033-BF7454FABA5F}" destId="{9FC558E0-347D-441C-B08D-0979351E464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606ACE-E2B4-4474-AC16-AC224E5236E8}">
      <dsp:nvSpPr>
        <dsp:cNvPr id="0" name=""/>
        <dsp:cNvSpPr/>
      </dsp:nvSpPr>
      <dsp:spPr>
        <a:xfrm>
          <a:off x="473590" y="1565160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C27E5E-86FD-4838-9668-61E1E84F002A}">
      <dsp:nvSpPr>
        <dsp:cNvPr id="0" name=""/>
        <dsp:cNvSpPr/>
      </dsp:nvSpPr>
      <dsp:spPr>
        <a:xfrm>
          <a:off x="780716" y="1872285"/>
          <a:ext cx="826875" cy="826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C6AB3-BFB8-4E91-9FFA-133466FA347F}">
      <dsp:nvSpPr>
        <dsp:cNvPr id="0" name=""/>
        <dsp:cNvSpPr/>
      </dsp:nvSpPr>
      <dsp:spPr>
        <a:xfrm>
          <a:off x="12903" y="3455160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 cap="none" dirty="0">
              <a:latin typeface="Cambria" panose="02040503050406030204" pitchFamily="18" charset="0"/>
            </a:rPr>
            <a:t>Understand</a:t>
          </a:r>
          <a:r>
            <a:rPr lang="en-US" sz="1700" kern="1200" cap="none" dirty="0">
              <a:latin typeface="Cambria" panose="02040503050406030204" pitchFamily="18" charset="0"/>
            </a:rPr>
            <a:t> Your Data More Easily.</a:t>
          </a:r>
        </a:p>
      </dsp:txBody>
      <dsp:txXfrm>
        <a:off x="12903" y="3455160"/>
        <a:ext cx="2362500" cy="720000"/>
      </dsp:txXfrm>
    </dsp:sp>
    <dsp:sp modelId="{8B819BD6-7B30-4F82-BE3D-D1449987727A}">
      <dsp:nvSpPr>
        <dsp:cNvPr id="0" name=""/>
        <dsp:cNvSpPr/>
      </dsp:nvSpPr>
      <dsp:spPr>
        <a:xfrm>
          <a:off x="3249528" y="1565160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68235-C350-4BFE-8F96-38CA8CA31630}">
      <dsp:nvSpPr>
        <dsp:cNvPr id="0" name=""/>
        <dsp:cNvSpPr/>
      </dsp:nvSpPr>
      <dsp:spPr>
        <a:xfrm>
          <a:off x="3556653" y="1872285"/>
          <a:ext cx="826875" cy="826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0CEC57-541B-4863-8ED4-1B5D27920C75}">
      <dsp:nvSpPr>
        <dsp:cNvPr id="0" name=""/>
        <dsp:cNvSpPr/>
      </dsp:nvSpPr>
      <dsp:spPr>
        <a:xfrm>
          <a:off x="2788841" y="3455160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cap="none" dirty="0">
              <a:latin typeface="Cambria" panose="02040503050406030204" pitchFamily="18" charset="0"/>
            </a:rPr>
            <a:t>See the </a:t>
          </a:r>
          <a:r>
            <a:rPr lang="en-US" sz="1700" b="1" kern="1200" cap="none" dirty="0">
              <a:latin typeface="Cambria" panose="02040503050406030204" pitchFamily="18" charset="0"/>
            </a:rPr>
            <a:t>Relationships</a:t>
          </a:r>
          <a:r>
            <a:rPr lang="en-US" sz="1700" kern="1200" cap="none" dirty="0">
              <a:latin typeface="Cambria" panose="02040503050406030204" pitchFamily="18" charset="0"/>
            </a:rPr>
            <a:t> Between Variables</a:t>
          </a:r>
          <a:r>
            <a:rPr lang="en-US" sz="1700" kern="1200" dirty="0">
              <a:latin typeface="Cambria" panose="02040503050406030204" pitchFamily="18" charset="0"/>
            </a:rPr>
            <a:t>.</a:t>
          </a:r>
        </a:p>
      </dsp:txBody>
      <dsp:txXfrm>
        <a:off x="2788841" y="3455160"/>
        <a:ext cx="2362500" cy="720000"/>
      </dsp:txXfrm>
    </dsp:sp>
    <dsp:sp modelId="{99A82FDF-CB81-4D9B-94CE-6C3435D935D6}">
      <dsp:nvSpPr>
        <dsp:cNvPr id="0" name=""/>
        <dsp:cNvSpPr/>
      </dsp:nvSpPr>
      <dsp:spPr>
        <a:xfrm>
          <a:off x="6025466" y="1565160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2E7CC-33FC-449E-A678-92366289AF7E}">
      <dsp:nvSpPr>
        <dsp:cNvPr id="0" name=""/>
        <dsp:cNvSpPr/>
      </dsp:nvSpPr>
      <dsp:spPr>
        <a:xfrm>
          <a:off x="6332591" y="1872285"/>
          <a:ext cx="826875" cy="826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558E0-347D-441C-B08D-0979351E464A}">
      <dsp:nvSpPr>
        <dsp:cNvPr id="0" name=""/>
        <dsp:cNvSpPr/>
      </dsp:nvSpPr>
      <dsp:spPr>
        <a:xfrm>
          <a:off x="5564778" y="3455160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cap="none" dirty="0">
              <a:latin typeface="Cambria" panose="02040503050406030204" pitchFamily="18" charset="0"/>
            </a:rPr>
            <a:t>Spot Unusual Datapoints Like </a:t>
          </a:r>
          <a:r>
            <a:rPr lang="en-US" sz="1700" b="1" kern="1200" cap="none" dirty="0">
              <a:latin typeface="Cambria" panose="02040503050406030204" pitchFamily="18" charset="0"/>
            </a:rPr>
            <a:t>Outliers</a:t>
          </a:r>
          <a:r>
            <a:rPr lang="en-US" sz="1700" kern="1200" cap="none" dirty="0">
              <a:latin typeface="Cambria" panose="02040503050406030204" pitchFamily="18" charset="0"/>
            </a:rPr>
            <a:t>.</a:t>
          </a:r>
        </a:p>
      </dsp:txBody>
      <dsp:txXfrm>
        <a:off x="5564778" y="3455160"/>
        <a:ext cx="2362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F23D8-0271-F541-9BCD-5C391912005C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12D8E-D471-A34E-AB17-24705BCE4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7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81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7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Understand the data</a:t>
            </a:r>
            <a:r>
              <a:rPr lang="en-AU" dirty="0"/>
              <a:t> Get a quick overview of the dataset. </a:t>
            </a:r>
          </a:p>
          <a:p>
            <a:r>
              <a:rPr lang="en-AU" dirty="0"/>
              <a:t>See how values are distributed. </a:t>
            </a:r>
          </a:p>
          <a:p>
            <a:r>
              <a:rPr lang="en-AU" dirty="0"/>
              <a:t>Identify the range and spread of the data. </a:t>
            </a:r>
          </a:p>
          <a:p>
            <a:r>
              <a:rPr lang="en-AU" b="1" dirty="0"/>
              <a:t>Find relationships</a:t>
            </a:r>
            <a:r>
              <a:rPr lang="en-AU" dirty="0"/>
              <a:t> Discover whether two or more variables are related. </a:t>
            </a:r>
          </a:p>
          <a:p>
            <a:r>
              <a:rPr lang="en-AU" dirty="0"/>
              <a:t>Detect positive, negative, or no correlation. </a:t>
            </a:r>
          </a:p>
          <a:p>
            <a:r>
              <a:rPr lang="en-AU" dirty="0"/>
              <a:t>Example: Does study time increase exam scores? </a:t>
            </a:r>
          </a:p>
          <a:p>
            <a:r>
              <a:rPr lang="en-AU" b="1" dirty="0"/>
              <a:t>Detect outliers</a:t>
            </a:r>
            <a:r>
              <a:rPr lang="en-AU" dirty="0"/>
              <a:t> Identify unusually high or low values. </a:t>
            </a:r>
          </a:p>
          <a:p>
            <a:r>
              <a:rPr lang="en-AU" dirty="0"/>
              <a:t>Outliers may indicate: </a:t>
            </a:r>
          </a:p>
          <a:p>
            <a:pPr lvl="1"/>
            <a:r>
              <a:rPr lang="en-AU" b="1" dirty="0"/>
              <a:t>Data entry errors </a:t>
            </a:r>
          </a:p>
          <a:p>
            <a:pPr lvl="1"/>
            <a:r>
              <a:rPr lang="en-AU" b="1" dirty="0"/>
              <a:t>Measurement errors </a:t>
            </a:r>
          </a:p>
          <a:p>
            <a:pPr lvl="1"/>
            <a:r>
              <a:rPr lang="en-AU" b="1" dirty="0"/>
              <a:t>Rare but important observations </a:t>
            </a:r>
          </a:p>
          <a:p>
            <a:r>
              <a:rPr lang="en-AU" b="1" dirty="0"/>
              <a:t>Identify patterns and trends.</a:t>
            </a:r>
            <a:r>
              <a:rPr lang="en-AU" dirty="0"/>
              <a:t> Observe trends over time. </a:t>
            </a:r>
          </a:p>
          <a:p>
            <a:r>
              <a:rPr lang="en-AU" dirty="0"/>
              <a:t>Detect seasonal patterns. </a:t>
            </a:r>
          </a:p>
          <a:p>
            <a:r>
              <a:rPr lang="en-AU" dirty="0"/>
              <a:t>Find </a:t>
            </a:r>
            <a:r>
              <a:rPr lang="en-AU" b="1" dirty="0"/>
              <a:t>clusters</a:t>
            </a:r>
            <a:r>
              <a:rPr lang="en-AU" dirty="0"/>
              <a:t> or groups of similar observations. </a:t>
            </a:r>
          </a:p>
          <a:p>
            <a:r>
              <a:rPr lang="en-AU" b="1" dirty="0"/>
              <a:t>Compare categories</a:t>
            </a:r>
            <a:r>
              <a:rPr lang="en-AU" dirty="0"/>
              <a:t> Compare averages, counts, or distributions between groups. </a:t>
            </a:r>
          </a:p>
          <a:p>
            <a:r>
              <a:rPr lang="en-AU" dirty="0"/>
              <a:t>Example: Compare salaries across different departments. </a:t>
            </a:r>
          </a:p>
          <a:p>
            <a:r>
              <a:rPr lang="en-AU" b="1" dirty="0"/>
              <a:t>Communicate insights</a:t>
            </a:r>
            <a:r>
              <a:rPr lang="en-AU" dirty="0"/>
              <a:t> Visuals are easier to understand than tables of numbers. </a:t>
            </a:r>
          </a:p>
          <a:p>
            <a:r>
              <a:rPr lang="en-AU" dirty="0"/>
              <a:t>They help explain findings to technical and non-technical audiences.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11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These Python data visualization tools help you </a:t>
            </a:r>
            <a:r>
              <a:rPr lang="en-AU" b="1" dirty="0"/>
              <a:t>turn raw numbers into visual charts</a:t>
            </a:r>
            <a:r>
              <a:rPr lang="en-AU" dirty="0"/>
              <a:t>. </a:t>
            </a:r>
          </a:p>
          <a:p>
            <a:r>
              <a:rPr lang="en-AU" dirty="0"/>
              <a:t>While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Pandas</a:t>
            </a:r>
            <a:r>
              <a:rPr lang="en-AU" dirty="0"/>
              <a:t> and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</a:t>
            </a:r>
            <a:r>
              <a:rPr lang="en-AU" dirty="0"/>
              <a:t> offer foundational graphing,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Seaborn</a:t>
            </a:r>
            <a:r>
              <a:rPr lang="en-AU" dirty="0"/>
              <a:t> builds on them for </a:t>
            </a:r>
            <a:r>
              <a:rPr lang="en-AU" b="1" dirty="0"/>
              <a:t>statistics</a:t>
            </a:r>
            <a:r>
              <a:rPr lang="en-AU" dirty="0"/>
              <a:t>. </a:t>
            </a:r>
          </a:p>
          <a:p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Bokeh/</a:t>
            </a:r>
            <a:r>
              <a:rPr lang="en-A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bokei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AU" dirty="0"/>
              <a:t>,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Vega-Altair/</a:t>
            </a:r>
            <a:r>
              <a:rPr lang="en-A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vega</a:t>
            </a:r>
            <a:r>
              <a:rPr lang="en-AU" sz="12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tar/</a:t>
            </a:r>
            <a:r>
              <a:rPr lang="en-AU"/>
              <a:t>, </a:t>
            </a:r>
            <a:r>
              <a:rPr lang="en-AU" dirty="0"/>
              <a:t>and </a:t>
            </a:r>
            <a:r>
              <a:rPr lang="en-A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Plotly</a:t>
            </a:r>
            <a:r>
              <a:rPr lang="en-AU" dirty="0"/>
              <a:t> are built for </a:t>
            </a:r>
            <a:r>
              <a:rPr lang="en-AU" b="1" dirty="0"/>
              <a:t>dynamic, web-based, and interactive dashboards</a:t>
            </a:r>
            <a:r>
              <a:rPr lang="en-A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77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57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Prepoccesed</a:t>
            </a:r>
            <a:r>
              <a:rPr lang="en-US" dirty="0"/>
              <a:t> and wide</a:t>
            </a:r>
          </a:p>
          <a:p>
            <a:endParaRPr lang="en-US" dirty="0"/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a wide table 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 long-format table in pandas, you </a:t>
            </a:r>
            <a:r>
              <a:rPr lang="en-AU" dirty="0"/>
              <a:t>reshape the data by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pivoting unique row values into individual column headers</a:t>
            </a:r>
            <a:r>
              <a:rPr lang="en-AU" dirty="0"/>
              <a:t>. </a:t>
            </a:r>
            <a:br>
              <a:rPr lang="en-US" dirty="0"/>
            </a:br>
            <a:endParaRPr lang="en-US" dirty="0"/>
          </a:p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make wide tables in pandas primarily </a:t>
            </a:r>
            <a:r>
              <a:rPr lang="en-AU" dirty="0"/>
              <a:t>for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 readability, executive reporting, and horizontal data comparisons</a:t>
            </a:r>
            <a:r>
              <a:rPr lang="en-AU" dirty="0"/>
              <a:t>. </a:t>
            </a:r>
          </a:p>
          <a:p>
            <a:r>
              <a:rPr lang="en-AU" dirty="0"/>
              <a:t>While </a:t>
            </a:r>
            <a:r>
              <a:rPr lang="en-AU" b="1" dirty="0"/>
              <a:t>computer algorithms </a:t>
            </a:r>
            <a:r>
              <a:rPr lang="en-AU" dirty="0"/>
              <a:t>and visualisation libraries prefer </a:t>
            </a:r>
            <a:r>
              <a:rPr lang="en-AU" b="1" dirty="0"/>
              <a:t>long (tidy) formats</a:t>
            </a:r>
            <a:r>
              <a:rPr lang="en-AU" dirty="0"/>
              <a:t>, </a:t>
            </a:r>
          </a:p>
          <a:p>
            <a:r>
              <a:rPr lang="en-AU" b="1" dirty="0"/>
              <a:t>wide tables </a:t>
            </a:r>
            <a:r>
              <a:rPr lang="en-AU" dirty="0"/>
              <a:t>present data in a familiar, spreadsheet-like layout where </a:t>
            </a:r>
            <a:r>
              <a:rPr lang="en-AU" b="1" dirty="0"/>
              <a:t>each unique entity occupies exactly one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74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Why is Long Format Popular?</a:t>
            </a:r>
          </a:p>
          <a:p>
            <a:r>
              <a:rPr lang="en-AU" dirty="0"/>
              <a:t>Long format works much better with visualization libraries like </a:t>
            </a:r>
            <a:r>
              <a:rPr lang="en-AU" b="1" dirty="0"/>
              <a:t>Seaborn</a:t>
            </a:r>
            <a:r>
              <a:rPr lang="en-AU" dirty="0"/>
              <a:t> and </a:t>
            </a:r>
            <a:r>
              <a:rPr lang="en-AU" b="1" dirty="0" err="1"/>
              <a:t>Plotly</a:t>
            </a:r>
            <a:r>
              <a:rPr lang="en-AU" b="1" dirty="0"/>
              <a:t> Express</a:t>
            </a:r>
            <a:r>
              <a:rPr lang="en-AU" dirty="0"/>
              <a:t>, because they can use a categorical column to create separate lines or bars.</a:t>
            </a:r>
          </a:p>
          <a:p>
            <a:r>
              <a:rPr lang="en-AU" b="1" dirty="0"/>
              <a:t>Wide format</a:t>
            </a:r>
            <a:r>
              <a:rPr lang="en-AU" dirty="0"/>
              <a:t> → </a:t>
            </a:r>
            <a:r>
              <a:rPr lang="en-AU" b="1" dirty="0"/>
              <a:t>Pandas can often figure out what to plot automatically.</a:t>
            </a:r>
            <a:r>
              <a:rPr lang="en-AU" dirty="0"/>
              <a:t> </a:t>
            </a:r>
          </a:p>
          <a:p>
            <a:r>
              <a:rPr lang="en-AU" b="1" dirty="0"/>
              <a:t>Long format</a:t>
            </a:r>
            <a:r>
              <a:rPr lang="en-AU" dirty="0"/>
              <a:t> → </a:t>
            </a:r>
            <a:r>
              <a:rPr lang="en-AU" b="1" dirty="0"/>
              <a:t>You tell the plotting function which column contains the values (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en-AU" b="1" dirty="0"/>
              <a:t>) and which column defines the groups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47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pandas, there is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functional difference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between </a:t>
            </a:r>
            <a:r>
              <a:rPr lang="en-A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df.plot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A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df.plot.line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 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methods generate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identical line plots.</a:t>
            </a:r>
          </a:p>
          <a:p>
            <a:r>
              <a:rPr lang="en-AU" dirty="0"/>
              <a:t>The choice between them comes down to syntax style, code autocomplete </a:t>
            </a:r>
            <a:r>
              <a:rPr lang="en-AU" dirty="0" err="1"/>
              <a:t>behavior</a:t>
            </a:r>
            <a:r>
              <a:rPr lang="en-AU" dirty="0"/>
              <a:t>, and how you prefer to switch between different visualization types.</a:t>
            </a:r>
          </a:p>
          <a:p>
            <a:endParaRPr lang="en-AU" dirty="0"/>
          </a:p>
          <a:p>
            <a:r>
              <a:rPr lang="en-A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df.plot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This is the general plotting wrapper. Because its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 parameter defaults to 'line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calling it with no arguments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draws a line graph. You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 the chart type by passing a string, like </a:t>
            </a:r>
            <a:r>
              <a:rPr lang="en-A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df.plot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(kind='bar’). </a:t>
            </a:r>
          </a:p>
          <a:p>
            <a:endParaRPr lang="en-AU" sz="1200" b="1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df.plot.line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This calls the specific line plotting method directly from the </a:t>
            </a:r>
            <a:r>
              <a:rPr lang="en-AU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PlotAccessor</a:t>
            </a:r>
            <a:r>
              <a:rPr lang="en-AU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object. 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change chart types using this syntax style, you switch the trailing method name entirely, such as </a:t>
            </a:r>
            <a:r>
              <a:rPr lang="en-AU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df.plot.bar</a:t>
            </a:r>
            <a:r>
              <a:rPr lang="en-AU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  <a:endParaRPr lang="en-AU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72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Zoomed in in previous plot choose </a:t>
            </a:r>
            <a:r>
              <a:rPr lang="en-US" dirty="0" err="1"/>
              <a:t>xlim</a:t>
            </a:r>
            <a:r>
              <a:rPr lang="en-US" dirty="0"/>
              <a:t> and </a:t>
            </a:r>
            <a:r>
              <a:rPr lang="en-US" dirty="0" err="1"/>
              <a:t>ylim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10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Displays the relationship between </a:t>
            </a:r>
            <a:r>
              <a:rPr lang="en-AU" b="1" dirty="0"/>
              <a:t>two numerical variables</a:t>
            </a:r>
            <a:r>
              <a:rPr lang="en-AU" dirty="0"/>
              <a:t>. Each </a:t>
            </a:r>
            <a:r>
              <a:rPr lang="en-AU" b="1" dirty="0"/>
              <a:t>observation</a:t>
            </a:r>
            <a:r>
              <a:rPr lang="en-AU" dirty="0"/>
              <a:t> in the dataset is represented as </a:t>
            </a:r>
            <a:r>
              <a:rPr lang="en-AU" b="1" dirty="0"/>
              <a:t>a single point</a:t>
            </a:r>
            <a:r>
              <a:rPr lang="en-AU" dirty="0"/>
              <a:t>.</a:t>
            </a:r>
          </a:p>
          <a:p>
            <a:r>
              <a:rPr lang="en-AU" dirty="0"/>
              <a:t>The </a:t>
            </a:r>
            <a:r>
              <a:rPr lang="en-AU" b="1" dirty="0"/>
              <a:t>x-axis</a:t>
            </a:r>
            <a:r>
              <a:rPr lang="en-AU" dirty="0"/>
              <a:t> represents one numeric variable. </a:t>
            </a:r>
          </a:p>
          <a:p>
            <a:r>
              <a:rPr lang="en-AU" dirty="0"/>
              <a:t>The </a:t>
            </a:r>
            <a:r>
              <a:rPr lang="en-AU" b="1" dirty="0"/>
              <a:t>y-axis</a:t>
            </a:r>
            <a:r>
              <a:rPr lang="en-AU" dirty="0"/>
              <a:t> represents another numeric variable. </a:t>
            </a:r>
          </a:p>
          <a:p>
            <a:r>
              <a:rPr lang="en-AU" dirty="0"/>
              <a:t>Each dot corresponds to one row in the </a:t>
            </a:r>
            <a:r>
              <a:rPr lang="en-AU" dirty="0" err="1"/>
              <a:t>DataFrame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Scatter plots help you identify:</a:t>
            </a:r>
          </a:p>
          <a:p>
            <a:r>
              <a:rPr lang="en-AU" dirty="0"/>
              <a:t>Relationships (positive, negative, or no correlation) </a:t>
            </a:r>
          </a:p>
          <a:p>
            <a:r>
              <a:rPr lang="en-AU" dirty="0"/>
              <a:t>Trends </a:t>
            </a:r>
          </a:p>
          <a:p>
            <a:r>
              <a:rPr lang="en-AU" dirty="0"/>
              <a:t>Clusters </a:t>
            </a:r>
          </a:p>
          <a:p>
            <a:r>
              <a:rPr lang="en-AU" dirty="0"/>
              <a:t>Outliers</a:t>
            </a:r>
          </a:p>
          <a:p>
            <a:endParaRPr lang="en-AU" dirty="0"/>
          </a:p>
          <a:p>
            <a:r>
              <a:rPr lang="en-AU" b="1" dirty="0"/>
              <a:t>Key Points for Students</a:t>
            </a:r>
          </a:p>
          <a:p>
            <a:r>
              <a:rPr lang="en-AU" dirty="0"/>
              <a:t>✔ Used to compare </a:t>
            </a:r>
            <a:r>
              <a:rPr lang="en-AU" b="1" dirty="0"/>
              <a:t>two numerical variables</a:t>
            </a:r>
            <a:r>
              <a:rPr lang="en-AU" dirty="0"/>
              <a:t>. </a:t>
            </a:r>
          </a:p>
          <a:p>
            <a:r>
              <a:rPr lang="en-AU" dirty="0"/>
              <a:t>✔ Each point represents </a:t>
            </a:r>
            <a:r>
              <a:rPr lang="en-AU" b="1" dirty="0"/>
              <a:t>one observation (one row)</a:t>
            </a:r>
            <a:r>
              <a:rPr lang="en-AU" dirty="0"/>
              <a:t>. </a:t>
            </a:r>
          </a:p>
          <a:p>
            <a:r>
              <a:rPr lang="en-AU" dirty="0"/>
              <a:t>✔ Helps identify </a:t>
            </a:r>
            <a:r>
              <a:rPr lang="en-AU" b="1" dirty="0"/>
              <a:t>correlation</a:t>
            </a:r>
            <a:r>
              <a:rPr lang="en-AU" dirty="0"/>
              <a:t>, </a:t>
            </a:r>
            <a:r>
              <a:rPr lang="en-AU" b="1" dirty="0"/>
              <a:t>clusters</a:t>
            </a:r>
            <a:r>
              <a:rPr lang="en-AU" dirty="0"/>
              <a:t>, and </a:t>
            </a:r>
            <a:r>
              <a:rPr lang="en-AU" b="1" dirty="0"/>
              <a:t>outliers</a:t>
            </a:r>
            <a:r>
              <a:rPr lang="en-AU" dirty="0"/>
              <a:t>. </a:t>
            </a:r>
          </a:p>
          <a:p>
            <a:r>
              <a:rPr lang="en-AU" dirty="0"/>
              <a:t>✔ Best suited for </a:t>
            </a:r>
            <a:r>
              <a:rPr lang="en-AU" b="1" dirty="0"/>
              <a:t>continuous numerical data</a:t>
            </a:r>
            <a:r>
              <a:rPr lang="en-AU" dirty="0"/>
              <a:t>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Why are scatter plots less suitable for long tables?</a:t>
            </a:r>
          </a:p>
          <a:p>
            <a:r>
              <a:rPr lang="en-AU" dirty="0"/>
              <a:t>This is a </a:t>
            </a:r>
            <a:r>
              <a:rPr lang="en-AU" b="1" dirty="0"/>
              <a:t>wide table</a:t>
            </a:r>
            <a:r>
              <a:rPr lang="en-AU" dirty="0"/>
              <a:t> because each variable has its own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93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 line plot shows how values change; an area plot shows how values change while emphasizing the </a:t>
            </a:r>
            <a:r>
              <a:rPr lang="en-AU" b="1" dirty="0"/>
              <a:t>size of those values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An </a:t>
            </a:r>
            <a:r>
              <a:rPr lang="en-AU" b="1" dirty="0"/>
              <a:t>area plot</a:t>
            </a:r>
            <a:r>
              <a:rPr lang="en-AU" dirty="0"/>
              <a:t> is a type of line plot where the area below the line is </a:t>
            </a:r>
            <a:r>
              <a:rPr lang="en-AU" b="1" dirty="0"/>
              <a:t>filled with colour</a:t>
            </a:r>
            <a:r>
              <a:rPr lang="en-AU" dirty="0"/>
              <a:t>. It is useful for showing:</a:t>
            </a:r>
          </a:p>
          <a:p>
            <a:r>
              <a:rPr lang="en-AU" b="1" dirty="0"/>
              <a:t>Trends over time</a:t>
            </a:r>
            <a:r>
              <a:rPr lang="en-AU" dirty="0"/>
              <a:t> </a:t>
            </a:r>
          </a:p>
          <a:p>
            <a:r>
              <a:rPr lang="en-AU" b="1" dirty="0"/>
              <a:t>Changes in magnitude</a:t>
            </a:r>
            <a:r>
              <a:rPr lang="en-AU" dirty="0"/>
              <a:t> </a:t>
            </a:r>
          </a:p>
          <a:p>
            <a:r>
              <a:rPr lang="en-AU" b="1" dirty="0"/>
              <a:t>Cumulative contributions</a:t>
            </a:r>
            <a:r>
              <a:rPr lang="en-AU" dirty="0"/>
              <a:t> </a:t>
            </a:r>
          </a:p>
          <a:p>
            <a:r>
              <a:rPr lang="en-AU" b="1" dirty="0"/>
              <a:t>Comparisons between multiple categories</a:t>
            </a:r>
            <a:endParaRPr lang="en-AU" dirty="0"/>
          </a:p>
          <a:p>
            <a:endParaRPr lang="en-AU" dirty="0"/>
          </a:p>
          <a:p>
            <a:r>
              <a:rPr lang="en-AU" b="1" dirty="0"/>
              <a:t>Comparing Multiple Categories (Stacked Area Plot)</a:t>
            </a:r>
          </a:p>
          <a:p>
            <a:r>
              <a:rPr lang="en-AU" dirty="0"/>
              <a:t>A common use of area plots is to show how different categories </a:t>
            </a:r>
            <a:r>
              <a:rPr lang="en-AU" b="1" dirty="0"/>
              <a:t>contribute to a total</a:t>
            </a:r>
            <a:r>
              <a:rPr lang="en-AU" dirty="0"/>
              <a:t>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stacked=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en-AU" dirty="0" err="1"/>
              <a:t>Stacks</a:t>
            </a:r>
            <a:r>
              <a:rPr lang="en-AU" dirty="0"/>
              <a:t> </a:t>
            </a:r>
            <a:r>
              <a:rPr lang="en-AU" b="1" dirty="0"/>
              <a:t>areas on top of each other</a:t>
            </a:r>
          </a:p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</a:t>
            </a:r>
            <a:r>
              <a:rPr lang="en-AU" dirty="0" err="1"/>
              <a:t>Controls</a:t>
            </a:r>
            <a:r>
              <a:rPr lang="en-AU" dirty="0"/>
              <a:t> transparency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91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 </a:t>
            </a:r>
            <a:r>
              <a:rPr lang="en-AU" b="1" dirty="0"/>
              <a:t>bar plot</a:t>
            </a:r>
            <a:r>
              <a:rPr lang="en-AU" dirty="0"/>
              <a:t> (bar chart) represents data using </a:t>
            </a:r>
            <a:r>
              <a:rPr lang="en-AU" b="1" dirty="0"/>
              <a:t>rectangular bars</a:t>
            </a:r>
            <a:r>
              <a:rPr lang="en-AU" dirty="0"/>
              <a:t>, where the </a:t>
            </a:r>
            <a:r>
              <a:rPr lang="en-AU" b="1" dirty="0"/>
              <a:t>height or length of each bar shows the value</a:t>
            </a:r>
            <a:r>
              <a:rPr lang="en-AU" dirty="0"/>
              <a:t> of a variable.</a:t>
            </a:r>
          </a:p>
          <a:p>
            <a:r>
              <a:rPr lang="en-AU" dirty="0"/>
              <a:t>Bar plots are useful for: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AU" dirty="0"/>
              <a:t>Comparing values across </a:t>
            </a:r>
            <a:r>
              <a:rPr lang="en-AU" b="1" dirty="0"/>
              <a:t>different categories</a:t>
            </a:r>
            <a:r>
              <a:rPr lang="en-AU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AU" dirty="0"/>
              <a:t>Showing rankings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AU" dirty="0"/>
              <a:t>Comparing groups or classes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AU" dirty="0"/>
              <a:t>Displaying frequency/count data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AU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AU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AU" b="1" dirty="0"/>
              <a:t>Horizontal</a:t>
            </a:r>
            <a:r>
              <a:rPr lang="en-AU" dirty="0"/>
              <a:t> Bar Plot: </a:t>
            </a:r>
            <a:r>
              <a:rPr lang="en-AU" dirty="0" err="1"/>
              <a:t>df.plot.</a:t>
            </a:r>
            <a:r>
              <a:rPr lang="en-AU" b="1" dirty="0" err="1"/>
              <a:t>barh</a:t>
            </a:r>
            <a:r>
              <a:rPr lang="en-AU" dirty="0"/>
              <a:t>()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AU" b="1" dirty="0"/>
          </a:p>
          <a:p>
            <a:r>
              <a:rPr lang="en-AU" b="1" dirty="0"/>
              <a:t>Multiple Categories (Grouped Bar Plot)</a:t>
            </a:r>
          </a:p>
          <a:p>
            <a:endParaRPr lang="en-AU" b="1" dirty="0"/>
          </a:p>
          <a:p>
            <a:r>
              <a:rPr lang="en-AU" b="1" dirty="0"/>
              <a:t>Stacked Bar Plot</a:t>
            </a:r>
          </a:p>
          <a:p>
            <a:r>
              <a:rPr lang="en-AU" dirty="0"/>
              <a:t>A stacked bar shows how different parts </a:t>
            </a:r>
            <a:r>
              <a:rPr lang="en-AU" b="1" dirty="0"/>
              <a:t>contribute to a total</a:t>
            </a:r>
            <a:r>
              <a:rPr lang="en-AU" dirty="0"/>
              <a:t>.</a:t>
            </a:r>
          </a:p>
          <a:p>
            <a:endParaRPr lang="en-AU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62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a </a:t>
            </a:r>
            <a:r>
              <a:rPr lang="en-AU" b="1" dirty="0"/>
              <a:t>bar plot</a:t>
            </a:r>
            <a:r>
              <a:rPr lang="en-AU" dirty="0"/>
              <a:t> when you want to compare values between categories. Use a </a:t>
            </a:r>
            <a:r>
              <a:rPr lang="en-AU" b="1" dirty="0"/>
              <a:t>scatter plot</a:t>
            </a:r>
            <a:r>
              <a:rPr lang="en-AU" dirty="0"/>
              <a:t> when you want to investigate relationships between numerical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59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Although both use </a:t>
            </a:r>
            <a:r>
              <a:rPr lang="en-AU" b="1" dirty="0"/>
              <a:t>bars</a:t>
            </a:r>
            <a:r>
              <a:rPr lang="en-AU" dirty="0"/>
              <a:t>, they represent </a:t>
            </a:r>
            <a:r>
              <a:rPr lang="en-AU" b="1" dirty="0"/>
              <a:t>different types of data</a:t>
            </a:r>
            <a:r>
              <a:rPr lang="en-AU" dirty="0"/>
              <a:t> and answer different questions.</a:t>
            </a:r>
          </a:p>
          <a:p>
            <a:r>
              <a:rPr lang="en-AU" dirty="0"/>
              <a:t>A bar chart compares </a:t>
            </a:r>
            <a:r>
              <a:rPr lang="en-AU" b="1" dirty="0"/>
              <a:t>different categories</a:t>
            </a:r>
            <a:r>
              <a:rPr lang="en-AU" dirty="0"/>
              <a:t>: How many students are enrolled in each course?</a:t>
            </a:r>
          </a:p>
          <a:p>
            <a:r>
              <a:rPr lang="en-AU" dirty="0"/>
              <a:t>Histogram Example</a:t>
            </a:r>
          </a:p>
          <a:p>
            <a:r>
              <a:rPr lang="en-AU" dirty="0"/>
              <a:t>How are students' exam scores distributed? </a:t>
            </a:r>
          </a:p>
          <a:p>
            <a:r>
              <a:rPr lang="en-AU" dirty="0"/>
              <a:t>A histogram groups values into ranges (</a:t>
            </a:r>
            <a:r>
              <a:rPr lang="en-AU" b="1" dirty="0"/>
              <a:t>bins</a:t>
            </a:r>
            <a:r>
              <a:rPr lang="en-AU" dirty="0"/>
              <a:t>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54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 </a:t>
            </a:r>
            <a:r>
              <a:rPr lang="en-AU" b="1" dirty="0"/>
              <a:t>density plot</a:t>
            </a:r>
            <a:r>
              <a:rPr lang="en-AU" dirty="0"/>
              <a:t> (also called a </a:t>
            </a:r>
            <a:r>
              <a:rPr lang="en-AU" b="1" dirty="0"/>
              <a:t>Kernel Density Estimate plot - KDE</a:t>
            </a:r>
            <a:r>
              <a:rPr lang="en-AU" dirty="0"/>
              <a:t>) shows the </a:t>
            </a:r>
            <a:r>
              <a:rPr lang="en-AU" b="1" dirty="0"/>
              <a:t>distribution of numerical data</a:t>
            </a:r>
            <a:r>
              <a:rPr lang="en-AU" dirty="0"/>
              <a:t> by displaying a smooth curve that represents where values are concentrated.</a:t>
            </a:r>
          </a:p>
          <a:p>
            <a:r>
              <a:rPr lang="en-AU" dirty="0"/>
              <a:t>It is similar to a histogram, but instead of using bars and bins, it uses a </a:t>
            </a:r>
            <a:r>
              <a:rPr lang="en-AU" b="1" dirty="0"/>
              <a:t>continuous smooth curve</a:t>
            </a:r>
            <a:r>
              <a:rPr lang="en-AU" dirty="0"/>
              <a:t>.</a:t>
            </a:r>
          </a:p>
          <a:p>
            <a:r>
              <a:rPr lang="en-AU" dirty="0"/>
              <a:t>A density plot helps you understand: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AU" dirty="0"/>
              <a:t>Where most observations are concentrated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AU" dirty="0"/>
              <a:t>The shape of the distribution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AU" dirty="0"/>
              <a:t>Whether data is symmetric or skewed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AU" dirty="0"/>
              <a:t>Whether there are multiple peaks (multiple groups)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AU" dirty="0"/>
              <a:t>Shows probability distribution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AU" dirty="0"/>
          </a:p>
          <a:p>
            <a:r>
              <a:rPr lang="en-AU" dirty="0"/>
              <a:t>The curve shows: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AU" dirty="0"/>
              <a:t>The </a:t>
            </a:r>
            <a:r>
              <a:rPr lang="en-AU" b="1" dirty="0"/>
              <a:t>highest point</a:t>
            </a:r>
            <a:r>
              <a:rPr lang="en-AU" dirty="0"/>
              <a:t> → where scores are most common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AU" dirty="0"/>
              <a:t>The </a:t>
            </a:r>
            <a:r>
              <a:rPr lang="en-AU" b="1" dirty="0"/>
              <a:t>width of the curve</a:t>
            </a:r>
            <a:r>
              <a:rPr lang="en-AU" dirty="0"/>
              <a:t> → spread of scores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AU" dirty="0"/>
              <a:t>The </a:t>
            </a:r>
            <a:r>
              <a:rPr lang="en-AU" b="1" dirty="0"/>
              <a:t>tails</a:t>
            </a:r>
            <a:r>
              <a:rPr lang="en-AU" dirty="0"/>
              <a:t> → rare values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AU" dirty="0"/>
          </a:p>
          <a:p>
            <a:pPr marL="0" indent="0">
              <a:buFont typeface="Courier New" panose="02070309020205020404" pitchFamily="49" charset="0"/>
              <a:buNone/>
            </a:pPr>
            <a:endParaRPr lang="en-AU" dirty="0"/>
          </a:p>
          <a:p>
            <a:pPr marL="0" indent="0">
              <a:buFont typeface="Wingdings" panose="05000000000000000000" pitchFamily="2" charset="2"/>
              <a:buNone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325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By overlaying multiple density plots on the same graph, we can visually compare how their distributions differ, including differences in their centre, spread, and shape.</a:t>
            </a:r>
          </a:p>
          <a:p>
            <a:endParaRPr lang="en-AU" dirty="0"/>
          </a:p>
          <a:p>
            <a:r>
              <a:rPr lang="en-AU" dirty="0"/>
              <a:t>When the density curves are overlaid:</a:t>
            </a:r>
          </a:p>
          <a:p>
            <a:pPr lvl="1"/>
            <a:r>
              <a:rPr lang="en-AU" dirty="0"/>
              <a:t>A curve shifted </a:t>
            </a:r>
            <a:r>
              <a:rPr lang="en-AU" b="1" dirty="0"/>
              <a:t>to the right</a:t>
            </a:r>
            <a:r>
              <a:rPr lang="en-AU" dirty="0"/>
              <a:t> indicates higher values. </a:t>
            </a:r>
          </a:p>
          <a:p>
            <a:pPr lvl="1"/>
            <a:r>
              <a:rPr lang="en-AU" dirty="0"/>
              <a:t>A </a:t>
            </a:r>
            <a:r>
              <a:rPr lang="en-AU" b="1" dirty="0"/>
              <a:t>wider curve</a:t>
            </a:r>
            <a:r>
              <a:rPr lang="en-AU" dirty="0"/>
              <a:t> indicates more variation in the data. </a:t>
            </a:r>
          </a:p>
          <a:p>
            <a:pPr lvl="1"/>
            <a:r>
              <a:rPr lang="en-AU" dirty="0"/>
              <a:t>A </a:t>
            </a:r>
            <a:r>
              <a:rPr lang="en-AU" b="1" dirty="0"/>
              <a:t>narrower curve</a:t>
            </a:r>
            <a:r>
              <a:rPr lang="en-AU" dirty="0"/>
              <a:t> indicates more consistent values. </a:t>
            </a:r>
          </a:p>
          <a:p>
            <a:pPr lvl="1"/>
            <a:r>
              <a:rPr lang="en-AU" dirty="0"/>
              <a:t>The </a:t>
            </a:r>
            <a:r>
              <a:rPr lang="en-AU" b="1" dirty="0"/>
              <a:t>peak of the curve</a:t>
            </a:r>
            <a:r>
              <a:rPr lang="en-AU" dirty="0"/>
              <a:t> shows where values are most concentrated.</a:t>
            </a:r>
          </a:p>
          <a:p>
            <a:pPr lvl="1"/>
            <a:endParaRPr lang="en-AU" dirty="0"/>
          </a:p>
          <a:p>
            <a:r>
              <a:rPr lang="en-AU" dirty="0"/>
              <a:t>Overlaying density plots is useful for comparing:</a:t>
            </a:r>
          </a:p>
          <a:p>
            <a:r>
              <a:rPr lang="en-AU" dirty="0"/>
              <a:t>Exam scores between different classes </a:t>
            </a:r>
          </a:p>
          <a:p>
            <a:r>
              <a:rPr lang="en-AU" dirty="0"/>
              <a:t>Age distributions across populations </a:t>
            </a:r>
          </a:p>
          <a:p>
            <a:r>
              <a:rPr lang="en-AU" dirty="0"/>
              <a:t>Income distributions between regions </a:t>
            </a:r>
          </a:p>
          <a:p>
            <a:r>
              <a:rPr lang="en-AU" dirty="0"/>
              <a:t>Model performance metrics </a:t>
            </a:r>
          </a:p>
          <a:p>
            <a:r>
              <a:rPr lang="en-AU" dirty="0"/>
              <a:t>Feature distributions in machine learning datasets</a:t>
            </a:r>
          </a:p>
          <a:p>
            <a:pPr lvl="1"/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7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A graphical summary of the distribution of numerical data. It displays the </a:t>
                </a:r>
                <a:r>
                  <a:rPr lang="en-AU" b="1" dirty="0"/>
                  <a:t>centre, spread, and potential outliers</a:t>
                </a:r>
                <a:r>
                  <a:rPr lang="en-AU" dirty="0"/>
                  <a:t> of a dataset.</a:t>
                </a:r>
              </a:p>
              <a:p>
                <a:r>
                  <a:rPr lang="en-AU" b="1" dirty="0"/>
                  <a:t>Whiskers -&gt; </a:t>
                </a:r>
                <a:r>
                  <a:rPr lang="en-AU" dirty="0"/>
                  <a:t>Range of typical values</a:t>
                </a:r>
              </a:p>
              <a:p>
                <a:r>
                  <a:rPr lang="en-AU" b="1" dirty="0"/>
                  <a:t>Points outside whiskers -&gt; </a:t>
                </a:r>
                <a:r>
                  <a:rPr lang="en-AU" dirty="0"/>
                  <a:t>Potential outliers</a:t>
                </a:r>
              </a:p>
              <a:p>
                <a:r>
                  <a:rPr lang="en-AU" dirty="0"/>
                  <a:t>In a </a:t>
                </a:r>
                <a:r>
                  <a:rPr lang="en-AU" b="1" dirty="0"/>
                  <a:t>box plot</a:t>
                </a:r>
                <a:r>
                  <a:rPr lang="en-AU" dirty="0"/>
                  <a:t>, points shown outside the whiskers are called </a:t>
                </a:r>
                <a:r>
                  <a:rPr lang="en-AU" b="1" dirty="0"/>
                  <a:t>potential outliers</a:t>
                </a:r>
                <a:r>
                  <a:rPr lang="en-AU" dirty="0"/>
                  <a:t>, not necessarily </a:t>
                </a:r>
                <a:r>
                  <a:rPr lang="en-AU" b="1" dirty="0"/>
                  <a:t>true outliers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This is because the box plot uses a simple statistical rule to flag unusual observations. These points should be </a:t>
                </a:r>
                <a:r>
                  <a:rPr lang="en-AU" b="1" dirty="0"/>
                  <a:t>investigated</a:t>
                </a:r>
                <a:r>
                  <a:rPr lang="en-AU" dirty="0"/>
                  <a:t>, not automatically removed.</a:t>
                </a:r>
              </a:p>
              <a:p>
                <a:r>
                  <a:rPr lang="en-AU" b="1" dirty="0"/>
                  <a:t>Lower limit:</a:t>
                </a:r>
                <a:r>
                  <a:rPr lang="en-AU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AU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e>
                        <m:sub>
                          <m:r>
                            <a:rPr lang="en-AU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lang="en-AU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−1.5×</m:t>
                      </m:r>
                      <m:r>
                        <a:rPr lang="en-AU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𝐼𝑄𝑅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b="1" dirty="0"/>
                  <a:t>Upper limit:</a:t>
                </a:r>
                <a:r>
                  <a:rPr lang="en-AU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AU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e>
                        <m:sub>
                          <m:r>
                            <a:rPr lang="en-AU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lang="en-AU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+1.5×</m:t>
                      </m:r>
                      <m:r>
                        <a:rPr lang="en-AU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𝐼𝑄𝑅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𝐼𝑄𝑅</m:t>
                      </m:r>
                      <m:r>
                        <a:rPr lang="en-AU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AU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AU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e>
                        <m:sub>
                          <m:r>
                            <a:rPr lang="en-AU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lang="en-AU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lang="en-AU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AU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𝑄</m:t>
                          </m:r>
                        </m:e>
                        <m:sub>
                          <m:r>
                            <a:rPr lang="en-AU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Any value outside these limits is plotted as an individual point and is considered a </a:t>
                </a:r>
                <a:r>
                  <a:rPr lang="en-AU" b="1" dirty="0"/>
                  <a:t>potential outlier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A box plot identifies potential outliers using the 1.5 × IQR rule. However, a point outside the whiskers </a:t>
                </a:r>
                <a:r>
                  <a:rPr lang="en-AU" b="1" dirty="0"/>
                  <a:t>is not automatically a true outlier or an error. </a:t>
                </a:r>
                <a:r>
                  <a:rPr lang="en-AU" dirty="0"/>
                  <a:t>It should be </a:t>
                </a:r>
                <a:r>
                  <a:rPr lang="en-AU" b="1" dirty="0"/>
                  <a:t>investigated</a:t>
                </a:r>
                <a:r>
                  <a:rPr lang="en-AU" dirty="0"/>
                  <a:t> to determine whether it is due to a </a:t>
                </a:r>
                <a:r>
                  <a:rPr lang="en-AU" b="1" dirty="0"/>
                  <a:t>recording error, a measurement error, or a genuine but unusual observation</a:t>
                </a:r>
                <a:r>
                  <a:rPr lang="en-AU" dirty="0"/>
                  <a:t>.</a:t>
                </a:r>
              </a:p>
              <a:p>
                <a:r>
                  <a:rPr lang="en-AU" b="1" dirty="0"/>
                  <a:t>How do we determine whether it is a real outlier?</a:t>
                </a:r>
              </a:p>
              <a:p>
                <a:r>
                  <a:rPr lang="en-AU" dirty="0"/>
                  <a:t>After identifying a potential outlier, ask the following questions:</a:t>
                </a:r>
              </a:p>
              <a:p>
                <a:r>
                  <a:rPr lang="en-AU" b="1" dirty="0"/>
                  <a:t>1. Is it a data entry error?</a:t>
                </a:r>
              </a:p>
              <a:p>
                <a:r>
                  <a:rPr lang="en-AU" dirty="0"/>
                  <a:t>Example:</a:t>
                </a:r>
              </a:p>
              <a:p>
                <a:r>
                  <a:rPr lang="en-AU" dirty="0"/>
                  <a:t>A student's exam score is recorded as: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850</a:t>
                </a:r>
              </a:p>
              <a:p>
                <a:r>
                  <a:rPr lang="en-AU" dirty="0"/>
                  <a:t>instead of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85</a:t>
                </a:r>
              </a:p>
              <a:p>
                <a:r>
                  <a:rPr lang="en-AU" dirty="0"/>
                  <a:t>This is a </a:t>
                </a:r>
                <a:r>
                  <a:rPr lang="en-AU" b="1" dirty="0"/>
                  <a:t>data entry error</a:t>
                </a:r>
                <a:r>
                  <a:rPr lang="en-AU" dirty="0"/>
                  <a:t> and should be corrected.</a:t>
                </a:r>
              </a:p>
              <a:p>
                <a:br>
                  <a:rPr lang="en-AU" dirty="0"/>
                </a:br>
                <a:endParaRPr lang="en-AU" dirty="0"/>
              </a:p>
              <a:p>
                <a:r>
                  <a:rPr lang="en-AU" b="1" dirty="0"/>
                  <a:t>2. Is it a measurement error?</a:t>
                </a:r>
              </a:p>
              <a:p>
                <a:r>
                  <a:rPr lang="en-AU" dirty="0"/>
                  <a:t>Example:</a:t>
                </a:r>
              </a:p>
              <a:p>
                <a:r>
                  <a:rPr lang="en-AU" dirty="0"/>
                  <a:t>A patient's body temperature is recorded as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420°C</a:t>
                </a:r>
              </a:p>
              <a:p>
                <a:r>
                  <a:rPr lang="en-AU" dirty="0"/>
                  <a:t>Clearly impossible.</a:t>
                </a:r>
              </a:p>
              <a:p>
                <a:r>
                  <a:rPr lang="en-AU" dirty="0"/>
                  <a:t>This is likely due to faulty equipment or incorrect recording.</a:t>
                </a:r>
              </a:p>
              <a:p>
                <a:br>
                  <a:rPr lang="en-AU" dirty="0"/>
                </a:br>
                <a:endParaRPr lang="en-AU" dirty="0"/>
              </a:p>
              <a:p>
                <a:r>
                  <a:rPr lang="en-AU" b="1" dirty="0"/>
                  <a:t>3. Is it a valid but rare observation?</a:t>
                </a:r>
              </a:p>
              <a:p>
                <a:r>
                  <a:rPr lang="en-AU" dirty="0"/>
                  <a:t>Example:</a:t>
                </a:r>
              </a:p>
              <a:p>
                <a:r>
                  <a:rPr lang="en-AU" dirty="0"/>
                  <a:t>Suppose the data represent annual salaries.</a:t>
                </a:r>
              </a:p>
              <a:p>
                <a:r>
                  <a:rPr lang="en-AU" dirty="0"/>
                  <a:t>Most salaries are: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$60k – $120k</a:t>
                </a:r>
              </a:p>
              <a:p>
                <a:r>
                  <a:rPr lang="en-AU" dirty="0"/>
                  <a:t>One person earns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$2 million</a:t>
                </a:r>
              </a:p>
              <a:p>
                <a:r>
                  <a:rPr lang="en-AU" dirty="0"/>
                  <a:t>Although unusual, it may be </a:t>
                </a:r>
                <a:r>
                  <a:rPr lang="en-AU" b="1" dirty="0"/>
                  <a:t>correct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This is a </a:t>
                </a:r>
                <a:r>
                  <a:rPr lang="en-AU" b="1" dirty="0"/>
                  <a:t>true outlier</a:t>
                </a:r>
                <a:r>
                  <a:rPr lang="en-AU" dirty="0"/>
                  <a:t> and may contain important information.</a:t>
                </a:r>
              </a:p>
              <a:p>
                <a:br>
                  <a:rPr lang="en-AU" dirty="0"/>
                </a:br>
                <a:endParaRPr lang="en-AU" dirty="0"/>
              </a:p>
              <a:p>
                <a:r>
                  <a:rPr lang="en-AU" b="1" dirty="0"/>
                  <a:t>4. Does it belong to a different population?</a:t>
                </a:r>
              </a:p>
              <a:p>
                <a:r>
                  <a:rPr lang="en-AU" dirty="0"/>
                  <a:t>Example:</a:t>
                </a:r>
              </a:p>
              <a:p>
                <a:r>
                  <a:rPr lang="en-AU" dirty="0"/>
                  <a:t>You are analysing adult heights.</a:t>
                </a:r>
              </a:p>
              <a:p>
                <a:r>
                  <a:rPr lang="en-AU" dirty="0"/>
                  <a:t>One observation is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120 cm</a:t>
                </a:r>
              </a:p>
              <a:p>
                <a:r>
                  <a:rPr lang="en-AU" dirty="0"/>
                  <a:t>If it belongs to a child accidentally included in the dataset, it should not be analysed with the adult data.</a:t>
                </a:r>
              </a:p>
              <a:p>
                <a:br>
                  <a:rPr lang="en-AU" dirty="0"/>
                </a:br>
                <a:endParaRPr lang="en-AU" dirty="0"/>
              </a:p>
              <a:p>
                <a:r>
                  <a:rPr lang="en-AU" b="1" dirty="0"/>
                  <a:t>5. Does the outlier affect the analysis?</a:t>
                </a:r>
              </a:p>
              <a:p>
                <a:r>
                  <a:rPr lang="en-AU" dirty="0"/>
                  <a:t>Sometimes a valid outlier can strongly influence statistical results or machine learning models.</a:t>
                </a:r>
              </a:p>
              <a:p>
                <a:r>
                  <a:rPr lang="en-AU" dirty="0"/>
                  <a:t>Consider:</a:t>
                </a:r>
              </a:p>
              <a:p>
                <a:r>
                  <a:rPr lang="en-AU" dirty="0"/>
                  <a:t>keeping it, </a:t>
                </a:r>
              </a:p>
              <a:p>
                <a:r>
                  <a:rPr lang="en-AU" dirty="0"/>
                  <a:t>transforming the data (e.g., using a log transformation), </a:t>
                </a:r>
              </a:p>
              <a:p>
                <a:r>
                  <a:rPr lang="en-AU" dirty="0"/>
                  <a:t>using robust statistics (such as the median instead of the mean), or </a:t>
                </a:r>
              </a:p>
              <a:p>
                <a:r>
                  <a:rPr lang="en-AU" dirty="0"/>
                  <a:t>analysing it separately. </a:t>
                </a:r>
              </a:p>
              <a:p>
                <a:r>
                  <a:rPr lang="en-AU" dirty="0"/>
                  <a:t>The choice depends on the goal of the analysis.</a:t>
                </a:r>
              </a:p>
              <a:p>
                <a:br>
                  <a:rPr lang="en-AU" dirty="0"/>
                </a:br>
                <a:endParaRPr lang="en-AU" dirty="0"/>
              </a:p>
              <a:p>
                <a:r>
                  <a:rPr lang="en-AU" b="1" dirty="0"/>
                  <a:t>Summary</a:t>
                </a:r>
              </a:p>
              <a:p>
                <a:r>
                  <a:rPr lang="en-AU" dirty="0"/>
                  <a:t>Situation</a:t>
                </a:r>
              </a:p>
              <a:p>
                <a:r>
                  <a:rPr lang="en-AU" dirty="0"/>
                  <a:t>Action</a:t>
                </a:r>
              </a:p>
              <a:p>
                <a:r>
                  <a:rPr lang="en-AU" dirty="0"/>
                  <a:t>Data entry </a:t>
                </a:r>
                <a:r>
                  <a:rPr lang="en-AU" dirty="0" err="1"/>
                  <a:t>errorCorrect</a:t>
                </a:r>
                <a:r>
                  <a:rPr lang="en-AU" dirty="0"/>
                  <a:t> or remove</a:t>
                </a:r>
              </a:p>
              <a:p>
                <a:r>
                  <a:rPr lang="en-AU" dirty="0"/>
                  <a:t>Measurement </a:t>
                </a:r>
                <a:r>
                  <a:rPr lang="en-AU" dirty="0" err="1"/>
                  <a:t>errorCorrect</a:t>
                </a:r>
                <a:r>
                  <a:rPr lang="en-AU" dirty="0"/>
                  <a:t> or remove</a:t>
                </a:r>
              </a:p>
              <a:p>
                <a:r>
                  <a:rPr lang="en-AU" dirty="0"/>
                  <a:t>Valid rare </a:t>
                </a:r>
                <a:r>
                  <a:rPr lang="en-AU" dirty="0" err="1"/>
                  <a:t>observationKeep</a:t>
                </a:r>
                <a:r>
                  <a:rPr lang="en-AU" dirty="0"/>
                  <a:t> and report</a:t>
                </a:r>
              </a:p>
              <a:p>
                <a:r>
                  <a:rPr lang="en-AU" dirty="0"/>
                  <a:t>Different </a:t>
                </a:r>
                <a:r>
                  <a:rPr lang="en-AU" dirty="0" err="1"/>
                  <a:t>populationInvestigate</a:t>
                </a:r>
                <a:r>
                  <a:rPr lang="en-AU" dirty="0"/>
                  <a:t> and possibly exclude</a:t>
                </a:r>
              </a:p>
              <a:p>
                <a:r>
                  <a:rPr lang="en-AU" dirty="0"/>
                  <a:t>Influences </a:t>
                </a:r>
                <a:r>
                  <a:rPr lang="en-AU" dirty="0" err="1"/>
                  <a:t>analysisConsider</a:t>
                </a:r>
                <a:r>
                  <a:rPr lang="en-AU" dirty="0"/>
                  <a:t> robust methods or transformations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A graphical summary of the distribution of numerical data. It displays the </a:t>
                </a:r>
                <a:r>
                  <a:rPr lang="en-AU" b="1" dirty="0"/>
                  <a:t>centre, spread, and potential outliers</a:t>
                </a:r>
                <a:r>
                  <a:rPr lang="en-AU" dirty="0"/>
                  <a:t> of a dataset.</a:t>
                </a:r>
              </a:p>
              <a:p>
                <a:r>
                  <a:rPr lang="en-AU" b="1" dirty="0"/>
                  <a:t>Whiskers -&gt; </a:t>
                </a:r>
                <a:r>
                  <a:rPr lang="en-AU" dirty="0"/>
                  <a:t>Range of typical values</a:t>
                </a:r>
              </a:p>
              <a:p>
                <a:r>
                  <a:rPr lang="en-AU" b="1" dirty="0"/>
                  <a:t>Points outside whiskers -&gt; </a:t>
                </a:r>
                <a:r>
                  <a:rPr lang="en-AU" dirty="0"/>
                  <a:t>Potential outliers</a:t>
                </a:r>
              </a:p>
              <a:p>
                <a:r>
                  <a:rPr lang="en-AU" dirty="0"/>
                  <a:t>In a </a:t>
                </a:r>
                <a:r>
                  <a:rPr lang="en-AU" b="1" dirty="0"/>
                  <a:t>box plot</a:t>
                </a:r>
                <a:r>
                  <a:rPr lang="en-AU" dirty="0"/>
                  <a:t>, points shown outside the whiskers are called </a:t>
                </a:r>
                <a:r>
                  <a:rPr lang="en-AU" b="1" dirty="0"/>
                  <a:t>potential outliers</a:t>
                </a:r>
                <a:r>
                  <a:rPr lang="en-AU" dirty="0"/>
                  <a:t>, not necessarily </a:t>
                </a:r>
                <a:r>
                  <a:rPr lang="en-AU" b="1" dirty="0"/>
                  <a:t>true outliers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This is because the box plot uses a simple statistical rule to flag unusual observations. These points should be </a:t>
                </a:r>
                <a:r>
                  <a:rPr lang="en-AU" b="1" dirty="0"/>
                  <a:t>investigated</a:t>
                </a:r>
                <a:r>
                  <a:rPr lang="en-AU" dirty="0"/>
                  <a:t>, not automatically removed.</a:t>
                </a:r>
              </a:p>
              <a:p>
                <a:r>
                  <a:rPr lang="en-AU" b="1" dirty="0"/>
                  <a:t>Lower limit:</a:t>
                </a:r>
                <a:r>
                  <a:rPr lang="en-AU" dirty="0"/>
                  <a:t> </a:t>
                </a:r>
              </a:p>
              <a:p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𝑄_1−1.5×𝐼𝑄𝑅</a:t>
                </a:r>
                <a:endParaRPr lang="en-AU" dirty="0"/>
              </a:p>
              <a:p>
                <a:r>
                  <a:rPr lang="en-AU" b="1" dirty="0"/>
                  <a:t>Upper limit:</a:t>
                </a:r>
                <a:r>
                  <a:rPr lang="en-AU" dirty="0"/>
                  <a:t> </a:t>
                </a:r>
              </a:p>
              <a:p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𝑄_3+1.5×𝐼𝑄𝑅</a:t>
                </a:r>
                <a:endParaRPr lang="en-AU" dirty="0"/>
              </a:p>
              <a:p>
                <a:r>
                  <a:rPr lang="en-AU" dirty="0"/>
                  <a:t>where</a:t>
                </a:r>
              </a:p>
              <a:p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𝐼𝑄𝑅=𝑄_3−𝑄_1</a:t>
                </a:r>
                <a:endParaRPr lang="en-AU" dirty="0"/>
              </a:p>
              <a:p>
                <a:r>
                  <a:rPr lang="en-AU" dirty="0"/>
                  <a:t>Any value outside these limits is plotted as an individual point and is considered a </a:t>
                </a:r>
                <a:r>
                  <a:rPr lang="en-AU" b="1" dirty="0"/>
                  <a:t>potential outlier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A box plot identifies potential outliers using the 1.5 × IQR rule. However, a point outside the whiskers is not automatically a true outlier or an error. It should be investigated to determine whether it is due to a recording error, a measurement error, or a genuine but unusual observation.</a:t>
                </a:r>
              </a:p>
              <a:p>
                <a:r>
                  <a:rPr lang="en-AU" b="1" dirty="0"/>
                  <a:t>How do we determine whether it is a real outlier?</a:t>
                </a:r>
              </a:p>
              <a:p>
                <a:r>
                  <a:rPr lang="en-AU" dirty="0"/>
                  <a:t>After identifying a potential outlier, ask the following questions:</a:t>
                </a:r>
              </a:p>
              <a:p>
                <a:r>
                  <a:rPr lang="en-AU" b="1" dirty="0"/>
                  <a:t>1. Is it a data entry error?</a:t>
                </a:r>
              </a:p>
              <a:p>
                <a:r>
                  <a:rPr lang="en-AU" dirty="0"/>
                  <a:t>Example:</a:t>
                </a:r>
              </a:p>
              <a:p>
                <a:r>
                  <a:rPr lang="en-AU" dirty="0"/>
                  <a:t>A student's exam score is recorded as: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850</a:t>
                </a:r>
              </a:p>
              <a:p>
                <a:r>
                  <a:rPr lang="en-AU" dirty="0"/>
                  <a:t>instead of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85</a:t>
                </a:r>
              </a:p>
              <a:p>
                <a:r>
                  <a:rPr lang="en-AU" dirty="0"/>
                  <a:t>This is a </a:t>
                </a:r>
                <a:r>
                  <a:rPr lang="en-AU" b="1" dirty="0"/>
                  <a:t>data entry error</a:t>
                </a:r>
                <a:r>
                  <a:rPr lang="en-AU" dirty="0"/>
                  <a:t> and should be corrected.</a:t>
                </a:r>
              </a:p>
              <a:p>
                <a:br>
                  <a:rPr lang="en-AU" dirty="0"/>
                </a:br>
                <a:endParaRPr lang="en-AU" dirty="0"/>
              </a:p>
              <a:p>
                <a:r>
                  <a:rPr lang="en-AU" b="1" dirty="0"/>
                  <a:t>2. Is it a measurement error?</a:t>
                </a:r>
              </a:p>
              <a:p>
                <a:r>
                  <a:rPr lang="en-AU" dirty="0"/>
                  <a:t>Example:</a:t>
                </a:r>
              </a:p>
              <a:p>
                <a:r>
                  <a:rPr lang="en-AU" dirty="0"/>
                  <a:t>A patient's body temperature is recorded as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420°C</a:t>
                </a:r>
              </a:p>
              <a:p>
                <a:r>
                  <a:rPr lang="en-AU" dirty="0"/>
                  <a:t>Clearly impossible.</a:t>
                </a:r>
              </a:p>
              <a:p>
                <a:r>
                  <a:rPr lang="en-AU" dirty="0"/>
                  <a:t>This is likely due to faulty equipment or incorrect recording.</a:t>
                </a:r>
              </a:p>
              <a:p>
                <a:br>
                  <a:rPr lang="en-AU" dirty="0"/>
                </a:br>
                <a:endParaRPr lang="en-AU" dirty="0"/>
              </a:p>
              <a:p>
                <a:r>
                  <a:rPr lang="en-AU" b="1" dirty="0"/>
                  <a:t>3. Is it a valid but rare observation?</a:t>
                </a:r>
              </a:p>
              <a:p>
                <a:r>
                  <a:rPr lang="en-AU" dirty="0"/>
                  <a:t>Example:</a:t>
                </a:r>
              </a:p>
              <a:p>
                <a:r>
                  <a:rPr lang="en-AU" dirty="0"/>
                  <a:t>Suppose the data represent annual salaries.</a:t>
                </a:r>
              </a:p>
              <a:p>
                <a:r>
                  <a:rPr lang="en-AU" dirty="0"/>
                  <a:t>Most salaries are: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$60k – $120k</a:t>
                </a:r>
              </a:p>
              <a:p>
                <a:r>
                  <a:rPr lang="en-AU" dirty="0"/>
                  <a:t>One person earns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$2 million</a:t>
                </a:r>
              </a:p>
              <a:p>
                <a:r>
                  <a:rPr lang="en-AU" dirty="0"/>
                  <a:t>Although unusual, it may be </a:t>
                </a:r>
                <a:r>
                  <a:rPr lang="en-AU" b="1" dirty="0"/>
                  <a:t>correct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This is a </a:t>
                </a:r>
                <a:r>
                  <a:rPr lang="en-AU" b="1" dirty="0"/>
                  <a:t>true outlier</a:t>
                </a:r>
                <a:r>
                  <a:rPr lang="en-AU" dirty="0"/>
                  <a:t> and may contain important information.</a:t>
                </a:r>
              </a:p>
              <a:p>
                <a:br>
                  <a:rPr lang="en-AU" dirty="0"/>
                </a:br>
                <a:endParaRPr lang="en-AU" dirty="0"/>
              </a:p>
              <a:p>
                <a:r>
                  <a:rPr lang="en-AU" b="1" dirty="0"/>
                  <a:t>4. Does it belong to a different population?</a:t>
                </a:r>
              </a:p>
              <a:p>
                <a:r>
                  <a:rPr lang="en-AU" dirty="0"/>
                  <a:t>Example:</a:t>
                </a:r>
              </a:p>
              <a:p>
                <a:r>
                  <a:rPr lang="en-AU" dirty="0"/>
                  <a:t>You are analysing adult heights.</a:t>
                </a:r>
              </a:p>
              <a:p>
                <a:r>
                  <a:rPr lang="en-AU" dirty="0"/>
                  <a:t>One observation is</a:t>
                </a:r>
              </a:p>
              <a:p>
                <a:pPr rtl="0"/>
                <a:r>
                  <a:rPr lang="en-AU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120 cm</a:t>
                </a:r>
              </a:p>
              <a:p>
                <a:r>
                  <a:rPr lang="en-AU" dirty="0"/>
                  <a:t>If it belongs to a child accidentally included in the dataset, it should not be analysed with the adult data.</a:t>
                </a:r>
              </a:p>
              <a:p>
                <a:br>
                  <a:rPr lang="en-AU" dirty="0"/>
                </a:br>
                <a:endParaRPr lang="en-AU" dirty="0"/>
              </a:p>
              <a:p>
                <a:r>
                  <a:rPr lang="en-AU" b="1" dirty="0"/>
                  <a:t>5. Does the outlier affect the analysis?</a:t>
                </a:r>
              </a:p>
              <a:p>
                <a:r>
                  <a:rPr lang="en-AU" dirty="0"/>
                  <a:t>Sometimes a valid outlier can strongly influence statistical results or machine learning models.</a:t>
                </a:r>
              </a:p>
              <a:p>
                <a:r>
                  <a:rPr lang="en-AU" dirty="0"/>
                  <a:t>Consider:</a:t>
                </a:r>
              </a:p>
              <a:p>
                <a:r>
                  <a:rPr lang="en-AU" dirty="0"/>
                  <a:t>keeping it, </a:t>
                </a:r>
              </a:p>
              <a:p>
                <a:r>
                  <a:rPr lang="en-AU" dirty="0"/>
                  <a:t>transforming the data (e.g., using a log transformation), </a:t>
                </a:r>
              </a:p>
              <a:p>
                <a:r>
                  <a:rPr lang="en-AU" dirty="0"/>
                  <a:t>using robust statistics (such as the median instead of the mean), or </a:t>
                </a:r>
              </a:p>
              <a:p>
                <a:r>
                  <a:rPr lang="en-AU" dirty="0"/>
                  <a:t>analysing it separately. </a:t>
                </a:r>
              </a:p>
              <a:p>
                <a:r>
                  <a:rPr lang="en-AU" dirty="0"/>
                  <a:t>The choice depends on the goal of the analysis.</a:t>
                </a:r>
              </a:p>
              <a:p>
                <a:br>
                  <a:rPr lang="en-AU" dirty="0"/>
                </a:br>
                <a:endParaRPr lang="en-AU" dirty="0"/>
              </a:p>
              <a:p>
                <a:r>
                  <a:rPr lang="en-AU" b="1" dirty="0"/>
                  <a:t>Summary</a:t>
                </a:r>
              </a:p>
              <a:p>
                <a:r>
                  <a:rPr lang="en-AU" dirty="0"/>
                  <a:t>Situation</a:t>
                </a:r>
              </a:p>
              <a:p>
                <a:r>
                  <a:rPr lang="en-AU" dirty="0"/>
                  <a:t>Action</a:t>
                </a:r>
              </a:p>
              <a:p>
                <a:r>
                  <a:rPr lang="en-AU" dirty="0"/>
                  <a:t>Data entry </a:t>
                </a:r>
                <a:r>
                  <a:rPr lang="en-AU" dirty="0" err="1"/>
                  <a:t>errorCorrect</a:t>
                </a:r>
                <a:r>
                  <a:rPr lang="en-AU" dirty="0"/>
                  <a:t> or remove</a:t>
                </a:r>
              </a:p>
              <a:p>
                <a:r>
                  <a:rPr lang="en-AU" dirty="0"/>
                  <a:t>Measurement </a:t>
                </a:r>
                <a:r>
                  <a:rPr lang="en-AU" dirty="0" err="1"/>
                  <a:t>errorCorrect</a:t>
                </a:r>
                <a:r>
                  <a:rPr lang="en-AU" dirty="0"/>
                  <a:t> or remove</a:t>
                </a:r>
              </a:p>
              <a:p>
                <a:r>
                  <a:rPr lang="en-AU" dirty="0"/>
                  <a:t>Valid rare </a:t>
                </a:r>
                <a:r>
                  <a:rPr lang="en-AU" dirty="0" err="1"/>
                  <a:t>observationKeep</a:t>
                </a:r>
                <a:r>
                  <a:rPr lang="en-AU" dirty="0"/>
                  <a:t> and report</a:t>
                </a:r>
              </a:p>
              <a:p>
                <a:r>
                  <a:rPr lang="en-AU" dirty="0"/>
                  <a:t>Different </a:t>
                </a:r>
                <a:r>
                  <a:rPr lang="en-AU" dirty="0" err="1"/>
                  <a:t>populationInvestigate</a:t>
                </a:r>
                <a:r>
                  <a:rPr lang="en-AU" dirty="0"/>
                  <a:t> and possibly exclude</a:t>
                </a:r>
              </a:p>
              <a:p>
                <a:r>
                  <a:rPr lang="en-AU" dirty="0"/>
                  <a:t>Influences </a:t>
                </a:r>
                <a:r>
                  <a:rPr lang="en-AU" dirty="0" err="1"/>
                  <a:t>analysisConsider</a:t>
                </a:r>
                <a:r>
                  <a:rPr lang="en-AU" dirty="0"/>
                  <a:t> robust methods or transformations</a:t>
                </a:r>
              </a:p>
              <a:p>
                <a:endParaRPr lang="en-AU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561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 </a:t>
            </a:r>
            <a:r>
              <a:rPr lang="en-AU" b="1" dirty="0"/>
              <a:t>pie chart</a:t>
            </a:r>
            <a:r>
              <a:rPr lang="en-AU" dirty="0"/>
              <a:t> is a circular chart divided into slices, where each slice represents a </a:t>
            </a:r>
            <a:r>
              <a:rPr lang="en-AU" b="1" dirty="0"/>
              <a:t>proportion or percentage of the whole</a:t>
            </a:r>
            <a:r>
              <a:rPr lang="en-AU" dirty="0"/>
              <a:t>.</a:t>
            </a:r>
          </a:p>
          <a:p>
            <a:r>
              <a:rPr lang="en-AU" dirty="0"/>
              <a:t>Pie charts are useful for showing </a:t>
            </a:r>
            <a:r>
              <a:rPr lang="en-AU" b="1" dirty="0"/>
              <a:t>part-to-whole relationships</a:t>
            </a:r>
            <a:r>
              <a:rPr lang="en-AU" dirty="0"/>
              <a:t> when there are only a few categories.</a:t>
            </a:r>
          </a:p>
          <a:p>
            <a:r>
              <a:rPr lang="en-AU" dirty="0"/>
              <a:t>Use a pie chart when:</a:t>
            </a:r>
          </a:p>
          <a:p>
            <a:r>
              <a:rPr lang="en-AU" dirty="0"/>
              <a:t>You want to show </a:t>
            </a:r>
            <a:r>
              <a:rPr lang="en-AU" b="1" dirty="0"/>
              <a:t>parts of a whole</a:t>
            </a:r>
            <a:r>
              <a:rPr lang="en-AU" dirty="0"/>
              <a:t>. </a:t>
            </a:r>
          </a:p>
          <a:p>
            <a:r>
              <a:rPr lang="en-AU" dirty="0"/>
              <a:t>The categories add up to </a:t>
            </a:r>
            <a:r>
              <a:rPr lang="en-AU" b="1" dirty="0"/>
              <a:t>100%</a:t>
            </a:r>
            <a:r>
              <a:rPr lang="en-AU" dirty="0"/>
              <a:t>. </a:t>
            </a:r>
          </a:p>
          <a:p>
            <a:r>
              <a:rPr lang="en-AU" dirty="0"/>
              <a:t>There are </a:t>
            </a:r>
            <a:r>
              <a:rPr lang="en-AU" b="1" dirty="0"/>
              <a:t>only a few categories</a:t>
            </a:r>
            <a:r>
              <a:rPr lang="en-AU" dirty="0"/>
              <a:t> (typically 3–6).</a:t>
            </a:r>
          </a:p>
          <a:p>
            <a:endParaRPr lang="en-AU" dirty="0"/>
          </a:p>
          <a:p>
            <a:r>
              <a:rPr lang="en-AU" b="1" dirty="0"/>
              <a:t>Each slice represents a category</a:t>
            </a:r>
            <a:r>
              <a:rPr lang="en-AU" dirty="0"/>
              <a:t>, and its </a:t>
            </a:r>
            <a:r>
              <a:rPr lang="en-AU" b="1" dirty="0"/>
              <a:t>size is proportional to its percentage </a:t>
            </a:r>
            <a:r>
              <a:rPr lang="en-AU" dirty="0"/>
              <a:t>or share of the total. It is most effective when there are only a few categories and the goal is to emphasize proportions rather than exact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222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Layout: </a:t>
            </a:r>
            <a:r>
              <a:rPr lang="en-AU" b="1" dirty="0"/>
              <a:t>Arrangement</a:t>
            </a:r>
            <a:r>
              <a:rPr lang="en-AU" dirty="0"/>
              <a:t> of subplots</a:t>
            </a:r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title</a:t>
            </a:r>
            <a:endParaRPr lang="en-AU" b="1" dirty="0"/>
          </a:p>
          <a:p>
            <a:r>
              <a:rPr lang="en-AU" dirty="0"/>
              <a:t>Adds a title to the plot. When using 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subplots=True</a:t>
            </a:r>
            <a:r>
              <a:rPr lang="en-AU" b="1" dirty="0"/>
              <a:t>, provide a list of titles (one for each subplot).</a:t>
            </a:r>
          </a:p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sharey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=True</a:t>
            </a:r>
            <a:endParaRPr lang="en-AU" b="1" dirty="0"/>
          </a:p>
          <a:p>
            <a:r>
              <a:rPr lang="en-AU" dirty="0"/>
              <a:t>Uses the </a:t>
            </a:r>
            <a:r>
              <a:rPr lang="en-AU" b="1" dirty="0"/>
              <a:t>same y-axis scale for all subplots</a:t>
            </a:r>
            <a:r>
              <a:rPr lang="en-AU" dirty="0"/>
              <a:t>.</a:t>
            </a:r>
          </a:p>
          <a:p>
            <a:r>
              <a:rPr lang="en-AU" dirty="0"/>
              <a:t>Makes it </a:t>
            </a:r>
            <a:r>
              <a:rPr lang="en-AU" b="1" dirty="0"/>
              <a:t>easier to compare </a:t>
            </a:r>
            <a:r>
              <a:rPr lang="en-AU" dirty="0"/>
              <a:t>values across different age groups.</a:t>
            </a:r>
          </a:p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xlim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=(1900, 1950)</a:t>
            </a:r>
            <a:endParaRPr lang="en-AU" dirty="0"/>
          </a:p>
          <a:p>
            <a:r>
              <a:rPr lang="en-AU" b="1" dirty="0"/>
              <a:t>Sets the range of the x-axis</a:t>
            </a:r>
            <a:r>
              <a:rPr lang="en-AU" dirty="0"/>
              <a:t>.</a:t>
            </a:r>
          </a:p>
          <a:p>
            <a:r>
              <a:rPr lang="en-AU" b="1" dirty="0"/>
              <a:t>Only data between </a:t>
            </a:r>
            <a:r>
              <a:rPr lang="en-AU" dirty="0"/>
              <a:t>1900 and 1950 </a:t>
            </a:r>
            <a:r>
              <a:rPr lang="en-AU" b="1" dirty="0"/>
              <a:t>are displayed</a:t>
            </a:r>
            <a:r>
              <a:rPr lang="en-AU" dirty="0"/>
              <a:t>.</a:t>
            </a:r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rot=45</a:t>
            </a:r>
            <a:endParaRPr lang="en-AU" b="1" dirty="0"/>
          </a:p>
          <a:p>
            <a:r>
              <a:rPr lang="en-AU" dirty="0"/>
              <a:t>Rotates the x-axis tick labels by 45 degrees.</a:t>
            </a:r>
          </a:p>
          <a:p>
            <a:r>
              <a:rPr lang="en-AU" dirty="0"/>
              <a:t>Prevents labels from overlapping and improves readability.</a:t>
            </a:r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grid=True</a:t>
            </a:r>
            <a:endParaRPr lang="en-AU" b="1" dirty="0"/>
          </a:p>
          <a:p>
            <a:r>
              <a:rPr lang="en-AU" dirty="0"/>
              <a:t>Displays grid lines.</a:t>
            </a:r>
          </a:p>
          <a:p>
            <a:r>
              <a:rPr lang="en-AU" dirty="0"/>
              <a:t>Improves readability and helps estimate values.</a:t>
            </a:r>
          </a:p>
          <a:p>
            <a:pPr rtl="0"/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sharey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=False</a:t>
            </a:r>
          </a:p>
          <a:p>
            <a:r>
              <a:rPr lang="en-AU" dirty="0"/>
              <a:t>each subplot gets its own scale.</a:t>
            </a:r>
          </a:p>
          <a:p>
            <a:r>
              <a:rPr lang="en-AU" dirty="0"/>
              <a:t>When using </a:t>
            </a:r>
            <a:r>
              <a:rPr lang="en-AU" b="1" dirty="0"/>
              <a:t>only Pandas </a:t>
            </a:r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plot.line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, the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rot</a:t>
            </a:r>
            <a:r>
              <a:rPr lang="en-AU" dirty="0"/>
              <a:t> parameter applies to the </a:t>
            </a:r>
            <a:r>
              <a:rPr lang="en-AU" b="1" dirty="0"/>
              <a:t>x-axis labels only</a:t>
            </a:r>
            <a:r>
              <a:rPr lang="en-AU" dirty="0"/>
              <a:t>. There is no direct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yrot</a:t>
            </a:r>
            <a:r>
              <a:rPr lang="en-AU" dirty="0"/>
              <a:t> parameter in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pandas.plot.line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63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5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in </a:t>
            </a:r>
            <a:r>
              <a:rPr lang="en-AU" b="1" dirty="0"/>
              <a:t>Seaborn</a:t>
            </a:r>
            <a:r>
              <a:rPr lang="en-AU" dirty="0"/>
              <a:t> is a figure-level function used to create </a:t>
            </a:r>
            <a:r>
              <a:rPr lang="en-AU" b="1" dirty="0"/>
              <a:t>relational plots</a:t>
            </a:r>
            <a:r>
              <a:rPr lang="en-AU" dirty="0"/>
              <a:t>. It helps visualize the relationship between </a:t>
            </a:r>
            <a:r>
              <a:rPr lang="en-AU" b="1" dirty="0"/>
              <a:t>two or more variables</a:t>
            </a:r>
            <a:r>
              <a:rPr lang="en-AU" dirty="0"/>
              <a:t>.</a:t>
            </a:r>
          </a:p>
          <a:p>
            <a:r>
              <a:rPr lang="en-AU" dirty="0"/>
              <a:t>It can create two main types of plots:</a:t>
            </a:r>
          </a:p>
          <a:p>
            <a:r>
              <a:rPr lang="en-AU" b="1" dirty="0"/>
              <a:t>Scatter plot</a:t>
            </a:r>
            <a:r>
              <a:rPr lang="en-AU" dirty="0"/>
              <a:t> (default) </a:t>
            </a:r>
          </a:p>
          <a:p>
            <a:r>
              <a:rPr lang="en-AU" b="1" dirty="0"/>
              <a:t>Line plot</a:t>
            </a:r>
            <a:endParaRPr lang="en-AU" dirty="0"/>
          </a:p>
          <a:p>
            <a:endParaRPr lang="en-AU" dirty="0"/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endParaRPr lang="en-AU" b="1" dirty="0"/>
          </a:p>
          <a:p>
            <a:r>
              <a:rPr lang="en-AU" dirty="0"/>
              <a:t>Specifies the </a:t>
            </a:r>
            <a:r>
              <a:rPr lang="en-AU" dirty="0" err="1"/>
              <a:t>DataFrame</a:t>
            </a:r>
            <a:r>
              <a:rPr lang="en-AU" dirty="0"/>
              <a:t>.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AU" dirty="0"/>
              <a:t> → independent variable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en-AU" dirty="0"/>
              <a:t> → dependent variable</a:t>
            </a:r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hue</a:t>
            </a:r>
            <a:r>
              <a:rPr lang="en-AU" b="1" dirty="0"/>
              <a:t> (Colour Encoding)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hue</a:t>
            </a:r>
            <a:r>
              <a:rPr lang="en-AU" dirty="0"/>
              <a:t> adds colour based on a </a:t>
            </a:r>
            <a:r>
              <a:rPr lang="en-AU" b="1" dirty="0"/>
              <a:t>categorical</a:t>
            </a:r>
            <a:r>
              <a:rPr lang="en-AU" dirty="0"/>
              <a:t> variable.</a:t>
            </a:r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endParaRPr lang="en-AU" b="1" dirty="0"/>
          </a:p>
          <a:p>
            <a:r>
              <a:rPr lang="en-AU" dirty="0"/>
              <a:t>Changes the size of points based on another variable</a:t>
            </a:r>
          </a:p>
          <a:p>
            <a:r>
              <a:rPr lang="en-AU" dirty="0"/>
              <a:t>Larger bubbles represent larger populations.</a:t>
            </a:r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</a:t>
            </a:r>
            <a:endParaRPr lang="en-AU" b="1" dirty="0"/>
          </a:p>
          <a:p>
            <a:r>
              <a:rPr lang="en-AU" dirty="0"/>
              <a:t>Uses different markers for categories</a:t>
            </a:r>
          </a:p>
          <a:p>
            <a:r>
              <a:rPr lang="en-AU" dirty="0"/>
              <a:t>Example:</a:t>
            </a:r>
          </a:p>
          <a:p>
            <a:pPr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Male     ●</a:t>
            </a:r>
          </a:p>
          <a:p>
            <a:pPr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Female   ▲</a:t>
            </a:r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kind</a:t>
            </a:r>
            <a:endParaRPr lang="en-AU" b="1" dirty="0"/>
          </a:p>
          <a:p>
            <a:r>
              <a:rPr lang="en-AU" dirty="0"/>
              <a:t>Controls the type of plot.</a:t>
            </a:r>
          </a:p>
          <a:p>
            <a:r>
              <a:rPr lang="en-AU" b="1" dirty="0"/>
              <a:t>Scatter plot (default)</a:t>
            </a:r>
          </a:p>
          <a:p>
            <a:endParaRPr lang="en-AU" dirty="0"/>
          </a:p>
          <a:p>
            <a:r>
              <a:rPr lang="en-AU" b="1" dirty="0"/>
              <a:t>Faceting with 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</a:t>
            </a:r>
            <a:r>
              <a:rPr lang="en-AU" b="1" dirty="0"/>
              <a:t> and 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</a:t>
            </a:r>
            <a:endParaRPr lang="en-AU" b="1" dirty="0"/>
          </a:p>
          <a:p>
            <a:r>
              <a:rPr lang="en-AU" dirty="0"/>
              <a:t>One powerful feature of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is creating multiple plots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35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 </a:t>
            </a:r>
            <a:r>
              <a:rPr lang="en-AU" b="1" dirty="0"/>
              <a:t>Pandas plotting</a:t>
            </a:r>
            <a:r>
              <a:rPr lang="en-AU" dirty="0"/>
              <a:t>, the concepts of </a:t>
            </a:r>
            <a:r>
              <a:rPr lang="en-AU" b="1" dirty="0"/>
              <a:t>axes-level</a:t>
            </a:r>
            <a:r>
              <a:rPr lang="en-AU" dirty="0"/>
              <a:t> and </a:t>
            </a:r>
            <a:r>
              <a:rPr lang="en-AU" b="1" dirty="0"/>
              <a:t>figure-level</a:t>
            </a:r>
            <a:r>
              <a:rPr lang="en-AU" dirty="0"/>
              <a:t> functions come mainly from </a:t>
            </a:r>
            <a:r>
              <a:rPr lang="en-AU" b="1" dirty="0"/>
              <a:t>Matplotlib</a:t>
            </a:r>
            <a:r>
              <a:rPr lang="en-AU" dirty="0"/>
              <a:t> and </a:t>
            </a:r>
            <a:r>
              <a:rPr lang="en-AU" b="1" dirty="0"/>
              <a:t>Seaborn</a:t>
            </a:r>
            <a:r>
              <a:rPr lang="en-AU" dirty="0"/>
              <a:t>, but they are also important when using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DataFrame.plot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in Pandas.</a:t>
            </a:r>
          </a:p>
          <a:p>
            <a:r>
              <a:rPr lang="en-AU" dirty="0"/>
              <a:t>The easiest way to understand them is:</a:t>
            </a:r>
          </a:p>
          <a:p>
            <a:r>
              <a:rPr lang="en-AU" b="1" dirty="0"/>
              <a:t>Figure = the whole canvas (the entire output area)</a:t>
            </a:r>
            <a:r>
              <a:rPr lang="en-AU" dirty="0"/>
              <a:t> </a:t>
            </a:r>
          </a:p>
          <a:p>
            <a:r>
              <a:rPr lang="en-AU" b="1" dirty="0"/>
              <a:t>Axes = an individual plot inside that canvas</a:t>
            </a:r>
            <a:endParaRPr lang="en-AU" dirty="0"/>
          </a:p>
          <a:p>
            <a:endParaRPr lang="en-AU" dirty="0"/>
          </a:p>
          <a:p>
            <a:r>
              <a:rPr lang="en-AU" dirty="0"/>
              <a:t>A </a:t>
            </a:r>
            <a:r>
              <a:rPr lang="en-AU" b="1" dirty="0"/>
              <a:t>figure-level function</a:t>
            </a:r>
            <a:r>
              <a:rPr lang="en-AU" dirty="0"/>
              <a:t> controls the entire figure and can create </a:t>
            </a:r>
            <a:r>
              <a:rPr lang="en-AU" b="1" dirty="0"/>
              <a:t>multiple axes automatically</a:t>
            </a:r>
            <a:r>
              <a:rPr lang="en-AU" dirty="0"/>
              <a:t>. Because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creates multiple subplots, it returns a </a:t>
            </a:r>
            <a:r>
              <a:rPr lang="en-AU" b="1" dirty="0" err="1"/>
              <a:t>FacetGrid</a:t>
            </a:r>
            <a:r>
              <a:rPr lang="en-AU" b="1" dirty="0"/>
              <a:t> object</a:t>
            </a:r>
            <a:r>
              <a:rPr lang="en-AU" dirty="0"/>
              <a:t>, not a single Axes.</a:t>
            </a:r>
          </a:p>
          <a:p>
            <a:endParaRPr lang="en-AU" dirty="0"/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</a:t>
            </a:r>
            <a:r>
              <a:rPr lang="en-AU" dirty="0"/>
              <a:t> controls the overall figure: while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ax</a:t>
            </a:r>
            <a:r>
              <a:rPr lang="en-AU" dirty="0"/>
              <a:t> controls the individual plot: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24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sns.set_style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()**</a:t>
            </a:r>
            <a:r>
              <a:rPr lang="en-AU" dirty="0"/>
              <a:t> is a </a:t>
            </a:r>
            <a:r>
              <a:rPr lang="en-AU" b="1" dirty="0"/>
              <a:t>Seaborn function used to control the overall visual style of plots</a:t>
            </a:r>
            <a:r>
              <a:rPr lang="en-AU" dirty="0"/>
              <a:t>. It changes the appearance of the background, grid lines, axes, and other visual elements.</a:t>
            </a:r>
          </a:p>
          <a:p>
            <a:r>
              <a:rPr lang="en-AU" dirty="0"/>
              <a:t>It is a </a:t>
            </a:r>
            <a:r>
              <a:rPr lang="en-AU" b="1" dirty="0"/>
              <a:t>global setting</a:t>
            </a:r>
            <a:r>
              <a:rPr lang="en-AU" dirty="0"/>
              <a:t>, meaning it affects all Seaborn plots created after you call it.</a:t>
            </a:r>
          </a:p>
          <a:p>
            <a:r>
              <a:rPr lang="en-AU" dirty="0" err="1"/>
              <a:t>Darkgrid</a:t>
            </a:r>
            <a:r>
              <a:rPr lang="en-AU" dirty="0"/>
              <a:t>, ticks, dark, white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365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bottom=0.35</a:t>
            </a:r>
            <a:endParaRPr lang="en-AU" b="1" dirty="0"/>
          </a:p>
          <a:p>
            <a:r>
              <a:rPr lang="en-AU" dirty="0"/>
              <a:t>Moves the bottom of the subplot area upward.</a:t>
            </a:r>
          </a:p>
          <a:p>
            <a:r>
              <a:rPr lang="en-AU" dirty="0"/>
              <a:t>The value is a fraction of the figure height: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AU" dirty="0"/>
              <a:t> → very bottom of the figure </a:t>
            </a:r>
          </a:p>
          <a:p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en-AU" dirty="0"/>
              <a:t> → top of the figure</a:t>
            </a:r>
          </a:p>
          <a:p>
            <a:r>
              <a:rPr lang="en-AU" dirty="0"/>
              <a:t>Leave 35% of the figure height as empty space at the bottom. (creates space)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624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CECEC"/>
                </a:solidFill>
                <a:effectLst/>
                <a:latin typeface="Söhne"/>
              </a:rPr>
              <a:t>In the code, "CI" stands for Confidence Interval. It's a statistical term that provides a range of values that is likely to contain the population parameter with a certain level of confidence. In this specific case, 'ci' is set to 50, which means that a 50% confidence interval is drawn for the mean death rate for the years 1950 and 2000. </a:t>
            </a:r>
          </a:p>
          <a:p>
            <a:endParaRPr lang="en-US" b="0" i="0" dirty="0">
              <a:solidFill>
                <a:srgbClr val="ECECEC"/>
              </a:solidFill>
              <a:effectLst/>
              <a:latin typeface="Söhne"/>
            </a:endParaRPr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dpi</a:t>
            </a:r>
            <a:endParaRPr lang="en-AU" b="1" dirty="0"/>
          </a:p>
          <a:p>
            <a:r>
              <a:rPr lang="en-AU" dirty="0"/>
              <a:t>Controls image resolution: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r>
              <a:rPr lang="en-AU" b="1" dirty="0"/>
              <a:t> → </a:t>
            </a:r>
            <a:r>
              <a:rPr lang="en-AU" b="1" dirty="0" err="1"/>
              <a:t>FacetGrid</a:t>
            </a:r>
            <a:r>
              <a:rPr lang="en-AU" b="1" dirty="0"/>
              <a:t> </a:t>
            </a:r>
          </a:p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g.fig</a:t>
            </a:r>
            <a:r>
              <a:rPr lang="en-AU" b="1" dirty="0"/>
              <a:t> → Figure </a:t>
            </a:r>
          </a:p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g.Axes</a:t>
            </a:r>
            <a:r>
              <a:rPr lang="en-AU" b="1" dirty="0"/>
              <a:t> → Axes array</a:t>
            </a:r>
          </a:p>
          <a:p>
            <a:endParaRPr lang="en-AU" b="1" dirty="0"/>
          </a:p>
          <a:p>
            <a:endParaRPr lang="en-AU" b="1" dirty="0"/>
          </a:p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ns.catplot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is a </a:t>
            </a:r>
            <a:r>
              <a:rPr lang="en-AU" b="1" dirty="0"/>
              <a:t>Seaborn figure-level function</a:t>
            </a:r>
            <a:r>
              <a:rPr lang="en-AU" dirty="0"/>
              <a:t> used to create </a:t>
            </a:r>
            <a:r>
              <a:rPr lang="en-AU" b="1" dirty="0"/>
              <a:t>categorical plots</a:t>
            </a:r>
            <a:r>
              <a:rPr lang="en-AU" dirty="0"/>
              <a:t>. It provides a single interface for visualizing the relationship between a </a:t>
            </a:r>
            <a:r>
              <a:rPr lang="en-AU" b="1" dirty="0"/>
              <a:t>categorical variable</a:t>
            </a:r>
            <a:r>
              <a:rPr lang="en-AU" dirty="0"/>
              <a:t> and one or more numerical or categorical variables.</a:t>
            </a:r>
          </a:p>
          <a:p>
            <a:r>
              <a:rPr lang="en-AU" dirty="0"/>
              <a:t>Unlike functions such as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sns.barplot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or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sns.boxplot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, which create a single plot on one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Axes</a:t>
            </a:r>
            <a:r>
              <a:rPr lang="en-AU" dirty="0"/>
              <a:t>,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sns.catplot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creates an entire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</a:t>
            </a:r>
            <a:r>
              <a:rPr lang="en-AU" dirty="0"/>
              <a:t> and can easily generate multiple subplots using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</a:t>
            </a:r>
            <a:r>
              <a:rPr lang="en-AU" dirty="0"/>
              <a:t>,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</a:t>
            </a:r>
            <a:r>
              <a:rPr lang="en-AU" dirty="0"/>
              <a:t>, and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hue</a:t>
            </a:r>
            <a:r>
              <a:rPr lang="en-AU" dirty="0"/>
              <a:t>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124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930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sns.displot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is a </a:t>
            </a:r>
            <a:r>
              <a:rPr lang="en-AU" b="1" dirty="0"/>
              <a:t>Seaborn figure-level function</a:t>
            </a:r>
            <a:r>
              <a:rPr lang="en-AU" dirty="0"/>
              <a:t> used to visualize the </a:t>
            </a:r>
            <a:r>
              <a:rPr lang="en-AU" b="1" dirty="0"/>
              <a:t>distribution</a:t>
            </a:r>
            <a:r>
              <a:rPr lang="en-AU" dirty="0"/>
              <a:t> of one or more numerical variables. It provides a unified interface for creating histograms, kernel density estimates (KDE), empirical cumulative distribution functions (ECDF), and combinations of these plots.</a:t>
            </a:r>
          </a:p>
          <a:p>
            <a:r>
              <a:rPr lang="en-AU" dirty="0"/>
              <a:t>Like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sns.relplot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and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sns.catplot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,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sns.displot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returns a </a:t>
            </a:r>
            <a:r>
              <a:rPr lang="en-AU" b="1" dirty="0" err="1"/>
              <a:t>FacetGrid</a:t>
            </a:r>
            <a:r>
              <a:rPr lang="en-AU" dirty="0"/>
              <a:t>, allowing you to easily create multiple subplots with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</a:t>
            </a:r>
            <a:r>
              <a:rPr lang="en-AU" dirty="0"/>
              <a:t>,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</a:t>
            </a:r>
            <a:r>
              <a:rPr lang="en-AU" dirty="0"/>
              <a:t>, and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hue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272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Kind=“</a:t>
            </a:r>
            <a:r>
              <a:rPr lang="en-US" dirty="0" err="1"/>
              <a:t>kde</a:t>
            </a:r>
            <a:r>
              <a:rPr lang="en-US" dirty="0"/>
              <a:t>” </a:t>
            </a:r>
            <a:r>
              <a:rPr lang="en-AU" dirty="0"/>
              <a:t>This shows only the smooth density curve without histogram bars.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Vertical axis is always frequency or count or the number of </a:t>
            </a:r>
            <a:r>
              <a:rPr lang="en-AU" dirty="0" err="1"/>
              <a:t>itmes</a:t>
            </a:r>
            <a:r>
              <a:rPr lang="en-AU" dirty="0"/>
              <a:t> in each bin or bar.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616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When should you use </a:t>
            </a:r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sns.displot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b="1" dirty="0"/>
              <a:t>?</a:t>
            </a:r>
          </a:p>
          <a:p>
            <a:r>
              <a:rPr lang="en-AU" dirty="0"/>
              <a:t>Use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sns.displot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when you want to:</a:t>
            </a:r>
          </a:p>
          <a:p>
            <a:r>
              <a:rPr lang="en-AU" dirty="0"/>
              <a:t>Explore the </a:t>
            </a:r>
            <a:r>
              <a:rPr lang="en-AU" b="1" dirty="0"/>
              <a:t>distribution</a:t>
            </a:r>
            <a:r>
              <a:rPr lang="en-AU" dirty="0"/>
              <a:t> of one or more numerical variables. </a:t>
            </a:r>
          </a:p>
          <a:p>
            <a:r>
              <a:rPr lang="en-AU" dirty="0"/>
              <a:t>Check for </a:t>
            </a:r>
            <a:r>
              <a:rPr lang="en-AU" b="1" dirty="0"/>
              <a:t>skewness</a:t>
            </a:r>
            <a:r>
              <a:rPr lang="en-AU" dirty="0"/>
              <a:t>, </a:t>
            </a:r>
            <a:r>
              <a:rPr lang="en-AU" b="1" dirty="0"/>
              <a:t>spread</a:t>
            </a:r>
            <a:r>
              <a:rPr lang="en-AU" dirty="0"/>
              <a:t>, or </a:t>
            </a:r>
            <a:r>
              <a:rPr lang="en-AU" b="1" dirty="0"/>
              <a:t>multiple peaks (modes)</a:t>
            </a:r>
            <a:r>
              <a:rPr lang="en-AU" dirty="0"/>
              <a:t>. </a:t>
            </a:r>
          </a:p>
          <a:p>
            <a:r>
              <a:rPr lang="en-AU" dirty="0"/>
              <a:t>Compare distributions across groups using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hue</a:t>
            </a:r>
            <a:r>
              <a:rPr lang="en-AU" dirty="0"/>
              <a:t>,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</a:t>
            </a:r>
            <a:r>
              <a:rPr lang="en-AU" dirty="0"/>
              <a:t>, or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</a:t>
            </a:r>
            <a:r>
              <a:rPr lang="en-AU" dirty="0"/>
              <a:t>. </a:t>
            </a:r>
          </a:p>
          <a:p>
            <a:r>
              <a:rPr lang="en-AU" dirty="0"/>
              <a:t>Create </a:t>
            </a:r>
            <a:r>
              <a:rPr lang="en-AU" b="1" dirty="0"/>
              <a:t>multiple distribution plots</a:t>
            </a:r>
            <a:r>
              <a:rPr lang="en-AU" dirty="0"/>
              <a:t> in a single figure. </a:t>
            </a:r>
          </a:p>
          <a:p>
            <a:r>
              <a:rPr lang="en-AU" dirty="0"/>
              <a:t>If you only need a </a:t>
            </a:r>
            <a:r>
              <a:rPr lang="en-AU" b="1" dirty="0"/>
              <a:t>single histogram or KDE plot</a:t>
            </a:r>
            <a:r>
              <a:rPr lang="en-AU" dirty="0"/>
              <a:t>, use an axes-level function like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sns.histplot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or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sns.kdeplot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. If you need faceted distribution plots,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sns.displot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is the recommended choice.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779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sns.lineplot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endParaRPr lang="en-AU" b="1" dirty="0"/>
          </a:p>
          <a:p>
            <a:r>
              <a:rPr lang="en-AU" b="1" dirty="0"/>
              <a:t>Type:</a:t>
            </a:r>
            <a:r>
              <a:rPr lang="en-AU" dirty="0"/>
              <a:t> Axes-level function </a:t>
            </a:r>
          </a:p>
          <a:p>
            <a:r>
              <a:rPr lang="en-AU" b="1" dirty="0"/>
              <a:t>Returns:</a:t>
            </a:r>
            <a:r>
              <a:rPr lang="en-AU" dirty="0"/>
              <a:t> A Matplotlib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Axes</a:t>
            </a:r>
            <a:r>
              <a:rPr lang="en-AU" dirty="0"/>
              <a:t> object </a:t>
            </a:r>
          </a:p>
          <a:p>
            <a:r>
              <a:rPr lang="en-AU" b="1" dirty="0"/>
              <a:t>Creates:</a:t>
            </a:r>
            <a:r>
              <a:rPr lang="en-AU" dirty="0"/>
              <a:t> A single line plot on one set of axes </a:t>
            </a:r>
          </a:p>
          <a:p>
            <a:r>
              <a:rPr lang="en-AU" b="1" dirty="0"/>
              <a:t>Can be placed:</a:t>
            </a:r>
            <a:r>
              <a:rPr lang="en-AU" dirty="0"/>
              <a:t> Inside existing Matplotlib figures and subplots</a:t>
            </a:r>
          </a:p>
          <a:p>
            <a:endParaRPr lang="en-AU" dirty="0"/>
          </a:p>
          <a:p>
            <a:endParaRPr lang="en-AU" dirty="0"/>
          </a:p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ax.set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b="1" dirty="0"/>
              <a:t> </a:t>
            </a:r>
            <a:r>
              <a:rPr lang="en-AU" dirty="0"/>
              <a:t>is a convenient Matplotlib method that lets you set </a:t>
            </a:r>
            <a:r>
              <a:rPr lang="en-AU" b="1" dirty="0"/>
              <a:t>multiple axes properties in one line</a:t>
            </a:r>
            <a:r>
              <a:rPr lang="en-AU" dirty="0"/>
              <a:t>. It is often used instead of calling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set_title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,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set_xlabel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, etc., separately.</a:t>
            </a:r>
          </a:p>
          <a:p>
            <a:endParaRPr lang="en-AU" dirty="0"/>
          </a:p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ax.annotate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is a Matplotlib method used to </a:t>
            </a:r>
            <a:r>
              <a:rPr lang="en-AU" b="1" dirty="0"/>
              <a:t>add annotations (text and optional arrows)</a:t>
            </a:r>
            <a:r>
              <a:rPr lang="en-AU" dirty="0"/>
              <a:t> to a plot. It is especially useful for highlighting important data points.</a:t>
            </a:r>
          </a:p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Xy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AU" dirty="0"/>
              <a:t>The point being annotated (where the arrow points)</a:t>
            </a:r>
          </a:p>
          <a:p>
            <a:r>
              <a:rPr lang="en-A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Xytext</a:t>
            </a:r>
            <a:r>
              <a:rPr lang="en-A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AU" dirty="0"/>
              <a:t>The location where the text will appear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 err="1"/>
              <a:t>arrowprops</a:t>
            </a:r>
            <a:r>
              <a:rPr lang="en-AU" dirty="0"/>
              <a:t>={"</a:t>
            </a:r>
            <a:r>
              <a:rPr lang="en-AU" dirty="0" err="1"/>
              <a:t>arrowstyle</a:t>
            </a:r>
            <a:r>
              <a:rPr lang="en-AU" dirty="0"/>
              <a:t>": "-&gt;"}</a:t>
            </a:r>
          </a:p>
          <a:p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Arrowprops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AU" dirty="0"/>
              <a:t>Controls the arrow's appearance (style, </a:t>
            </a:r>
            <a:r>
              <a:rPr lang="en-AU" dirty="0" err="1"/>
              <a:t>color</a:t>
            </a:r>
            <a:r>
              <a:rPr lang="en-AU" dirty="0"/>
              <a:t>, width, etc.)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716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99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2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0869248" cy="120549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4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4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2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7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9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4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6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9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3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1"/>
            <a:ext cx="12192000" cy="17890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94519"/>
            <a:ext cx="10869248" cy="1205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065467"/>
            <a:ext cx="10869248" cy="409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7/22/2026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6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bg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qzKH9dTqkA?feature=oembed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jNiQaErXg8s?feature=oembed" TargetMode="External"/><Relationship Id="rId1" Type="http://schemas.openxmlformats.org/officeDocument/2006/relationships/tags" Target="../tags/tag1.xml"/><Relationship Id="rId4" Type="http://schemas.openxmlformats.org/officeDocument/2006/relationships/image" Target="../media/image60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A26A151-13BF-4305-A6DC-9DC7C9877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FFDDA6-2CAE-438F-B0D6-FF4E710E2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29884" y="6324431"/>
            <a:ext cx="62116" cy="4289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F8BA2-5609-1185-67AB-D0B477AE4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122" y="365125"/>
            <a:ext cx="5022630" cy="24300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Essentials for Data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4F7A9-0B69-50D3-EFD6-01EB73B91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054927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SIT112 </a:t>
            </a:r>
            <a:r>
              <a:rPr lang="en-US">
                <a:solidFill>
                  <a:schemeClr val="bg1"/>
                </a:solidFill>
              </a:rPr>
              <a:t>| Intro </a:t>
            </a:r>
            <a:r>
              <a:rPr lang="en-US" dirty="0">
                <a:solidFill>
                  <a:schemeClr val="bg1"/>
                </a:solidFill>
              </a:rPr>
              <a:t>to Data Science &amp; AI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Lecture Week 3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27DDA6F5-26EC-28A4-45B4-8F5AB8D9F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964" r="9242"/>
          <a:stretch/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B6CD3-1079-C315-AFA6-5381F1AB7B61}"/>
              </a:ext>
            </a:extLst>
          </p:cNvPr>
          <p:cNvSpPr txBox="1"/>
          <p:nvPr/>
        </p:nvSpPr>
        <p:spPr>
          <a:xfrm>
            <a:off x="484552" y="5054351"/>
            <a:ext cx="60960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Dr. Fatima Ansarizadeh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Lecturer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School of Information Technology, Deakin University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Email: f.ansarizadeh@deakin.edu.au</a:t>
            </a:r>
          </a:p>
        </p:txBody>
      </p:sp>
      <p:pic>
        <p:nvPicPr>
          <p:cNvPr id="2056" name="Picture 8" descr="Free Artificial Intelligence Brain illustration and picture">
            <a:extLst>
              <a:ext uri="{FF2B5EF4-FFF2-40B4-BE49-F238E27FC236}">
                <a16:creationId xmlns:a16="http://schemas.microsoft.com/office/drawing/2014/main" id="{2CAC7885-F5FC-9728-CD03-112A71453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321" y="1552489"/>
            <a:ext cx="6096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38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7023783-1BA7-4B53-8EDC-B7F22732F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8B7D45-C71F-4FD6-BE9F-31CB24678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305878"/>
            <a:ext cx="12192000" cy="4552121"/>
            <a:chOff x="6096002" y="-9073"/>
            <a:chExt cx="6095998" cy="686707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0E55DB-2DD2-4990-952E-AF7499C79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31DE2E-D7A0-4137-B8A6-3F996F89A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BEECA9E-C489-4B62-9103-5A6D60EA2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913"/>
            <a:ext cx="6095996" cy="2318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A757A-1DC5-4610-897D-1BF798A5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98495"/>
            <a:ext cx="5251230" cy="1601755"/>
          </a:xfrm>
        </p:spPr>
        <p:txBody>
          <a:bodyPr>
            <a:normAutofit/>
          </a:bodyPr>
          <a:lstStyle/>
          <a:p>
            <a:r>
              <a:rPr lang="en-US" sz="4400" dirty="0"/>
              <a:t>Objectives</a:t>
            </a:r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19126D58-8FBC-653D-8295-1FBF59F14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5363" y="136526"/>
            <a:ext cx="1973954" cy="19739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EBEF-C5EF-C27F-584B-2C710C594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3" y="2557858"/>
            <a:ext cx="10945448" cy="3496539"/>
          </a:xfrm>
        </p:spPr>
        <p:txBody>
          <a:bodyPr>
            <a:noAutofit/>
          </a:bodyPr>
          <a:lstStyle/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800" dirty="0">
                <a:effectLst/>
                <a:ea typeface="Times New Roman" panose="02020603050405020304" pitchFamily="18" charset="0"/>
              </a:rPr>
              <a:t>Use the </a:t>
            </a:r>
            <a:r>
              <a:rPr lang="en-US" sz="1800" b="1" dirty="0">
                <a:effectLst/>
                <a:highlight>
                  <a:srgbClr val="FFFF00"/>
                </a:highlight>
                <a:ea typeface="Times New Roman" panose="02020603050405020304" pitchFamily="18" charset="0"/>
              </a:rPr>
              <a:t>Pandas</a:t>
            </a:r>
            <a:r>
              <a:rPr lang="en-US" sz="1800" dirty="0">
                <a:effectLst/>
                <a:highlight>
                  <a:srgbClr val="FFFF00"/>
                </a:highlight>
                <a:ea typeface="Times New Roman" panose="02020603050405020304" pitchFamily="18" charset="0"/>
              </a:rPr>
              <a:t> plot() 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method to create:</a:t>
            </a:r>
            <a:r>
              <a:rPr lang="en-US" sz="1800" dirty="0"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ea typeface="Times New Roman" panose="02020603050405020304" pitchFamily="18" charset="0"/>
              </a:rPr>
              <a:t>line plot, area plot, scatter plot, bar plot, histogram</a:t>
            </a:r>
            <a:r>
              <a:rPr lang="en-US" sz="1800" b="1" dirty="0">
                <a:ea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ea typeface="Times New Roman" panose="02020603050405020304" pitchFamily="18" charset="0"/>
              </a:rPr>
              <a:t>density plot, box plot, pie plot</a:t>
            </a:r>
          </a:p>
          <a:p>
            <a:pPr marL="347663" marR="228600" lvl="0" indent="-347663"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sz="1800" dirty="0">
                <a:effectLst/>
                <a:ea typeface="Times New Roman" panose="02020603050405020304" pitchFamily="18" charset="0"/>
              </a:rPr>
              <a:t>Use the </a:t>
            </a:r>
            <a:r>
              <a:rPr lang="en-US" sz="1800" dirty="0">
                <a:effectLst/>
                <a:highlight>
                  <a:srgbClr val="FFFF00"/>
                </a:highlight>
                <a:ea typeface="Times New Roman" panose="02020603050405020304" pitchFamily="18" charset="0"/>
              </a:rPr>
              <a:t>parameters 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of the Pandas plot() method to </a:t>
            </a:r>
            <a:r>
              <a:rPr lang="en-US" sz="1800" dirty="0">
                <a:effectLst/>
                <a:highlight>
                  <a:srgbClr val="FFFF00"/>
                </a:highlight>
                <a:ea typeface="Times New Roman" panose="02020603050405020304" pitchFamily="18" charset="0"/>
              </a:rPr>
              <a:t>enhance a plot 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in these ways:</a:t>
            </a:r>
            <a:r>
              <a:rPr lang="en-US" sz="1800" dirty="0"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add a </a:t>
            </a:r>
            <a:r>
              <a:rPr lang="en-US" sz="1800" b="1" dirty="0">
                <a:effectLst/>
                <a:ea typeface="Times New Roman" panose="02020603050405020304" pitchFamily="18" charset="0"/>
              </a:rPr>
              <a:t>title, x and y labels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, and </a:t>
            </a:r>
            <a:r>
              <a:rPr lang="en-US" sz="1800" b="1" dirty="0">
                <a:effectLst/>
                <a:ea typeface="Times New Roman" panose="02020603050405020304" pitchFamily="18" charset="0"/>
              </a:rPr>
              <a:t>grid lines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ea typeface="Times New Roman" panose="02020603050405020304" pitchFamily="18" charset="0"/>
              </a:rPr>
              <a:t>rotate the tick labels</a:t>
            </a:r>
            <a:r>
              <a:rPr lang="en-US" sz="1800" dirty="0"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set the </a:t>
            </a:r>
            <a:r>
              <a:rPr lang="en-US" sz="1800" b="1" dirty="0">
                <a:effectLst/>
                <a:ea typeface="Times New Roman" panose="02020603050405020304" pitchFamily="18" charset="0"/>
              </a:rPr>
              <a:t>x- and y-axis limits</a:t>
            </a:r>
          </a:p>
          <a:p>
            <a:pPr marL="347663" marR="228600" lvl="0" indent="-34766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Times New Roman" panose="02020603050405020304" pitchFamily="18" charset="0"/>
              </a:rPr>
              <a:t>Use the parameters of the Pandas plot() method to create a plot that has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ea typeface="Times New Roman" panose="02020603050405020304" pitchFamily="18" charset="0"/>
              </a:rPr>
              <a:t>subplots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Times New Roman" panose="02020603050405020304" pitchFamily="18" charset="0"/>
              </a:rPr>
              <a:t>.</a:t>
            </a:r>
          </a:p>
          <a:p>
            <a:pPr marL="347663" marR="228600" lvl="0" indent="-34766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ea typeface="Times New Roman" panose="02020603050405020304" pitchFamily="18" charset="0"/>
              </a:rPr>
              <a:t>Chain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ea typeface="Times New Roman" panose="02020603050405020304" pitchFamily="18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Times New Roman" panose="02020603050405020304" pitchFamily="18" charset="0"/>
              </a:rPr>
              <a:t>the Pandas plot() method to methods that prepare the data for the plot() method.</a:t>
            </a:r>
          </a:p>
          <a:p>
            <a:pPr marL="347663" marR="228600" lvl="0" indent="-34766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</a:t>
            </a:r>
            <a:r>
              <a:rPr lang="en-US" sz="18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Seaborn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methods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create: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 plot, scatter plot, bar plot, box plot, histogram</a:t>
            </a: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KDE plot, ECDF plot</a:t>
            </a:r>
          </a:p>
          <a:p>
            <a:pPr marL="347663" marR="228600" lvl="0" indent="-34766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Seaborn parameters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create a plot with subplots.</a:t>
            </a:r>
          </a:p>
          <a:p>
            <a:pPr marL="347663" marR="228600" lvl="0" indent="-34766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methods of the </a:t>
            </a:r>
            <a:r>
              <a:rPr lang="en-US" sz="18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Axes object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enhance a plot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add a title and the labels for the x- and y-axis, set the ticks for a plot, set the x and y limits, add grid lines, annotate a plot, set the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colour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palette</a:t>
            </a:r>
          </a:p>
          <a:p>
            <a:pPr marL="347663" marR="228600" lvl="0" indent="-34766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"/>
              <a:tabLst/>
              <a:defRPr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663" marR="228600" lvl="0" indent="-347663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 startAt="3"/>
              <a:tabLst/>
              <a:defRPr/>
            </a:pPr>
            <a:endParaRPr lang="en-US" sz="1800" dirty="0">
              <a:effectLst/>
              <a:ea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3162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80A34A-731B-4B77-8D1A-4326EA612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76D2D9-E0FA-070A-5263-B50373266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2" y="365125"/>
            <a:ext cx="2689847" cy="3938518"/>
          </a:xfrm>
        </p:spPr>
        <p:txBody>
          <a:bodyPr>
            <a:normAutofit/>
          </a:bodyPr>
          <a:lstStyle/>
          <a:p>
            <a:r>
              <a:rPr lang="en-US" sz="3200"/>
              <a:t>Why Data Visualization?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5CD2E8B-968C-4DDC-9470-260B5DA13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72778"/>
            <a:ext cx="3047997" cy="2285222"/>
            <a:chOff x="0" y="3438071"/>
            <a:chExt cx="3047997" cy="3429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40AF6-4BB8-4A24-9BCA-B088F02BD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" y="3438071"/>
              <a:ext cx="3047991" cy="3429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AD7D5E-CDD6-4468-9F5F-6802387A9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447142"/>
              <a:ext cx="3047997" cy="3419929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985B78-83FE-9724-66C9-08A194BDD2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440009"/>
              </p:ext>
            </p:extLst>
          </p:nvPr>
        </p:nvGraphicFramePr>
        <p:xfrm>
          <a:off x="3614058" y="551622"/>
          <a:ext cx="7940182" cy="5740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347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987F-AE55-C6ED-D61F-355542AB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Libraries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B22E24-23FC-2302-035D-81AD9799B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79" y="2235467"/>
            <a:ext cx="4373573" cy="12236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697AE8-F6C8-DC9C-9590-8AE84E9E1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13" y="3490720"/>
            <a:ext cx="3124536" cy="10467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40A12F-2A4A-28FE-4199-2B46CD6B6A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13" y="4867778"/>
            <a:ext cx="4947424" cy="768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5EEEC4-DEFF-94EF-2E05-A222782284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838" y="3242139"/>
            <a:ext cx="3906464" cy="12953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D1B54A-F1E0-5F52-74F1-63B3D4A5C4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1708" y="1977009"/>
            <a:ext cx="3509848" cy="12953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65F554-D8B8-8357-F432-764435F1E4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0618" y="4808124"/>
            <a:ext cx="3987546" cy="86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7885099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Data Visualization with Pandas</a:t>
            </a:r>
          </a:p>
        </p:txBody>
      </p:sp>
    </p:spTree>
    <p:extLst>
      <p:ext uri="{BB962C8B-B14F-4D97-AF65-F5344CB8AC3E}">
        <p14:creationId xmlns:p14="http://schemas.microsoft.com/office/powerpoint/2010/main" val="297992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FA3C52-27E8-8874-0CBC-C6DCB866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Get the Data:</a:t>
            </a:r>
            <a:br>
              <a:rPr lang="en-US" sz="3200" dirty="0"/>
            </a:br>
            <a:r>
              <a:rPr lang="en-US" sz="3200" dirty="0"/>
              <a:t>Long vs Wide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F14859-81D5-D687-D50F-9C6D634F9A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48331" y="0"/>
            <a:ext cx="5695781" cy="654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6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Line Plot of the Wide Data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48BF-69A1-97F7-76F6-AE5AE0C6D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96" y="2969470"/>
            <a:ext cx="4849448" cy="388853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Useful for showing </a:t>
            </a:r>
            <a:r>
              <a:rPr lang="en-US" dirty="0">
                <a:highlight>
                  <a:srgbClr val="FFFF00"/>
                </a:highlight>
              </a:rPr>
              <a:t>trends and changes </a:t>
            </a:r>
            <a:r>
              <a:rPr lang="en-US" dirty="0"/>
              <a:t>in data over 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They are also useful for showing the </a:t>
            </a:r>
            <a:r>
              <a:rPr lang="en-US" dirty="0">
                <a:highlight>
                  <a:srgbClr val="FFFF00"/>
                </a:highlight>
              </a:rPr>
              <a:t>relationship </a:t>
            </a:r>
            <a:r>
              <a:rPr lang="en-US" dirty="0"/>
              <a:t>between two variables.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DC3507-24AB-DA69-78DC-3B710099A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593" y="1872373"/>
            <a:ext cx="6414755" cy="449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15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Line Plot of All Columns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BFB198-FEFE-CECC-1934-EC5821A37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52" y="2021745"/>
            <a:ext cx="7772400" cy="421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689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Line Plot – Improve the Appearance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E13914-EEF3-263D-B4F4-36E2D994B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1" y="1902882"/>
            <a:ext cx="9972073" cy="47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7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Line Plot – Improve the Appearance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49D507-2D63-7A96-A392-DDD9F0DC8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70" y="1869266"/>
            <a:ext cx="8525329" cy="481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4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1684-BC61-DFC5-EDC3-8167E1D0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36" y="365125"/>
            <a:ext cx="10959164" cy="1078664"/>
          </a:xfrm>
        </p:spPr>
        <p:txBody>
          <a:bodyPr>
            <a:normAutofit/>
          </a:bodyPr>
          <a:lstStyle/>
          <a:p>
            <a:r>
              <a:rPr lang="en-US" dirty="0"/>
              <a:t>How to rotate the y-axis label?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32FAF-7821-1809-2ED6-9566B2BF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837329"/>
            <a:ext cx="5331229" cy="333963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600" dirty="0"/>
              <a:t>Ask </a:t>
            </a:r>
            <a:r>
              <a:rPr lang="en-US" sz="3600" dirty="0" err="1"/>
              <a:t>ChatGPT</a:t>
            </a:r>
            <a:r>
              <a:rPr lang="en-US" sz="3600" dirty="0"/>
              <a:t> </a:t>
            </a:r>
            <a:r>
              <a:rPr lang="en-US" sz="3600" dirty="0">
                <a:sym typeface="Wingdings" pitchFamily="2" charset="2"/>
              </a:rPr>
              <a:t>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1026" name="Picture 2" descr="Free Knowledge Curiosity photo and picture">
            <a:extLst>
              <a:ext uri="{FF2B5EF4-FFF2-40B4-BE49-F238E27FC236}">
                <a16:creationId xmlns:a16="http://schemas.microsoft.com/office/drawing/2014/main" id="{919A4985-9AF5-8006-5018-B2DC90496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0" r="14529" b="-1"/>
          <a:stretch/>
        </p:blipFill>
        <p:spPr bwMode="auto">
          <a:xfrm>
            <a:off x="5951619" y="1914764"/>
            <a:ext cx="6095998" cy="457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788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Scatter Plot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F4A35-8552-1D2F-0175-243BA6766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721" y="2239165"/>
            <a:ext cx="6707372" cy="4316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CB83B8-B225-7882-FD30-83542109D956}"/>
              </a:ext>
            </a:extLst>
          </p:cNvPr>
          <p:cNvSpPr txBox="1"/>
          <p:nvPr/>
        </p:nvSpPr>
        <p:spPr>
          <a:xfrm>
            <a:off x="425302" y="2091069"/>
            <a:ext cx="47917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mbria" panose="02040503050406030204" pitchFamily="18" charset="0"/>
              </a:rPr>
              <a:t>✔ Used to compare </a:t>
            </a:r>
            <a:r>
              <a:rPr lang="en-AU" sz="2000" dirty="0">
                <a:highlight>
                  <a:srgbClr val="FFFF00"/>
                </a:highlight>
                <a:latin typeface="Cambria" panose="02040503050406030204" pitchFamily="18" charset="0"/>
              </a:rPr>
              <a:t>two numerical </a:t>
            </a:r>
            <a:r>
              <a:rPr lang="en-AU" sz="2000" dirty="0">
                <a:latin typeface="Cambria" panose="02040503050406030204" pitchFamily="18" charset="0"/>
              </a:rPr>
              <a:t>variables. </a:t>
            </a:r>
          </a:p>
          <a:p>
            <a:r>
              <a:rPr lang="en-AU" sz="2000" dirty="0">
                <a:latin typeface="Cambria" panose="02040503050406030204" pitchFamily="18" charset="0"/>
              </a:rPr>
              <a:t>✔ </a:t>
            </a:r>
            <a:r>
              <a:rPr lang="en-AU" sz="2000" dirty="0">
                <a:highlight>
                  <a:srgbClr val="FFFF00"/>
                </a:highlight>
                <a:latin typeface="Cambria" panose="02040503050406030204" pitchFamily="18" charset="0"/>
              </a:rPr>
              <a:t>Each point </a:t>
            </a:r>
            <a:r>
              <a:rPr lang="en-AU" sz="2000" dirty="0">
                <a:latin typeface="Cambria" panose="02040503050406030204" pitchFamily="18" charset="0"/>
              </a:rPr>
              <a:t>represents one observation (</a:t>
            </a:r>
            <a:r>
              <a:rPr lang="en-AU" sz="2000" dirty="0">
                <a:highlight>
                  <a:srgbClr val="FFFF00"/>
                </a:highlight>
                <a:latin typeface="Cambria" panose="02040503050406030204" pitchFamily="18" charset="0"/>
              </a:rPr>
              <a:t>one row</a:t>
            </a:r>
            <a:r>
              <a:rPr lang="en-AU" sz="2000" dirty="0">
                <a:latin typeface="Cambria" panose="02040503050406030204" pitchFamily="18" charset="0"/>
              </a:rPr>
              <a:t>). </a:t>
            </a:r>
          </a:p>
          <a:p>
            <a:r>
              <a:rPr lang="en-AU" sz="2000" dirty="0">
                <a:latin typeface="Cambria" panose="02040503050406030204" pitchFamily="18" charset="0"/>
              </a:rPr>
              <a:t>✔ Helps identify </a:t>
            </a:r>
            <a:r>
              <a:rPr lang="en-AU" sz="2000" dirty="0">
                <a:highlight>
                  <a:srgbClr val="FFFF00"/>
                </a:highlight>
                <a:latin typeface="Cambria" panose="02040503050406030204" pitchFamily="18" charset="0"/>
              </a:rPr>
              <a:t>trends, correlation, clusters</a:t>
            </a:r>
            <a:r>
              <a:rPr lang="en-AU" sz="2000" dirty="0">
                <a:latin typeface="Cambria" panose="02040503050406030204" pitchFamily="18" charset="0"/>
              </a:rPr>
              <a:t>, and </a:t>
            </a:r>
            <a:r>
              <a:rPr lang="en-AU" sz="2000" dirty="0">
                <a:highlight>
                  <a:srgbClr val="FFFF00"/>
                </a:highlight>
                <a:latin typeface="Cambria" panose="02040503050406030204" pitchFamily="18" charset="0"/>
              </a:rPr>
              <a:t>outliers</a:t>
            </a:r>
            <a:r>
              <a:rPr lang="en-AU" sz="2000" dirty="0">
                <a:latin typeface="Cambria" panose="02040503050406030204" pitchFamily="18" charset="0"/>
              </a:rPr>
              <a:t>. </a:t>
            </a:r>
          </a:p>
          <a:p>
            <a:r>
              <a:rPr lang="en-AU" sz="2000" dirty="0">
                <a:latin typeface="Cambria" panose="02040503050406030204" pitchFamily="18" charset="0"/>
              </a:rPr>
              <a:t>✔ Best suited for </a:t>
            </a:r>
            <a:r>
              <a:rPr lang="en-AU" sz="2000" dirty="0">
                <a:highlight>
                  <a:srgbClr val="FFFF00"/>
                </a:highlight>
                <a:latin typeface="Cambria" panose="02040503050406030204" pitchFamily="18" charset="0"/>
              </a:rPr>
              <a:t>continuous numerical data</a:t>
            </a:r>
            <a:r>
              <a:rPr lang="en-AU" sz="2000" dirty="0">
                <a:latin typeface="Cambria" panose="02040503050406030204" pitchFamily="18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ECE0AB-7830-D584-A89E-6FE818236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28" y="4784301"/>
            <a:ext cx="3636335" cy="184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25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Area 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48BF-69A1-97F7-76F6-AE5AE0C6D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04" y="2100943"/>
            <a:ext cx="4404948" cy="388853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Useful for showing </a:t>
            </a:r>
            <a:r>
              <a:rPr lang="en-US" sz="1800" dirty="0">
                <a:highlight>
                  <a:srgbClr val="FFFF00"/>
                </a:highlight>
              </a:rPr>
              <a:t>changes in data over time </a:t>
            </a:r>
            <a:r>
              <a:rPr lang="en-US" sz="1800" dirty="0"/>
              <a:t>or </a:t>
            </a:r>
            <a:r>
              <a:rPr lang="en-US" sz="1800" dirty="0">
                <a:highlight>
                  <a:srgbClr val="FFFF00"/>
                </a:highlight>
              </a:rPr>
              <a:t>comparing data across different groups.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Often used </a:t>
            </a:r>
            <a:r>
              <a:rPr lang="en-US" sz="1800" dirty="0">
                <a:highlight>
                  <a:srgbClr val="FFFF00"/>
                </a:highlight>
              </a:rPr>
              <a:t>when the volume or total magnitude of the data is as important as the trend itself.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725CCEC6-39F6-66D6-D708-DE86E9B2B0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00"/>
          <a:stretch/>
        </p:blipFill>
        <p:spPr>
          <a:xfrm>
            <a:off x="4858302" y="1866923"/>
            <a:ext cx="7207446" cy="4688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675DE0-F541-65C0-A128-99AEDC22D1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653"/>
          <a:stretch/>
        </p:blipFill>
        <p:spPr>
          <a:xfrm>
            <a:off x="484552" y="4411016"/>
            <a:ext cx="3722491" cy="21718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2E36E2-7139-8F11-1C13-A8FCFCA62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1670" y="2431429"/>
            <a:ext cx="2314078" cy="139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47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Bar 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48BF-69A1-97F7-76F6-AE5AE0C6D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1981200"/>
            <a:ext cx="4923834" cy="388853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Particularly useful for showing </a:t>
            </a:r>
            <a:r>
              <a:rPr lang="en-US" dirty="0">
                <a:highlight>
                  <a:srgbClr val="FFFF00"/>
                </a:highlight>
              </a:rPr>
              <a:t>changes in data over time </a:t>
            </a:r>
            <a:r>
              <a:rPr lang="en-US" dirty="0"/>
              <a:t>or </a:t>
            </a:r>
            <a:r>
              <a:rPr lang="en-US" dirty="0">
                <a:highlight>
                  <a:srgbClr val="FFFF00"/>
                </a:highlight>
              </a:rPr>
              <a:t>comparing data across different groups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 The height or length of each bar shows the value of a variable.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331D9-63E5-CB15-1BA9-21B25EFBB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898" y="1898947"/>
            <a:ext cx="6394450" cy="465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50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Bar Plot - Horizontal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86D58D-9D08-B858-56D2-E655C9A99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" y="1891838"/>
            <a:ext cx="7250439" cy="426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702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Histogram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48BF-69A1-97F7-76F6-AE5AE0C6D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2" y="2309562"/>
            <a:ext cx="4557274" cy="388853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Useful for showing the </a:t>
            </a:r>
            <a:r>
              <a:rPr lang="en-US" dirty="0">
                <a:highlight>
                  <a:srgbClr val="FFFF00"/>
                </a:highlight>
              </a:rPr>
              <a:t>distribution of data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Particularly useful for </a:t>
            </a:r>
            <a:r>
              <a:rPr lang="en-US" dirty="0">
                <a:highlight>
                  <a:srgbClr val="FFFF00"/>
                </a:highlight>
              </a:rPr>
              <a:t>identifying the range and frequency </a:t>
            </a:r>
            <a:r>
              <a:rPr lang="en-US" dirty="0"/>
              <a:t>of values in a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The </a:t>
            </a:r>
            <a:r>
              <a:rPr lang="en-AU" b="1" dirty="0"/>
              <a:t>x-axis</a:t>
            </a:r>
            <a:r>
              <a:rPr lang="en-AU" dirty="0"/>
              <a:t> represents the </a:t>
            </a:r>
            <a:r>
              <a:rPr lang="en-AU" b="1" dirty="0"/>
              <a:t>values (or ranges/bins) of the variable</a:t>
            </a:r>
            <a:r>
              <a:rPr lang="en-AU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The </a:t>
            </a:r>
            <a:r>
              <a:rPr lang="en-AU" b="1" dirty="0"/>
              <a:t>y-axis</a:t>
            </a:r>
            <a:r>
              <a:rPr lang="en-AU" dirty="0"/>
              <a:t> represents the </a:t>
            </a:r>
            <a:r>
              <a:rPr lang="en-AU" b="1" dirty="0"/>
              <a:t>frequency (count)</a:t>
            </a:r>
            <a:r>
              <a:rPr lang="en-AU" dirty="0"/>
              <a:t> of observations in each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18F0FB-148E-7C25-FB94-7B189E79A8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727"/>
          <a:stretch/>
        </p:blipFill>
        <p:spPr>
          <a:xfrm>
            <a:off x="4825926" y="1908575"/>
            <a:ext cx="7097422" cy="388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76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Density 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48BF-69A1-97F7-76F6-AE5AE0C6D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2" y="2098944"/>
            <a:ext cx="4706088" cy="426990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dirty="0" err="1">
                <a:highlight>
                  <a:srgbClr val="FFFF00"/>
                </a:highlight>
              </a:rPr>
              <a:t>visualise</a:t>
            </a:r>
            <a:r>
              <a:rPr lang="en-US" dirty="0">
                <a:highlight>
                  <a:srgbClr val="FFFF00"/>
                </a:highlight>
              </a:rPr>
              <a:t> the distribution of a continuous random variable.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It is similar to a histogram, but instead of using bars and bins, it uses a </a:t>
            </a:r>
            <a:r>
              <a:rPr lang="en-AU" b="1" dirty="0">
                <a:highlight>
                  <a:srgbClr val="FFFF00"/>
                </a:highlight>
              </a:rPr>
              <a:t>continuous smooth curve</a:t>
            </a:r>
            <a:r>
              <a:rPr lang="en-AU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allows us to see the </a:t>
            </a:r>
            <a:r>
              <a:rPr lang="en-US" dirty="0">
                <a:highlight>
                  <a:srgbClr val="FFFF00"/>
                </a:highlight>
              </a:rPr>
              <a:t>shape of the distribution</a:t>
            </a:r>
            <a:r>
              <a:rPr lang="en-US" dirty="0"/>
              <a:t>, including its </a:t>
            </a:r>
            <a:r>
              <a:rPr lang="en-US" dirty="0">
                <a:highlight>
                  <a:srgbClr val="FFFF00"/>
                </a:highlight>
              </a:rPr>
              <a:t>central tendency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</a:rPr>
              <a:t>spread</a:t>
            </a:r>
            <a:r>
              <a:rPr lang="en-US" dirty="0"/>
              <a:t>, and </a:t>
            </a:r>
            <a:r>
              <a:rPr lang="en-US" dirty="0">
                <a:highlight>
                  <a:srgbClr val="FFFF00"/>
                </a:highlight>
              </a:rPr>
              <a:t>skewness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1202FA-3CD3-5401-EC8D-C51F1A74C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1875852"/>
            <a:ext cx="7035800" cy="443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92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Density Plot </a:t>
            </a:r>
            <a:r>
              <a:rPr lang="en-US" dirty="0"/>
              <a:t>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848BF-69A1-97F7-76F6-AE5AE0C6D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652" y="2286000"/>
            <a:ext cx="4328748" cy="388853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Also useful for </a:t>
            </a:r>
            <a:r>
              <a:rPr lang="en-US" dirty="0">
                <a:highlight>
                  <a:srgbClr val="FFFF00"/>
                </a:highlight>
              </a:rPr>
              <a:t>comparing the distributions </a:t>
            </a:r>
            <a:r>
              <a:rPr lang="en-US" dirty="0"/>
              <a:t>of different groups or variables; by </a:t>
            </a:r>
            <a:r>
              <a:rPr lang="en-US" dirty="0">
                <a:solidFill>
                  <a:srgbClr val="FF0000"/>
                </a:solidFill>
              </a:rPr>
              <a:t>overlaying multiple density plots</a:t>
            </a:r>
            <a:r>
              <a:rPr lang="en-US" dirty="0"/>
              <a:t>, we can see how their distributions differ.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A9C9E4-DEC4-E421-2817-1442254DA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848" y="1843121"/>
            <a:ext cx="70485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84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41BE-5290-4507-FE8D-4810516C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Box Plot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5848BF-69A1-97F7-76F6-AE5AE0C6D0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28801"/>
                <a:ext cx="5389536" cy="5167746"/>
              </a:xfrm>
            </p:spPr>
            <p:txBody>
              <a:bodyPr>
                <a:normAutofit fontScale="85000" lnSpcReduction="20000"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highlight>
                      <a:srgbClr val="FFFF00"/>
                    </a:highlight>
                  </a:rPr>
                  <a:t>The box </a:t>
                </a:r>
                <a:r>
                  <a:rPr lang="en-US" dirty="0"/>
                  <a:t>represents the </a:t>
                </a:r>
                <a:r>
                  <a:rPr lang="en-US" dirty="0">
                    <a:highlight>
                      <a:srgbClr val="FFFF00"/>
                    </a:highlight>
                  </a:rPr>
                  <a:t>interquartile range </a:t>
                </a:r>
                <a:r>
                  <a:rPr lang="en-US" dirty="0"/>
                  <a:t>(IQR):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𝐼𝑄𝑅</m:t>
                      </m:r>
                      <m:r>
                        <a:rPr lang="en-AU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AU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</a:t>
                </a:r>
                <a:r>
                  <a:rPr lang="en-US" dirty="0">
                    <a:highlight>
                      <a:srgbClr val="FFFF00"/>
                    </a:highlight>
                  </a:rPr>
                  <a:t> line </a:t>
                </a:r>
                <a:r>
                  <a:rPr lang="en-US" dirty="0"/>
                  <a:t>inside the box represents the </a:t>
                </a:r>
                <a:r>
                  <a:rPr lang="en-US" dirty="0">
                    <a:highlight>
                      <a:srgbClr val="FFFF00"/>
                    </a:highlight>
                  </a:rPr>
                  <a:t>median (Q2).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rgbClr val="FF0000"/>
                    </a:solidFill>
                  </a:rPr>
                  <a:t>whiskers</a:t>
                </a:r>
                <a:r>
                  <a:rPr lang="en-US" dirty="0"/>
                  <a:t> extending from the box represent the </a:t>
                </a:r>
                <a:r>
                  <a:rPr lang="en-US" dirty="0">
                    <a:highlight>
                      <a:srgbClr val="FFFF00"/>
                    </a:highlight>
                  </a:rPr>
                  <a:t>range of values within 1.5 times the IQR. </a:t>
                </a:r>
              </a:p>
              <a:p>
                <a:r>
                  <a:rPr lang="en-AU" b="1" dirty="0"/>
                  <a:t>        </a:t>
                </a:r>
                <a:r>
                  <a:rPr lang="en-AU" sz="1800" b="1" dirty="0"/>
                  <a:t>Lower limit: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>
                          <a:latin typeface="Cambria Math" panose="02040503050406030204" pitchFamily="18" charset="0"/>
                        </a:rPr>
                        <m:t>−1.5×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𝐼𝑄𝑅</m:t>
                      </m:r>
                    </m:oMath>
                  </m:oMathPara>
                </a14:m>
                <a:endParaRPr lang="en-AU" dirty="0"/>
              </a:p>
              <a:p>
                <a:pPr lvl="1"/>
                <a:r>
                  <a:rPr lang="en-AU" b="1" dirty="0"/>
                  <a:t>   Upper limit:</a:t>
                </a:r>
                <a:r>
                  <a:rPr lang="en-AU" dirty="0"/>
                  <a:t>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AU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AU">
                          <a:latin typeface="Cambria Math" panose="02040503050406030204" pitchFamily="18" charset="0"/>
                        </a:rPr>
                        <m:t>+1.5×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𝐼𝑄𝑅</m:t>
                      </m:r>
                    </m:oMath>
                  </m:oMathPara>
                </a14:m>
                <a:endParaRPr lang="en-AU" dirty="0"/>
              </a:p>
              <a:p>
                <a:pPr lvl="1"/>
                <a:r>
                  <a:rPr lang="en-AU" sz="2100" dirty="0"/>
                  <a:t>Any value outside these limits is plotted as an individual point and is considered a </a:t>
                </a:r>
                <a:r>
                  <a:rPr lang="en-AU" sz="2100" dirty="0">
                    <a:solidFill>
                      <a:srgbClr val="FF0000"/>
                    </a:solidFill>
                  </a:rPr>
                  <a:t>potential outlier</a:t>
                </a:r>
                <a:r>
                  <a:rPr lang="en-AU" sz="2100" dirty="0"/>
                  <a:t>.</a:t>
                </a:r>
              </a:p>
              <a:p>
                <a:pPr lvl="1"/>
                <a:endParaRPr lang="en-AU" sz="21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Useful for </a:t>
                </a:r>
                <a:r>
                  <a:rPr lang="en-US" dirty="0">
                    <a:highlight>
                      <a:srgbClr val="FFFF00"/>
                    </a:highlight>
                  </a:rPr>
                  <a:t>showing the distribution </a:t>
                </a:r>
                <a:r>
                  <a:rPr lang="en-US" dirty="0"/>
                  <a:t>of data, for </a:t>
                </a:r>
                <a:r>
                  <a:rPr lang="en-US" dirty="0">
                    <a:highlight>
                      <a:srgbClr val="FFFF00"/>
                    </a:highlight>
                  </a:rPr>
                  <a:t>comparing data between different groups</a:t>
                </a:r>
                <a:r>
                  <a:rPr lang="en-US" dirty="0"/>
                  <a:t> and </a:t>
                </a:r>
                <a:r>
                  <a:rPr lang="en-US" dirty="0">
                    <a:highlight>
                      <a:srgbClr val="FFFF00"/>
                    </a:highlight>
                  </a:rPr>
                  <a:t>identifying outliers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5848BF-69A1-97F7-76F6-AE5AE0C6D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28801"/>
                <a:ext cx="5389536" cy="5167746"/>
              </a:xfrm>
              <a:blipFill>
                <a:blip r:embed="rId3"/>
                <a:stretch>
                  <a:fillRect l="-566" t="-3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A458582D-0D43-8320-9C97-BE130178D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736" y="2050474"/>
            <a:ext cx="6807109" cy="433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33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5A9C6-3C5A-D62F-CFF5-B709788D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latin typeface="+mj-lt"/>
              </a:rPr>
              <a:t>Interquartile Range Song?</a:t>
            </a:r>
            <a:br>
              <a:rPr lang="en-US" sz="3200" dirty="0">
                <a:latin typeface="+mj-lt"/>
              </a:rPr>
            </a:br>
            <a:r>
              <a:rPr lang="en-US" sz="3200" dirty="0">
                <a:latin typeface="+mj-lt"/>
                <a:sym typeface="Wingdings" pitchFamily="2" charset="2"/>
              </a:rPr>
              <a:t></a:t>
            </a:r>
            <a:endParaRPr lang="en-US" sz="3200" dirty="0">
              <a:latin typeface="+mj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Online Media 3" descr="Interquartile Range Song">
            <a:hlinkClick r:id="" action="ppaction://media"/>
            <a:extLst>
              <a:ext uri="{FF2B5EF4-FFF2-40B4-BE49-F238E27FC236}">
                <a16:creationId xmlns:a16="http://schemas.microsoft.com/office/drawing/2014/main" id="{F066F948-D69F-237C-4F66-327150BEFEE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194219" y="1102411"/>
            <a:ext cx="8399067" cy="474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23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C8041AD-0A28-47FA-8BFF-56BAAA246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5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5A9C6-3C5A-D62F-CFF5-B709788D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97275"/>
            <a:ext cx="5216531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dirty="0">
                <a:latin typeface="+mj-lt"/>
              </a:rPr>
              <a:t>Challenge:</a:t>
            </a:r>
            <a:br>
              <a:rPr lang="en-US" sz="5000" dirty="0">
                <a:latin typeface="+mj-lt"/>
              </a:rPr>
            </a:br>
            <a:r>
              <a:rPr lang="en-US" sz="3200" dirty="0">
                <a:latin typeface="+mj-lt"/>
              </a:rPr>
              <a:t>Can you compose a song for Data Science/AI ? :) </a:t>
            </a:r>
          </a:p>
        </p:txBody>
      </p:sp>
      <p:pic>
        <p:nvPicPr>
          <p:cNvPr id="19" name="Picture 18" descr="Microphone with stage lights">
            <a:extLst>
              <a:ext uri="{FF2B5EF4-FFF2-40B4-BE49-F238E27FC236}">
                <a16:creationId xmlns:a16="http://schemas.microsoft.com/office/drawing/2014/main" id="{30414771-5761-4331-7927-DA96F8A806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555"/>
          <a:stretch/>
        </p:blipFill>
        <p:spPr>
          <a:xfrm>
            <a:off x="6095998" y="-1"/>
            <a:ext cx="609600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30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1266-8590-557C-5677-5DB8FF3B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en-US" dirty="0" err="1"/>
              <a:t>Genereated</a:t>
            </a:r>
            <a:r>
              <a:rPr lang="en-US" dirty="0"/>
              <a:t> Lyrics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783DB-28E4-BC5C-60BA-E4C4F46F6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4014" y="2050099"/>
            <a:ext cx="10869248" cy="40963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(Verse 1) </a:t>
            </a:r>
          </a:p>
          <a:p>
            <a:r>
              <a:rPr lang="en-US" dirty="0"/>
              <a:t>We start with a question, something to solve, </a:t>
            </a:r>
          </a:p>
          <a:p>
            <a:r>
              <a:rPr lang="en-US" dirty="0"/>
              <a:t>Dig through the data, let the mystery resolve. </a:t>
            </a:r>
          </a:p>
          <a:p>
            <a:r>
              <a:rPr lang="en-US" dirty="0"/>
              <a:t>Clean it, preprocess, until it's refined, </a:t>
            </a:r>
          </a:p>
          <a:p>
            <a:r>
              <a:rPr lang="en-US" dirty="0"/>
              <a:t>Seeking the patterns that are hidden inside.</a:t>
            </a:r>
          </a:p>
          <a:p>
            <a:r>
              <a:rPr lang="en-US" dirty="0"/>
              <a:t>(Chorus) </a:t>
            </a:r>
          </a:p>
          <a:p>
            <a:r>
              <a:rPr lang="en-US" dirty="0"/>
              <a:t>Data, oh data, tell us your truth, </a:t>
            </a:r>
          </a:p>
          <a:p>
            <a:r>
              <a:rPr lang="en-US" dirty="0"/>
              <a:t>Algorithms humming, they're on the move. </a:t>
            </a:r>
          </a:p>
          <a:p>
            <a:r>
              <a:rPr lang="en-US" dirty="0"/>
              <a:t>Models and training, accuracy's key, </a:t>
            </a:r>
          </a:p>
          <a:p>
            <a:r>
              <a:rPr lang="en-US" dirty="0"/>
              <a:t>Predictions and insights, set the knowledge free.</a:t>
            </a:r>
          </a:p>
        </p:txBody>
      </p:sp>
    </p:spTree>
    <p:extLst>
      <p:ext uri="{BB962C8B-B14F-4D97-AF65-F5344CB8AC3E}">
        <p14:creationId xmlns:p14="http://schemas.microsoft.com/office/powerpoint/2010/main" val="1756942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1266-8590-557C-5677-5DB8FF3B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AI-</a:t>
            </a:r>
            <a:r>
              <a:rPr lang="en-US" dirty="0" err="1"/>
              <a:t>Genereated</a:t>
            </a:r>
            <a:r>
              <a:rPr lang="en-US" dirty="0"/>
              <a:t> Lyrics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783DB-28E4-BC5C-60BA-E4C4F46F6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065467"/>
            <a:ext cx="10869248" cy="43353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(Verse 2) </a:t>
            </a:r>
          </a:p>
          <a:p>
            <a:r>
              <a:rPr lang="en-US" dirty="0"/>
              <a:t>Visualize the findings in a graph or a chart, </a:t>
            </a:r>
          </a:p>
          <a:p>
            <a:r>
              <a:rPr lang="en-US" dirty="0"/>
              <a:t>Communicate results, that's the real art. </a:t>
            </a:r>
          </a:p>
          <a:p>
            <a:r>
              <a:rPr lang="en-US" dirty="0"/>
              <a:t>Iterate, improve, let's run it again, </a:t>
            </a:r>
          </a:p>
          <a:p>
            <a:r>
              <a:rPr lang="en-US" dirty="0"/>
              <a:t>Data science and I, on this journey we embark!</a:t>
            </a:r>
          </a:p>
          <a:p>
            <a:r>
              <a:rPr lang="en-US" dirty="0"/>
              <a:t>(Bridge) </a:t>
            </a:r>
          </a:p>
          <a:p>
            <a:r>
              <a:rPr lang="en-US" dirty="0"/>
              <a:t>Machine learning, stats, and AI combine, </a:t>
            </a:r>
          </a:p>
          <a:p>
            <a:r>
              <a:rPr lang="en-US" dirty="0"/>
              <a:t>Turning raw numbers into something divine. </a:t>
            </a:r>
          </a:p>
          <a:p>
            <a:r>
              <a:rPr lang="en-US" dirty="0"/>
              <a:t>From Python to R, tools in our hand, </a:t>
            </a:r>
          </a:p>
          <a:p>
            <a:r>
              <a:rPr lang="en-US" dirty="0"/>
              <a:t>We're data detectives, making a stand.</a:t>
            </a:r>
          </a:p>
        </p:txBody>
      </p:sp>
    </p:spTree>
    <p:extLst>
      <p:ext uri="{BB962C8B-B14F-4D97-AF65-F5344CB8AC3E}">
        <p14:creationId xmlns:p14="http://schemas.microsoft.com/office/powerpoint/2010/main" val="2768131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1266-8590-557C-5677-5DB8FF3B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en-US" dirty="0" err="1"/>
              <a:t>Genereated</a:t>
            </a:r>
            <a:r>
              <a:rPr lang="en-US" dirty="0"/>
              <a:t> Lyrics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783DB-28E4-BC5C-60BA-E4C4F46F6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065467"/>
            <a:ext cx="10869248" cy="43353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Data, oh data, tell us your truth, </a:t>
            </a:r>
          </a:p>
          <a:p>
            <a:r>
              <a:rPr lang="en-US" dirty="0"/>
              <a:t>Algorithms humming, they're on the move. </a:t>
            </a:r>
          </a:p>
          <a:p>
            <a:r>
              <a:rPr lang="en-US" dirty="0"/>
              <a:t>Models and training, accuracy's key, </a:t>
            </a:r>
          </a:p>
          <a:p>
            <a:r>
              <a:rPr lang="en-US" dirty="0"/>
              <a:t>Predictions and insights, set the knowledge free.</a:t>
            </a:r>
          </a:p>
          <a:p>
            <a:r>
              <a:rPr lang="en-US" dirty="0"/>
              <a:t>(Outro)</a:t>
            </a:r>
          </a:p>
          <a:p>
            <a:r>
              <a:rPr lang="en-US" dirty="0"/>
              <a:t>So here's to the data, our treasure trove, </a:t>
            </a:r>
          </a:p>
          <a:p>
            <a:r>
              <a:rPr lang="en-US" dirty="0"/>
              <a:t>In a world of numbers, there's always more to know. </a:t>
            </a:r>
          </a:p>
          <a:p>
            <a:r>
              <a:rPr lang="en-US" dirty="0"/>
              <a:t>Keep querying, coding, exploring the unseen, </a:t>
            </a:r>
          </a:p>
          <a:p>
            <a:r>
              <a:rPr lang="en-US" dirty="0"/>
              <a:t>Data science and I, a formidable team.</a:t>
            </a:r>
          </a:p>
        </p:txBody>
      </p:sp>
    </p:spTree>
    <p:extLst>
      <p:ext uri="{BB962C8B-B14F-4D97-AF65-F5344CB8AC3E}">
        <p14:creationId xmlns:p14="http://schemas.microsoft.com/office/powerpoint/2010/main" val="2726435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C220-875D-1224-664A-15BB127ED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74" y="2083377"/>
            <a:ext cx="5581480" cy="470053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Displays the </a:t>
            </a:r>
            <a:r>
              <a:rPr lang="en-US" dirty="0">
                <a:highlight>
                  <a:srgbClr val="FFFF00"/>
                </a:highlight>
              </a:rPr>
              <a:t>relative sizes </a:t>
            </a:r>
            <a:r>
              <a:rPr lang="en-US" dirty="0"/>
              <a:t>of different </a:t>
            </a:r>
            <a:r>
              <a:rPr lang="en-US" dirty="0">
                <a:highlight>
                  <a:srgbClr val="00FFFF"/>
                </a:highlight>
              </a:rPr>
              <a:t>categories of a whole </a:t>
            </a:r>
            <a:r>
              <a:rPr lang="en-US" dirty="0"/>
              <a:t>as slices of a pie.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Pie charts can be </a:t>
            </a:r>
            <a:r>
              <a:rPr lang="en-US" dirty="0">
                <a:highlight>
                  <a:srgbClr val="FFFF00"/>
                </a:highlight>
              </a:rPr>
              <a:t>less effective </a:t>
            </a:r>
            <a:r>
              <a:rPr lang="en-US" dirty="0"/>
              <a:t>than other types of charts when trying to display </a:t>
            </a:r>
            <a:r>
              <a:rPr lang="en-US" dirty="0">
                <a:highlight>
                  <a:srgbClr val="FFFF00"/>
                </a:highlight>
              </a:rPr>
              <a:t>a large amount of data or when the categories are not easily distinguishable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Use a pie chart when: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en-AU" dirty="0"/>
              <a:t>You want to show </a:t>
            </a:r>
            <a:r>
              <a:rPr lang="en-AU" b="1" dirty="0"/>
              <a:t>parts of a whole</a:t>
            </a:r>
            <a:r>
              <a:rPr lang="en-AU" dirty="0"/>
              <a:t>. 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en-AU" dirty="0"/>
              <a:t>The categories add up to </a:t>
            </a:r>
            <a:r>
              <a:rPr lang="en-AU" b="1" dirty="0"/>
              <a:t>100%</a:t>
            </a:r>
            <a:r>
              <a:rPr lang="en-AU" dirty="0"/>
              <a:t>. </a:t>
            </a:r>
          </a:p>
          <a:p>
            <a:pPr marL="514350" lvl="1" indent="-285750">
              <a:buFont typeface="Wingdings" panose="05000000000000000000" pitchFamily="2" charset="2"/>
              <a:buChar char="ü"/>
            </a:pPr>
            <a:r>
              <a:rPr lang="en-AU" dirty="0"/>
              <a:t>There are </a:t>
            </a:r>
            <a:r>
              <a:rPr lang="en-AU" b="1" dirty="0"/>
              <a:t>only a few categories</a:t>
            </a:r>
            <a:r>
              <a:rPr lang="en-AU" dirty="0"/>
              <a:t> (typically 3–6).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8706FB-EE14-92B5-8163-91F11C099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2015063"/>
            <a:ext cx="6591300" cy="439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C68AD7-E6D6-9BBA-B3DC-30A372DA2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057" y="4669327"/>
            <a:ext cx="2642296" cy="211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01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Subplots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EB0BB4-70E0-F8ED-377B-E20DC8FA6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30" y="1837837"/>
            <a:ext cx="10869249" cy="2737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388172-4EB5-F9E6-D553-D1A4A557D87D}"/>
              </a:ext>
            </a:extLst>
          </p:cNvPr>
          <p:cNvSpPr txBox="1"/>
          <p:nvPr/>
        </p:nvSpPr>
        <p:spPr>
          <a:xfrm>
            <a:off x="674253" y="5459088"/>
            <a:ext cx="21151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AU" b="1" dirty="0"/>
              <a:t>layout</a:t>
            </a:r>
            <a:r>
              <a:rPr lang="en-AU" dirty="0"/>
              <a:t>=(2,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2 rows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2 columns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16ACF-E44E-AC79-6C62-E64A7AE5F96F}"/>
              </a:ext>
            </a:extLst>
          </p:cNvPr>
          <p:cNvSpPr txBox="1"/>
          <p:nvPr/>
        </p:nvSpPr>
        <p:spPr>
          <a:xfrm>
            <a:off x="2789381" y="5445035"/>
            <a:ext cx="30664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AU" b="1" dirty="0" err="1"/>
              <a:t>figsize</a:t>
            </a:r>
            <a:r>
              <a:rPr lang="en-AU" dirty="0"/>
              <a:t>=(10, 10)</a:t>
            </a:r>
          </a:p>
          <a:p>
            <a:pPr>
              <a:buNone/>
            </a:pPr>
            <a:r>
              <a:rPr lang="en-AU" dirty="0"/>
              <a:t>size of the entire figure: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Width = 10 </a:t>
            </a:r>
            <a:r>
              <a:rPr lang="en-AU" dirty="0">
                <a:highlight>
                  <a:srgbClr val="00FFFF"/>
                </a:highlight>
              </a:rPr>
              <a:t>inches</a:t>
            </a:r>
            <a:r>
              <a:rPr lang="en-AU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Height = 10 inches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00071-AACC-6002-6386-8714BDD35580}"/>
              </a:ext>
            </a:extLst>
          </p:cNvPr>
          <p:cNvSpPr txBox="1"/>
          <p:nvPr/>
        </p:nvSpPr>
        <p:spPr>
          <a:xfrm>
            <a:off x="660397" y="48127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highlight>
                  <a:srgbClr val="00FFFF"/>
                </a:highlight>
              </a:rPr>
              <a:t>subplots=True </a:t>
            </a:r>
            <a:r>
              <a:rPr lang="en-AU" dirty="0"/>
              <a:t>→ Draw one plot for </a:t>
            </a:r>
            <a:r>
              <a:rPr lang="en-AU" dirty="0">
                <a:highlight>
                  <a:srgbClr val="00FFFF"/>
                </a:highlight>
              </a:rPr>
              <a:t>each column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9461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Subplots (Cont.)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A43DA49-E446-BA0D-FC22-A1E2A4ACC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1" y="177732"/>
            <a:ext cx="6601558" cy="65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55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1684-BC61-DFC5-EDC3-8167E1D0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36" y="365125"/>
            <a:ext cx="10959164" cy="1078664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change the </a:t>
            </a:r>
            <a:r>
              <a:rPr lang="en-US" sz="4800" dirty="0"/>
              <a:t>units of measurement in </a:t>
            </a:r>
            <a:r>
              <a:rPr lang="en-US" sz="4800" dirty="0" err="1"/>
              <a:t>figsize</a:t>
            </a:r>
            <a:r>
              <a:rPr lang="en-US" sz="4800" dirty="0"/>
              <a:t>?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32FAF-7821-1809-2ED6-9566B2BF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89" y="2445443"/>
            <a:ext cx="5331229" cy="333963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3600" dirty="0"/>
              <a:t>In the </a:t>
            </a:r>
            <a:r>
              <a:rPr lang="en-US" sz="3600" dirty="0" err="1"/>
              <a:t>figsize</a:t>
            </a:r>
            <a:r>
              <a:rPr lang="en-US" sz="3600" dirty="0"/>
              <a:t> parameter of the plot() function, the units of measurement are indeed </a:t>
            </a:r>
            <a:r>
              <a:rPr lang="en-US" sz="3600" dirty="0">
                <a:highlight>
                  <a:srgbClr val="FFFF00"/>
                </a:highlight>
              </a:rPr>
              <a:t>inches by default</a:t>
            </a:r>
            <a:r>
              <a:rPr lang="en-US" sz="3600" dirty="0"/>
              <a:t>. However, it is possible to specify a different unit of measurement by using a string that specifies the units. How?</a:t>
            </a:r>
          </a:p>
          <a:p>
            <a:pPr>
              <a:lnSpc>
                <a:spcPct val="110000"/>
              </a:lnSpc>
            </a:pPr>
            <a:endParaRPr lang="en-US" sz="3600" dirty="0"/>
          </a:p>
          <a:p>
            <a:pPr>
              <a:lnSpc>
                <a:spcPct val="110000"/>
              </a:lnSpc>
            </a:pPr>
            <a:r>
              <a:rPr lang="en-US" sz="3600" dirty="0"/>
              <a:t>Ask </a:t>
            </a:r>
            <a:r>
              <a:rPr lang="en-US" sz="3600" dirty="0" err="1"/>
              <a:t>ChatGPT</a:t>
            </a:r>
            <a:r>
              <a:rPr lang="en-US" sz="3600" dirty="0"/>
              <a:t> </a:t>
            </a:r>
            <a:r>
              <a:rPr lang="en-US" sz="3600" dirty="0">
                <a:sym typeface="Wingdings" pitchFamily="2" charset="2"/>
              </a:rPr>
              <a:t>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1026" name="Picture 2" descr="Free Knowledge Curiosity photo and picture">
            <a:extLst>
              <a:ext uri="{FF2B5EF4-FFF2-40B4-BE49-F238E27FC236}">
                <a16:creationId xmlns:a16="http://schemas.microsoft.com/office/drawing/2014/main" id="{919A4985-9AF5-8006-5018-B2DC90496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0" r="14529" b="-1"/>
          <a:stretch/>
        </p:blipFill>
        <p:spPr bwMode="auto">
          <a:xfrm>
            <a:off x="5951619" y="1914764"/>
            <a:ext cx="6095998" cy="457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0184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Chaining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F155F93-1ED6-2ECC-292E-19BB536AD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747" y="252895"/>
            <a:ext cx="8053062" cy="544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998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Chaining (Cont.)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A227241-F8BB-6996-1C6F-6376B329D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116" y="147018"/>
            <a:ext cx="8829135" cy="525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28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7885099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Data Visualization with Seaborn</a:t>
            </a:r>
          </a:p>
        </p:txBody>
      </p:sp>
    </p:spTree>
    <p:extLst>
      <p:ext uri="{BB962C8B-B14F-4D97-AF65-F5344CB8AC3E}">
        <p14:creationId xmlns:p14="http://schemas.microsoft.com/office/powerpoint/2010/main" val="760127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8D52-C34A-69F1-741A-378844854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5BDA0-5C66-2420-695F-15CEB63054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388"/>
          <a:stretch/>
        </p:blipFill>
        <p:spPr>
          <a:xfrm>
            <a:off x="698499" y="2828018"/>
            <a:ext cx="7086601" cy="99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22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63FC-60A8-BDE2-069F-D8ED2DF4C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the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2921A9-DBAE-A5DD-1A64-E7B341D46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57" y="2101850"/>
            <a:ext cx="8270834" cy="429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300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C220-875D-1224-664A-15BB127ED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65" y="4664364"/>
            <a:ext cx="4281644" cy="4006666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dirty="0">
                <a:effectLst/>
              </a:rPr>
              <a:t>Seaborn has several </a:t>
            </a:r>
            <a:r>
              <a:rPr lang="en-US" b="0" i="0" u="none" strike="noStrike" dirty="0">
                <a:effectLst/>
                <a:highlight>
                  <a:srgbClr val="FFFF00"/>
                </a:highlight>
              </a:rPr>
              <a:t>built-in palettes</a:t>
            </a:r>
            <a:r>
              <a:rPr lang="en-US" b="0" i="0" u="none" strike="noStrike" dirty="0">
                <a:effectLst/>
              </a:rPr>
              <a:t> that can be used to </a:t>
            </a:r>
            <a:r>
              <a:rPr lang="en-US" b="0" i="0" u="none" strike="noStrike" dirty="0" err="1">
                <a:effectLst/>
                <a:highlight>
                  <a:srgbClr val="FFFF00"/>
                </a:highlight>
              </a:rPr>
              <a:t>customise</a:t>
            </a:r>
            <a:r>
              <a:rPr lang="en-US" b="0" i="0" u="none" strike="noStrike" dirty="0">
                <a:effectLst/>
                <a:highlight>
                  <a:srgbClr val="FFFF00"/>
                </a:highlight>
              </a:rPr>
              <a:t> the </a:t>
            </a:r>
            <a:r>
              <a:rPr lang="en-US" b="0" i="0" u="none" strike="noStrike" dirty="0" err="1">
                <a:effectLst/>
                <a:highlight>
                  <a:srgbClr val="FFFF00"/>
                </a:highlight>
              </a:rPr>
              <a:t>colour</a:t>
            </a:r>
            <a:r>
              <a:rPr lang="en-US" b="0" i="0" u="none" strike="noStrike" dirty="0">
                <a:effectLst/>
                <a:highlight>
                  <a:srgbClr val="FFFF00"/>
                </a:highlight>
              </a:rPr>
              <a:t> </a:t>
            </a:r>
            <a:r>
              <a:rPr lang="en-US" b="0" i="0" u="none" strike="noStrike" dirty="0">
                <a:effectLst/>
              </a:rPr>
              <a:t>of a plot:</a:t>
            </a:r>
          </a:p>
          <a:p>
            <a:pPr lvl="1"/>
            <a:r>
              <a:rPr lang="en-US" b="0" i="0" u="none" strike="noStrike" dirty="0">
                <a:effectLst/>
              </a:rPr>
              <a:t>Deep, muted</a:t>
            </a:r>
            <a:r>
              <a:rPr lang="en-US" dirty="0"/>
              <a:t>, </a:t>
            </a:r>
            <a:r>
              <a:rPr lang="en-US" b="0" i="0" u="none" strike="noStrike" dirty="0">
                <a:effectLst/>
              </a:rPr>
              <a:t>pastel</a:t>
            </a:r>
            <a:r>
              <a:rPr lang="en-US" dirty="0"/>
              <a:t>, </a:t>
            </a:r>
            <a:r>
              <a:rPr lang="en-US" b="0" i="0" u="none" strike="noStrike" dirty="0">
                <a:effectLst/>
              </a:rPr>
              <a:t>bright</a:t>
            </a:r>
            <a:r>
              <a:rPr lang="en-US" dirty="0"/>
              <a:t>, </a:t>
            </a:r>
            <a:r>
              <a:rPr lang="en-US" b="0" i="0" u="none" strike="noStrike" dirty="0">
                <a:effectLst/>
              </a:rPr>
              <a:t>dark</a:t>
            </a:r>
            <a:r>
              <a:rPr lang="en-US" dirty="0"/>
              <a:t>, </a:t>
            </a:r>
            <a:r>
              <a:rPr lang="en-US" b="0" i="0" u="none" strike="noStrike" dirty="0">
                <a:effectLst/>
              </a:rPr>
              <a:t>colorblind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A2C0C-8158-2F77-B274-6BC54C699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408" y="0"/>
            <a:ext cx="7334592" cy="67886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4C6B8E-7455-0496-9BFE-DB3937EF46D0}"/>
              </a:ext>
            </a:extLst>
          </p:cNvPr>
          <p:cNvSpPr txBox="1"/>
          <p:nvPr/>
        </p:nvSpPr>
        <p:spPr>
          <a:xfrm>
            <a:off x="318065" y="2083046"/>
            <a:ext cx="45393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mbria" panose="02040503050406030204" pitchFamily="18" charset="0"/>
              </a:rPr>
              <a:t>Seaborn's </a:t>
            </a:r>
            <a:r>
              <a:rPr lang="en-AU" sz="2000" dirty="0" err="1">
                <a:highlight>
                  <a:srgbClr val="00FFFF"/>
                </a:highlight>
                <a:latin typeface="Cambria" panose="02040503050406030204" pitchFamily="18" charset="0"/>
              </a:rPr>
              <a:t>relplot</a:t>
            </a:r>
            <a:r>
              <a:rPr lang="en-AU" sz="2000" dirty="0">
                <a:highlight>
                  <a:srgbClr val="00FFFF"/>
                </a:highlight>
                <a:latin typeface="Cambria" panose="02040503050406030204" pitchFamily="18" charset="0"/>
              </a:rPr>
              <a:t>() </a:t>
            </a:r>
            <a:r>
              <a:rPr lang="en-AU" sz="2000" dirty="0">
                <a:latin typeface="Cambria" panose="02040503050406030204" pitchFamily="18" charset="0"/>
              </a:rPr>
              <a:t>is used to explore </a:t>
            </a:r>
            <a:r>
              <a:rPr lang="en-AU" sz="2000" dirty="0">
                <a:highlight>
                  <a:srgbClr val="00FFFF"/>
                </a:highlight>
                <a:latin typeface="Cambria" panose="02040503050406030204" pitchFamily="18" charset="0"/>
              </a:rPr>
              <a:t>relationships among variables</a:t>
            </a:r>
            <a:r>
              <a:rPr lang="en-AU" sz="2000" dirty="0">
                <a:latin typeface="Cambria" panose="02040503050406030204" pitchFamily="18" charset="0"/>
              </a:rPr>
              <a:t>. It creates scatter plots or line plots and allows </a:t>
            </a:r>
            <a:r>
              <a:rPr lang="en-AU" sz="2000" dirty="0">
                <a:highlight>
                  <a:srgbClr val="00FF00"/>
                </a:highlight>
                <a:latin typeface="Cambria" panose="02040503050406030204" pitchFamily="18" charset="0"/>
              </a:rPr>
              <a:t>additional dimensions </a:t>
            </a:r>
            <a:r>
              <a:rPr lang="en-AU" sz="2000" dirty="0">
                <a:latin typeface="Cambria" panose="02040503050406030204" pitchFamily="18" charset="0"/>
              </a:rPr>
              <a:t>to be represented using </a:t>
            </a:r>
            <a:r>
              <a:rPr lang="en-AU" sz="2000" dirty="0">
                <a:highlight>
                  <a:srgbClr val="00FF00"/>
                </a:highlight>
                <a:latin typeface="Cambria" panose="02040503050406030204" pitchFamily="18" charset="0"/>
              </a:rPr>
              <a:t>hue (colour -encoding), size, </a:t>
            </a:r>
            <a:r>
              <a:rPr lang="en-AU" sz="2000">
                <a:highlight>
                  <a:srgbClr val="00FF00"/>
                </a:highlight>
                <a:latin typeface="Cambria" panose="02040503050406030204" pitchFamily="18" charset="0"/>
              </a:rPr>
              <a:t>marker style, </a:t>
            </a:r>
            <a:r>
              <a:rPr lang="en-AU" sz="2000" dirty="0">
                <a:latin typeface="Cambria" panose="02040503050406030204" pitchFamily="18" charset="0"/>
              </a:rPr>
              <a:t>and multiple panels (row/col).</a:t>
            </a:r>
          </a:p>
        </p:txBody>
      </p:sp>
    </p:spTree>
    <p:extLst>
      <p:ext uri="{BB962C8B-B14F-4D97-AF65-F5344CB8AC3E}">
        <p14:creationId xmlns:p14="http://schemas.microsoft.com/office/powerpoint/2010/main" val="15959665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Subplot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34333EE-3A30-4522-ED70-4EECF234A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8" y="-7633"/>
            <a:ext cx="7779755" cy="686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2197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Set the ticks, x limits, and y limits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874F191-DB83-19FF-7E0C-477B76BA4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75" y="82349"/>
            <a:ext cx="8561026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33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 the </a:t>
            </a:r>
            <a:br>
              <a:rPr lang="en-US" dirty="0"/>
            </a:br>
            <a:r>
              <a:rPr lang="en-US" dirty="0"/>
              <a:t>Background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C220-875D-1224-664A-15BB127ED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139" y="2065467"/>
            <a:ext cx="4867088" cy="44904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1900" b="0" i="0" u="none" strike="noStrike" dirty="0">
                <a:effectLst/>
              </a:rPr>
              <a:t>Several other values can</a:t>
            </a:r>
            <a:r>
              <a:rPr lang="en-US" sz="1900" b="0" i="0" u="none" strike="noStrike" dirty="0">
                <a:effectLst/>
                <a:highlight>
                  <a:srgbClr val="FFFF00"/>
                </a:highlight>
              </a:rPr>
              <a:t> be assigned to </a:t>
            </a:r>
            <a:r>
              <a:rPr lang="en-US" sz="1900" b="0" i="0" u="none" strike="noStrike" dirty="0" err="1">
                <a:effectLst/>
                <a:highlight>
                  <a:srgbClr val="FFFF00"/>
                </a:highlight>
              </a:rPr>
              <a:t>sns.set_style</a:t>
            </a:r>
            <a:r>
              <a:rPr lang="en-US" sz="1900" b="0" i="0" u="none" strike="noStrike" dirty="0">
                <a:effectLst/>
                <a:highlight>
                  <a:srgbClr val="FFFF00"/>
                </a:highlight>
              </a:rPr>
              <a:t>() </a:t>
            </a:r>
            <a:r>
              <a:rPr lang="en-US" sz="1900" b="0" i="0" u="none" strike="noStrike" dirty="0">
                <a:effectLst/>
              </a:rPr>
              <a:t>to </a:t>
            </a:r>
            <a:r>
              <a:rPr lang="en-US" sz="1900" b="0" i="0" u="none" strike="noStrike" dirty="0" err="1">
                <a:effectLst/>
              </a:rPr>
              <a:t>customise</a:t>
            </a:r>
            <a:r>
              <a:rPr lang="en-US" sz="1900" b="0" i="0" u="none" strike="noStrike" dirty="0">
                <a:effectLst/>
              </a:rPr>
              <a:t> the style of the Seaborn plots: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effectLst/>
              </a:rPr>
              <a:t>"</a:t>
            </a:r>
            <a:r>
              <a:rPr lang="en-US" sz="1900" b="0" i="0" u="none" strike="noStrike" dirty="0" err="1">
                <a:effectLst/>
              </a:rPr>
              <a:t>darkgrid</a:t>
            </a:r>
            <a:r>
              <a:rPr lang="en-US" sz="1900" b="0" i="0" u="none" strike="noStrike" dirty="0">
                <a:effectLst/>
              </a:rPr>
              <a:t>": Sets a dark background with grid lines.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effectLst/>
              </a:rPr>
              <a:t>"</a:t>
            </a:r>
            <a:r>
              <a:rPr lang="en-US" sz="1900" b="0" i="0" u="none" strike="noStrike" dirty="0" err="1">
                <a:effectLst/>
              </a:rPr>
              <a:t>whitegrid</a:t>
            </a:r>
            <a:r>
              <a:rPr lang="en-US" sz="1900" b="0" i="0" u="none" strike="noStrike" dirty="0">
                <a:effectLst/>
              </a:rPr>
              <a:t>": Sets a white background with grid lines.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effectLst/>
              </a:rPr>
              <a:t>"dark": Sets a dark background with no grid lines.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effectLst/>
              </a:rPr>
              <a:t>"white": Sets a white background with no grid lines.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effectLst/>
              </a:rPr>
              <a:t>"ticks": Sets tick marks on the axes.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F2B5CB-7F71-B5B8-74E3-B28461375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509" y="0"/>
            <a:ext cx="7128491" cy="61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08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Save a Plot to a File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A7AC48A-CD7D-D402-9368-7E28A90DE7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2285"/>
          <a:stretch/>
        </p:blipFill>
        <p:spPr>
          <a:xfrm>
            <a:off x="220749" y="2411749"/>
            <a:ext cx="2627088" cy="43192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3F43A9-6A5F-EEB2-992F-A7FA93C95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586" y="144396"/>
            <a:ext cx="8903020" cy="583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1652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Scatter Plot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46465B8-29C4-64C8-BA29-EDC5CF88D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746" y="152399"/>
            <a:ext cx="8207829" cy="56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241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Bar Plot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9B00DC5-5546-FD0D-5A8D-E90101FF0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747" y="101600"/>
            <a:ext cx="7772400" cy="63718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177DE2-603A-1475-B29B-AEBD73EFD570}"/>
              </a:ext>
            </a:extLst>
          </p:cNvPr>
          <p:cNvSpPr txBox="1"/>
          <p:nvPr/>
        </p:nvSpPr>
        <p:spPr>
          <a:xfrm>
            <a:off x="6531726" y="2886550"/>
            <a:ext cx="43394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Cambria" panose="02040503050406030204" pitchFamily="18" charset="0"/>
              </a:rPr>
              <a:t>"CI" stands for </a:t>
            </a:r>
            <a:r>
              <a:rPr lang="en-US" sz="1400" b="1" i="0" dirty="0">
                <a:effectLst/>
                <a:latin typeface="Cambria" panose="02040503050406030204" pitchFamily="18" charset="0"/>
              </a:rPr>
              <a:t>Confidence Interval</a:t>
            </a:r>
            <a:r>
              <a:rPr lang="en-US" sz="1400" b="0" i="0" dirty="0">
                <a:effectLst/>
                <a:latin typeface="Cambria" panose="02040503050406030204" pitchFamily="18" charset="0"/>
              </a:rPr>
              <a:t>. </a:t>
            </a:r>
          </a:p>
          <a:p>
            <a:pPr marL="285750" indent="-285750" algn="just">
              <a:buFontTx/>
              <a:buChar char="-"/>
            </a:pPr>
            <a:endParaRPr lang="en-US" sz="1400" b="0" i="0" dirty="0">
              <a:effectLst/>
              <a:latin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Cambria" panose="02040503050406030204" pitchFamily="18" charset="0"/>
              </a:rPr>
              <a:t>CI=50: The length of the line indicates the range of values within which we can be 50% confident that the true mean of the </a:t>
            </a:r>
            <a:r>
              <a:rPr lang="en-US" sz="1400" b="0" i="0" dirty="0" err="1">
                <a:effectLst/>
                <a:latin typeface="Cambria" panose="02040503050406030204" pitchFamily="18" charset="0"/>
              </a:rPr>
              <a:t>DeathRate</a:t>
            </a:r>
            <a:r>
              <a:rPr lang="en-US" sz="1400" b="0" i="0" dirty="0">
                <a:effectLst/>
                <a:latin typeface="Cambria" panose="02040503050406030204" pitchFamily="18" charset="0"/>
              </a:rPr>
              <a:t> lies, for the years 1950 and 2000,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28416077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Bar Plot - Horizontal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D100DF5-38C8-83F8-6CC1-B05E574D5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146" y="158514"/>
            <a:ext cx="8900977" cy="534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4787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Box Plot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F2676F0-CF06-FCB2-50AF-CC62FA68D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746" y="300908"/>
            <a:ext cx="8775324" cy="574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98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Box Plot - Horizontal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3C87297-5107-F038-034A-3DC32E058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747" y="233188"/>
            <a:ext cx="8737600" cy="521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15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Histogram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2262C5C-8EE5-BB0E-26FA-13796627D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282" y="87086"/>
            <a:ext cx="6172200" cy="5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87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Histogram – Custom Bins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108F298-FBF1-76CD-CD90-DC1DE39B6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747" y="152362"/>
            <a:ext cx="8316194" cy="571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510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1" y="292100"/>
            <a:ext cx="2554257" cy="161719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200" dirty="0"/>
              <a:t>Density Function-  </a:t>
            </a:r>
            <a:r>
              <a:rPr lang="en-US" sz="3200" dirty="0">
                <a:solidFill>
                  <a:schemeClr val="accent1"/>
                </a:solidFill>
              </a:rPr>
              <a:t>K</a:t>
            </a:r>
            <a:r>
              <a:rPr lang="en-US" sz="3200" dirty="0"/>
              <a:t>ernel </a:t>
            </a:r>
            <a:r>
              <a:rPr lang="en-US" sz="3200" dirty="0">
                <a:solidFill>
                  <a:schemeClr val="accent1"/>
                </a:solidFill>
              </a:rPr>
              <a:t>D</a:t>
            </a:r>
            <a:r>
              <a:rPr lang="en-US" sz="3200" dirty="0"/>
              <a:t>istribution</a:t>
            </a:r>
            <a:br>
              <a:rPr lang="en-US" sz="3200" dirty="0"/>
            </a:br>
            <a:r>
              <a:rPr lang="en-US" sz="3200" dirty="0">
                <a:solidFill>
                  <a:schemeClr val="accent1"/>
                </a:solidFill>
              </a:rPr>
              <a:t>E</a:t>
            </a:r>
            <a:r>
              <a:rPr lang="en-US" sz="3200" dirty="0"/>
              <a:t>stimate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96F9650-BA25-6428-A521-D31B83F66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250" y="292100"/>
            <a:ext cx="74549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849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chemeClr val="accent1"/>
                </a:solidFill>
              </a:rPr>
              <a:t>E</a:t>
            </a:r>
            <a:r>
              <a:rPr lang="en-US" sz="4800" dirty="0"/>
              <a:t>mpirical </a:t>
            </a:r>
            <a:r>
              <a:rPr lang="en-US" sz="4800" dirty="0">
                <a:solidFill>
                  <a:schemeClr val="accent1"/>
                </a:solidFill>
              </a:rPr>
              <a:t>C</a:t>
            </a:r>
            <a:r>
              <a:rPr lang="en-US" sz="4800" dirty="0"/>
              <a:t>umulative </a:t>
            </a:r>
            <a:r>
              <a:rPr lang="en-US" sz="4800" dirty="0">
                <a:solidFill>
                  <a:schemeClr val="accent1"/>
                </a:solidFill>
              </a:rPr>
              <a:t>D</a:t>
            </a:r>
            <a:r>
              <a:rPr lang="en-US" sz="4800" dirty="0"/>
              <a:t>istribution </a:t>
            </a:r>
            <a:r>
              <a:rPr lang="en-US" sz="4800" dirty="0">
                <a:solidFill>
                  <a:schemeClr val="accent1"/>
                </a:solidFill>
              </a:rPr>
              <a:t>F</a:t>
            </a:r>
            <a:r>
              <a:rPr lang="en-US" sz="4800" dirty="0"/>
              <a:t>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C220-875D-1224-664A-15BB127ED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2" y="2065467"/>
            <a:ext cx="4252472" cy="4490436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The </a:t>
            </a:r>
            <a:r>
              <a:rPr lang="en-US" b="0" i="0" u="none" strike="noStrike" dirty="0">
                <a:effectLst/>
                <a:highlight>
                  <a:srgbClr val="FFFF00"/>
                </a:highlight>
              </a:rPr>
              <a:t>x-axis </a:t>
            </a:r>
            <a:r>
              <a:rPr lang="en-US" b="0" i="0" u="none" strike="noStrike" dirty="0">
                <a:effectLst/>
              </a:rPr>
              <a:t>represents the </a:t>
            </a:r>
            <a:r>
              <a:rPr lang="en-US" b="0" i="0" u="none" strike="noStrike" dirty="0">
                <a:effectLst/>
                <a:highlight>
                  <a:srgbClr val="FFFF00"/>
                </a:highlight>
              </a:rPr>
              <a:t>values </a:t>
            </a:r>
            <a:r>
              <a:rPr lang="en-US" b="0" i="0" u="none" strike="noStrike" dirty="0">
                <a:effectLst/>
              </a:rPr>
              <a:t>of the variable.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The </a:t>
            </a:r>
            <a:r>
              <a:rPr lang="en-US" b="0" i="0" u="none" strike="noStrike" dirty="0">
                <a:effectLst/>
                <a:highlight>
                  <a:srgbClr val="FFFF00"/>
                </a:highlight>
              </a:rPr>
              <a:t>y-axis </a:t>
            </a:r>
            <a:r>
              <a:rPr lang="en-US" b="0" i="0" u="none" strike="noStrike" dirty="0">
                <a:effectLst/>
              </a:rPr>
              <a:t>represents the </a:t>
            </a:r>
            <a:r>
              <a:rPr lang="en-US" b="0" i="0" u="none" strike="noStrike" dirty="0">
                <a:effectLst/>
                <a:highlight>
                  <a:srgbClr val="FFFF00"/>
                </a:highlight>
              </a:rPr>
              <a:t>proportion of data </a:t>
            </a:r>
            <a:r>
              <a:rPr lang="en-US" b="0" i="0" u="none" strike="noStrike" dirty="0">
                <a:effectLst/>
              </a:rPr>
              <a:t>points that have a value </a:t>
            </a:r>
            <a:r>
              <a:rPr lang="en-US" b="0" i="0" u="none" strike="noStrike" dirty="0">
                <a:effectLst/>
                <a:highlight>
                  <a:srgbClr val="FFFF00"/>
                </a:highlight>
              </a:rPr>
              <a:t>less than or equal to the corresponding x-value</a:t>
            </a:r>
            <a:r>
              <a:rPr lang="en-US" b="0" i="0" u="none" strike="noStrike" dirty="0">
                <a:effectLst/>
              </a:rPr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The plot is useful for </a:t>
            </a:r>
            <a:r>
              <a:rPr lang="en-US" b="0" i="0" u="none" strike="noStrike" dirty="0" err="1">
                <a:effectLst/>
                <a:highlight>
                  <a:srgbClr val="FFFF00"/>
                </a:highlight>
              </a:rPr>
              <a:t>visualising</a:t>
            </a:r>
            <a:r>
              <a:rPr lang="en-US" b="0" i="0" u="none" strike="noStrike" dirty="0">
                <a:effectLst/>
                <a:highlight>
                  <a:srgbClr val="FFFF00"/>
                </a:highlight>
              </a:rPr>
              <a:t> the distribution of a variable </a:t>
            </a:r>
            <a:r>
              <a:rPr lang="en-US" b="0" i="0" u="none" strike="noStrike" dirty="0">
                <a:effectLst/>
              </a:rPr>
              <a:t>and identifying important features such as the </a:t>
            </a:r>
            <a:r>
              <a:rPr lang="en-US" b="0" i="0" u="none" strike="noStrike" dirty="0">
                <a:effectLst/>
                <a:highlight>
                  <a:srgbClr val="00FFFF"/>
                </a:highlight>
              </a:rPr>
              <a:t>median</a:t>
            </a:r>
            <a:r>
              <a:rPr lang="en-US" b="0" i="0" u="none" strike="noStrike" dirty="0">
                <a:effectLst/>
              </a:rPr>
              <a:t> and the </a:t>
            </a:r>
            <a:r>
              <a:rPr lang="en-US" b="0" i="0" u="none" strike="noStrike" dirty="0">
                <a:effectLst/>
                <a:highlight>
                  <a:srgbClr val="00FFFF"/>
                </a:highlight>
              </a:rPr>
              <a:t>range</a:t>
            </a:r>
            <a:r>
              <a:rPr lang="en-US" b="0" i="0" u="none" strike="noStrike" dirty="0">
                <a:effectLst/>
              </a:rPr>
              <a:t> of the data.</a:t>
            </a:r>
          </a:p>
          <a:p>
            <a:pPr algn="l"/>
            <a:br>
              <a:rPr lang="en-US" b="0" i="0" u="none" strike="noStrike" dirty="0">
                <a:effectLst/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A171DD-1E56-4CF5-B93B-2CC356327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416" y="1873624"/>
            <a:ext cx="7728584" cy="49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170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1" y="292100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Enhanced Distribution Plots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04E2A7D-7D0F-A6D9-5E41-F628CF4F4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719" y="292100"/>
            <a:ext cx="8636000" cy="571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189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1" y="292100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Enhanced Distribution Plots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067CF48-ABCB-E305-7B0C-A0ECDB9A5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699" y="0"/>
            <a:ext cx="8564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668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1" y="292100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Annotate a Plot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9DAEB6F-55C5-C3EF-8D8F-C7BAFEDB0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01379"/>
            <a:ext cx="7772400" cy="612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419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FC6EA2-A878-462E-B250-A0FFE1F53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7998" cy="2283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5ACE9-6EAD-A059-079D-A38FAA06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70" y="333012"/>
            <a:ext cx="2554257" cy="16171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dirty="0"/>
              <a:t>Custom Titles for Subplots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6AE698-618A-40C4-9717-024A2EABC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3224"/>
            <a:ext cx="3048003" cy="4574776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6C384B-B15B-49B2-A765-4CC92348C6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2C100C-6575-40D1-B4BD-4BC6CC523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290D9BB-0F50-B83E-A3BF-E5EA5B9D7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982" y="0"/>
            <a:ext cx="5902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7056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93B79-AF49-6913-9588-21C42E85F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9" y="397275"/>
            <a:ext cx="2554257" cy="1617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latin typeface="+mj-lt"/>
              </a:rPr>
              <a:t>Movie Time </a:t>
            </a:r>
            <a:r>
              <a:rPr lang="en-US" sz="3200">
                <a:latin typeface="+mj-lt"/>
                <a:sym typeface="Wingdings" pitchFamily="2" charset="2"/>
              </a:rPr>
              <a:t></a:t>
            </a:r>
            <a:endParaRPr lang="en-US" sz="3200">
              <a:latin typeface="+mj-lt"/>
            </a:endParaRPr>
          </a:p>
        </p:txBody>
      </p:sp>
      <p:pic>
        <p:nvPicPr>
          <p:cNvPr id="4" name="Online Media 3" descr="Top 5 Python Libraries for Data Visualization">
            <a:hlinkClick r:id="" action="ppaction://media"/>
            <a:extLst>
              <a:ext uri="{FF2B5EF4-FFF2-40B4-BE49-F238E27FC236}">
                <a16:creationId xmlns:a16="http://schemas.microsoft.com/office/drawing/2014/main" id="{7781A967-289D-46CC-2984-7C602EB543A1}"/>
              </a:ext>
            </a:extLst>
          </p:cNvPr>
          <p:cNvPicPr>
            <a:picLocks noGrp="1" noRot="1" noChangeAspect="1"/>
          </p:cNvPicPr>
          <p:nvPr>
            <p:ph idx="1"/>
            <a:videoFile r:link="rId2"/>
          </p:nvPr>
        </p:nvPicPr>
        <p:blipFill>
          <a:blip r:embed="rId4"/>
          <a:stretch>
            <a:fillRect/>
          </a:stretch>
        </p:blipFill>
        <p:spPr>
          <a:xfrm>
            <a:off x="3268747" y="195696"/>
            <a:ext cx="8702504" cy="65268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756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3F5F-2B13-28BD-3ECD-8AB6AFE2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AA102-EDE6-9B55-37B7-018D15104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science from scratch: first principles with Python, Joel Grus, O'Reilly Media,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for Data Analysis: Data Wrangling with Pandas, NumPy, and </a:t>
            </a:r>
            <a:r>
              <a:rPr lang="en-US" dirty="0" err="1"/>
              <a:t>IPython</a:t>
            </a:r>
            <a:r>
              <a:rPr lang="en-US" dirty="0"/>
              <a:t>, Wes McKinney, O'Reilly Media, 3rd edition, 2022.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Data Science Handbook: Essential Tools for Working with Data, Jake </a:t>
            </a:r>
            <a:r>
              <a:rPr lang="en-US" dirty="0" err="1"/>
              <a:t>Vanderplas</a:t>
            </a:r>
            <a:r>
              <a:rPr lang="en-US" dirty="0"/>
              <a:t>, O'Reilly Media, 2022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Murach’s</a:t>
            </a:r>
            <a:r>
              <a:rPr lang="en-US" dirty="0"/>
              <a:t> Python for Data Analysis, Scott McCoy, Mike </a:t>
            </a:r>
            <a:r>
              <a:rPr lang="en-US" dirty="0" err="1"/>
              <a:t>Murach</a:t>
            </a:r>
            <a:r>
              <a:rPr lang="en-US" dirty="0"/>
              <a:t> &amp; Associates, Incorporated,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 to Python for Computer Science and Data Science: Learning to Program with AI, Big Data and The Cloud, Paul </a:t>
            </a:r>
            <a:r>
              <a:rPr lang="en-US" dirty="0" err="1"/>
              <a:t>Deitel</a:t>
            </a:r>
            <a:r>
              <a:rPr lang="en-US" dirty="0"/>
              <a:t>, Pearson Education Limited,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ChatGPT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364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3087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90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Free Meeting Modern photo and picture">
            <a:extLst>
              <a:ext uri="{FF2B5EF4-FFF2-40B4-BE49-F238E27FC236}">
                <a16:creationId xmlns:a16="http://schemas.microsoft.com/office/drawing/2014/main" id="{76FBD399-7BE7-EC10-DA33-19A99166B2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32" b="7668"/>
          <a:stretch/>
        </p:blipFill>
        <p:spPr bwMode="auto">
          <a:xfrm>
            <a:off x="20" y="10"/>
            <a:ext cx="12191979" cy="6857988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1879D-F756-F7EC-BF8D-7396BD0C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574108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End of lecture …</a:t>
            </a:r>
          </a:p>
        </p:txBody>
      </p:sp>
    </p:spTree>
    <p:extLst>
      <p:ext uri="{BB962C8B-B14F-4D97-AF65-F5344CB8AC3E}">
        <p14:creationId xmlns:p14="http://schemas.microsoft.com/office/powerpoint/2010/main" val="36391242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"/>
</p:tagLst>
</file>

<file path=ppt/theme/theme1.xml><?xml version="1.0" encoding="utf-8"?>
<a:theme xmlns:a="http://schemas.openxmlformats.org/drawingml/2006/main" name="MatrixVTI">
  <a:themeElements>
    <a:clrScheme name="AnalogousFromDarkSeedLeftStep">
      <a:dk1>
        <a:srgbClr val="000000"/>
      </a:dk1>
      <a:lt1>
        <a:srgbClr val="FFFFFF"/>
      </a:lt1>
      <a:dk2>
        <a:srgbClr val="2F1B2F"/>
      </a:dk2>
      <a:lt2>
        <a:srgbClr val="F0F3F2"/>
      </a:lt2>
      <a:accent1>
        <a:srgbClr val="E72989"/>
      </a:accent1>
      <a:accent2>
        <a:srgbClr val="D517C6"/>
      </a:accent2>
      <a:accent3>
        <a:srgbClr val="A629E7"/>
      </a:accent3>
      <a:accent4>
        <a:srgbClr val="542AD8"/>
      </a:accent4>
      <a:accent5>
        <a:srgbClr val="294AE7"/>
      </a:accent5>
      <a:accent6>
        <a:srgbClr val="1787D5"/>
      </a:accent6>
      <a:hlink>
        <a:srgbClr val="3F40BF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{92A7E645-25A4-9944-AA59-369BA7A7B2F7}tf10001070</Template>
  <TotalTime>18247</TotalTime>
  <Words>4328</Words>
  <Application>Microsoft Office PowerPoint</Application>
  <PresentationFormat>Widescreen</PresentationFormat>
  <Paragraphs>497</Paragraphs>
  <Slides>54</Slides>
  <Notes>31</Notes>
  <HiddenSlides>0</HiddenSlides>
  <MMClips>2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Arial</vt:lpstr>
      <vt:lpstr>Avenir Next LT Pro</vt:lpstr>
      <vt:lpstr>Calibri</vt:lpstr>
      <vt:lpstr>Cambria</vt:lpstr>
      <vt:lpstr>Cambria Math</vt:lpstr>
      <vt:lpstr>Courier New</vt:lpstr>
      <vt:lpstr>Söhne</vt:lpstr>
      <vt:lpstr>Times New Roman</vt:lpstr>
      <vt:lpstr>Wingdings</vt:lpstr>
      <vt:lpstr>MatrixVTI</vt:lpstr>
      <vt:lpstr>Essentials for Data Visualization</vt:lpstr>
      <vt:lpstr>Objectives</vt:lpstr>
      <vt:lpstr>Why Data Visualization?</vt:lpstr>
      <vt:lpstr>Data Visualization Libraries in Python</vt:lpstr>
      <vt:lpstr>Data Visualization with Pandas</vt:lpstr>
      <vt:lpstr>Get the Data: Long vs Wide</vt:lpstr>
      <vt:lpstr>Line Plot of the Wide Data </vt:lpstr>
      <vt:lpstr>Line Plot of All Columns</vt:lpstr>
      <vt:lpstr>Line Plot – Improve the Appearance</vt:lpstr>
      <vt:lpstr>Line Plot – Improve the Appearance</vt:lpstr>
      <vt:lpstr>How to rotate the y-axis label?</vt:lpstr>
      <vt:lpstr>Scatter Plot</vt:lpstr>
      <vt:lpstr>Area Plot</vt:lpstr>
      <vt:lpstr>Bar Plot</vt:lpstr>
      <vt:lpstr>Bar Plot - Horizontal</vt:lpstr>
      <vt:lpstr>Histogram</vt:lpstr>
      <vt:lpstr>Density Plot</vt:lpstr>
      <vt:lpstr>Density Plot  (Cont.)</vt:lpstr>
      <vt:lpstr>Box Plot</vt:lpstr>
      <vt:lpstr>Interquartile Range Song? </vt:lpstr>
      <vt:lpstr>Challenge: Can you compose a song for Data Science/AI ? :) </vt:lpstr>
      <vt:lpstr>AI-Genereated Lyrics</vt:lpstr>
      <vt:lpstr>AI-Genereated Lyrics (Cont.)</vt:lpstr>
      <vt:lpstr>AI-Genereated Lyrics</vt:lpstr>
      <vt:lpstr>Pie Chart</vt:lpstr>
      <vt:lpstr>Subplots</vt:lpstr>
      <vt:lpstr>Subplots (Cont.)</vt:lpstr>
      <vt:lpstr>How to change the units of measurement in figsize? </vt:lpstr>
      <vt:lpstr>Chaining</vt:lpstr>
      <vt:lpstr>Chaining (Cont.)</vt:lpstr>
      <vt:lpstr>Data Visualization with Seaborn</vt:lpstr>
      <vt:lpstr>Imports</vt:lpstr>
      <vt:lpstr>Get the Data</vt:lpstr>
      <vt:lpstr>Line Plot</vt:lpstr>
      <vt:lpstr>Subplot</vt:lpstr>
      <vt:lpstr>Set the ticks, x limits, and y limits</vt:lpstr>
      <vt:lpstr>Set the  Background Style</vt:lpstr>
      <vt:lpstr>Save a Plot to a File</vt:lpstr>
      <vt:lpstr>Scatter Plot</vt:lpstr>
      <vt:lpstr>Bar Plot</vt:lpstr>
      <vt:lpstr>Bar Plot - Horizontal</vt:lpstr>
      <vt:lpstr>Box Plot</vt:lpstr>
      <vt:lpstr>Box Plot - Horizontal</vt:lpstr>
      <vt:lpstr>Histogram</vt:lpstr>
      <vt:lpstr>Histogram – Custom Bins</vt:lpstr>
      <vt:lpstr>Density Function-  Kernel Distribution Estimate</vt:lpstr>
      <vt:lpstr>Empirical Cumulative Distribution Function</vt:lpstr>
      <vt:lpstr>Enhanced Distribution Plots</vt:lpstr>
      <vt:lpstr>Enhanced Distribution Plots (Cont.)</vt:lpstr>
      <vt:lpstr>Annotate a Plot</vt:lpstr>
      <vt:lpstr>Custom Titles for Subplots</vt:lpstr>
      <vt:lpstr>Movie Time </vt:lpstr>
      <vt:lpstr>References</vt:lpstr>
      <vt:lpstr>End of lecture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</dc:title>
  <dc:creator>Davoud Mougouei</dc:creator>
  <cp:lastModifiedBy>Fatima Ansarizadeh</cp:lastModifiedBy>
  <cp:revision>718</cp:revision>
  <dcterms:created xsi:type="dcterms:W3CDTF">2023-02-28T21:57:24Z</dcterms:created>
  <dcterms:modified xsi:type="dcterms:W3CDTF">2026-07-21T23:54:57Z</dcterms:modified>
</cp:coreProperties>
</file>
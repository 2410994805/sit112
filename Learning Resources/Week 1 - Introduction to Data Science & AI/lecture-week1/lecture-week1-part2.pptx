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61"/>
  </p:notesMasterIdLst>
  <p:sldIdLst>
    <p:sldId id="256" r:id="rId2"/>
    <p:sldId id="393" r:id="rId3"/>
    <p:sldId id="296" r:id="rId4"/>
    <p:sldId id="362" r:id="rId5"/>
    <p:sldId id="377" r:id="rId6"/>
    <p:sldId id="405" r:id="rId7"/>
    <p:sldId id="382" r:id="rId8"/>
    <p:sldId id="378" r:id="rId9"/>
    <p:sldId id="380" r:id="rId10"/>
    <p:sldId id="381" r:id="rId11"/>
    <p:sldId id="383" r:id="rId12"/>
    <p:sldId id="384" r:id="rId13"/>
    <p:sldId id="386" r:id="rId14"/>
    <p:sldId id="387" r:id="rId15"/>
    <p:sldId id="388" r:id="rId16"/>
    <p:sldId id="391" r:id="rId17"/>
    <p:sldId id="374" r:id="rId18"/>
    <p:sldId id="373" r:id="rId19"/>
    <p:sldId id="376" r:id="rId20"/>
    <p:sldId id="336" r:id="rId21"/>
    <p:sldId id="399" r:id="rId22"/>
    <p:sldId id="337" r:id="rId23"/>
    <p:sldId id="351" r:id="rId24"/>
    <p:sldId id="366" r:id="rId25"/>
    <p:sldId id="369" r:id="rId26"/>
    <p:sldId id="287" r:id="rId27"/>
    <p:sldId id="400" r:id="rId28"/>
    <p:sldId id="297" r:id="rId29"/>
    <p:sldId id="293" r:id="rId30"/>
    <p:sldId id="295" r:id="rId31"/>
    <p:sldId id="298" r:id="rId32"/>
    <p:sldId id="301" r:id="rId33"/>
    <p:sldId id="302" r:id="rId34"/>
    <p:sldId id="304" r:id="rId35"/>
    <p:sldId id="305" r:id="rId36"/>
    <p:sldId id="306" r:id="rId37"/>
    <p:sldId id="307" r:id="rId38"/>
    <p:sldId id="346" r:id="rId39"/>
    <p:sldId id="353" r:id="rId40"/>
    <p:sldId id="308" r:id="rId41"/>
    <p:sldId id="310" r:id="rId42"/>
    <p:sldId id="311" r:id="rId43"/>
    <p:sldId id="312" r:id="rId44"/>
    <p:sldId id="313" r:id="rId45"/>
    <p:sldId id="314" r:id="rId46"/>
    <p:sldId id="315" r:id="rId47"/>
    <p:sldId id="316" r:id="rId48"/>
    <p:sldId id="317" r:id="rId49"/>
    <p:sldId id="318" r:id="rId50"/>
    <p:sldId id="332" r:id="rId51"/>
    <p:sldId id="319" r:id="rId52"/>
    <p:sldId id="354" r:id="rId53"/>
    <p:sldId id="395" r:id="rId54"/>
    <p:sldId id="396" r:id="rId55"/>
    <p:sldId id="397" r:id="rId56"/>
    <p:sldId id="327" r:id="rId57"/>
    <p:sldId id="328" r:id="rId58"/>
    <p:sldId id="394" r:id="rId59"/>
    <p:sldId id="342"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CDCD"/>
    <a:srgbClr val="FFB5B3"/>
    <a:srgbClr val="D5FC79"/>
    <a:srgbClr val="8EFA00"/>
    <a:srgbClr val="FFFD78"/>
    <a:srgbClr val="FFD5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06C8F3-624F-43A6-9681-909C47EE2E62}" v="33" dt="2026-07-07T00:53:51.337"/>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41" autoAdjust="0"/>
    <p:restoredTop sz="92570" autoAdjust="0"/>
  </p:normalViewPr>
  <p:slideViewPr>
    <p:cSldViewPr snapToGrid="0">
      <p:cViewPr varScale="1">
        <p:scale>
          <a:sx n="99" d="100"/>
          <a:sy n="99" d="100"/>
        </p:scale>
        <p:origin x="84" y="10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ima Ansarizadeh" userId="2e2f4077-aba0-49c7-b26f-c647714fbdc0" providerId="ADAL" clId="{4AF819A5-1A07-4075-8C4E-D726B4CE70A1}"/>
    <pc:docChg chg="undo custSel addSld delSld modSld">
      <pc:chgData name="Fatima Ansarizadeh" userId="2e2f4077-aba0-49c7-b26f-c647714fbdc0" providerId="ADAL" clId="{4AF819A5-1A07-4075-8C4E-D726B4CE70A1}" dt="2026-07-07T00:54:46.769" v="837" actId="729"/>
      <pc:docMkLst>
        <pc:docMk/>
      </pc:docMkLst>
      <pc:sldChg chg="mod modShow">
        <pc:chgData name="Fatima Ansarizadeh" userId="2e2f4077-aba0-49c7-b26f-c647714fbdc0" providerId="ADAL" clId="{4AF819A5-1A07-4075-8C4E-D726B4CE70A1}" dt="2026-07-07T00:44:49.827" v="833" actId="729"/>
        <pc:sldMkLst>
          <pc:docMk/>
          <pc:sldMk cId="2556592116" sldId="288"/>
        </pc:sldMkLst>
      </pc:sldChg>
      <pc:sldChg chg="modSp mod">
        <pc:chgData name="Fatima Ansarizadeh" userId="2e2f4077-aba0-49c7-b26f-c647714fbdc0" providerId="ADAL" clId="{4AF819A5-1A07-4075-8C4E-D726B4CE70A1}" dt="2026-07-07T00:44:32.841" v="832" actId="13926"/>
        <pc:sldMkLst>
          <pc:docMk/>
          <pc:sldMk cId="2829111162" sldId="293"/>
        </pc:sldMkLst>
        <pc:spChg chg="mod">
          <ac:chgData name="Fatima Ansarizadeh" userId="2e2f4077-aba0-49c7-b26f-c647714fbdc0" providerId="ADAL" clId="{4AF819A5-1A07-4075-8C4E-D726B4CE70A1}" dt="2026-07-07T00:44:32.841" v="832" actId="13926"/>
          <ac:spMkLst>
            <pc:docMk/>
            <pc:sldMk cId="2829111162" sldId="293"/>
            <ac:spMk id="3" creationId="{6F2F8829-B771-3C72-0879-B235A0102D07}"/>
          </ac:spMkLst>
        </pc:spChg>
      </pc:sldChg>
      <pc:sldChg chg="modSp mod">
        <pc:chgData name="Fatima Ansarizadeh" userId="2e2f4077-aba0-49c7-b26f-c647714fbdc0" providerId="ADAL" clId="{4AF819A5-1A07-4075-8C4E-D726B4CE70A1}" dt="2026-07-05T18:16:29.987" v="670" actId="1076"/>
        <pc:sldMkLst>
          <pc:docMk/>
          <pc:sldMk cId="1489771610" sldId="296"/>
        </pc:sldMkLst>
        <pc:spChg chg="mod">
          <ac:chgData name="Fatima Ansarizadeh" userId="2e2f4077-aba0-49c7-b26f-c647714fbdc0" providerId="ADAL" clId="{4AF819A5-1A07-4075-8C4E-D726B4CE70A1}" dt="2026-07-05T18:16:29.987" v="670" actId="1076"/>
          <ac:spMkLst>
            <pc:docMk/>
            <pc:sldMk cId="1489771610" sldId="296"/>
            <ac:spMk id="3" creationId="{F35C8377-7225-BED2-506F-7CB8C5B0106A}"/>
          </ac:spMkLst>
        </pc:spChg>
      </pc:sldChg>
      <pc:sldChg chg="modSp mod modShow">
        <pc:chgData name="Fatima Ansarizadeh" userId="2e2f4077-aba0-49c7-b26f-c647714fbdc0" providerId="ADAL" clId="{4AF819A5-1A07-4075-8C4E-D726B4CE70A1}" dt="2026-07-07T00:54:46.769" v="837" actId="729"/>
        <pc:sldMkLst>
          <pc:docMk/>
          <pc:sldMk cId="4242700083" sldId="299"/>
        </pc:sldMkLst>
        <pc:spChg chg="mod">
          <ac:chgData name="Fatima Ansarizadeh" userId="2e2f4077-aba0-49c7-b26f-c647714fbdc0" providerId="ADAL" clId="{4AF819A5-1A07-4075-8C4E-D726B4CE70A1}" dt="2026-07-07T00:46:11.920" v="834" actId="1076"/>
          <ac:spMkLst>
            <pc:docMk/>
            <pc:sldMk cId="4242700083" sldId="299"/>
            <ac:spMk id="2" creationId="{22B6B9C9-EBCF-2DB5-D929-318AA517DB98}"/>
          </ac:spMkLst>
        </pc:spChg>
      </pc:sldChg>
      <pc:sldChg chg="modSp">
        <pc:chgData name="Fatima Ansarizadeh" userId="2e2f4077-aba0-49c7-b26f-c647714fbdc0" providerId="ADAL" clId="{4AF819A5-1A07-4075-8C4E-D726B4CE70A1}" dt="2026-07-07T00:49:47.782" v="835" actId="207"/>
        <pc:sldMkLst>
          <pc:docMk/>
          <pc:sldMk cId="3427105814" sldId="305"/>
        </pc:sldMkLst>
        <pc:spChg chg="mod">
          <ac:chgData name="Fatima Ansarizadeh" userId="2e2f4077-aba0-49c7-b26f-c647714fbdc0" providerId="ADAL" clId="{4AF819A5-1A07-4075-8C4E-D726B4CE70A1}" dt="2026-07-07T00:49:47.782" v="835" actId="207"/>
          <ac:spMkLst>
            <pc:docMk/>
            <pc:sldMk cId="3427105814" sldId="305"/>
            <ac:spMk id="3" creationId="{D2C26D68-0929-0B1E-98C5-BE0106610006}"/>
          </ac:spMkLst>
        </pc:spChg>
      </pc:sldChg>
      <pc:sldChg chg="modSp">
        <pc:chgData name="Fatima Ansarizadeh" userId="2e2f4077-aba0-49c7-b26f-c647714fbdc0" providerId="ADAL" clId="{4AF819A5-1A07-4075-8C4E-D726B4CE70A1}" dt="2026-07-07T00:50:51.267" v="836" actId="207"/>
        <pc:sldMkLst>
          <pc:docMk/>
          <pc:sldMk cId="1950074990" sldId="306"/>
        </pc:sldMkLst>
        <pc:spChg chg="mod">
          <ac:chgData name="Fatima Ansarizadeh" userId="2e2f4077-aba0-49c7-b26f-c647714fbdc0" providerId="ADAL" clId="{4AF819A5-1A07-4075-8C4E-D726B4CE70A1}" dt="2026-07-07T00:50:51.267" v="836" actId="207"/>
          <ac:spMkLst>
            <pc:docMk/>
            <pc:sldMk cId="1950074990" sldId="306"/>
            <ac:spMk id="3" creationId="{D2C26D68-0929-0B1E-98C5-BE0106610006}"/>
          </ac:spMkLst>
        </pc:spChg>
      </pc:sldChg>
      <pc:sldChg chg="modAnim">
        <pc:chgData name="Fatima Ansarizadeh" userId="2e2f4077-aba0-49c7-b26f-c647714fbdc0" providerId="ADAL" clId="{4AF819A5-1A07-4075-8C4E-D726B4CE70A1}" dt="2026-07-06T17:28:37.183" v="743"/>
        <pc:sldMkLst>
          <pc:docMk/>
          <pc:sldMk cId="1237990440" sldId="307"/>
        </pc:sldMkLst>
      </pc:sldChg>
      <pc:sldChg chg="modSp mod">
        <pc:chgData name="Fatima Ansarizadeh" userId="2e2f4077-aba0-49c7-b26f-c647714fbdc0" providerId="ADAL" clId="{4AF819A5-1A07-4075-8C4E-D726B4CE70A1}" dt="2026-07-06T17:39:27.752" v="751" actId="13926"/>
        <pc:sldMkLst>
          <pc:docMk/>
          <pc:sldMk cId="1740385073" sldId="311"/>
        </pc:sldMkLst>
        <pc:spChg chg="mod">
          <ac:chgData name="Fatima Ansarizadeh" userId="2e2f4077-aba0-49c7-b26f-c647714fbdc0" providerId="ADAL" clId="{4AF819A5-1A07-4075-8C4E-D726B4CE70A1}" dt="2026-07-06T17:39:27.752" v="751" actId="13926"/>
          <ac:spMkLst>
            <pc:docMk/>
            <pc:sldMk cId="1740385073" sldId="311"/>
            <ac:spMk id="3" creationId="{134F858A-86F3-FB66-2435-40C1F1A71984}"/>
          </ac:spMkLst>
        </pc:spChg>
        <pc:graphicFrameChg chg="modGraphic">
          <ac:chgData name="Fatima Ansarizadeh" userId="2e2f4077-aba0-49c7-b26f-c647714fbdc0" providerId="ADAL" clId="{4AF819A5-1A07-4075-8C4E-D726B4CE70A1}" dt="2026-07-06T17:38:58.991" v="748" actId="13926"/>
          <ac:graphicFrameMkLst>
            <pc:docMk/>
            <pc:sldMk cId="1740385073" sldId="311"/>
            <ac:graphicFrameMk id="8" creationId="{4ECAE456-1A28-B0EA-B44E-CE2FCB9F112C}"/>
          </ac:graphicFrameMkLst>
        </pc:graphicFrameChg>
      </pc:sldChg>
      <pc:sldChg chg="modSp mod">
        <pc:chgData name="Fatima Ansarizadeh" userId="2e2f4077-aba0-49c7-b26f-c647714fbdc0" providerId="ADAL" clId="{4AF819A5-1A07-4075-8C4E-D726B4CE70A1}" dt="2026-07-06T17:44:16.501" v="754" actId="13926"/>
        <pc:sldMkLst>
          <pc:docMk/>
          <pc:sldMk cId="2305523571" sldId="315"/>
        </pc:sldMkLst>
        <pc:spChg chg="mod">
          <ac:chgData name="Fatima Ansarizadeh" userId="2e2f4077-aba0-49c7-b26f-c647714fbdc0" providerId="ADAL" clId="{4AF819A5-1A07-4075-8C4E-D726B4CE70A1}" dt="2026-07-06T17:44:16.501" v="754" actId="13926"/>
          <ac:spMkLst>
            <pc:docMk/>
            <pc:sldMk cId="2305523571" sldId="315"/>
            <ac:spMk id="3" creationId="{A2DFF4ED-4903-6318-0E48-BBF44EB6C2E2}"/>
          </ac:spMkLst>
        </pc:spChg>
      </pc:sldChg>
      <pc:sldChg chg="modSp mod">
        <pc:chgData name="Fatima Ansarizadeh" userId="2e2f4077-aba0-49c7-b26f-c647714fbdc0" providerId="ADAL" clId="{4AF819A5-1A07-4075-8C4E-D726B4CE70A1}" dt="2026-07-06T17:46:31.842" v="772" actId="13926"/>
        <pc:sldMkLst>
          <pc:docMk/>
          <pc:sldMk cId="1949815711" sldId="316"/>
        </pc:sldMkLst>
        <pc:spChg chg="mod">
          <ac:chgData name="Fatima Ansarizadeh" userId="2e2f4077-aba0-49c7-b26f-c647714fbdc0" providerId="ADAL" clId="{4AF819A5-1A07-4075-8C4E-D726B4CE70A1}" dt="2026-07-06T17:46:31.842" v="772" actId="13926"/>
          <ac:spMkLst>
            <pc:docMk/>
            <pc:sldMk cId="1949815711" sldId="316"/>
            <ac:spMk id="3" creationId="{E6FFB7CA-8962-AB90-5B27-358514163E63}"/>
          </ac:spMkLst>
        </pc:spChg>
      </pc:sldChg>
      <pc:sldChg chg="modNotesTx">
        <pc:chgData name="Fatima Ansarizadeh" userId="2e2f4077-aba0-49c7-b26f-c647714fbdc0" providerId="ADAL" clId="{4AF819A5-1A07-4075-8C4E-D726B4CE70A1}" dt="2026-07-06T17:49:20.437" v="781" actId="20577"/>
        <pc:sldMkLst>
          <pc:docMk/>
          <pc:sldMk cId="564906914" sldId="317"/>
        </pc:sldMkLst>
      </pc:sldChg>
      <pc:sldChg chg="modNotesTx">
        <pc:chgData name="Fatima Ansarizadeh" userId="2e2f4077-aba0-49c7-b26f-c647714fbdc0" providerId="ADAL" clId="{4AF819A5-1A07-4075-8C4E-D726B4CE70A1}" dt="2026-07-06T17:54:12.502" v="790" actId="113"/>
        <pc:sldMkLst>
          <pc:docMk/>
          <pc:sldMk cId="3293725439" sldId="319"/>
        </pc:sldMkLst>
      </pc:sldChg>
      <pc:sldChg chg="modSp mod">
        <pc:chgData name="Fatima Ansarizadeh" userId="2e2f4077-aba0-49c7-b26f-c647714fbdc0" providerId="ADAL" clId="{4AF819A5-1A07-4075-8C4E-D726B4CE70A1}" dt="2026-07-06T18:04:27.001" v="794" actId="13926"/>
        <pc:sldMkLst>
          <pc:docMk/>
          <pc:sldMk cId="3505921333" sldId="327"/>
        </pc:sldMkLst>
        <pc:spChg chg="mod">
          <ac:chgData name="Fatima Ansarizadeh" userId="2e2f4077-aba0-49c7-b26f-c647714fbdc0" providerId="ADAL" clId="{4AF819A5-1A07-4075-8C4E-D726B4CE70A1}" dt="2026-07-05T18:46:01.558" v="714" actId="1076"/>
          <ac:spMkLst>
            <pc:docMk/>
            <pc:sldMk cId="3505921333" sldId="327"/>
            <ac:spMk id="2" creationId="{50F145C1-782A-6A76-951A-8091FBF8A443}"/>
          </ac:spMkLst>
        </pc:spChg>
        <pc:spChg chg="mod">
          <ac:chgData name="Fatima Ansarizadeh" userId="2e2f4077-aba0-49c7-b26f-c647714fbdc0" providerId="ADAL" clId="{4AF819A5-1A07-4075-8C4E-D726B4CE70A1}" dt="2026-07-06T18:04:27.001" v="794" actId="13926"/>
          <ac:spMkLst>
            <pc:docMk/>
            <pc:sldMk cId="3505921333" sldId="327"/>
            <ac:spMk id="3" creationId="{4297AC89-59F0-D297-3869-74814BF4953F}"/>
          </ac:spMkLst>
        </pc:spChg>
      </pc:sldChg>
      <pc:sldChg chg="addSp delSp modSp mod">
        <pc:chgData name="Fatima Ansarizadeh" userId="2e2f4077-aba0-49c7-b26f-c647714fbdc0" providerId="ADAL" clId="{4AF819A5-1A07-4075-8C4E-D726B4CE70A1}" dt="2026-07-06T18:06:58.686" v="801" actId="1076"/>
        <pc:sldMkLst>
          <pc:docMk/>
          <pc:sldMk cId="3697037774" sldId="328"/>
        </pc:sldMkLst>
        <pc:spChg chg="mod">
          <ac:chgData name="Fatima Ansarizadeh" userId="2e2f4077-aba0-49c7-b26f-c647714fbdc0" providerId="ADAL" clId="{4AF819A5-1A07-4075-8C4E-D726B4CE70A1}" dt="2026-07-05T18:50:24.895" v="716" actId="1076"/>
          <ac:spMkLst>
            <pc:docMk/>
            <pc:sldMk cId="3697037774" sldId="328"/>
            <ac:spMk id="2" creationId="{D2DC9007-061E-1E24-3646-733E035FC4C3}"/>
          </ac:spMkLst>
        </pc:spChg>
        <pc:graphicFrameChg chg="mod">
          <ac:chgData name="Fatima Ansarizadeh" userId="2e2f4077-aba0-49c7-b26f-c647714fbdc0" providerId="ADAL" clId="{4AF819A5-1A07-4075-8C4E-D726B4CE70A1}" dt="2026-07-06T18:06:01.153" v="798" actId="13926"/>
          <ac:graphicFrameMkLst>
            <pc:docMk/>
            <pc:sldMk cId="3697037774" sldId="328"/>
            <ac:graphicFrameMk id="7" creationId="{DA1B7236-E529-7DF6-2931-3B66E5DD3534}"/>
          </ac:graphicFrameMkLst>
        </pc:graphicFrameChg>
        <pc:picChg chg="del">
          <ac:chgData name="Fatima Ansarizadeh" userId="2e2f4077-aba0-49c7-b26f-c647714fbdc0" providerId="ADAL" clId="{4AF819A5-1A07-4075-8C4E-D726B4CE70A1}" dt="2026-07-06T18:06:55.476" v="800" actId="21"/>
          <ac:picMkLst>
            <pc:docMk/>
            <pc:sldMk cId="3697037774" sldId="328"/>
            <ac:picMk id="5" creationId="{2063E64F-BDE8-0FAE-F79F-594B9FC2F0B0}"/>
          </ac:picMkLst>
        </pc:picChg>
        <pc:picChg chg="add mod">
          <ac:chgData name="Fatima Ansarizadeh" userId="2e2f4077-aba0-49c7-b26f-c647714fbdc0" providerId="ADAL" clId="{4AF819A5-1A07-4075-8C4E-D726B4CE70A1}" dt="2026-07-06T18:06:58.686" v="801" actId="1076"/>
          <ac:picMkLst>
            <pc:docMk/>
            <pc:sldMk cId="3697037774" sldId="328"/>
            <ac:picMk id="6" creationId="{07373420-D027-D0E3-D541-D6B31FBB60FA}"/>
          </ac:picMkLst>
        </pc:picChg>
      </pc:sldChg>
      <pc:sldChg chg="modSp mod">
        <pc:chgData name="Fatima Ansarizadeh" userId="2e2f4077-aba0-49c7-b26f-c647714fbdc0" providerId="ADAL" clId="{4AF819A5-1A07-4075-8C4E-D726B4CE70A1}" dt="2026-07-06T17:50:59.927" v="782" actId="1076"/>
        <pc:sldMkLst>
          <pc:docMk/>
          <pc:sldMk cId="177715414" sldId="332"/>
        </pc:sldMkLst>
        <pc:picChg chg="mod">
          <ac:chgData name="Fatima Ansarizadeh" userId="2e2f4077-aba0-49c7-b26f-c647714fbdc0" providerId="ADAL" clId="{4AF819A5-1A07-4075-8C4E-D726B4CE70A1}" dt="2026-07-06T17:50:59.927" v="782" actId="1076"/>
          <ac:picMkLst>
            <pc:docMk/>
            <pc:sldMk cId="177715414" sldId="332"/>
            <ac:picMk id="5" creationId="{FCB17F4C-1EEC-DA59-946C-7E2E7BEB6866}"/>
          </ac:picMkLst>
        </pc:picChg>
      </pc:sldChg>
      <pc:sldChg chg="modSp mod modAnim">
        <pc:chgData name="Fatima Ansarizadeh" userId="2e2f4077-aba0-49c7-b26f-c647714fbdc0" providerId="ADAL" clId="{4AF819A5-1A07-4075-8C4E-D726B4CE70A1}" dt="2026-07-06T17:25:11.635" v="741"/>
        <pc:sldMkLst>
          <pc:docMk/>
          <pc:sldMk cId="1881285998" sldId="337"/>
        </pc:sldMkLst>
        <pc:spChg chg="mod">
          <ac:chgData name="Fatima Ansarizadeh" userId="2e2f4077-aba0-49c7-b26f-c647714fbdc0" providerId="ADAL" clId="{4AF819A5-1A07-4075-8C4E-D726B4CE70A1}" dt="2026-07-05T18:19:57.311" v="712" actId="1076"/>
          <ac:spMkLst>
            <pc:docMk/>
            <pc:sldMk cId="1881285998" sldId="337"/>
            <ac:spMk id="2" creationId="{5D31FDA3-45C1-8AD4-720A-9EE5D73A2FB1}"/>
          </ac:spMkLst>
        </pc:spChg>
      </pc:sldChg>
      <pc:sldChg chg="modSp mod modAnim">
        <pc:chgData name="Fatima Ansarizadeh" userId="2e2f4077-aba0-49c7-b26f-c647714fbdc0" providerId="ADAL" clId="{4AF819A5-1A07-4075-8C4E-D726B4CE70A1}" dt="2026-07-07T00:41:02.081" v="830" actId="13926"/>
        <pc:sldMkLst>
          <pc:docMk/>
          <pc:sldMk cId="1070125668" sldId="351"/>
        </pc:sldMkLst>
        <pc:spChg chg="mod">
          <ac:chgData name="Fatima Ansarizadeh" userId="2e2f4077-aba0-49c7-b26f-c647714fbdc0" providerId="ADAL" clId="{4AF819A5-1A07-4075-8C4E-D726B4CE70A1}" dt="2026-07-07T00:41:02.081" v="830" actId="13926"/>
          <ac:spMkLst>
            <pc:docMk/>
            <pc:sldMk cId="1070125668" sldId="351"/>
            <ac:spMk id="3" creationId="{451EBB76-A308-E093-6FB6-7E2A4F701678}"/>
          </ac:spMkLst>
        </pc:spChg>
      </pc:sldChg>
      <pc:sldChg chg="modSp mod">
        <pc:chgData name="Fatima Ansarizadeh" userId="2e2f4077-aba0-49c7-b26f-c647714fbdc0" providerId="ADAL" clId="{4AF819A5-1A07-4075-8C4E-D726B4CE70A1}" dt="2026-07-06T17:29:56.415" v="745" actId="13926"/>
        <pc:sldMkLst>
          <pc:docMk/>
          <pc:sldMk cId="1259698192" sldId="353"/>
        </pc:sldMkLst>
        <pc:spChg chg="mod">
          <ac:chgData name="Fatima Ansarizadeh" userId="2e2f4077-aba0-49c7-b26f-c647714fbdc0" providerId="ADAL" clId="{4AF819A5-1A07-4075-8C4E-D726B4CE70A1}" dt="2026-07-06T17:29:56.415" v="745" actId="13926"/>
          <ac:spMkLst>
            <pc:docMk/>
            <pc:sldMk cId="1259698192" sldId="353"/>
            <ac:spMk id="3" creationId="{FAB32FAF-7821-1809-2ED6-9566B2BFEAA5}"/>
          </ac:spMkLst>
        </pc:spChg>
      </pc:sldChg>
      <pc:sldChg chg="modSp mod">
        <pc:chgData name="Fatima Ansarizadeh" userId="2e2f4077-aba0-49c7-b26f-c647714fbdc0" providerId="ADAL" clId="{4AF819A5-1A07-4075-8C4E-D726B4CE70A1}" dt="2026-07-05T18:21:36.950" v="713" actId="1076"/>
        <pc:sldMkLst>
          <pc:docMk/>
          <pc:sldMk cId="919027976" sldId="354"/>
        </pc:sldMkLst>
        <pc:spChg chg="mod">
          <ac:chgData name="Fatima Ansarizadeh" userId="2e2f4077-aba0-49c7-b26f-c647714fbdc0" providerId="ADAL" clId="{4AF819A5-1A07-4075-8C4E-D726B4CE70A1}" dt="2026-07-05T18:21:36.950" v="713" actId="1076"/>
          <ac:spMkLst>
            <pc:docMk/>
            <pc:sldMk cId="919027976" sldId="354"/>
            <ac:spMk id="2" creationId="{A0426C9F-24EB-EDCE-3456-4830A6362F98}"/>
          </ac:spMkLst>
        </pc:spChg>
      </pc:sldChg>
      <pc:sldChg chg="modSp mod">
        <pc:chgData name="Fatima Ansarizadeh" userId="2e2f4077-aba0-49c7-b26f-c647714fbdc0" providerId="ADAL" clId="{4AF819A5-1A07-4075-8C4E-D726B4CE70A1}" dt="2026-07-06T15:54:11.458" v="719" actId="13926"/>
        <pc:sldMkLst>
          <pc:docMk/>
          <pc:sldMk cId="2759258917" sldId="362"/>
        </pc:sldMkLst>
        <pc:spChg chg="mod">
          <ac:chgData name="Fatima Ansarizadeh" userId="2e2f4077-aba0-49c7-b26f-c647714fbdc0" providerId="ADAL" clId="{4AF819A5-1A07-4075-8C4E-D726B4CE70A1}" dt="2026-07-05T18:18:11.072" v="696" actId="1076"/>
          <ac:spMkLst>
            <pc:docMk/>
            <pc:sldMk cId="2759258917" sldId="362"/>
            <ac:spMk id="2" creationId="{F5EF8C57-3777-8102-242D-4EAD3F646A6C}"/>
          </ac:spMkLst>
        </pc:spChg>
        <pc:spChg chg="mod">
          <ac:chgData name="Fatima Ansarizadeh" userId="2e2f4077-aba0-49c7-b26f-c647714fbdc0" providerId="ADAL" clId="{4AF819A5-1A07-4075-8C4E-D726B4CE70A1}" dt="2026-07-06T15:54:11.458" v="719" actId="13926"/>
          <ac:spMkLst>
            <pc:docMk/>
            <pc:sldMk cId="2759258917" sldId="362"/>
            <ac:spMk id="3" creationId="{CABE7FE5-FE3E-3FC1-592A-4F79B21E774C}"/>
          </ac:spMkLst>
        </pc:spChg>
      </pc:sldChg>
      <pc:sldChg chg="mod modShow">
        <pc:chgData name="Fatima Ansarizadeh" userId="2e2f4077-aba0-49c7-b26f-c647714fbdc0" providerId="ADAL" clId="{4AF819A5-1A07-4075-8C4E-D726B4CE70A1}" dt="2026-07-07T00:43:02.387" v="831" actId="729"/>
        <pc:sldMkLst>
          <pc:docMk/>
          <pc:sldMk cId="2495162634" sldId="372"/>
        </pc:sldMkLst>
      </pc:sldChg>
      <pc:sldChg chg="modAnim">
        <pc:chgData name="Fatima Ansarizadeh" userId="2e2f4077-aba0-49c7-b26f-c647714fbdc0" providerId="ADAL" clId="{4AF819A5-1A07-4075-8C4E-D726B4CE70A1}" dt="2026-07-06T17:15:17.810" v="740"/>
        <pc:sldMkLst>
          <pc:docMk/>
          <pc:sldMk cId="3057524013" sldId="373"/>
        </pc:sldMkLst>
      </pc:sldChg>
      <pc:sldChg chg="modSp mod">
        <pc:chgData name="Fatima Ansarizadeh" userId="2e2f4077-aba0-49c7-b26f-c647714fbdc0" providerId="ADAL" clId="{4AF819A5-1A07-4075-8C4E-D726B4CE70A1}" dt="2026-07-07T00:36:49.236" v="827" actId="1076"/>
        <pc:sldMkLst>
          <pc:docMk/>
          <pc:sldMk cId="104962929" sldId="376"/>
        </pc:sldMkLst>
        <pc:spChg chg="mod">
          <ac:chgData name="Fatima Ansarizadeh" userId="2e2f4077-aba0-49c7-b26f-c647714fbdc0" providerId="ADAL" clId="{4AF819A5-1A07-4075-8C4E-D726B4CE70A1}" dt="2026-07-05T18:19:47.806" v="710" actId="1076"/>
          <ac:spMkLst>
            <pc:docMk/>
            <pc:sldMk cId="104962929" sldId="376"/>
            <ac:spMk id="2" creationId="{B118CE26-F5EB-2558-F99E-BBE207D4AD9A}"/>
          </ac:spMkLst>
        </pc:spChg>
        <pc:spChg chg="mod">
          <ac:chgData name="Fatima Ansarizadeh" userId="2e2f4077-aba0-49c7-b26f-c647714fbdc0" providerId="ADAL" clId="{4AF819A5-1A07-4075-8C4E-D726B4CE70A1}" dt="2026-07-07T00:36:49.236" v="827" actId="1076"/>
          <ac:spMkLst>
            <pc:docMk/>
            <pc:sldMk cId="104962929" sldId="376"/>
            <ac:spMk id="3" creationId="{C1B97505-69EE-2CD0-ECCA-806349B47498}"/>
          </ac:spMkLst>
        </pc:spChg>
      </pc:sldChg>
      <pc:sldChg chg="modSp mod">
        <pc:chgData name="Fatima Ansarizadeh" userId="2e2f4077-aba0-49c7-b26f-c647714fbdc0" providerId="ADAL" clId="{4AF819A5-1A07-4075-8C4E-D726B4CE70A1}" dt="2026-07-06T16:07:21.151" v="721"/>
        <pc:sldMkLst>
          <pc:docMk/>
          <pc:sldMk cId="1294997140" sldId="377"/>
        </pc:sldMkLst>
        <pc:spChg chg="mod">
          <ac:chgData name="Fatima Ansarizadeh" userId="2e2f4077-aba0-49c7-b26f-c647714fbdc0" providerId="ADAL" clId="{4AF819A5-1A07-4075-8C4E-D726B4CE70A1}" dt="2026-07-06T16:07:21.151" v="721"/>
          <ac:spMkLst>
            <pc:docMk/>
            <pc:sldMk cId="1294997140" sldId="377"/>
            <ac:spMk id="2" creationId="{F5EF8C57-3777-8102-242D-4EAD3F646A6C}"/>
          </ac:spMkLst>
        </pc:spChg>
        <pc:spChg chg="mod">
          <ac:chgData name="Fatima Ansarizadeh" userId="2e2f4077-aba0-49c7-b26f-c647714fbdc0" providerId="ADAL" clId="{4AF819A5-1A07-4075-8C4E-D726B4CE70A1}" dt="2026-07-05T18:18:31.438" v="700" actId="1076"/>
          <ac:spMkLst>
            <pc:docMk/>
            <pc:sldMk cId="1294997140" sldId="377"/>
            <ac:spMk id="3" creationId="{CABE7FE5-FE3E-3FC1-592A-4F79B21E774C}"/>
          </ac:spMkLst>
        </pc:spChg>
      </pc:sldChg>
      <pc:sldChg chg="modSp mod">
        <pc:chgData name="Fatima Ansarizadeh" userId="2e2f4077-aba0-49c7-b26f-c647714fbdc0" providerId="ADAL" clId="{4AF819A5-1A07-4075-8C4E-D726B4CE70A1}" dt="2026-07-05T18:18:54.121" v="704" actId="1076"/>
        <pc:sldMkLst>
          <pc:docMk/>
          <pc:sldMk cId="3231892469" sldId="378"/>
        </pc:sldMkLst>
        <pc:spChg chg="mod">
          <ac:chgData name="Fatima Ansarizadeh" userId="2e2f4077-aba0-49c7-b26f-c647714fbdc0" providerId="ADAL" clId="{4AF819A5-1A07-4075-8C4E-D726B4CE70A1}" dt="2026-07-05T18:18:54.121" v="704" actId="1076"/>
          <ac:spMkLst>
            <pc:docMk/>
            <pc:sldMk cId="3231892469" sldId="378"/>
            <ac:spMk id="2" creationId="{F5EF8C57-3777-8102-242D-4EAD3F646A6C}"/>
          </ac:spMkLst>
        </pc:spChg>
      </pc:sldChg>
      <pc:sldChg chg="modSp mod">
        <pc:chgData name="Fatima Ansarizadeh" userId="2e2f4077-aba0-49c7-b26f-c647714fbdc0" providerId="ADAL" clId="{4AF819A5-1A07-4075-8C4E-D726B4CE70A1}" dt="2026-07-07T00:31:34.265" v="808" actId="13926"/>
        <pc:sldMkLst>
          <pc:docMk/>
          <pc:sldMk cId="1029514227" sldId="380"/>
        </pc:sldMkLst>
        <pc:spChg chg="mod">
          <ac:chgData name="Fatima Ansarizadeh" userId="2e2f4077-aba0-49c7-b26f-c647714fbdc0" providerId="ADAL" clId="{4AF819A5-1A07-4075-8C4E-D726B4CE70A1}" dt="2026-07-07T00:31:34.265" v="808" actId="13926"/>
          <ac:spMkLst>
            <pc:docMk/>
            <pc:sldMk cId="1029514227" sldId="380"/>
            <ac:spMk id="3" creationId="{CABE7FE5-FE3E-3FC1-592A-4F79B21E774C}"/>
          </ac:spMkLst>
        </pc:spChg>
      </pc:sldChg>
      <pc:sldChg chg="modSp mod modAnim">
        <pc:chgData name="Fatima Ansarizadeh" userId="2e2f4077-aba0-49c7-b26f-c647714fbdc0" providerId="ADAL" clId="{4AF819A5-1A07-4075-8C4E-D726B4CE70A1}" dt="2026-07-07T00:33:02.588" v="811" actId="13926"/>
        <pc:sldMkLst>
          <pc:docMk/>
          <pc:sldMk cId="3643415310" sldId="381"/>
        </pc:sldMkLst>
        <pc:spChg chg="mod">
          <ac:chgData name="Fatima Ansarizadeh" userId="2e2f4077-aba0-49c7-b26f-c647714fbdc0" providerId="ADAL" clId="{4AF819A5-1A07-4075-8C4E-D726B4CE70A1}" dt="2026-07-07T00:33:02.588" v="811" actId="13926"/>
          <ac:spMkLst>
            <pc:docMk/>
            <pc:sldMk cId="3643415310" sldId="381"/>
            <ac:spMk id="3" creationId="{CABE7FE5-FE3E-3FC1-592A-4F79B21E774C}"/>
          </ac:spMkLst>
        </pc:spChg>
      </pc:sldChg>
      <pc:sldChg chg="modSp mod modAnim">
        <pc:chgData name="Fatima Ansarizadeh" userId="2e2f4077-aba0-49c7-b26f-c647714fbdc0" providerId="ADAL" clId="{4AF819A5-1A07-4075-8C4E-D726B4CE70A1}" dt="2026-07-07T00:33:50.457" v="815" actId="13926"/>
        <pc:sldMkLst>
          <pc:docMk/>
          <pc:sldMk cId="3192928225" sldId="383"/>
        </pc:sldMkLst>
        <pc:spChg chg="mod">
          <ac:chgData name="Fatima Ansarizadeh" userId="2e2f4077-aba0-49c7-b26f-c647714fbdc0" providerId="ADAL" clId="{4AF819A5-1A07-4075-8C4E-D726B4CE70A1}" dt="2026-07-07T00:33:50.457" v="815" actId="13926"/>
          <ac:spMkLst>
            <pc:docMk/>
            <pc:sldMk cId="3192928225" sldId="383"/>
            <ac:spMk id="3" creationId="{3C4CEBFA-C61D-8198-E521-FFB450F2366C}"/>
          </ac:spMkLst>
        </pc:spChg>
      </pc:sldChg>
      <pc:sldChg chg="modSp mod modAnim">
        <pc:chgData name="Fatima Ansarizadeh" userId="2e2f4077-aba0-49c7-b26f-c647714fbdc0" providerId="ADAL" clId="{4AF819A5-1A07-4075-8C4E-D726B4CE70A1}" dt="2026-07-07T00:34:07.521" v="818" actId="13926"/>
        <pc:sldMkLst>
          <pc:docMk/>
          <pc:sldMk cId="2509681872" sldId="384"/>
        </pc:sldMkLst>
        <pc:spChg chg="mod">
          <ac:chgData name="Fatima Ansarizadeh" userId="2e2f4077-aba0-49c7-b26f-c647714fbdc0" providerId="ADAL" clId="{4AF819A5-1A07-4075-8C4E-D726B4CE70A1}" dt="2026-07-07T00:34:07.521" v="818" actId="13926"/>
          <ac:spMkLst>
            <pc:docMk/>
            <pc:sldMk cId="2509681872" sldId="384"/>
            <ac:spMk id="3" creationId="{3C4CEBFA-C61D-8198-E521-FFB450F2366C}"/>
          </ac:spMkLst>
        </pc:spChg>
      </pc:sldChg>
      <pc:sldChg chg="modSp mod modAnim">
        <pc:chgData name="Fatima Ansarizadeh" userId="2e2f4077-aba0-49c7-b26f-c647714fbdc0" providerId="ADAL" clId="{4AF819A5-1A07-4075-8C4E-D726B4CE70A1}" dt="2026-07-07T00:34:53.290" v="821" actId="13926"/>
        <pc:sldMkLst>
          <pc:docMk/>
          <pc:sldMk cId="1903623959" sldId="386"/>
        </pc:sldMkLst>
        <pc:spChg chg="mod">
          <ac:chgData name="Fatima Ansarizadeh" userId="2e2f4077-aba0-49c7-b26f-c647714fbdc0" providerId="ADAL" clId="{4AF819A5-1A07-4075-8C4E-D726B4CE70A1}" dt="2026-07-05T18:19:24.455" v="706" actId="1076"/>
          <ac:spMkLst>
            <pc:docMk/>
            <pc:sldMk cId="1903623959" sldId="386"/>
            <ac:spMk id="2" creationId="{B039B0B3-50CC-B492-DF6C-16FD1C0E3E85}"/>
          </ac:spMkLst>
        </pc:spChg>
        <pc:spChg chg="mod">
          <ac:chgData name="Fatima Ansarizadeh" userId="2e2f4077-aba0-49c7-b26f-c647714fbdc0" providerId="ADAL" clId="{4AF819A5-1A07-4075-8C4E-D726B4CE70A1}" dt="2026-07-07T00:34:53.290" v="821" actId="13926"/>
          <ac:spMkLst>
            <pc:docMk/>
            <pc:sldMk cId="1903623959" sldId="386"/>
            <ac:spMk id="3" creationId="{3C4CEBFA-C61D-8198-E521-FFB450F2366C}"/>
          </ac:spMkLst>
        </pc:spChg>
      </pc:sldChg>
      <pc:sldChg chg="modSp mod">
        <pc:chgData name="Fatima Ansarizadeh" userId="2e2f4077-aba0-49c7-b26f-c647714fbdc0" providerId="ADAL" clId="{4AF819A5-1A07-4075-8C4E-D726B4CE70A1}" dt="2026-07-05T18:19:36.321" v="708" actId="1076"/>
        <pc:sldMkLst>
          <pc:docMk/>
          <pc:sldMk cId="3550219258" sldId="387"/>
        </pc:sldMkLst>
        <pc:spChg chg="mod">
          <ac:chgData name="Fatima Ansarizadeh" userId="2e2f4077-aba0-49c7-b26f-c647714fbdc0" providerId="ADAL" clId="{4AF819A5-1A07-4075-8C4E-D726B4CE70A1}" dt="2026-07-05T18:19:36.321" v="708" actId="1076"/>
          <ac:spMkLst>
            <pc:docMk/>
            <pc:sldMk cId="3550219258" sldId="387"/>
            <ac:spMk id="2" creationId="{B039B0B3-50CC-B492-DF6C-16FD1C0E3E85}"/>
          </ac:spMkLst>
        </pc:spChg>
      </pc:sldChg>
      <pc:sldChg chg="modSp mod modAnim">
        <pc:chgData name="Fatima Ansarizadeh" userId="2e2f4077-aba0-49c7-b26f-c647714fbdc0" providerId="ADAL" clId="{4AF819A5-1A07-4075-8C4E-D726B4CE70A1}" dt="2026-07-07T00:35:28.800" v="826" actId="1076"/>
        <pc:sldMkLst>
          <pc:docMk/>
          <pc:sldMk cId="4060905575" sldId="388"/>
        </pc:sldMkLst>
        <pc:spChg chg="mod">
          <ac:chgData name="Fatima Ansarizadeh" userId="2e2f4077-aba0-49c7-b26f-c647714fbdc0" providerId="ADAL" clId="{4AF819A5-1A07-4075-8C4E-D726B4CE70A1}" dt="2026-07-05T18:19:32.397" v="707" actId="1076"/>
          <ac:spMkLst>
            <pc:docMk/>
            <pc:sldMk cId="4060905575" sldId="388"/>
            <ac:spMk id="2" creationId="{B039B0B3-50CC-B492-DF6C-16FD1C0E3E85}"/>
          </ac:spMkLst>
        </pc:spChg>
        <pc:spChg chg="mod">
          <ac:chgData name="Fatima Ansarizadeh" userId="2e2f4077-aba0-49c7-b26f-c647714fbdc0" providerId="ADAL" clId="{4AF819A5-1A07-4075-8C4E-D726B4CE70A1}" dt="2026-07-07T00:35:28.800" v="826" actId="1076"/>
          <ac:spMkLst>
            <pc:docMk/>
            <pc:sldMk cId="4060905575" sldId="388"/>
            <ac:spMk id="3" creationId="{3C4CEBFA-C61D-8198-E521-FFB450F2366C}"/>
          </ac:spMkLst>
        </pc:spChg>
      </pc:sldChg>
      <pc:sldChg chg="modSp mod">
        <pc:chgData name="Fatima Ansarizadeh" userId="2e2f4077-aba0-49c7-b26f-c647714fbdc0" providerId="ADAL" clId="{4AF819A5-1A07-4075-8C4E-D726B4CE70A1}" dt="2026-07-05T18:19:40.813" v="709" actId="1076"/>
        <pc:sldMkLst>
          <pc:docMk/>
          <pc:sldMk cId="870157065" sldId="391"/>
        </pc:sldMkLst>
        <pc:spChg chg="mod">
          <ac:chgData name="Fatima Ansarizadeh" userId="2e2f4077-aba0-49c7-b26f-c647714fbdc0" providerId="ADAL" clId="{4AF819A5-1A07-4075-8C4E-D726B4CE70A1}" dt="2026-07-05T18:19:40.813" v="709" actId="1076"/>
          <ac:spMkLst>
            <pc:docMk/>
            <pc:sldMk cId="870157065" sldId="391"/>
            <ac:spMk id="2" creationId="{5CAE16F7-F3D3-55D1-86B8-5FCBD3852B57}"/>
          </ac:spMkLst>
        </pc:spChg>
      </pc:sldChg>
      <pc:sldChg chg="modSp mod">
        <pc:chgData name="Fatima Ansarizadeh" userId="2e2f4077-aba0-49c7-b26f-c647714fbdc0" providerId="ADAL" clId="{4AF819A5-1A07-4075-8C4E-D726B4CE70A1}" dt="2026-07-05T18:46:04.798" v="715" actId="1076"/>
        <pc:sldMkLst>
          <pc:docMk/>
          <pc:sldMk cId="547326430" sldId="397"/>
        </pc:sldMkLst>
        <pc:spChg chg="mod">
          <ac:chgData name="Fatima Ansarizadeh" userId="2e2f4077-aba0-49c7-b26f-c647714fbdc0" providerId="ADAL" clId="{4AF819A5-1A07-4075-8C4E-D726B4CE70A1}" dt="2026-07-05T18:46:04.798" v="715" actId="1076"/>
          <ac:spMkLst>
            <pc:docMk/>
            <pc:sldMk cId="547326430" sldId="397"/>
            <ac:spMk id="2" creationId="{89F1F0F4-5CE9-4A7F-33B0-6B28BBFDB4E8}"/>
          </ac:spMkLst>
        </pc:spChg>
      </pc:sldChg>
      <pc:sldChg chg="addSp delSp modSp del mod">
        <pc:chgData name="Fatima Ansarizadeh" userId="2e2f4077-aba0-49c7-b26f-c647714fbdc0" providerId="ADAL" clId="{4AF819A5-1A07-4075-8C4E-D726B4CE70A1}" dt="2026-07-06T16:07:46.267" v="728" actId="47"/>
        <pc:sldMkLst>
          <pc:docMk/>
          <pc:sldMk cId="3500126019" sldId="398"/>
        </pc:sldMkLst>
        <pc:spChg chg="del mod">
          <ac:chgData name="Fatima Ansarizadeh" userId="2e2f4077-aba0-49c7-b26f-c647714fbdc0" providerId="ADAL" clId="{4AF819A5-1A07-4075-8C4E-D726B4CE70A1}" dt="2026-07-06T16:07:32.977" v="724" actId="21"/>
          <ac:spMkLst>
            <pc:docMk/>
            <pc:sldMk cId="3500126019" sldId="398"/>
            <ac:spMk id="3" creationId="{CABE7FE5-FE3E-3FC1-592A-4F79B21E774C}"/>
          </ac:spMkLst>
        </pc:spChg>
        <pc:spChg chg="add mod">
          <ac:chgData name="Fatima Ansarizadeh" userId="2e2f4077-aba0-49c7-b26f-c647714fbdc0" providerId="ADAL" clId="{4AF819A5-1A07-4075-8C4E-D726B4CE70A1}" dt="2026-07-06T16:07:32.977" v="724" actId="21"/>
          <ac:spMkLst>
            <pc:docMk/>
            <pc:sldMk cId="3500126019" sldId="398"/>
            <ac:spMk id="5" creationId="{0F66A7B9-7452-45B6-CB43-5E782ED721E9}"/>
          </ac:spMkLst>
        </pc:spChg>
      </pc:sldChg>
      <pc:sldChg chg="modSp mod">
        <pc:chgData name="Fatima Ansarizadeh" userId="2e2f4077-aba0-49c7-b26f-c647714fbdc0" providerId="ADAL" clId="{4AF819A5-1A07-4075-8C4E-D726B4CE70A1}" dt="2026-07-05T18:19:53.886" v="711" actId="1076"/>
        <pc:sldMkLst>
          <pc:docMk/>
          <pc:sldMk cId="3131784542" sldId="399"/>
        </pc:sldMkLst>
        <pc:spChg chg="mod">
          <ac:chgData name="Fatima Ansarizadeh" userId="2e2f4077-aba0-49c7-b26f-c647714fbdc0" providerId="ADAL" clId="{4AF819A5-1A07-4075-8C4E-D726B4CE70A1}" dt="2026-07-05T18:19:53.886" v="711" actId="1076"/>
          <ac:spMkLst>
            <pc:docMk/>
            <pc:sldMk cId="3131784542" sldId="399"/>
            <ac:spMk id="2" creationId="{C591253F-6349-10A5-47E4-06A193F1CB37}"/>
          </ac:spMkLst>
        </pc:spChg>
      </pc:sldChg>
      <pc:sldChg chg="modSp mod modShow">
        <pc:chgData name="Fatima Ansarizadeh" userId="2e2f4077-aba0-49c7-b26f-c647714fbdc0" providerId="ADAL" clId="{4AF819A5-1A07-4075-8C4E-D726B4CE70A1}" dt="2026-07-05T18:17:37.640" v="673" actId="729"/>
        <pc:sldMkLst>
          <pc:docMk/>
          <pc:sldMk cId="1881498014" sldId="401"/>
        </pc:sldMkLst>
        <pc:picChg chg="mod">
          <ac:chgData name="Fatima Ansarizadeh" userId="2e2f4077-aba0-49c7-b26f-c647714fbdc0" providerId="ADAL" clId="{4AF819A5-1A07-4075-8C4E-D726B4CE70A1}" dt="2026-07-05T18:17:25.110" v="672" actId="1076"/>
          <ac:picMkLst>
            <pc:docMk/>
            <pc:sldMk cId="1881498014" sldId="401"/>
            <ac:picMk id="5" creationId="{E064D4D2-DFA8-0FA3-8BAF-120E4605AB39}"/>
          </ac:picMkLst>
        </pc:picChg>
      </pc:sldChg>
      <pc:sldChg chg="mod modShow">
        <pc:chgData name="Fatima Ansarizadeh" userId="2e2f4077-aba0-49c7-b26f-c647714fbdc0" providerId="ADAL" clId="{4AF819A5-1A07-4075-8C4E-D726B4CE70A1}" dt="2026-07-05T18:17:16.533" v="671" actId="729"/>
        <pc:sldMkLst>
          <pc:docMk/>
          <pc:sldMk cId="795573956" sldId="402"/>
        </pc:sldMkLst>
      </pc:sldChg>
      <pc:sldChg chg="mod modShow">
        <pc:chgData name="Fatima Ansarizadeh" userId="2e2f4077-aba0-49c7-b26f-c647714fbdc0" providerId="ADAL" clId="{4AF819A5-1A07-4075-8C4E-D726B4CE70A1}" dt="2026-07-05T18:19:00.305" v="705" actId="729"/>
        <pc:sldMkLst>
          <pc:docMk/>
          <pc:sldMk cId="407752256" sldId="404"/>
        </pc:sldMkLst>
      </pc:sldChg>
      <pc:sldChg chg="addSp delSp modSp add mod setBg delDesignElem">
        <pc:chgData name="Fatima Ansarizadeh" userId="2e2f4077-aba0-49c7-b26f-c647714fbdc0" providerId="ADAL" clId="{4AF819A5-1A07-4075-8C4E-D726B4CE70A1}" dt="2026-07-06T16:17:20.449" v="729" actId="14100"/>
        <pc:sldMkLst>
          <pc:docMk/>
          <pc:sldMk cId="2123683091" sldId="405"/>
        </pc:sldMkLst>
        <pc:spChg chg="del mod">
          <ac:chgData name="Fatima Ansarizadeh" userId="2e2f4077-aba0-49c7-b26f-c647714fbdc0" providerId="ADAL" clId="{4AF819A5-1A07-4075-8C4E-D726B4CE70A1}" dt="2026-07-06T16:07:39.752" v="726" actId="478"/>
          <ac:spMkLst>
            <pc:docMk/>
            <pc:sldMk cId="2123683091" sldId="405"/>
            <ac:spMk id="3" creationId="{475136E8-8B86-908F-FC5F-17B841912119}"/>
          </ac:spMkLst>
        </pc:spChg>
        <pc:spChg chg="add mod">
          <ac:chgData name="Fatima Ansarizadeh" userId="2e2f4077-aba0-49c7-b26f-c647714fbdc0" providerId="ADAL" clId="{4AF819A5-1A07-4075-8C4E-D726B4CE70A1}" dt="2026-07-06T16:07:39.752" v="726" actId="478"/>
          <ac:spMkLst>
            <pc:docMk/>
            <pc:sldMk cId="2123683091" sldId="405"/>
            <ac:spMk id="5" creationId="{2DC343D7-E34F-BEB5-3B5A-936D846AE7BB}"/>
          </ac:spMkLst>
        </pc:spChg>
        <pc:spChg chg="add mod">
          <ac:chgData name="Fatima Ansarizadeh" userId="2e2f4077-aba0-49c7-b26f-c647714fbdc0" providerId="ADAL" clId="{4AF819A5-1A07-4075-8C4E-D726B4CE70A1}" dt="2026-07-06T16:07:42.254" v="727"/>
          <ac:spMkLst>
            <pc:docMk/>
            <pc:sldMk cId="2123683091" sldId="405"/>
            <ac:spMk id="6" creationId="{CABE7FE5-FE3E-3FC1-592A-4F79B21E774C}"/>
          </ac:spMkLst>
        </pc:spChg>
        <pc:spChg chg="del">
          <ac:chgData name="Fatima Ansarizadeh" userId="2e2f4077-aba0-49c7-b26f-c647714fbdc0" providerId="ADAL" clId="{4AF819A5-1A07-4075-8C4E-D726B4CE70A1}" dt="2026-07-06T16:07:24.685" v="723"/>
          <ac:spMkLst>
            <pc:docMk/>
            <pc:sldMk cId="2123683091" sldId="405"/>
            <ac:spMk id="1047" creationId="{9494BF75-7AC2-A303-FFA4-A18AE362BB03}"/>
          </ac:spMkLst>
        </pc:spChg>
        <pc:spChg chg="del">
          <ac:chgData name="Fatima Ansarizadeh" userId="2e2f4077-aba0-49c7-b26f-c647714fbdc0" providerId="ADAL" clId="{4AF819A5-1A07-4075-8C4E-D726B4CE70A1}" dt="2026-07-06T16:07:24.685" v="723"/>
          <ac:spMkLst>
            <pc:docMk/>
            <pc:sldMk cId="2123683091" sldId="405"/>
            <ac:spMk id="1049" creationId="{0B282619-70A0-C277-F7FD-E403073EF19C}"/>
          </ac:spMkLst>
        </pc:spChg>
        <pc:picChg chg="mod">
          <ac:chgData name="Fatima Ansarizadeh" userId="2e2f4077-aba0-49c7-b26f-c647714fbdc0" providerId="ADAL" clId="{4AF819A5-1A07-4075-8C4E-D726B4CE70A1}" dt="2026-07-06T16:17:20.449" v="729" actId="14100"/>
          <ac:picMkLst>
            <pc:docMk/>
            <pc:sldMk cId="2123683091" sldId="405"/>
            <ac:picMk id="1028" creationId="{DC0B611D-F3A3-280B-66B9-5168975F7BFE}"/>
          </ac:picMkLst>
        </pc:picChg>
      </pc:sldChg>
      <pc:sldChg chg="addSp delSp modSp new mod modShow">
        <pc:chgData name="Fatima Ansarizadeh" userId="2e2f4077-aba0-49c7-b26f-c647714fbdc0" providerId="ADAL" clId="{4AF819A5-1A07-4075-8C4E-D726B4CE70A1}" dt="2026-07-06T18:08:06.753" v="805" actId="729"/>
        <pc:sldMkLst>
          <pc:docMk/>
          <pc:sldMk cId="1592651384" sldId="406"/>
        </pc:sldMkLst>
        <pc:spChg chg="del">
          <ac:chgData name="Fatima Ansarizadeh" userId="2e2f4077-aba0-49c7-b26f-c647714fbdc0" providerId="ADAL" clId="{4AF819A5-1A07-4075-8C4E-D726B4CE70A1}" dt="2026-07-06T18:07:13.838" v="803" actId="22"/>
          <ac:spMkLst>
            <pc:docMk/>
            <pc:sldMk cId="1592651384" sldId="406"/>
            <ac:spMk id="3" creationId="{498382E4-F7F4-A4C0-BF8F-D1A75D8F830C}"/>
          </ac:spMkLst>
        </pc:spChg>
        <pc:picChg chg="add mod">
          <ac:chgData name="Fatima Ansarizadeh" userId="2e2f4077-aba0-49c7-b26f-c647714fbdc0" providerId="ADAL" clId="{4AF819A5-1A07-4075-8C4E-D726B4CE70A1}" dt="2026-07-06T18:07:16.523" v="804" actId="1076"/>
          <ac:picMkLst>
            <pc:docMk/>
            <pc:sldMk cId="1592651384" sldId="406"/>
            <ac:picMk id="5" creationId="{8FA67A84-607E-FD63-EEFB-5914A0BEC0F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C36EDB-918E-4194-BF6F-1453C45AA605}"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41D4BC7C-E6DE-4171-BF80-A528655B0FDD}">
      <dgm:prSet/>
      <dgm:spPr/>
      <dgm:t>
        <a:bodyPr/>
        <a:lstStyle/>
        <a:p>
          <a:pPr algn="l"/>
          <a:r>
            <a:rPr lang="en-US" dirty="0"/>
            <a:t>Ambiguity in language interpretation.</a:t>
          </a:r>
        </a:p>
      </dgm:t>
    </dgm:pt>
    <dgm:pt modelId="{54C5FD25-9468-45FC-B5DA-6FEAA6E75EAA}" type="parTrans" cxnId="{0D6BD745-E3B3-4A55-B340-8907906A9059}">
      <dgm:prSet/>
      <dgm:spPr/>
      <dgm:t>
        <a:bodyPr/>
        <a:lstStyle/>
        <a:p>
          <a:pPr algn="l"/>
          <a:endParaRPr lang="en-US"/>
        </a:p>
      </dgm:t>
    </dgm:pt>
    <dgm:pt modelId="{2242F683-62E7-4821-94CD-5DB7F0FFB6F4}" type="sibTrans" cxnId="{0D6BD745-E3B3-4A55-B340-8907906A9059}">
      <dgm:prSet/>
      <dgm:spPr/>
      <dgm:t>
        <a:bodyPr/>
        <a:lstStyle/>
        <a:p>
          <a:pPr algn="l"/>
          <a:endParaRPr lang="en-US"/>
        </a:p>
      </dgm:t>
    </dgm:pt>
    <dgm:pt modelId="{1FC39353-0559-4CBB-A449-46ED77FDEEBF}">
      <dgm:prSet/>
      <dgm:spPr/>
      <dgm:t>
        <a:bodyPr/>
        <a:lstStyle/>
        <a:p>
          <a:pPr algn="l"/>
          <a:r>
            <a:rPr lang="en-US"/>
            <a:t>Contextual nuances and cultural differences.</a:t>
          </a:r>
        </a:p>
      </dgm:t>
    </dgm:pt>
    <dgm:pt modelId="{45805325-6A35-4255-8388-17869EA1AB0C}" type="parTrans" cxnId="{E9306A3C-D2C4-41AA-B27E-AB0AA0EE35F4}">
      <dgm:prSet/>
      <dgm:spPr/>
      <dgm:t>
        <a:bodyPr/>
        <a:lstStyle/>
        <a:p>
          <a:pPr algn="l"/>
          <a:endParaRPr lang="en-US"/>
        </a:p>
      </dgm:t>
    </dgm:pt>
    <dgm:pt modelId="{95281EAA-9622-49BB-A67B-BAA0E3CE2B8F}" type="sibTrans" cxnId="{E9306A3C-D2C4-41AA-B27E-AB0AA0EE35F4}">
      <dgm:prSet/>
      <dgm:spPr/>
      <dgm:t>
        <a:bodyPr/>
        <a:lstStyle/>
        <a:p>
          <a:pPr algn="l"/>
          <a:endParaRPr lang="en-US"/>
        </a:p>
      </dgm:t>
    </dgm:pt>
    <dgm:pt modelId="{5F9FC397-A0C8-4EED-8275-5B91C47B7245}">
      <dgm:prSet/>
      <dgm:spPr/>
      <dgm:t>
        <a:bodyPr/>
        <a:lstStyle/>
        <a:p>
          <a:pPr algn="l"/>
          <a:r>
            <a:rPr lang="en-US"/>
            <a:t>Sarcasm, irony, and humor understanding.</a:t>
          </a:r>
        </a:p>
      </dgm:t>
    </dgm:pt>
    <dgm:pt modelId="{1AB7D460-F45F-4B57-9897-B68F832A0521}" type="parTrans" cxnId="{31D530A9-2D1B-4DBF-8AE4-7B995739D2C3}">
      <dgm:prSet/>
      <dgm:spPr/>
      <dgm:t>
        <a:bodyPr/>
        <a:lstStyle/>
        <a:p>
          <a:pPr algn="l"/>
          <a:endParaRPr lang="en-US"/>
        </a:p>
      </dgm:t>
    </dgm:pt>
    <dgm:pt modelId="{3CB4639C-896B-47D4-9DD7-6353636AD536}" type="sibTrans" cxnId="{31D530A9-2D1B-4DBF-8AE4-7B995739D2C3}">
      <dgm:prSet/>
      <dgm:spPr/>
      <dgm:t>
        <a:bodyPr/>
        <a:lstStyle/>
        <a:p>
          <a:pPr algn="l"/>
          <a:endParaRPr lang="en-US"/>
        </a:p>
      </dgm:t>
    </dgm:pt>
    <dgm:pt modelId="{6012DC00-6A32-B74B-BA76-8545E6C2BD64}" type="pres">
      <dgm:prSet presAssocID="{45C36EDB-918E-4194-BF6F-1453C45AA605}" presName="hierChild1" presStyleCnt="0">
        <dgm:presLayoutVars>
          <dgm:chPref val="1"/>
          <dgm:dir/>
          <dgm:animOne val="branch"/>
          <dgm:animLvl val="lvl"/>
          <dgm:resizeHandles/>
        </dgm:presLayoutVars>
      </dgm:prSet>
      <dgm:spPr/>
    </dgm:pt>
    <dgm:pt modelId="{24209EB3-9D56-1945-9196-51A6ABF9679A}" type="pres">
      <dgm:prSet presAssocID="{41D4BC7C-E6DE-4171-BF80-A528655B0FDD}" presName="hierRoot1" presStyleCnt="0"/>
      <dgm:spPr/>
    </dgm:pt>
    <dgm:pt modelId="{A0D73C10-35FE-D841-AAF2-14A7C67F175B}" type="pres">
      <dgm:prSet presAssocID="{41D4BC7C-E6DE-4171-BF80-A528655B0FDD}" presName="composite" presStyleCnt="0"/>
      <dgm:spPr/>
    </dgm:pt>
    <dgm:pt modelId="{602D90A7-B1AB-F84B-95F5-DE655BBA8FCC}" type="pres">
      <dgm:prSet presAssocID="{41D4BC7C-E6DE-4171-BF80-A528655B0FDD}" presName="background" presStyleLbl="node0" presStyleIdx="0" presStyleCnt="3"/>
      <dgm:spPr/>
    </dgm:pt>
    <dgm:pt modelId="{A3B6E51B-FF97-F54F-BF0E-45FAC20F6197}" type="pres">
      <dgm:prSet presAssocID="{41D4BC7C-E6DE-4171-BF80-A528655B0FDD}" presName="text" presStyleLbl="fgAcc0" presStyleIdx="0" presStyleCnt="3">
        <dgm:presLayoutVars>
          <dgm:chPref val="3"/>
        </dgm:presLayoutVars>
      </dgm:prSet>
      <dgm:spPr/>
    </dgm:pt>
    <dgm:pt modelId="{30F38B0D-3CF8-8B41-83DB-1BE9F0AF326D}" type="pres">
      <dgm:prSet presAssocID="{41D4BC7C-E6DE-4171-BF80-A528655B0FDD}" presName="hierChild2" presStyleCnt="0"/>
      <dgm:spPr/>
    </dgm:pt>
    <dgm:pt modelId="{CD7065F3-71E3-064F-B529-DF10404466C3}" type="pres">
      <dgm:prSet presAssocID="{1FC39353-0559-4CBB-A449-46ED77FDEEBF}" presName="hierRoot1" presStyleCnt="0"/>
      <dgm:spPr/>
    </dgm:pt>
    <dgm:pt modelId="{6BB5C7E6-E965-4946-876D-005B84C853B0}" type="pres">
      <dgm:prSet presAssocID="{1FC39353-0559-4CBB-A449-46ED77FDEEBF}" presName="composite" presStyleCnt="0"/>
      <dgm:spPr/>
    </dgm:pt>
    <dgm:pt modelId="{84AA861C-9CAD-F64B-A854-FCB3EE0BAE1E}" type="pres">
      <dgm:prSet presAssocID="{1FC39353-0559-4CBB-A449-46ED77FDEEBF}" presName="background" presStyleLbl="node0" presStyleIdx="1" presStyleCnt="3"/>
      <dgm:spPr/>
    </dgm:pt>
    <dgm:pt modelId="{049097E4-DE38-9B4F-B909-B9961F028A8B}" type="pres">
      <dgm:prSet presAssocID="{1FC39353-0559-4CBB-A449-46ED77FDEEBF}" presName="text" presStyleLbl="fgAcc0" presStyleIdx="1" presStyleCnt="3">
        <dgm:presLayoutVars>
          <dgm:chPref val="3"/>
        </dgm:presLayoutVars>
      </dgm:prSet>
      <dgm:spPr/>
    </dgm:pt>
    <dgm:pt modelId="{65A4DE78-38C6-ED44-8306-E03F1F038160}" type="pres">
      <dgm:prSet presAssocID="{1FC39353-0559-4CBB-A449-46ED77FDEEBF}" presName="hierChild2" presStyleCnt="0"/>
      <dgm:spPr/>
    </dgm:pt>
    <dgm:pt modelId="{1E11BFEE-939D-9140-94AA-9058CE71DBA9}" type="pres">
      <dgm:prSet presAssocID="{5F9FC397-A0C8-4EED-8275-5B91C47B7245}" presName="hierRoot1" presStyleCnt="0"/>
      <dgm:spPr/>
    </dgm:pt>
    <dgm:pt modelId="{27B7A7A0-2F7F-004C-8A0B-814356E91DD2}" type="pres">
      <dgm:prSet presAssocID="{5F9FC397-A0C8-4EED-8275-5B91C47B7245}" presName="composite" presStyleCnt="0"/>
      <dgm:spPr/>
    </dgm:pt>
    <dgm:pt modelId="{A6D94647-B239-E343-8AE0-47BC81864878}" type="pres">
      <dgm:prSet presAssocID="{5F9FC397-A0C8-4EED-8275-5B91C47B7245}" presName="background" presStyleLbl="node0" presStyleIdx="2" presStyleCnt="3"/>
      <dgm:spPr/>
    </dgm:pt>
    <dgm:pt modelId="{B629C9E6-A0DE-BA44-B633-8FECA3C0680C}" type="pres">
      <dgm:prSet presAssocID="{5F9FC397-A0C8-4EED-8275-5B91C47B7245}" presName="text" presStyleLbl="fgAcc0" presStyleIdx="2" presStyleCnt="3">
        <dgm:presLayoutVars>
          <dgm:chPref val="3"/>
        </dgm:presLayoutVars>
      </dgm:prSet>
      <dgm:spPr/>
    </dgm:pt>
    <dgm:pt modelId="{D54B1589-CF5C-C548-9BC5-685B83D862FB}" type="pres">
      <dgm:prSet presAssocID="{5F9FC397-A0C8-4EED-8275-5B91C47B7245}" presName="hierChild2" presStyleCnt="0"/>
      <dgm:spPr/>
    </dgm:pt>
  </dgm:ptLst>
  <dgm:cxnLst>
    <dgm:cxn modelId="{3EDC9705-2564-9446-83F9-3E18426425A5}" type="presOf" srcId="{45C36EDB-918E-4194-BF6F-1453C45AA605}" destId="{6012DC00-6A32-B74B-BA76-8545E6C2BD64}" srcOrd="0" destOrd="0" presId="urn:microsoft.com/office/officeart/2005/8/layout/hierarchy1"/>
    <dgm:cxn modelId="{8CBABE2F-6F19-0845-B3C5-8DF55733ADCB}" type="presOf" srcId="{1FC39353-0559-4CBB-A449-46ED77FDEEBF}" destId="{049097E4-DE38-9B4F-B909-B9961F028A8B}" srcOrd="0" destOrd="0" presId="urn:microsoft.com/office/officeart/2005/8/layout/hierarchy1"/>
    <dgm:cxn modelId="{54588036-378B-7F47-B6A3-C5AA64731615}" type="presOf" srcId="{41D4BC7C-E6DE-4171-BF80-A528655B0FDD}" destId="{A3B6E51B-FF97-F54F-BF0E-45FAC20F6197}" srcOrd="0" destOrd="0" presId="urn:microsoft.com/office/officeart/2005/8/layout/hierarchy1"/>
    <dgm:cxn modelId="{E9306A3C-D2C4-41AA-B27E-AB0AA0EE35F4}" srcId="{45C36EDB-918E-4194-BF6F-1453C45AA605}" destId="{1FC39353-0559-4CBB-A449-46ED77FDEEBF}" srcOrd="1" destOrd="0" parTransId="{45805325-6A35-4255-8388-17869EA1AB0C}" sibTransId="{95281EAA-9622-49BB-A67B-BAA0E3CE2B8F}"/>
    <dgm:cxn modelId="{0D6BD745-E3B3-4A55-B340-8907906A9059}" srcId="{45C36EDB-918E-4194-BF6F-1453C45AA605}" destId="{41D4BC7C-E6DE-4171-BF80-A528655B0FDD}" srcOrd="0" destOrd="0" parTransId="{54C5FD25-9468-45FC-B5DA-6FEAA6E75EAA}" sibTransId="{2242F683-62E7-4821-94CD-5DB7F0FFB6F4}"/>
    <dgm:cxn modelId="{31D530A9-2D1B-4DBF-8AE4-7B995739D2C3}" srcId="{45C36EDB-918E-4194-BF6F-1453C45AA605}" destId="{5F9FC397-A0C8-4EED-8275-5B91C47B7245}" srcOrd="2" destOrd="0" parTransId="{1AB7D460-F45F-4B57-9897-B68F832A0521}" sibTransId="{3CB4639C-896B-47D4-9DD7-6353636AD536}"/>
    <dgm:cxn modelId="{A161F4D6-9600-874A-A15F-78D81512445F}" type="presOf" srcId="{5F9FC397-A0C8-4EED-8275-5B91C47B7245}" destId="{B629C9E6-A0DE-BA44-B633-8FECA3C0680C}" srcOrd="0" destOrd="0" presId="urn:microsoft.com/office/officeart/2005/8/layout/hierarchy1"/>
    <dgm:cxn modelId="{188897A3-FD4D-5A40-A4BA-633F03CE4CB1}" type="presParOf" srcId="{6012DC00-6A32-B74B-BA76-8545E6C2BD64}" destId="{24209EB3-9D56-1945-9196-51A6ABF9679A}" srcOrd="0" destOrd="0" presId="urn:microsoft.com/office/officeart/2005/8/layout/hierarchy1"/>
    <dgm:cxn modelId="{BB75764C-BC99-494C-9E17-07E477BCDBBA}" type="presParOf" srcId="{24209EB3-9D56-1945-9196-51A6ABF9679A}" destId="{A0D73C10-35FE-D841-AAF2-14A7C67F175B}" srcOrd="0" destOrd="0" presId="urn:microsoft.com/office/officeart/2005/8/layout/hierarchy1"/>
    <dgm:cxn modelId="{5751F4C4-4A6E-3140-916F-5F36BDE5C67C}" type="presParOf" srcId="{A0D73C10-35FE-D841-AAF2-14A7C67F175B}" destId="{602D90A7-B1AB-F84B-95F5-DE655BBA8FCC}" srcOrd="0" destOrd="0" presId="urn:microsoft.com/office/officeart/2005/8/layout/hierarchy1"/>
    <dgm:cxn modelId="{251EE56F-EDD3-3845-B921-D871A4870BB7}" type="presParOf" srcId="{A0D73C10-35FE-D841-AAF2-14A7C67F175B}" destId="{A3B6E51B-FF97-F54F-BF0E-45FAC20F6197}" srcOrd="1" destOrd="0" presId="urn:microsoft.com/office/officeart/2005/8/layout/hierarchy1"/>
    <dgm:cxn modelId="{B8A33B39-5A2E-1641-9044-264676BB4BD6}" type="presParOf" srcId="{24209EB3-9D56-1945-9196-51A6ABF9679A}" destId="{30F38B0D-3CF8-8B41-83DB-1BE9F0AF326D}" srcOrd="1" destOrd="0" presId="urn:microsoft.com/office/officeart/2005/8/layout/hierarchy1"/>
    <dgm:cxn modelId="{5F5D4B54-856B-1948-9EA3-6F5BFE565F2A}" type="presParOf" srcId="{6012DC00-6A32-B74B-BA76-8545E6C2BD64}" destId="{CD7065F3-71E3-064F-B529-DF10404466C3}" srcOrd="1" destOrd="0" presId="urn:microsoft.com/office/officeart/2005/8/layout/hierarchy1"/>
    <dgm:cxn modelId="{7F810984-129A-5540-8D8C-BDE7FCC6E3CC}" type="presParOf" srcId="{CD7065F3-71E3-064F-B529-DF10404466C3}" destId="{6BB5C7E6-E965-4946-876D-005B84C853B0}" srcOrd="0" destOrd="0" presId="urn:microsoft.com/office/officeart/2005/8/layout/hierarchy1"/>
    <dgm:cxn modelId="{827E19CA-60D7-B54F-BC80-04C59523EAEA}" type="presParOf" srcId="{6BB5C7E6-E965-4946-876D-005B84C853B0}" destId="{84AA861C-9CAD-F64B-A854-FCB3EE0BAE1E}" srcOrd="0" destOrd="0" presId="urn:microsoft.com/office/officeart/2005/8/layout/hierarchy1"/>
    <dgm:cxn modelId="{702DE1F2-DDDA-974F-9A18-339F01BBE572}" type="presParOf" srcId="{6BB5C7E6-E965-4946-876D-005B84C853B0}" destId="{049097E4-DE38-9B4F-B909-B9961F028A8B}" srcOrd="1" destOrd="0" presId="urn:microsoft.com/office/officeart/2005/8/layout/hierarchy1"/>
    <dgm:cxn modelId="{9FA9F0D3-559C-C04A-9B17-EFB6905A30F9}" type="presParOf" srcId="{CD7065F3-71E3-064F-B529-DF10404466C3}" destId="{65A4DE78-38C6-ED44-8306-E03F1F038160}" srcOrd="1" destOrd="0" presId="urn:microsoft.com/office/officeart/2005/8/layout/hierarchy1"/>
    <dgm:cxn modelId="{C0D7B862-9428-1B4F-868B-17E7DD5DE5D3}" type="presParOf" srcId="{6012DC00-6A32-B74B-BA76-8545E6C2BD64}" destId="{1E11BFEE-939D-9140-94AA-9058CE71DBA9}" srcOrd="2" destOrd="0" presId="urn:microsoft.com/office/officeart/2005/8/layout/hierarchy1"/>
    <dgm:cxn modelId="{2A39F3DE-8282-E14A-9030-4A3832ED468F}" type="presParOf" srcId="{1E11BFEE-939D-9140-94AA-9058CE71DBA9}" destId="{27B7A7A0-2F7F-004C-8A0B-814356E91DD2}" srcOrd="0" destOrd="0" presId="urn:microsoft.com/office/officeart/2005/8/layout/hierarchy1"/>
    <dgm:cxn modelId="{91039D00-DC72-0B45-92BF-AC266D3C08C0}" type="presParOf" srcId="{27B7A7A0-2F7F-004C-8A0B-814356E91DD2}" destId="{A6D94647-B239-E343-8AE0-47BC81864878}" srcOrd="0" destOrd="0" presId="urn:microsoft.com/office/officeart/2005/8/layout/hierarchy1"/>
    <dgm:cxn modelId="{A18D73BA-08DF-D342-81A2-17D51796A272}" type="presParOf" srcId="{27B7A7A0-2F7F-004C-8A0B-814356E91DD2}" destId="{B629C9E6-A0DE-BA44-B633-8FECA3C0680C}" srcOrd="1" destOrd="0" presId="urn:microsoft.com/office/officeart/2005/8/layout/hierarchy1"/>
    <dgm:cxn modelId="{314BFD36-B46F-AB4E-8AAE-133F071F0970}" type="presParOf" srcId="{1E11BFEE-939D-9140-94AA-9058CE71DBA9}" destId="{D54B1589-CF5C-C548-9BC5-685B83D862F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8EFC56-9A9C-481B-873F-E8982E4A9BCB}"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895F432-066A-4029-8483-3C0234C5D207}">
      <dgm:prSet/>
      <dgm:spPr/>
      <dgm:t>
        <a:bodyPr/>
        <a:lstStyle/>
        <a:p>
          <a:pPr>
            <a:lnSpc>
              <a:spcPct val="100000"/>
            </a:lnSpc>
          </a:pPr>
          <a:r>
            <a:rPr lang="en-US" dirty="0"/>
            <a:t>Data science is an </a:t>
          </a:r>
          <a:r>
            <a:rPr lang="en-US" dirty="0">
              <a:highlight>
                <a:srgbClr val="FFFF00"/>
              </a:highlight>
            </a:rPr>
            <a:t>emerging discipline</a:t>
          </a:r>
          <a:r>
            <a:rPr lang="en-US" dirty="0"/>
            <a:t>. It remains a science where new knowledge and tools are still being invented.</a:t>
          </a:r>
        </a:p>
      </dgm:t>
    </dgm:pt>
    <dgm:pt modelId="{4E3EDECE-402D-4EEA-AC1D-3CB39347C5E4}" type="parTrans" cxnId="{6B8133CD-6110-4259-A108-47F33F620998}">
      <dgm:prSet/>
      <dgm:spPr/>
      <dgm:t>
        <a:bodyPr/>
        <a:lstStyle/>
        <a:p>
          <a:endParaRPr lang="en-US"/>
        </a:p>
      </dgm:t>
    </dgm:pt>
    <dgm:pt modelId="{E52E0F95-16FD-47B0-B100-333B2C6E4FAF}" type="sibTrans" cxnId="{6B8133CD-6110-4259-A108-47F33F620998}">
      <dgm:prSet/>
      <dgm:spPr/>
      <dgm:t>
        <a:bodyPr/>
        <a:lstStyle/>
        <a:p>
          <a:endParaRPr lang="en-US"/>
        </a:p>
      </dgm:t>
    </dgm:pt>
    <dgm:pt modelId="{08522C2A-BC0D-4B31-BBD4-AEFFEA94F838}">
      <dgm:prSet/>
      <dgm:spPr/>
      <dgm:t>
        <a:bodyPr/>
        <a:lstStyle/>
        <a:p>
          <a:pPr>
            <a:lnSpc>
              <a:spcPct val="100000"/>
            </a:lnSpc>
          </a:pPr>
          <a:r>
            <a:rPr lang="en-US" dirty="0"/>
            <a:t>There is </a:t>
          </a:r>
          <a:r>
            <a:rPr lang="en-US" dirty="0">
              <a:highlight>
                <a:srgbClr val="FFFF00"/>
              </a:highlight>
            </a:rPr>
            <a:t>not yet a clear definition </a:t>
          </a:r>
          <a:r>
            <a:rPr lang="en-US" dirty="0"/>
            <a:t>agreed by all for the term ‘data science’. Different definitions exist from different perspectives (government, business, research, etc.)</a:t>
          </a:r>
        </a:p>
      </dgm:t>
    </dgm:pt>
    <dgm:pt modelId="{9977F904-4B13-445B-8957-8797B67D9C47}" type="parTrans" cxnId="{DB70D072-C31C-459F-B078-11A270A87F36}">
      <dgm:prSet/>
      <dgm:spPr/>
      <dgm:t>
        <a:bodyPr/>
        <a:lstStyle/>
        <a:p>
          <a:endParaRPr lang="en-US"/>
        </a:p>
      </dgm:t>
    </dgm:pt>
    <dgm:pt modelId="{C518E48B-D685-41DC-A94C-1A64664C1A48}" type="sibTrans" cxnId="{DB70D072-C31C-459F-B078-11A270A87F36}">
      <dgm:prSet/>
      <dgm:spPr/>
      <dgm:t>
        <a:bodyPr/>
        <a:lstStyle/>
        <a:p>
          <a:endParaRPr lang="en-US"/>
        </a:p>
      </dgm:t>
    </dgm:pt>
    <dgm:pt modelId="{844EAA41-4F52-5045-8574-AFABA0AEFA7E}" type="pres">
      <dgm:prSet presAssocID="{2B8EFC56-9A9C-481B-873F-E8982E4A9BCB}" presName="hierChild1" presStyleCnt="0">
        <dgm:presLayoutVars>
          <dgm:chPref val="1"/>
          <dgm:dir/>
          <dgm:animOne val="branch"/>
          <dgm:animLvl val="lvl"/>
          <dgm:resizeHandles/>
        </dgm:presLayoutVars>
      </dgm:prSet>
      <dgm:spPr/>
    </dgm:pt>
    <dgm:pt modelId="{F57A381E-2660-6849-9324-3DA1AA45F845}" type="pres">
      <dgm:prSet presAssocID="{1895F432-066A-4029-8483-3C0234C5D207}" presName="hierRoot1" presStyleCnt="0"/>
      <dgm:spPr/>
    </dgm:pt>
    <dgm:pt modelId="{FB95295E-8FBA-1F4C-960D-035AA523A287}" type="pres">
      <dgm:prSet presAssocID="{1895F432-066A-4029-8483-3C0234C5D207}" presName="composite" presStyleCnt="0"/>
      <dgm:spPr/>
    </dgm:pt>
    <dgm:pt modelId="{E5F4D863-3BED-AA4D-AC15-5475E435D41F}" type="pres">
      <dgm:prSet presAssocID="{1895F432-066A-4029-8483-3C0234C5D207}" presName="background" presStyleLbl="node0" presStyleIdx="0" presStyleCnt="2"/>
      <dgm:spPr/>
    </dgm:pt>
    <dgm:pt modelId="{C81EA8AB-F789-314F-90FC-6E34A0A1FCEA}" type="pres">
      <dgm:prSet presAssocID="{1895F432-066A-4029-8483-3C0234C5D207}" presName="text" presStyleLbl="fgAcc0" presStyleIdx="0" presStyleCnt="2">
        <dgm:presLayoutVars>
          <dgm:chPref val="3"/>
        </dgm:presLayoutVars>
      </dgm:prSet>
      <dgm:spPr/>
    </dgm:pt>
    <dgm:pt modelId="{FE4AFCE6-824A-1C45-8EC9-6177BF1E65D5}" type="pres">
      <dgm:prSet presAssocID="{1895F432-066A-4029-8483-3C0234C5D207}" presName="hierChild2" presStyleCnt="0"/>
      <dgm:spPr/>
    </dgm:pt>
    <dgm:pt modelId="{7AED0878-9AD0-8140-BFEC-90DCDCBD3241}" type="pres">
      <dgm:prSet presAssocID="{08522C2A-BC0D-4B31-BBD4-AEFFEA94F838}" presName="hierRoot1" presStyleCnt="0"/>
      <dgm:spPr/>
    </dgm:pt>
    <dgm:pt modelId="{5A72A451-1A34-DE46-B9B3-46E4C701AD3D}" type="pres">
      <dgm:prSet presAssocID="{08522C2A-BC0D-4B31-BBD4-AEFFEA94F838}" presName="composite" presStyleCnt="0"/>
      <dgm:spPr/>
    </dgm:pt>
    <dgm:pt modelId="{14A3D3EF-711B-6449-8038-281208E6378E}" type="pres">
      <dgm:prSet presAssocID="{08522C2A-BC0D-4B31-BBD4-AEFFEA94F838}" presName="background" presStyleLbl="node0" presStyleIdx="1" presStyleCnt="2"/>
      <dgm:spPr/>
    </dgm:pt>
    <dgm:pt modelId="{AAFD8A80-2A14-3B45-8EC2-CB1596C4CABD}" type="pres">
      <dgm:prSet presAssocID="{08522C2A-BC0D-4B31-BBD4-AEFFEA94F838}" presName="text" presStyleLbl="fgAcc0" presStyleIdx="1" presStyleCnt="2">
        <dgm:presLayoutVars>
          <dgm:chPref val="3"/>
        </dgm:presLayoutVars>
      </dgm:prSet>
      <dgm:spPr/>
    </dgm:pt>
    <dgm:pt modelId="{372FE9D5-267F-4849-AFCD-BAB4DBD34070}" type="pres">
      <dgm:prSet presAssocID="{08522C2A-BC0D-4B31-BBD4-AEFFEA94F838}" presName="hierChild2" presStyleCnt="0"/>
      <dgm:spPr/>
    </dgm:pt>
  </dgm:ptLst>
  <dgm:cxnLst>
    <dgm:cxn modelId="{D3D44A11-41F5-A94B-BE76-055C995D600E}" type="presOf" srcId="{08522C2A-BC0D-4B31-BBD4-AEFFEA94F838}" destId="{AAFD8A80-2A14-3B45-8EC2-CB1596C4CABD}" srcOrd="0" destOrd="0" presId="urn:microsoft.com/office/officeart/2005/8/layout/hierarchy1"/>
    <dgm:cxn modelId="{6C90D349-3D5B-8644-8BA4-188ADE21C378}" type="presOf" srcId="{1895F432-066A-4029-8483-3C0234C5D207}" destId="{C81EA8AB-F789-314F-90FC-6E34A0A1FCEA}" srcOrd="0" destOrd="0" presId="urn:microsoft.com/office/officeart/2005/8/layout/hierarchy1"/>
    <dgm:cxn modelId="{DB70D072-C31C-459F-B078-11A270A87F36}" srcId="{2B8EFC56-9A9C-481B-873F-E8982E4A9BCB}" destId="{08522C2A-BC0D-4B31-BBD4-AEFFEA94F838}" srcOrd="1" destOrd="0" parTransId="{9977F904-4B13-445B-8957-8797B67D9C47}" sibTransId="{C518E48B-D685-41DC-A94C-1A64664C1A48}"/>
    <dgm:cxn modelId="{6B8133CD-6110-4259-A108-47F33F620998}" srcId="{2B8EFC56-9A9C-481B-873F-E8982E4A9BCB}" destId="{1895F432-066A-4029-8483-3C0234C5D207}" srcOrd="0" destOrd="0" parTransId="{4E3EDECE-402D-4EEA-AC1D-3CB39347C5E4}" sibTransId="{E52E0F95-16FD-47B0-B100-333B2C6E4FAF}"/>
    <dgm:cxn modelId="{7060AEF6-4FBE-8D4C-8C36-4B6C7A627B4D}" type="presOf" srcId="{2B8EFC56-9A9C-481B-873F-E8982E4A9BCB}" destId="{844EAA41-4F52-5045-8574-AFABA0AEFA7E}" srcOrd="0" destOrd="0" presId="urn:microsoft.com/office/officeart/2005/8/layout/hierarchy1"/>
    <dgm:cxn modelId="{5FE84DEF-E1DA-D44D-99E4-3B87ECBAEECB}" type="presParOf" srcId="{844EAA41-4F52-5045-8574-AFABA0AEFA7E}" destId="{F57A381E-2660-6849-9324-3DA1AA45F845}" srcOrd="0" destOrd="0" presId="urn:microsoft.com/office/officeart/2005/8/layout/hierarchy1"/>
    <dgm:cxn modelId="{FE7E5CD7-678D-5947-8D09-8196A68498AF}" type="presParOf" srcId="{F57A381E-2660-6849-9324-3DA1AA45F845}" destId="{FB95295E-8FBA-1F4C-960D-035AA523A287}" srcOrd="0" destOrd="0" presId="urn:microsoft.com/office/officeart/2005/8/layout/hierarchy1"/>
    <dgm:cxn modelId="{7268FB35-9FC3-474E-B961-8C475F100153}" type="presParOf" srcId="{FB95295E-8FBA-1F4C-960D-035AA523A287}" destId="{E5F4D863-3BED-AA4D-AC15-5475E435D41F}" srcOrd="0" destOrd="0" presId="urn:microsoft.com/office/officeart/2005/8/layout/hierarchy1"/>
    <dgm:cxn modelId="{F927FA82-A4AA-474D-9B88-2105DD0AD9E0}" type="presParOf" srcId="{FB95295E-8FBA-1F4C-960D-035AA523A287}" destId="{C81EA8AB-F789-314F-90FC-6E34A0A1FCEA}" srcOrd="1" destOrd="0" presId="urn:microsoft.com/office/officeart/2005/8/layout/hierarchy1"/>
    <dgm:cxn modelId="{CB86DDE7-DEB9-274A-80AE-08F1628E007E}" type="presParOf" srcId="{F57A381E-2660-6849-9324-3DA1AA45F845}" destId="{FE4AFCE6-824A-1C45-8EC9-6177BF1E65D5}" srcOrd="1" destOrd="0" presId="urn:microsoft.com/office/officeart/2005/8/layout/hierarchy1"/>
    <dgm:cxn modelId="{1CDC4BFE-B304-E74D-844A-ABFD50597D36}" type="presParOf" srcId="{844EAA41-4F52-5045-8574-AFABA0AEFA7E}" destId="{7AED0878-9AD0-8140-BFEC-90DCDCBD3241}" srcOrd="1" destOrd="0" presId="urn:microsoft.com/office/officeart/2005/8/layout/hierarchy1"/>
    <dgm:cxn modelId="{52251299-AA97-AF4E-A443-06A778F945C6}" type="presParOf" srcId="{7AED0878-9AD0-8140-BFEC-90DCDCBD3241}" destId="{5A72A451-1A34-DE46-B9B3-46E4C701AD3D}" srcOrd="0" destOrd="0" presId="urn:microsoft.com/office/officeart/2005/8/layout/hierarchy1"/>
    <dgm:cxn modelId="{E03D0A0A-8CED-BE4D-B2AC-DA560697A514}" type="presParOf" srcId="{5A72A451-1A34-DE46-B9B3-46E4C701AD3D}" destId="{14A3D3EF-711B-6449-8038-281208E6378E}" srcOrd="0" destOrd="0" presId="urn:microsoft.com/office/officeart/2005/8/layout/hierarchy1"/>
    <dgm:cxn modelId="{0CB53D4C-7D93-2446-9AF0-52481E3B1331}" type="presParOf" srcId="{5A72A451-1A34-DE46-B9B3-46E4C701AD3D}" destId="{AAFD8A80-2A14-3B45-8EC2-CB1596C4CABD}" srcOrd="1" destOrd="0" presId="urn:microsoft.com/office/officeart/2005/8/layout/hierarchy1"/>
    <dgm:cxn modelId="{6ECA4B75-5380-0541-A379-1EF35185B946}" type="presParOf" srcId="{7AED0878-9AD0-8140-BFEC-90DCDCBD3241}" destId="{372FE9D5-267F-4849-AFCD-BAB4DBD3407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78515B-91A9-470F-88D4-0E0AEA352E9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857CD88-AE3A-43EB-9BD2-E24471CBCA49}">
      <dgm:prSet/>
      <dgm:spPr/>
      <dgm:t>
        <a:bodyPr/>
        <a:lstStyle/>
        <a:p>
          <a:r>
            <a:rPr lang="en-US" dirty="0"/>
            <a:t>A runtime error occurs when the code is </a:t>
          </a:r>
          <a:r>
            <a:rPr lang="en-US" dirty="0">
              <a:highlight>
                <a:srgbClr val="FFFF00"/>
              </a:highlight>
            </a:rPr>
            <a:t>syntactically correct</a:t>
          </a:r>
          <a:r>
            <a:rPr lang="en-US" dirty="0"/>
            <a:t>, but an error occurs during the </a:t>
          </a:r>
          <a:r>
            <a:rPr lang="en-US" dirty="0">
              <a:highlight>
                <a:srgbClr val="FFFF00"/>
              </a:highlight>
            </a:rPr>
            <a:t>execution</a:t>
          </a:r>
          <a:r>
            <a:rPr lang="en-US" dirty="0"/>
            <a:t> of the code. This can happen for a variety of reasons, such as trying to perform an </a:t>
          </a:r>
          <a:r>
            <a:rPr lang="en-US" dirty="0">
              <a:highlight>
                <a:srgbClr val="FFFF00"/>
              </a:highlight>
            </a:rPr>
            <a:t>illegal operation</a:t>
          </a:r>
          <a:r>
            <a:rPr lang="en-US" dirty="0"/>
            <a:t>, attempting to </a:t>
          </a:r>
          <a:r>
            <a:rPr lang="en-US" dirty="0">
              <a:highlight>
                <a:srgbClr val="00FF00"/>
              </a:highlight>
            </a:rPr>
            <a:t>divide by zero</a:t>
          </a:r>
          <a:r>
            <a:rPr lang="en-US" dirty="0"/>
            <a:t>, or accessing an </a:t>
          </a:r>
          <a:r>
            <a:rPr lang="en-US" dirty="0">
              <a:highlight>
                <a:srgbClr val="00FF00"/>
              </a:highlight>
            </a:rPr>
            <a:t>undefined variable</a:t>
          </a:r>
          <a:r>
            <a:rPr lang="en-US" dirty="0"/>
            <a:t>.</a:t>
          </a:r>
        </a:p>
      </dgm:t>
    </dgm:pt>
    <dgm:pt modelId="{C466ADDB-FB16-4174-B928-0B92E95AE2EE}" type="parTrans" cxnId="{EEF6D8E4-6597-4E7C-A376-667F2A19D788}">
      <dgm:prSet/>
      <dgm:spPr/>
      <dgm:t>
        <a:bodyPr/>
        <a:lstStyle/>
        <a:p>
          <a:endParaRPr lang="en-US"/>
        </a:p>
      </dgm:t>
    </dgm:pt>
    <dgm:pt modelId="{1748F9AD-41A2-4AD5-91A1-16BA6F115F84}" type="sibTrans" cxnId="{EEF6D8E4-6597-4E7C-A376-667F2A19D788}">
      <dgm:prSet/>
      <dgm:spPr/>
      <dgm:t>
        <a:bodyPr/>
        <a:lstStyle/>
        <a:p>
          <a:endParaRPr lang="en-US"/>
        </a:p>
      </dgm:t>
    </dgm:pt>
    <dgm:pt modelId="{1F26FBB6-37E4-4092-9F0A-2CE65C075EDC}">
      <dgm:prSet/>
      <dgm:spPr/>
      <dgm:t>
        <a:bodyPr/>
        <a:lstStyle/>
        <a:p>
          <a:r>
            <a:rPr lang="en-US" dirty="0">
              <a:highlight>
                <a:srgbClr val="00FFFF"/>
              </a:highlight>
            </a:rPr>
            <a:t>Runtime errors </a:t>
          </a:r>
          <a:r>
            <a:rPr lang="en-US" dirty="0"/>
            <a:t>are also known as </a:t>
          </a:r>
          <a:r>
            <a:rPr lang="en-US" dirty="0">
              <a:highlight>
                <a:srgbClr val="00FFFF"/>
              </a:highlight>
            </a:rPr>
            <a:t>exceptions</a:t>
          </a:r>
          <a:r>
            <a:rPr lang="en-US" dirty="0"/>
            <a:t>, and when they occur, Python will usually </a:t>
          </a:r>
          <a:r>
            <a:rPr lang="en-US" dirty="0">
              <a:highlight>
                <a:srgbClr val="FFFF00"/>
              </a:highlight>
            </a:rPr>
            <a:t>raise an exception and stop the program's execution</a:t>
          </a:r>
          <a:r>
            <a:rPr lang="en-US" dirty="0"/>
            <a:t>. The exception message will provide information about what went wrong and where the error occurred, allowing you to identify and fix the issue.</a:t>
          </a:r>
        </a:p>
      </dgm:t>
    </dgm:pt>
    <dgm:pt modelId="{836D2451-54B7-4401-913F-E6BEEBDAD6C5}" type="parTrans" cxnId="{C5AE3E7B-7637-469A-AF7D-5CD8E7AF6407}">
      <dgm:prSet/>
      <dgm:spPr/>
      <dgm:t>
        <a:bodyPr/>
        <a:lstStyle/>
        <a:p>
          <a:endParaRPr lang="en-US"/>
        </a:p>
      </dgm:t>
    </dgm:pt>
    <dgm:pt modelId="{632B0E3C-423A-4D06-B459-39AC91B807AA}" type="sibTrans" cxnId="{C5AE3E7B-7637-469A-AF7D-5CD8E7AF6407}">
      <dgm:prSet/>
      <dgm:spPr/>
      <dgm:t>
        <a:bodyPr/>
        <a:lstStyle/>
        <a:p>
          <a:endParaRPr lang="en-US"/>
        </a:p>
      </dgm:t>
    </dgm:pt>
    <dgm:pt modelId="{AE9033A4-805E-BA43-9238-2682BE8A5857}" type="pres">
      <dgm:prSet presAssocID="{C678515B-91A9-470F-88D4-0E0AEA352E9A}" presName="vert0" presStyleCnt="0">
        <dgm:presLayoutVars>
          <dgm:dir/>
          <dgm:animOne val="branch"/>
          <dgm:animLvl val="lvl"/>
        </dgm:presLayoutVars>
      </dgm:prSet>
      <dgm:spPr/>
    </dgm:pt>
    <dgm:pt modelId="{CA673AF9-2492-C146-84E3-DB375415DB45}" type="pres">
      <dgm:prSet presAssocID="{A857CD88-AE3A-43EB-9BD2-E24471CBCA49}" presName="thickLine" presStyleLbl="alignNode1" presStyleIdx="0" presStyleCnt="2"/>
      <dgm:spPr/>
    </dgm:pt>
    <dgm:pt modelId="{F3F7EA48-F789-FB4B-9908-18C3ECF5DE08}" type="pres">
      <dgm:prSet presAssocID="{A857CD88-AE3A-43EB-9BD2-E24471CBCA49}" presName="horz1" presStyleCnt="0"/>
      <dgm:spPr/>
    </dgm:pt>
    <dgm:pt modelId="{D50B9FF6-7F9F-C940-AA67-4AEF99BE20B7}" type="pres">
      <dgm:prSet presAssocID="{A857CD88-AE3A-43EB-9BD2-E24471CBCA49}" presName="tx1" presStyleLbl="revTx" presStyleIdx="0" presStyleCnt="2"/>
      <dgm:spPr/>
    </dgm:pt>
    <dgm:pt modelId="{A1EE0915-8B13-2142-9083-E20011EE4543}" type="pres">
      <dgm:prSet presAssocID="{A857CD88-AE3A-43EB-9BD2-E24471CBCA49}" presName="vert1" presStyleCnt="0"/>
      <dgm:spPr/>
    </dgm:pt>
    <dgm:pt modelId="{9B1ECFB0-FD14-CF46-9E35-F025184E890B}" type="pres">
      <dgm:prSet presAssocID="{1F26FBB6-37E4-4092-9F0A-2CE65C075EDC}" presName="thickLine" presStyleLbl="alignNode1" presStyleIdx="1" presStyleCnt="2"/>
      <dgm:spPr/>
    </dgm:pt>
    <dgm:pt modelId="{92D8D2CF-C7EF-8C46-9A7C-55147F02DD50}" type="pres">
      <dgm:prSet presAssocID="{1F26FBB6-37E4-4092-9F0A-2CE65C075EDC}" presName="horz1" presStyleCnt="0"/>
      <dgm:spPr/>
    </dgm:pt>
    <dgm:pt modelId="{E5A60F3F-92D9-AB44-8191-D2C0BD0B19E0}" type="pres">
      <dgm:prSet presAssocID="{1F26FBB6-37E4-4092-9F0A-2CE65C075EDC}" presName="tx1" presStyleLbl="revTx" presStyleIdx="1" presStyleCnt="2"/>
      <dgm:spPr/>
    </dgm:pt>
    <dgm:pt modelId="{1A5B7497-C044-7C40-8D75-7A6C4CDEB758}" type="pres">
      <dgm:prSet presAssocID="{1F26FBB6-37E4-4092-9F0A-2CE65C075EDC}" presName="vert1" presStyleCnt="0"/>
      <dgm:spPr/>
    </dgm:pt>
  </dgm:ptLst>
  <dgm:cxnLst>
    <dgm:cxn modelId="{CC0BD206-3B05-7F4D-BEAA-1AC3D8231CCD}" type="presOf" srcId="{C678515B-91A9-470F-88D4-0E0AEA352E9A}" destId="{AE9033A4-805E-BA43-9238-2682BE8A5857}" srcOrd="0" destOrd="0" presId="urn:microsoft.com/office/officeart/2008/layout/LinedList"/>
    <dgm:cxn modelId="{372FED50-7E6F-1442-BCFE-1E57F23E1E9E}" type="presOf" srcId="{A857CD88-AE3A-43EB-9BD2-E24471CBCA49}" destId="{D50B9FF6-7F9F-C940-AA67-4AEF99BE20B7}" srcOrd="0" destOrd="0" presId="urn:microsoft.com/office/officeart/2008/layout/LinedList"/>
    <dgm:cxn modelId="{C5AE3E7B-7637-469A-AF7D-5CD8E7AF6407}" srcId="{C678515B-91A9-470F-88D4-0E0AEA352E9A}" destId="{1F26FBB6-37E4-4092-9F0A-2CE65C075EDC}" srcOrd="1" destOrd="0" parTransId="{836D2451-54B7-4401-913F-E6BEEBDAD6C5}" sibTransId="{632B0E3C-423A-4D06-B459-39AC91B807AA}"/>
    <dgm:cxn modelId="{9CF4928C-BBAD-754D-9571-B30682DDDDEE}" type="presOf" srcId="{1F26FBB6-37E4-4092-9F0A-2CE65C075EDC}" destId="{E5A60F3F-92D9-AB44-8191-D2C0BD0B19E0}" srcOrd="0" destOrd="0" presId="urn:microsoft.com/office/officeart/2008/layout/LinedList"/>
    <dgm:cxn modelId="{EEF6D8E4-6597-4E7C-A376-667F2A19D788}" srcId="{C678515B-91A9-470F-88D4-0E0AEA352E9A}" destId="{A857CD88-AE3A-43EB-9BD2-E24471CBCA49}" srcOrd="0" destOrd="0" parTransId="{C466ADDB-FB16-4174-B928-0B92E95AE2EE}" sibTransId="{1748F9AD-41A2-4AD5-91A1-16BA6F115F84}"/>
    <dgm:cxn modelId="{83344116-308F-4A44-A904-21A7FC0AECBA}" type="presParOf" srcId="{AE9033A4-805E-BA43-9238-2682BE8A5857}" destId="{CA673AF9-2492-C146-84E3-DB375415DB45}" srcOrd="0" destOrd="0" presId="urn:microsoft.com/office/officeart/2008/layout/LinedList"/>
    <dgm:cxn modelId="{1B751EAF-60CE-1B4E-8774-8D9F72573B72}" type="presParOf" srcId="{AE9033A4-805E-BA43-9238-2682BE8A5857}" destId="{F3F7EA48-F789-FB4B-9908-18C3ECF5DE08}" srcOrd="1" destOrd="0" presId="urn:microsoft.com/office/officeart/2008/layout/LinedList"/>
    <dgm:cxn modelId="{8867410B-7E0D-FB47-B575-EC8C742857FD}" type="presParOf" srcId="{F3F7EA48-F789-FB4B-9908-18C3ECF5DE08}" destId="{D50B9FF6-7F9F-C940-AA67-4AEF99BE20B7}" srcOrd="0" destOrd="0" presId="urn:microsoft.com/office/officeart/2008/layout/LinedList"/>
    <dgm:cxn modelId="{6C3906AC-4A7F-0747-8DC0-B7913DFD5A03}" type="presParOf" srcId="{F3F7EA48-F789-FB4B-9908-18C3ECF5DE08}" destId="{A1EE0915-8B13-2142-9083-E20011EE4543}" srcOrd="1" destOrd="0" presId="urn:microsoft.com/office/officeart/2008/layout/LinedList"/>
    <dgm:cxn modelId="{6C5603B0-5EB5-E14A-9A60-4D71C0D52A8B}" type="presParOf" srcId="{AE9033A4-805E-BA43-9238-2682BE8A5857}" destId="{9B1ECFB0-FD14-CF46-9E35-F025184E890B}" srcOrd="2" destOrd="0" presId="urn:microsoft.com/office/officeart/2008/layout/LinedList"/>
    <dgm:cxn modelId="{E1723351-AC4C-5349-B966-4F1B1F406BDA}" type="presParOf" srcId="{AE9033A4-805E-BA43-9238-2682BE8A5857}" destId="{92D8D2CF-C7EF-8C46-9A7C-55147F02DD50}" srcOrd="3" destOrd="0" presId="urn:microsoft.com/office/officeart/2008/layout/LinedList"/>
    <dgm:cxn modelId="{CE8642FC-43AA-6E42-949C-1CB8AF529B52}" type="presParOf" srcId="{92D8D2CF-C7EF-8C46-9A7C-55147F02DD50}" destId="{E5A60F3F-92D9-AB44-8191-D2C0BD0B19E0}" srcOrd="0" destOrd="0" presId="urn:microsoft.com/office/officeart/2008/layout/LinedList"/>
    <dgm:cxn modelId="{A665A15D-5BC3-394E-AF30-09B151437681}" type="presParOf" srcId="{92D8D2CF-C7EF-8C46-9A7C-55147F02DD50}" destId="{1A5B7497-C044-7C40-8D75-7A6C4CDEB75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53C23C-AC38-4621-88CD-1878799C90B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EBEDE70-90F3-4534-A7DE-6829B9F77F58}">
      <dgm:prSet/>
      <dgm:spPr/>
      <dgm:t>
        <a:bodyPr/>
        <a:lstStyle/>
        <a:p>
          <a:r>
            <a:rPr lang="en-US" dirty="0"/>
            <a:t>Data science from scratch: first principles with Python, Joel Grus, O'Reilly Media, 2019</a:t>
          </a:r>
        </a:p>
      </dgm:t>
    </dgm:pt>
    <dgm:pt modelId="{31F4EFCF-6605-449F-AA95-B620A21D10EF}" type="parTrans" cxnId="{14321079-F038-4227-B5FF-CA3574E5B46C}">
      <dgm:prSet/>
      <dgm:spPr/>
      <dgm:t>
        <a:bodyPr/>
        <a:lstStyle/>
        <a:p>
          <a:endParaRPr lang="en-US"/>
        </a:p>
      </dgm:t>
    </dgm:pt>
    <dgm:pt modelId="{D77E5A2A-29F7-476A-9257-D4AEBB3C726C}" type="sibTrans" cxnId="{14321079-F038-4227-B5FF-CA3574E5B46C}">
      <dgm:prSet/>
      <dgm:spPr/>
      <dgm:t>
        <a:bodyPr/>
        <a:lstStyle/>
        <a:p>
          <a:endParaRPr lang="en-US"/>
        </a:p>
      </dgm:t>
    </dgm:pt>
    <dgm:pt modelId="{44D259AD-8EBF-45D5-BEAE-5206E6534C96}">
      <dgm:prSet/>
      <dgm:spPr/>
      <dgm:t>
        <a:bodyPr/>
        <a:lstStyle/>
        <a:p>
          <a:r>
            <a:rPr lang="en-US" dirty="0"/>
            <a:t>Python for Data Analysis: Data Wrangling with Pandas, NumPy, and </a:t>
          </a:r>
          <a:r>
            <a:rPr lang="en-US" dirty="0" err="1"/>
            <a:t>IPython</a:t>
          </a:r>
          <a:r>
            <a:rPr lang="en-US" dirty="0"/>
            <a:t>, Wes McKinney, O'Reilly Media, 3rd edition, 2022. </a:t>
          </a:r>
        </a:p>
      </dgm:t>
    </dgm:pt>
    <dgm:pt modelId="{097BCDDC-2CEF-44C7-967E-87EE5AECC2E2}" type="parTrans" cxnId="{CDDB28CD-387C-47F3-AD60-18761849AB9C}">
      <dgm:prSet/>
      <dgm:spPr/>
      <dgm:t>
        <a:bodyPr/>
        <a:lstStyle/>
        <a:p>
          <a:endParaRPr lang="en-US"/>
        </a:p>
      </dgm:t>
    </dgm:pt>
    <dgm:pt modelId="{4826DAFC-7FFB-4438-BA14-A5EFEE51B187}" type="sibTrans" cxnId="{CDDB28CD-387C-47F3-AD60-18761849AB9C}">
      <dgm:prSet/>
      <dgm:spPr/>
      <dgm:t>
        <a:bodyPr/>
        <a:lstStyle/>
        <a:p>
          <a:endParaRPr lang="en-US"/>
        </a:p>
      </dgm:t>
    </dgm:pt>
    <dgm:pt modelId="{A4BDA5C6-141D-4365-A1DA-7FE1A6FE570A}">
      <dgm:prSet/>
      <dgm:spPr/>
      <dgm:t>
        <a:bodyPr/>
        <a:lstStyle/>
        <a:p>
          <a:r>
            <a:rPr lang="en-US"/>
            <a:t>Python Data Science Handbook: Essential Tools for Working with Data, Jake Vanderplas, O'Reilly Media, 2022</a:t>
          </a:r>
        </a:p>
      </dgm:t>
    </dgm:pt>
    <dgm:pt modelId="{8D99F0F8-7B25-48AA-B3E2-E261F1EC46AC}" type="parTrans" cxnId="{B0EF371D-BE30-4472-87A6-8003A2C8C3CF}">
      <dgm:prSet/>
      <dgm:spPr/>
      <dgm:t>
        <a:bodyPr/>
        <a:lstStyle/>
        <a:p>
          <a:endParaRPr lang="en-US"/>
        </a:p>
      </dgm:t>
    </dgm:pt>
    <dgm:pt modelId="{9FBF91A2-E9B5-49E6-853E-578D56EBFF00}" type="sibTrans" cxnId="{B0EF371D-BE30-4472-87A6-8003A2C8C3CF}">
      <dgm:prSet/>
      <dgm:spPr/>
      <dgm:t>
        <a:bodyPr/>
        <a:lstStyle/>
        <a:p>
          <a:endParaRPr lang="en-US"/>
        </a:p>
      </dgm:t>
    </dgm:pt>
    <dgm:pt modelId="{63D4DDCF-0143-4BC2-A34B-A992373F3535}">
      <dgm:prSet/>
      <dgm:spPr/>
      <dgm:t>
        <a:bodyPr/>
        <a:lstStyle/>
        <a:p>
          <a:r>
            <a:rPr lang="en-US"/>
            <a:t>Murach’s Python for Data Analysis, Scott McCoy, Mike Murach &amp; Associates, Incorporated, 2021.</a:t>
          </a:r>
        </a:p>
      </dgm:t>
    </dgm:pt>
    <dgm:pt modelId="{E0B4C5C3-53A9-4011-92BF-421AA891EE4E}" type="parTrans" cxnId="{3CE36C41-5887-4828-A2B7-1CCA0C830421}">
      <dgm:prSet/>
      <dgm:spPr/>
      <dgm:t>
        <a:bodyPr/>
        <a:lstStyle/>
        <a:p>
          <a:endParaRPr lang="en-US"/>
        </a:p>
      </dgm:t>
    </dgm:pt>
    <dgm:pt modelId="{4228B28B-B5C2-409D-AB70-7AC11420FADA}" type="sibTrans" cxnId="{3CE36C41-5887-4828-A2B7-1CCA0C830421}">
      <dgm:prSet/>
      <dgm:spPr/>
      <dgm:t>
        <a:bodyPr/>
        <a:lstStyle/>
        <a:p>
          <a:endParaRPr lang="en-US"/>
        </a:p>
      </dgm:t>
    </dgm:pt>
    <dgm:pt modelId="{B05C0AF0-F811-45C2-A1D4-EE31BEF66165}">
      <dgm:prSet/>
      <dgm:spPr/>
      <dgm:t>
        <a:bodyPr/>
        <a:lstStyle/>
        <a:p>
          <a:r>
            <a:rPr lang="en-US" dirty="0"/>
            <a:t>Intro to Python for Computer Science and Data Science: Learning to Program with AI, Big Data and The Cloud, Paul </a:t>
          </a:r>
          <a:r>
            <a:rPr lang="en-US" dirty="0" err="1"/>
            <a:t>Deitel</a:t>
          </a:r>
          <a:r>
            <a:rPr lang="en-US" dirty="0"/>
            <a:t>, Pearson Education Limited, 2021.</a:t>
          </a:r>
        </a:p>
      </dgm:t>
    </dgm:pt>
    <dgm:pt modelId="{B0623741-0E66-4E05-814B-8CBF11DE0C07}" type="parTrans" cxnId="{11B033D4-A942-4A76-B264-DCB2543BBDED}">
      <dgm:prSet/>
      <dgm:spPr/>
      <dgm:t>
        <a:bodyPr/>
        <a:lstStyle/>
        <a:p>
          <a:endParaRPr lang="en-US"/>
        </a:p>
      </dgm:t>
    </dgm:pt>
    <dgm:pt modelId="{5F8211C3-CA13-4E02-A926-A016B263ECC1}" type="sibTrans" cxnId="{11B033D4-A942-4A76-B264-DCB2543BBDED}">
      <dgm:prSet/>
      <dgm:spPr/>
      <dgm:t>
        <a:bodyPr/>
        <a:lstStyle/>
        <a:p>
          <a:endParaRPr lang="en-US"/>
        </a:p>
      </dgm:t>
    </dgm:pt>
    <dgm:pt modelId="{0ABCAA9C-2B3C-4A9E-9380-2BE94392ADB9}">
      <dgm:prSet/>
      <dgm:spPr/>
      <dgm:t>
        <a:bodyPr/>
        <a:lstStyle/>
        <a:p>
          <a:pPr rtl="0"/>
          <a:endParaRPr lang="en-US" dirty="0"/>
        </a:p>
      </dgm:t>
    </dgm:pt>
    <dgm:pt modelId="{0DB05566-A94A-46DF-9E85-41B733C3EF93}" type="parTrans" cxnId="{63E9FE05-40CC-4157-8991-1570BA599AF2}">
      <dgm:prSet/>
      <dgm:spPr/>
      <dgm:t>
        <a:bodyPr/>
        <a:lstStyle/>
        <a:p>
          <a:endParaRPr lang="en-US"/>
        </a:p>
      </dgm:t>
    </dgm:pt>
    <dgm:pt modelId="{CB3F360D-3639-471A-8118-908DA4F0EE14}" type="sibTrans" cxnId="{63E9FE05-40CC-4157-8991-1570BA599AF2}">
      <dgm:prSet/>
      <dgm:spPr/>
      <dgm:t>
        <a:bodyPr/>
        <a:lstStyle/>
        <a:p>
          <a:endParaRPr lang="en-US"/>
        </a:p>
      </dgm:t>
    </dgm:pt>
    <dgm:pt modelId="{D575C6F2-ED24-C542-8D94-FE0D86F4E509}">
      <dgm:prSet/>
      <dgm:spPr/>
      <dgm:t>
        <a:bodyPr/>
        <a:lstStyle/>
        <a:p>
          <a:r>
            <a:rPr lang="en-US" b="0" i="0"/>
            <a:t>Artificial Intelligence: a Modern Approach, Global Edition, Stuart Russell , and Peter Norvig, Pearson Education, 2021.</a:t>
          </a:r>
          <a:endParaRPr lang="en-US"/>
        </a:p>
      </dgm:t>
    </dgm:pt>
    <dgm:pt modelId="{3A66D8FE-4A52-7B49-AEDB-7C694F12E74F}" type="parTrans" cxnId="{CF502EC9-E29A-0C4C-ABF7-3261108F6A2D}">
      <dgm:prSet/>
      <dgm:spPr/>
      <dgm:t>
        <a:bodyPr/>
        <a:lstStyle/>
        <a:p>
          <a:endParaRPr lang="en-US"/>
        </a:p>
      </dgm:t>
    </dgm:pt>
    <dgm:pt modelId="{268F661C-58B3-7042-B43D-6969285156C1}" type="sibTrans" cxnId="{CF502EC9-E29A-0C4C-ABF7-3261108F6A2D}">
      <dgm:prSet/>
      <dgm:spPr/>
      <dgm:t>
        <a:bodyPr/>
        <a:lstStyle/>
        <a:p>
          <a:endParaRPr lang="en-US"/>
        </a:p>
      </dgm:t>
    </dgm:pt>
    <dgm:pt modelId="{09CAC9FE-7AF3-C449-9B0D-7E21792D78A0}" type="pres">
      <dgm:prSet presAssocID="{EE53C23C-AC38-4621-88CD-1878799C90B3}" presName="vert0" presStyleCnt="0">
        <dgm:presLayoutVars>
          <dgm:dir/>
          <dgm:animOne val="branch"/>
          <dgm:animLvl val="lvl"/>
        </dgm:presLayoutVars>
      </dgm:prSet>
      <dgm:spPr/>
    </dgm:pt>
    <dgm:pt modelId="{C404357A-E97E-C94C-81BD-FBF4AB020353}" type="pres">
      <dgm:prSet presAssocID="{FEBEDE70-90F3-4534-A7DE-6829B9F77F58}" presName="thickLine" presStyleLbl="alignNode1" presStyleIdx="0" presStyleCnt="7"/>
      <dgm:spPr/>
    </dgm:pt>
    <dgm:pt modelId="{D27754BD-568D-FD43-AF01-A990710C86A6}" type="pres">
      <dgm:prSet presAssocID="{FEBEDE70-90F3-4534-A7DE-6829B9F77F58}" presName="horz1" presStyleCnt="0"/>
      <dgm:spPr/>
    </dgm:pt>
    <dgm:pt modelId="{DF6EFE51-87FD-9649-AD56-C7EBEC730FF6}" type="pres">
      <dgm:prSet presAssocID="{FEBEDE70-90F3-4534-A7DE-6829B9F77F58}" presName="tx1" presStyleLbl="revTx" presStyleIdx="0" presStyleCnt="7"/>
      <dgm:spPr/>
    </dgm:pt>
    <dgm:pt modelId="{A177E899-60D2-544D-9B00-C35F69075497}" type="pres">
      <dgm:prSet presAssocID="{FEBEDE70-90F3-4534-A7DE-6829B9F77F58}" presName="vert1" presStyleCnt="0"/>
      <dgm:spPr/>
    </dgm:pt>
    <dgm:pt modelId="{D515692B-DADF-E54D-88B7-497E674CDB95}" type="pres">
      <dgm:prSet presAssocID="{D575C6F2-ED24-C542-8D94-FE0D86F4E509}" presName="thickLine" presStyleLbl="alignNode1" presStyleIdx="1" presStyleCnt="7"/>
      <dgm:spPr/>
    </dgm:pt>
    <dgm:pt modelId="{86D4092D-9BFE-1242-A3F3-161439A988A3}" type="pres">
      <dgm:prSet presAssocID="{D575C6F2-ED24-C542-8D94-FE0D86F4E509}" presName="horz1" presStyleCnt="0"/>
      <dgm:spPr/>
    </dgm:pt>
    <dgm:pt modelId="{FB9AB722-4DE6-C64C-9098-B2835B2D69B9}" type="pres">
      <dgm:prSet presAssocID="{D575C6F2-ED24-C542-8D94-FE0D86F4E509}" presName="tx1" presStyleLbl="revTx" presStyleIdx="1" presStyleCnt="7"/>
      <dgm:spPr/>
    </dgm:pt>
    <dgm:pt modelId="{34B453D7-61BD-D54A-9572-9245F4CA2CB3}" type="pres">
      <dgm:prSet presAssocID="{D575C6F2-ED24-C542-8D94-FE0D86F4E509}" presName="vert1" presStyleCnt="0"/>
      <dgm:spPr/>
    </dgm:pt>
    <dgm:pt modelId="{A9E5E7C2-ACE7-E84F-96FD-748D4FDDC33B}" type="pres">
      <dgm:prSet presAssocID="{44D259AD-8EBF-45D5-BEAE-5206E6534C96}" presName="thickLine" presStyleLbl="alignNode1" presStyleIdx="2" presStyleCnt="7"/>
      <dgm:spPr/>
    </dgm:pt>
    <dgm:pt modelId="{8E448EFE-C0C3-A244-A0A4-57F7076529C1}" type="pres">
      <dgm:prSet presAssocID="{44D259AD-8EBF-45D5-BEAE-5206E6534C96}" presName="horz1" presStyleCnt="0"/>
      <dgm:spPr/>
    </dgm:pt>
    <dgm:pt modelId="{661990BB-F42D-774B-A62E-E5377C0D062B}" type="pres">
      <dgm:prSet presAssocID="{44D259AD-8EBF-45D5-BEAE-5206E6534C96}" presName="tx1" presStyleLbl="revTx" presStyleIdx="2" presStyleCnt="7"/>
      <dgm:spPr/>
    </dgm:pt>
    <dgm:pt modelId="{A5AD4D8C-2E23-1E42-BF07-5EB93E90C43C}" type="pres">
      <dgm:prSet presAssocID="{44D259AD-8EBF-45D5-BEAE-5206E6534C96}" presName="vert1" presStyleCnt="0"/>
      <dgm:spPr/>
    </dgm:pt>
    <dgm:pt modelId="{146A514D-661A-6548-807A-C37C96C91EC2}" type="pres">
      <dgm:prSet presAssocID="{A4BDA5C6-141D-4365-A1DA-7FE1A6FE570A}" presName="thickLine" presStyleLbl="alignNode1" presStyleIdx="3" presStyleCnt="7"/>
      <dgm:spPr/>
    </dgm:pt>
    <dgm:pt modelId="{94506CDB-DCBD-C441-AC86-81AC289517C2}" type="pres">
      <dgm:prSet presAssocID="{A4BDA5C6-141D-4365-A1DA-7FE1A6FE570A}" presName="horz1" presStyleCnt="0"/>
      <dgm:spPr/>
    </dgm:pt>
    <dgm:pt modelId="{DDC40E20-AA65-244E-9F76-70B2EFCF7762}" type="pres">
      <dgm:prSet presAssocID="{A4BDA5C6-141D-4365-A1DA-7FE1A6FE570A}" presName="tx1" presStyleLbl="revTx" presStyleIdx="3" presStyleCnt="7"/>
      <dgm:spPr/>
    </dgm:pt>
    <dgm:pt modelId="{5B32E285-5F8F-3340-98CF-3AB32911AEA5}" type="pres">
      <dgm:prSet presAssocID="{A4BDA5C6-141D-4365-A1DA-7FE1A6FE570A}" presName="vert1" presStyleCnt="0"/>
      <dgm:spPr/>
    </dgm:pt>
    <dgm:pt modelId="{92916D02-6E08-CD4F-8D51-F0B12F4568B1}" type="pres">
      <dgm:prSet presAssocID="{63D4DDCF-0143-4BC2-A34B-A992373F3535}" presName="thickLine" presStyleLbl="alignNode1" presStyleIdx="4" presStyleCnt="7"/>
      <dgm:spPr/>
    </dgm:pt>
    <dgm:pt modelId="{BE2F4DC8-F0B1-E14D-8F20-EC50DE131147}" type="pres">
      <dgm:prSet presAssocID="{63D4DDCF-0143-4BC2-A34B-A992373F3535}" presName="horz1" presStyleCnt="0"/>
      <dgm:spPr/>
    </dgm:pt>
    <dgm:pt modelId="{411B325B-2BCE-A347-B2B0-3F422897EE6C}" type="pres">
      <dgm:prSet presAssocID="{63D4DDCF-0143-4BC2-A34B-A992373F3535}" presName="tx1" presStyleLbl="revTx" presStyleIdx="4" presStyleCnt="7"/>
      <dgm:spPr/>
    </dgm:pt>
    <dgm:pt modelId="{25B4D4FE-7E4F-3440-A3B5-CB1CF1381971}" type="pres">
      <dgm:prSet presAssocID="{63D4DDCF-0143-4BC2-A34B-A992373F3535}" presName="vert1" presStyleCnt="0"/>
      <dgm:spPr/>
    </dgm:pt>
    <dgm:pt modelId="{42AB5525-B53D-D94F-B836-8EC17BEF85BC}" type="pres">
      <dgm:prSet presAssocID="{B05C0AF0-F811-45C2-A1D4-EE31BEF66165}" presName="thickLine" presStyleLbl="alignNode1" presStyleIdx="5" presStyleCnt="7"/>
      <dgm:spPr/>
    </dgm:pt>
    <dgm:pt modelId="{149B7157-2845-A244-9CE3-D7BD2C9D0DFA}" type="pres">
      <dgm:prSet presAssocID="{B05C0AF0-F811-45C2-A1D4-EE31BEF66165}" presName="horz1" presStyleCnt="0"/>
      <dgm:spPr/>
    </dgm:pt>
    <dgm:pt modelId="{D3930862-EE26-6C41-AD7E-F8C5A8222893}" type="pres">
      <dgm:prSet presAssocID="{B05C0AF0-F811-45C2-A1D4-EE31BEF66165}" presName="tx1" presStyleLbl="revTx" presStyleIdx="5" presStyleCnt="7"/>
      <dgm:spPr/>
    </dgm:pt>
    <dgm:pt modelId="{66FE66EB-58AE-7F48-B664-090CAB36CF4A}" type="pres">
      <dgm:prSet presAssocID="{B05C0AF0-F811-45C2-A1D4-EE31BEF66165}" presName="vert1" presStyleCnt="0"/>
      <dgm:spPr/>
    </dgm:pt>
    <dgm:pt modelId="{49FEF376-19E5-4246-9297-C1AB6253D858}" type="pres">
      <dgm:prSet presAssocID="{0ABCAA9C-2B3C-4A9E-9380-2BE94392ADB9}" presName="thickLine" presStyleLbl="alignNode1" presStyleIdx="6" presStyleCnt="7"/>
      <dgm:spPr/>
    </dgm:pt>
    <dgm:pt modelId="{0CBB57CC-0A09-9946-A609-A555369864C9}" type="pres">
      <dgm:prSet presAssocID="{0ABCAA9C-2B3C-4A9E-9380-2BE94392ADB9}" presName="horz1" presStyleCnt="0"/>
      <dgm:spPr/>
    </dgm:pt>
    <dgm:pt modelId="{22AC8E4D-097C-CE46-B44B-E827B23C04B5}" type="pres">
      <dgm:prSet presAssocID="{0ABCAA9C-2B3C-4A9E-9380-2BE94392ADB9}" presName="tx1" presStyleLbl="revTx" presStyleIdx="6" presStyleCnt="7"/>
      <dgm:spPr/>
    </dgm:pt>
    <dgm:pt modelId="{EA05AA7C-5A10-C04C-8219-2D631296991F}" type="pres">
      <dgm:prSet presAssocID="{0ABCAA9C-2B3C-4A9E-9380-2BE94392ADB9}" presName="vert1" presStyleCnt="0"/>
      <dgm:spPr/>
    </dgm:pt>
  </dgm:ptLst>
  <dgm:cxnLst>
    <dgm:cxn modelId="{63E9FE05-40CC-4157-8991-1570BA599AF2}" srcId="{EE53C23C-AC38-4621-88CD-1878799C90B3}" destId="{0ABCAA9C-2B3C-4A9E-9380-2BE94392ADB9}" srcOrd="6" destOrd="0" parTransId="{0DB05566-A94A-46DF-9E85-41B733C3EF93}" sibTransId="{CB3F360D-3639-471A-8118-908DA4F0EE14}"/>
    <dgm:cxn modelId="{D28CE20E-8B42-6F46-A0F2-766ABFBF1B26}" type="presOf" srcId="{B05C0AF0-F811-45C2-A1D4-EE31BEF66165}" destId="{D3930862-EE26-6C41-AD7E-F8C5A8222893}" srcOrd="0" destOrd="0" presId="urn:microsoft.com/office/officeart/2008/layout/LinedList"/>
    <dgm:cxn modelId="{032FAF0F-7F9F-3343-B208-A43EC3E633E5}" type="presOf" srcId="{D575C6F2-ED24-C542-8D94-FE0D86F4E509}" destId="{FB9AB722-4DE6-C64C-9098-B2835B2D69B9}" srcOrd="0" destOrd="0" presId="urn:microsoft.com/office/officeart/2008/layout/LinedList"/>
    <dgm:cxn modelId="{2DDE4C17-A39D-C542-9EF6-79E5D02A5F34}" type="presOf" srcId="{FEBEDE70-90F3-4534-A7DE-6829B9F77F58}" destId="{DF6EFE51-87FD-9649-AD56-C7EBEC730FF6}" srcOrd="0" destOrd="0" presId="urn:microsoft.com/office/officeart/2008/layout/LinedList"/>
    <dgm:cxn modelId="{B0EF371D-BE30-4472-87A6-8003A2C8C3CF}" srcId="{EE53C23C-AC38-4621-88CD-1878799C90B3}" destId="{A4BDA5C6-141D-4365-A1DA-7FE1A6FE570A}" srcOrd="3" destOrd="0" parTransId="{8D99F0F8-7B25-48AA-B3E2-E261F1EC46AC}" sibTransId="{9FBF91A2-E9B5-49E6-853E-578D56EBFF00}"/>
    <dgm:cxn modelId="{4DA5CB24-171C-0A4E-8D8E-29065CD1ADED}" type="presOf" srcId="{0ABCAA9C-2B3C-4A9E-9380-2BE94392ADB9}" destId="{22AC8E4D-097C-CE46-B44B-E827B23C04B5}" srcOrd="0" destOrd="0" presId="urn:microsoft.com/office/officeart/2008/layout/LinedList"/>
    <dgm:cxn modelId="{3CE36C41-5887-4828-A2B7-1CCA0C830421}" srcId="{EE53C23C-AC38-4621-88CD-1878799C90B3}" destId="{63D4DDCF-0143-4BC2-A34B-A992373F3535}" srcOrd="4" destOrd="0" parTransId="{E0B4C5C3-53A9-4011-92BF-421AA891EE4E}" sibTransId="{4228B28B-B5C2-409D-AB70-7AC11420FADA}"/>
    <dgm:cxn modelId="{429DB56F-9169-C449-B819-134A0FD72256}" type="presOf" srcId="{A4BDA5C6-141D-4365-A1DA-7FE1A6FE570A}" destId="{DDC40E20-AA65-244E-9F76-70B2EFCF7762}" srcOrd="0" destOrd="0" presId="urn:microsoft.com/office/officeart/2008/layout/LinedList"/>
    <dgm:cxn modelId="{B77A4B54-7031-6143-B29C-6BA5F5DA320A}" type="presOf" srcId="{EE53C23C-AC38-4621-88CD-1878799C90B3}" destId="{09CAC9FE-7AF3-C449-9B0D-7E21792D78A0}" srcOrd="0" destOrd="0" presId="urn:microsoft.com/office/officeart/2008/layout/LinedList"/>
    <dgm:cxn modelId="{14321079-F038-4227-B5FF-CA3574E5B46C}" srcId="{EE53C23C-AC38-4621-88CD-1878799C90B3}" destId="{FEBEDE70-90F3-4534-A7DE-6829B9F77F58}" srcOrd="0" destOrd="0" parTransId="{31F4EFCF-6605-449F-AA95-B620A21D10EF}" sibTransId="{D77E5A2A-29F7-476A-9257-D4AEBB3C726C}"/>
    <dgm:cxn modelId="{3E951C81-514A-4B47-A663-06F197D6A53F}" type="presOf" srcId="{63D4DDCF-0143-4BC2-A34B-A992373F3535}" destId="{411B325B-2BCE-A347-B2B0-3F422897EE6C}" srcOrd="0" destOrd="0" presId="urn:microsoft.com/office/officeart/2008/layout/LinedList"/>
    <dgm:cxn modelId="{CF502EC9-E29A-0C4C-ABF7-3261108F6A2D}" srcId="{EE53C23C-AC38-4621-88CD-1878799C90B3}" destId="{D575C6F2-ED24-C542-8D94-FE0D86F4E509}" srcOrd="1" destOrd="0" parTransId="{3A66D8FE-4A52-7B49-AEDB-7C694F12E74F}" sibTransId="{268F661C-58B3-7042-B43D-6969285156C1}"/>
    <dgm:cxn modelId="{8D5063C9-AFF6-D64A-B822-292444683E19}" type="presOf" srcId="{44D259AD-8EBF-45D5-BEAE-5206E6534C96}" destId="{661990BB-F42D-774B-A62E-E5377C0D062B}" srcOrd="0" destOrd="0" presId="urn:microsoft.com/office/officeart/2008/layout/LinedList"/>
    <dgm:cxn modelId="{CDDB28CD-387C-47F3-AD60-18761849AB9C}" srcId="{EE53C23C-AC38-4621-88CD-1878799C90B3}" destId="{44D259AD-8EBF-45D5-BEAE-5206E6534C96}" srcOrd="2" destOrd="0" parTransId="{097BCDDC-2CEF-44C7-967E-87EE5AECC2E2}" sibTransId="{4826DAFC-7FFB-4438-BA14-A5EFEE51B187}"/>
    <dgm:cxn modelId="{11B033D4-A942-4A76-B264-DCB2543BBDED}" srcId="{EE53C23C-AC38-4621-88CD-1878799C90B3}" destId="{B05C0AF0-F811-45C2-A1D4-EE31BEF66165}" srcOrd="5" destOrd="0" parTransId="{B0623741-0E66-4E05-814B-8CBF11DE0C07}" sibTransId="{5F8211C3-CA13-4E02-A926-A016B263ECC1}"/>
    <dgm:cxn modelId="{77E3C8FA-2D1E-9142-99DD-AF5B23662405}" type="presParOf" srcId="{09CAC9FE-7AF3-C449-9B0D-7E21792D78A0}" destId="{C404357A-E97E-C94C-81BD-FBF4AB020353}" srcOrd="0" destOrd="0" presId="urn:microsoft.com/office/officeart/2008/layout/LinedList"/>
    <dgm:cxn modelId="{A8A2DEED-F04B-3F40-8EFA-7233BDA1F50F}" type="presParOf" srcId="{09CAC9FE-7AF3-C449-9B0D-7E21792D78A0}" destId="{D27754BD-568D-FD43-AF01-A990710C86A6}" srcOrd="1" destOrd="0" presId="urn:microsoft.com/office/officeart/2008/layout/LinedList"/>
    <dgm:cxn modelId="{68506BCF-ADAA-4747-8D55-3E514894E60C}" type="presParOf" srcId="{D27754BD-568D-FD43-AF01-A990710C86A6}" destId="{DF6EFE51-87FD-9649-AD56-C7EBEC730FF6}" srcOrd="0" destOrd="0" presId="urn:microsoft.com/office/officeart/2008/layout/LinedList"/>
    <dgm:cxn modelId="{B687E1C1-6082-C44B-8818-4F076CDA094C}" type="presParOf" srcId="{D27754BD-568D-FD43-AF01-A990710C86A6}" destId="{A177E899-60D2-544D-9B00-C35F69075497}" srcOrd="1" destOrd="0" presId="urn:microsoft.com/office/officeart/2008/layout/LinedList"/>
    <dgm:cxn modelId="{43FE1765-CEE1-9F4F-8CC7-76C777433BB6}" type="presParOf" srcId="{09CAC9FE-7AF3-C449-9B0D-7E21792D78A0}" destId="{D515692B-DADF-E54D-88B7-497E674CDB95}" srcOrd="2" destOrd="0" presId="urn:microsoft.com/office/officeart/2008/layout/LinedList"/>
    <dgm:cxn modelId="{01FD1F09-EB48-F646-A43E-58D3AB9BCFFC}" type="presParOf" srcId="{09CAC9FE-7AF3-C449-9B0D-7E21792D78A0}" destId="{86D4092D-9BFE-1242-A3F3-161439A988A3}" srcOrd="3" destOrd="0" presId="urn:microsoft.com/office/officeart/2008/layout/LinedList"/>
    <dgm:cxn modelId="{20C3CA48-310B-834B-9EFB-75B83ACDBB08}" type="presParOf" srcId="{86D4092D-9BFE-1242-A3F3-161439A988A3}" destId="{FB9AB722-4DE6-C64C-9098-B2835B2D69B9}" srcOrd="0" destOrd="0" presId="urn:microsoft.com/office/officeart/2008/layout/LinedList"/>
    <dgm:cxn modelId="{2FDDB211-F005-4E41-889B-7270521C165D}" type="presParOf" srcId="{86D4092D-9BFE-1242-A3F3-161439A988A3}" destId="{34B453D7-61BD-D54A-9572-9245F4CA2CB3}" srcOrd="1" destOrd="0" presId="urn:microsoft.com/office/officeart/2008/layout/LinedList"/>
    <dgm:cxn modelId="{0EA5404A-49D7-F34C-932C-7807E84B0E2A}" type="presParOf" srcId="{09CAC9FE-7AF3-C449-9B0D-7E21792D78A0}" destId="{A9E5E7C2-ACE7-E84F-96FD-748D4FDDC33B}" srcOrd="4" destOrd="0" presId="urn:microsoft.com/office/officeart/2008/layout/LinedList"/>
    <dgm:cxn modelId="{3F282DC1-2173-E949-83FF-F523DB0ACE5C}" type="presParOf" srcId="{09CAC9FE-7AF3-C449-9B0D-7E21792D78A0}" destId="{8E448EFE-C0C3-A244-A0A4-57F7076529C1}" srcOrd="5" destOrd="0" presId="urn:microsoft.com/office/officeart/2008/layout/LinedList"/>
    <dgm:cxn modelId="{A91CD1D3-486A-844F-BF74-F4EDA225DB8D}" type="presParOf" srcId="{8E448EFE-C0C3-A244-A0A4-57F7076529C1}" destId="{661990BB-F42D-774B-A62E-E5377C0D062B}" srcOrd="0" destOrd="0" presId="urn:microsoft.com/office/officeart/2008/layout/LinedList"/>
    <dgm:cxn modelId="{B88D1005-FB59-5641-9A1E-DF8EAF2B7C32}" type="presParOf" srcId="{8E448EFE-C0C3-A244-A0A4-57F7076529C1}" destId="{A5AD4D8C-2E23-1E42-BF07-5EB93E90C43C}" srcOrd="1" destOrd="0" presId="urn:microsoft.com/office/officeart/2008/layout/LinedList"/>
    <dgm:cxn modelId="{1AA7D0F4-1D3E-2246-9F46-6B35F1E2C280}" type="presParOf" srcId="{09CAC9FE-7AF3-C449-9B0D-7E21792D78A0}" destId="{146A514D-661A-6548-807A-C37C96C91EC2}" srcOrd="6" destOrd="0" presId="urn:microsoft.com/office/officeart/2008/layout/LinedList"/>
    <dgm:cxn modelId="{4F619846-4498-7E49-8D64-B4CA4998F4ED}" type="presParOf" srcId="{09CAC9FE-7AF3-C449-9B0D-7E21792D78A0}" destId="{94506CDB-DCBD-C441-AC86-81AC289517C2}" srcOrd="7" destOrd="0" presId="urn:microsoft.com/office/officeart/2008/layout/LinedList"/>
    <dgm:cxn modelId="{0EC9D9AE-3FEC-DD4C-B6FF-A5F9EB6BCE18}" type="presParOf" srcId="{94506CDB-DCBD-C441-AC86-81AC289517C2}" destId="{DDC40E20-AA65-244E-9F76-70B2EFCF7762}" srcOrd="0" destOrd="0" presId="urn:microsoft.com/office/officeart/2008/layout/LinedList"/>
    <dgm:cxn modelId="{55137363-A6B2-8442-B5BD-4094E4CF30CB}" type="presParOf" srcId="{94506CDB-DCBD-C441-AC86-81AC289517C2}" destId="{5B32E285-5F8F-3340-98CF-3AB32911AEA5}" srcOrd="1" destOrd="0" presId="urn:microsoft.com/office/officeart/2008/layout/LinedList"/>
    <dgm:cxn modelId="{33B71A7B-6D7F-0941-8F8B-45E8875BFD22}" type="presParOf" srcId="{09CAC9FE-7AF3-C449-9B0D-7E21792D78A0}" destId="{92916D02-6E08-CD4F-8D51-F0B12F4568B1}" srcOrd="8" destOrd="0" presId="urn:microsoft.com/office/officeart/2008/layout/LinedList"/>
    <dgm:cxn modelId="{007D8FD0-9DD2-8642-8A17-8BDCD69642E6}" type="presParOf" srcId="{09CAC9FE-7AF3-C449-9B0D-7E21792D78A0}" destId="{BE2F4DC8-F0B1-E14D-8F20-EC50DE131147}" srcOrd="9" destOrd="0" presId="urn:microsoft.com/office/officeart/2008/layout/LinedList"/>
    <dgm:cxn modelId="{8A4EFBF5-53AD-6B43-9EC1-A68D5D2D1A02}" type="presParOf" srcId="{BE2F4DC8-F0B1-E14D-8F20-EC50DE131147}" destId="{411B325B-2BCE-A347-B2B0-3F422897EE6C}" srcOrd="0" destOrd="0" presId="urn:microsoft.com/office/officeart/2008/layout/LinedList"/>
    <dgm:cxn modelId="{1259696B-89EC-B147-9B08-123CB3B1BE23}" type="presParOf" srcId="{BE2F4DC8-F0B1-E14D-8F20-EC50DE131147}" destId="{25B4D4FE-7E4F-3440-A3B5-CB1CF1381971}" srcOrd="1" destOrd="0" presId="urn:microsoft.com/office/officeart/2008/layout/LinedList"/>
    <dgm:cxn modelId="{0B966CAB-D9E0-BD47-90E0-341E73052B03}" type="presParOf" srcId="{09CAC9FE-7AF3-C449-9B0D-7E21792D78A0}" destId="{42AB5525-B53D-D94F-B836-8EC17BEF85BC}" srcOrd="10" destOrd="0" presId="urn:microsoft.com/office/officeart/2008/layout/LinedList"/>
    <dgm:cxn modelId="{BF8C012B-3E68-F44C-A6D8-EF6E3355D7B9}" type="presParOf" srcId="{09CAC9FE-7AF3-C449-9B0D-7E21792D78A0}" destId="{149B7157-2845-A244-9CE3-D7BD2C9D0DFA}" srcOrd="11" destOrd="0" presId="urn:microsoft.com/office/officeart/2008/layout/LinedList"/>
    <dgm:cxn modelId="{2CF42423-FBA1-7540-9680-D3ED39F807DB}" type="presParOf" srcId="{149B7157-2845-A244-9CE3-D7BD2C9D0DFA}" destId="{D3930862-EE26-6C41-AD7E-F8C5A8222893}" srcOrd="0" destOrd="0" presId="urn:microsoft.com/office/officeart/2008/layout/LinedList"/>
    <dgm:cxn modelId="{78024A13-C9BC-C644-9CBC-1E3C978EA058}" type="presParOf" srcId="{149B7157-2845-A244-9CE3-D7BD2C9D0DFA}" destId="{66FE66EB-58AE-7F48-B664-090CAB36CF4A}" srcOrd="1" destOrd="0" presId="urn:microsoft.com/office/officeart/2008/layout/LinedList"/>
    <dgm:cxn modelId="{EF49BA34-B38C-1F42-B575-439C47B8491A}" type="presParOf" srcId="{09CAC9FE-7AF3-C449-9B0D-7E21792D78A0}" destId="{49FEF376-19E5-4246-9297-C1AB6253D858}" srcOrd="12" destOrd="0" presId="urn:microsoft.com/office/officeart/2008/layout/LinedList"/>
    <dgm:cxn modelId="{605704AB-6966-CE43-94E3-71C8DC5B9B11}" type="presParOf" srcId="{09CAC9FE-7AF3-C449-9B0D-7E21792D78A0}" destId="{0CBB57CC-0A09-9946-A609-A555369864C9}" srcOrd="13" destOrd="0" presId="urn:microsoft.com/office/officeart/2008/layout/LinedList"/>
    <dgm:cxn modelId="{4704A5E7-A87C-8A47-B4AE-98ED67B71E29}" type="presParOf" srcId="{0CBB57CC-0A09-9946-A609-A555369864C9}" destId="{22AC8E4D-097C-CE46-B44B-E827B23C04B5}" srcOrd="0" destOrd="0" presId="urn:microsoft.com/office/officeart/2008/layout/LinedList"/>
    <dgm:cxn modelId="{63A7042E-5FEA-844F-A683-69147DC3135F}" type="presParOf" srcId="{0CBB57CC-0A09-9946-A609-A555369864C9}" destId="{EA05AA7C-5A10-C04C-8219-2D631296991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2D90A7-B1AB-F84B-95F5-DE655BBA8FCC}">
      <dsp:nvSpPr>
        <dsp:cNvPr id="0" name=""/>
        <dsp:cNvSpPr/>
      </dsp:nvSpPr>
      <dsp:spPr>
        <a:xfrm>
          <a:off x="0" y="521893"/>
          <a:ext cx="3200710" cy="2032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B6E51B-FF97-F54F-BF0E-45FAC20F6197}">
      <dsp:nvSpPr>
        <dsp:cNvPr id="0" name=""/>
        <dsp:cNvSpPr/>
      </dsp:nvSpPr>
      <dsp:spPr>
        <a:xfrm>
          <a:off x="355634" y="859746"/>
          <a:ext cx="3200710" cy="2032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Ambiguity in language interpretation.</a:t>
          </a:r>
        </a:p>
      </dsp:txBody>
      <dsp:txXfrm>
        <a:off x="415162" y="919274"/>
        <a:ext cx="3081654" cy="1913395"/>
      </dsp:txXfrm>
    </dsp:sp>
    <dsp:sp modelId="{84AA861C-9CAD-F64B-A854-FCB3EE0BAE1E}">
      <dsp:nvSpPr>
        <dsp:cNvPr id="0" name=""/>
        <dsp:cNvSpPr/>
      </dsp:nvSpPr>
      <dsp:spPr>
        <a:xfrm>
          <a:off x="3911979" y="521893"/>
          <a:ext cx="3200710" cy="2032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9097E4-DE38-9B4F-B909-B9961F028A8B}">
      <dsp:nvSpPr>
        <dsp:cNvPr id="0" name=""/>
        <dsp:cNvSpPr/>
      </dsp:nvSpPr>
      <dsp:spPr>
        <a:xfrm>
          <a:off x="4267614" y="859746"/>
          <a:ext cx="3200710" cy="2032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Contextual nuances and cultural differences.</a:t>
          </a:r>
        </a:p>
      </dsp:txBody>
      <dsp:txXfrm>
        <a:off x="4327142" y="919274"/>
        <a:ext cx="3081654" cy="1913395"/>
      </dsp:txXfrm>
    </dsp:sp>
    <dsp:sp modelId="{A6D94647-B239-E343-8AE0-47BC81864878}">
      <dsp:nvSpPr>
        <dsp:cNvPr id="0" name=""/>
        <dsp:cNvSpPr/>
      </dsp:nvSpPr>
      <dsp:spPr>
        <a:xfrm>
          <a:off x="7823958" y="521893"/>
          <a:ext cx="3200710" cy="20324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29C9E6-A0DE-BA44-B633-8FECA3C0680C}">
      <dsp:nvSpPr>
        <dsp:cNvPr id="0" name=""/>
        <dsp:cNvSpPr/>
      </dsp:nvSpPr>
      <dsp:spPr>
        <a:xfrm>
          <a:off x="8179593" y="859746"/>
          <a:ext cx="3200710" cy="20324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Sarcasm, irony, and humor understanding.</a:t>
          </a:r>
        </a:p>
      </dsp:txBody>
      <dsp:txXfrm>
        <a:off x="8239121" y="919274"/>
        <a:ext cx="3081654" cy="19133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4D863-3BED-AA4D-AC15-5475E435D41F}">
      <dsp:nvSpPr>
        <dsp:cNvPr id="0" name=""/>
        <dsp:cNvSpPr/>
      </dsp:nvSpPr>
      <dsp:spPr>
        <a:xfrm>
          <a:off x="1326" y="121455"/>
          <a:ext cx="4657111" cy="29572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1EA8AB-F789-314F-90FC-6E34A0A1FCEA}">
      <dsp:nvSpPr>
        <dsp:cNvPr id="0" name=""/>
        <dsp:cNvSpPr/>
      </dsp:nvSpPr>
      <dsp:spPr>
        <a:xfrm>
          <a:off x="518783" y="613039"/>
          <a:ext cx="4657111" cy="29572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kern="1200" dirty="0"/>
            <a:t>Data science is an </a:t>
          </a:r>
          <a:r>
            <a:rPr lang="en-US" sz="2400" kern="1200" dirty="0">
              <a:highlight>
                <a:srgbClr val="FFFF00"/>
              </a:highlight>
            </a:rPr>
            <a:t>emerging discipline</a:t>
          </a:r>
          <a:r>
            <a:rPr lang="en-US" sz="2400" kern="1200" dirty="0"/>
            <a:t>. It remains a science where new knowledge and tools are still being invented.</a:t>
          </a:r>
        </a:p>
      </dsp:txBody>
      <dsp:txXfrm>
        <a:off x="605398" y="699654"/>
        <a:ext cx="4483881" cy="2784036"/>
      </dsp:txXfrm>
    </dsp:sp>
    <dsp:sp modelId="{14A3D3EF-711B-6449-8038-281208E6378E}">
      <dsp:nvSpPr>
        <dsp:cNvPr id="0" name=""/>
        <dsp:cNvSpPr/>
      </dsp:nvSpPr>
      <dsp:spPr>
        <a:xfrm>
          <a:off x="5693352" y="121455"/>
          <a:ext cx="4657111" cy="29572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FD8A80-2A14-3B45-8EC2-CB1596C4CABD}">
      <dsp:nvSpPr>
        <dsp:cNvPr id="0" name=""/>
        <dsp:cNvSpPr/>
      </dsp:nvSpPr>
      <dsp:spPr>
        <a:xfrm>
          <a:off x="6210809" y="613039"/>
          <a:ext cx="4657111" cy="29572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kern="1200" dirty="0"/>
            <a:t>There is </a:t>
          </a:r>
          <a:r>
            <a:rPr lang="en-US" sz="2400" kern="1200" dirty="0">
              <a:highlight>
                <a:srgbClr val="FFFF00"/>
              </a:highlight>
            </a:rPr>
            <a:t>not yet a clear definition </a:t>
          </a:r>
          <a:r>
            <a:rPr lang="en-US" sz="2400" kern="1200" dirty="0"/>
            <a:t>agreed by all for the term ‘data science’. Different definitions exist from different perspectives (government, business, research, etc.)</a:t>
          </a:r>
        </a:p>
      </dsp:txBody>
      <dsp:txXfrm>
        <a:off x="6297424" y="699654"/>
        <a:ext cx="4483881" cy="27840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673AF9-2492-C146-84E3-DB375415DB45}">
      <dsp:nvSpPr>
        <dsp:cNvPr id="0" name=""/>
        <dsp:cNvSpPr/>
      </dsp:nvSpPr>
      <dsp:spPr>
        <a:xfrm>
          <a:off x="0" y="0"/>
          <a:ext cx="482957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0B9FF6-7F9F-C940-AA67-4AEF99BE20B7}">
      <dsp:nvSpPr>
        <dsp:cNvPr id="0" name=""/>
        <dsp:cNvSpPr/>
      </dsp:nvSpPr>
      <dsp:spPr>
        <a:xfrm>
          <a:off x="0" y="0"/>
          <a:ext cx="4829570" cy="2048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A runtime error occurs when the code is </a:t>
          </a:r>
          <a:r>
            <a:rPr lang="en-US" sz="1800" kern="1200" dirty="0">
              <a:highlight>
                <a:srgbClr val="FFFF00"/>
              </a:highlight>
            </a:rPr>
            <a:t>syntactically correct</a:t>
          </a:r>
          <a:r>
            <a:rPr lang="en-US" sz="1800" kern="1200" dirty="0"/>
            <a:t>, but an error occurs during the </a:t>
          </a:r>
          <a:r>
            <a:rPr lang="en-US" sz="1800" kern="1200" dirty="0">
              <a:highlight>
                <a:srgbClr val="FFFF00"/>
              </a:highlight>
            </a:rPr>
            <a:t>execution</a:t>
          </a:r>
          <a:r>
            <a:rPr lang="en-US" sz="1800" kern="1200" dirty="0"/>
            <a:t> of the code. This can happen for a variety of reasons, such as trying to perform an </a:t>
          </a:r>
          <a:r>
            <a:rPr lang="en-US" sz="1800" kern="1200" dirty="0">
              <a:highlight>
                <a:srgbClr val="FFFF00"/>
              </a:highlight>
            </a:rPr>
            <a:t>illegal operation</a:t>
          </a:r>
          <a:r>
            <a:rPr lang="en-US" sz="1800" kern="1200" dirty="0"/>
            <a:t>, attempting to </a:t>
          </a:r>
          <a:r>
            <a:rPr lang="en-US" sz="1800" kern="1200" dirty="0">
              <a:highlight>
                <a:srgbClr val="00FF00"/>
              </a:highlight>
            </a:rPr>
            <a:t>divide by zero</a:t>
          </a:r>
          <a:r>
            <a:rPr lang="en-US" sz="1800" kern="1200" dirty="0"/>
            <a:t>, or accessing an </a:t>
          </a:r>
          <a:r>
            <a:rPr lang="en-US" sz="1800" kern="1200" dirty="0">
              <a:highlight>
                <a:srgbClr val="00FF00"/>
              </a:highlight>
            </a:rPr>
            <a:t>undefined variable</a:t>
          </a:r>
          <a:r>
            <a:rPr lang="en-US" sz="1800" kern="1200" dirty="0"/>
            <a:t>.</a:t>
          </a:r>
        </a:p>
      </dsp:txBody>
      <dsp:txXfrm>
        <a:off x="0" y="0"/>
        <a:ext cx="4829570" cy="2048181"/>
      </dsp:txXfrm>
    </dsp:sp>
    <dsp:sp modelId="{9B1ECFB0-FD14-CF46-9E35-F025184E890B}">
      <dsp:nvSpPr>
        <dsp:cNvPr id="0" name=""/>
        <dsp:cNvSpPr/>
      </dsp:nvSpPr>
      <dsp:spPr>
        <a:xfrm>
          <a:off x="0" y="2048181"/>
          <a:ext cx="482957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A60F3F-92D9-AB44-8191-D2C0BD0B19E0}">
      <dsp:nvSpPr>
        <dsp:cNvPr id="0" name=""/>
        <dsp:cNvSpPr/>
      </dsp:nvSpPr>
      <dsp:spPr>
        <a:xfrm>
          <a:off x="0" y="2048181"/>
          <a:ext cx="4829570" cy="2048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highlight>
                <a:srgbClr val="00FFFF"/>
              </a:highlight>
            </a:rPr>
            <a:t>Runtime errors </a:t>
          </a:r>
          <a:r>
            <a:rPr lang="en-US" sz="1800" kern="1200" dirty="0"/>
            <a:t>are also known as </a:t>
          </a:r>
          <a:r>
            <a:rPr lang="en-US" sz="1800" kern="1200" dirty="0">
              <a:highlight>
                <a:srgbClr val="00FFFF"/>
              </a:highlight>
            </a:rPr>
            <a:t>exceptions</a:t>
          </a:r>
          <a:r>
            <a:rPr lang="en-US" sz="1800" kern="1200" dirty="0"/>
            <a:t>, and when they occur, Python will usually </a:t>
          </a:r>
          <a:r>
            <a:rPr lang="en-US" sz="1800" kern="1200" dirty="0">
              <a:highlight>
                <a:srgbClr val="FFFF00"/>
              </a:highlight>
            </a:rPr>
            <a:t>raise an exception and stop the program's execution</a:t>
          </a:r>
          <a:r>
            <a:rPr lang="en-US" sz="1800" kern="1200" dirty="0"/>
            <a:t>. The exception message will provide information about what went wrong and where the error occurred, allowing you to identify and fix the issue.</a:t>
          </a:r>
        </a:p>
      </dsp:txBody>
      <dsp:txXfrm>
        <a:off x="0" y="2048181"/>
        <a:ext cx="4829570" cy="20481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4357A-E97E-C94C-81BD-FBF4AB020353}">
      <dsp:nvSpPr>
        <dsp:cNvPr id="0" name=""/>
        <dsp:cNvSpPr/>
      </dsp:nvSpPr>
      <dsp:spPr>
        <a:xfrm>
          <a:off x="0" y="500"/>
          <a:ext cx="108692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6EFE51-87FD-9649-AD56-C7EBEC730FF6}">
      <dsp:nvSpPr>
        <dsp:cNvPr id="0" name=""/>
        <dsp:cNvSpPr/>
      </dsp:nvSpPr>
      <dsp:spPr>
        <a:xfrm>
          <a:off x="0" y="500"/>
          <a:ext cx="10869248" cy="585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Data science from scratch: first principles with Python, Joel Grus, O'Reilly Media, 2019</a:t>
          </a:r>
        </a:p>
      </dsp:txBody>
      <dsp:txXfrm>
        <a:off x="0" y="500"/>
        <a:ext cx="10869248" cy="585051"/>
      </dsp:txXfrm>
    </dsp:sp>
    <dsp:sp modelId="{D515692B-DADF-E54D-88B7-497E674CDB95}">
      <dsp:nvSpPr>
        <dsp:cNvPr id="0" name=""/>
        <dsp:cNvSpPr/>
      </dsp:nvSpPr>
      <dsp:spPr>
        <a:xfrm>
          <a:off x="0" y="585551"/>
          <a:ext cx="108692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9AB722-4DE6-C64C-9098-B2835B2D69B9}">
      <dsp:nvSpPr>
        <dsp:cNvPr id="0" name=""/>
        <dsp:cNvSpPr/>
      </dsp:nvSpPr>
      <dsp:spPr>
        <a:xfrm>
          <a:off x="0" y="585551"/>
          <a:ext cx="10869248" cy="585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Artificial Intelligence: a Modern Approach, Global Edition, Stuart Russell , and Peter Norvig, Pearson Education, 2021.</a:t>
          </a:r>
          <a:endParaRPr lang="en-US" sz="1600" kern="1200"/>
        </a:p>
      </dsp:txBody>
      <dsp:txXfrm>
        <a:off x="0" y="585551"/>
        <a:ext cx="10869248" cy="585051"/>
      </dsp:txXfrm>
    </dsp:sp>
    <dsp:sp modelId="{A9E5E7C2-ACE7-E84F-96FD-748D4FDDC33B}">
      <dsp:nvSpPr>
        <dsp:cNvPr id="0" name=""/>
        <dsp:cNvSpPr/>
      </dsp:nvSpPr>
      <dsp:spPr>
        <a:xfrm>
          <a:off x="0" y="1170603"/>
          <a:ext cx="108692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1990BB-F42D-774B-A62E-E5377C0D062B}">
      <dsp:nvSpPr>
        <dsp:cNvPr id="0" name=""/>
        <dsp:cNvSpPr/>
      </dsp:nvSpPr>
      <dsp:spPr>
        <a:xfrm>
          <a:off x="0" y="1170603"/>
          <a:ext cx="10869248" cy="585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Python for Data Analysis: Data Wrangling with Pandas, NumPy, and </a:t>
          </a:r>
          <a:r>
            <a:rPr lang="en-US" sz="1600" kern="1200" dirty="0" err="1"/>
            <a:t>IPython</a:t>
          </a:r>
          <a:r>
            <a:rPr lang="en-US" sz="1600" kern="1200" dirty="0"/>
            <a:t>, Wes McKinney, O'Reilly Media, 3rd edition, 2022. </a:t>
          </a:r>
        </a:p>
      </dsp:txBody>
      <dsp:txXfrm>
        <a:off x="0" y="1170603"/>
        <a:ext cx="10869248" cy="585051"/>
      </dsp:txXfrm>
    </dsp:sp>
    <dsp:sp modelId="{146A514D-661A-6548-807A-C37C96C91EC2}">
      <dsp:nvSpPr>
        <dsp:cNvPr id="0" name=""/>
        <dsp:cNvSpPr/>
      </dsp:nvSpPr>
      <dsp:spPr>
        <a:xfrm>
          <a:off x="0" y="1755655"/>
          <a:ext cx="108692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C40E20-AA65-244E-9F76-70B2EFCF7762}">
      <dsp:nvSpPr>
        <dsp:cNvPr id="0" name=""/>
        <dsp:cNvSpPr/>
      </dsp:nvSpPr>
      <dsp:spPr>
        <a:xfrm>
          <a:off x="0" y="1755655"/>
          <a:ext cx="10869248" cy="585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Python Data Science Handbook: Essential Tools for Working with Data, Jake Vanderplas, O'Reilly Media, 2022</a:t>
          </a:r>
        </a:p>
      </dsp:txBody>
      <dsp:txXfrm>
        <a:off x="0" y="1755655"/>
        <a:ext cx="10869248" cy="585051"/>
      </dsp:txXfrm>
    </dsp:sp>
    <dsp:sp modelId="{92916D02-6E08-CD4F-8D51-F0B12F4568B1}">
      <dsp:nvSpPr>
        <dsp:cNvPr id="0" name=""/>
        <dsp:cNvSpPr/>
      </dsp:nvSpPr>
      <dsp:spPr>
        <a:xfrm>
          <a:off x="0" y="2340707"/>
          <a:ext cx="108692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1B325B-2BCE-A347-B2B0-3F422897EE6C}">
      <dsp:nvSpPr>
        <dsp:cNvPr id="0" name=""/>
        <dsp:cNvSpPr/>
      </dsp:nvSpPr>
      <dsp:spPr>
        <a:xfrm>
          <a:off x="0" y="2340707"/>
          <a:ext cx="10869248" cy="585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Murach’s Python for Data Analysis, Scott McCoy, Mike Murach &amp; Associates, Incorporated, 2021.</a:t>
          </a:r>
        </a:p>
      </dsp:txBody>
      <dsp:txXfrm>
        <a:off x="0" y="2340707"/>
        <a:ext cx="10869248" cy="585051"/>
      </dsp:txXfrm>
    </dsp:sp>
    <dsp:sp modelId="{42AB5525-B53D-D94F-B836-8EC17BEF85BC}">
      <dsp:nvSpPr>
        <dsp:cNvPr id="0" name=""/>
        <dsp:cNvSpPr/>
      </dsp:nvSpPr>
      <dsp:spPr>
        <a:xfrm>
          <a:off x="0" y="2925759"/>
          <a:ext cx="108692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930862-EE26-6C41-AD7E-F8C5A8222893}">
      <dsp:nvSpPr>
        <dsp:cNvPr id="0" name=""/>
        <dsp:cNvSpPr/>
      </dsp:nvSpPr>
      <dsp:spPr>
        <a:xfrm>
          <a:off x="0" y="2925759"/>
          <a:ext cx="10869248" cy="585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Intro to Python for Computer Science and Data Science: Learning to Program with AI, Big Data and The Cloud, Paul </a:t>
          </a:r>
          <a:r>
            <a:rPr lang="en-US" sz="1600" kern="1200" dirty="0" err="1"/>
            <a:t>Deitel</a:t>
          </a:r>
          <a:r>
            <a:rPr lang="en-US" sz="1600" kern="1200" dirty="0"/>
            <a:t>, Pearson Education Limited, 2021.</a:t>
          </a:r>
        </a:p>
      </dsp:txBody>
      <dsp:txXfrm>
        <a:off x="0" y="2925759"/>
        <a:ext cx="10869248" cy="585051"/>
      </dsp:txXfrm>
    </dsp:sp>
    <dsp:sp modelId="{49FEF376-19E5-4246-9297-C1AB6253D858}">
      <dsp:nvSpPr>
        <dsp:cNvPr id="0" name=""/>
        <dsp:cNvSpPr/>
      </dsp:nvSpPr>
      <dsp:spPr>
        <a:xfrm>
          <a:off x="0" y="3510811"/>
          <a:ext cx="1086924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AC8E4D-097C-CE46-B44B-E827B23C04B5}">
      <dsp:nvSpPr>
        <dsp:cNvPr id="0" name=""/>
        <dsp:cNvSpPr/>
      </dsp:nvSpPr>
      <dsp:spPr>
        <a:xfrm>
          <a:off x="0" y="3510811"/>
          <a:ext cx="10869248" cy="585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endParaRPr lang="en-US" sz="1600" kern="1200" dirty="0"/>
        </a:p>
      </dsp:txBody>
      <dsp:txXfrm>
        <a:off x="0" y="3510811"/>
        <a:ext cx="10869248" cy="58505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6F23D8-0271-F541-9BCD-5C391912005C}"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912D8E-D471-A34E-AB17-24705BCE498D}" type="slidenum">
              <a:rPr lang="en-US" smtClean="0"/>
              <a:t>‹#›</a:t>
            </a:fld>
            <a:endParaRPr lang="en-US"/>
          </a:p>
        </p:txBody>
      </p:sp>
    </p:spTree>
    <p:extLst>
      <p:ext uri="{BB962C8B-B14F-4D97-AF65-F5344CB8AC3E}">
        <p14:creationId xmlns:p14="http://schemas.microsoft.com/office/powerpoint/2010/main" val="584778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anaconda.com/download"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pandas.pydata.org/docs/reference/api/pandas.DataFrame.query.html"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s://medium.com/data-science/pandas-query-method-saves-double-handling-of-variables-9293d703b804" TargetMode="External"/><Relationship Id="rId5" Type="http://schemas.openxmlformats.org/officeDocument/2006/relationships/hyperlink" Target="https://www.youtube.com/watch?v=xdbxhyCzA6o&amp;t=5" TargetMode="External"/><Relationship Id="rId4" Type="http://schemas.openxmlformats.org/officeDocument/2006/relationships/hyperlink" Target="https://towardsdatascience.com/querying-pandas-dataframes-using-the-query-method-c1b887b5c461/"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1</a:t>
            </a:fld>
            <a:endParaRPr lang="en-US"/>
          </a:p>
        </p:txBody>
      </p:sp>
    </p:spTree>
    <p:extLst>
      <p:ext uri="{BB962C8B-B14F-4D97-AF65-F5344CB8AC3E}">
        <p14:creationId xmlns:p14="http://schemas.microsoft.com/office/powerpoint/2010/main" val="1160628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4</a:t>
            </a:fld>
            <a:endParaRPr lang="en-US"/>
          </a:p>
        </p:txBody>
      </p:sp>
    </p:spTree>
    <p:extLst>
      <p:ext uri="{BB962C8B-B14F-4D97-AF65-F5344CB8AC3E}">
        <p14:creationId xmlns:p14="http://schemas.microsoft.com/office/powerpoint/2010/main" val="3404232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Intelligence = ability to </a:t>
            </a:r>
            <a:r>
              <a:rPr lang="en-AU" b="1" dirty="0"/>
              <a:t>behave like a human</a:t>
            </a:r>
            <a:endParaRPr lang="en-AU" dirty="0"/>
          </a:p>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7</a:t>
            </a:fld>
            <a:endParaRPr lang="en-US"/>
          </a:p>
        </p:txBody>
      </p:sp>
    </p:spTree>
    <p:extLst>
      <p:ext uri="{BB962C8B-B14F-4D97-AF65-F5344CB8AC3E}">
        <p14:creationId xmlns:p14="http://schemas.microsoft.com/office/powerpoint/2010/main" val="1387822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Turing Test was proposed by Alan Turing in 1950.</a:t>
            </a:r>
            <a:br>
              <a:rPr lang="en-AU" dirty="0"/>
            </a:br>
            <a:r>
              <a:rPr lang="en-AU" dirty="0"/>
              <a:t>It is a way to determine whether a machine can exhibit </a:t>
            </a:r>
            <a:r>
              <a:rPr lang="en-AU" b="1" dirty="0"/>
              <a:t>human-like intelligence</a:t>
            </a:r>
            <a:r>
              <a:rPr lang="en-AU" dirty="0"/>
              <a:t>.</a:t>
            </a:r>
          </a:p>
          <a:p>
            <a:r>
              <a:rPr lang="en-AU" dirty="0"/>
              <a:t>There are </a:t>
            </a:r>
            <a:r>
              <a:rPr lang="en-AU" b="1" dirty="0"/>
              <a:t>three participants</a:t>
            </a:r>
            <a:r>
              <a:rPr lang="en-AU" dirty="0"/>
              <a:t>: A </a:t>
            </a:r>
            <a:r>
              <a:rPr lang="en-AU" b="1" dirty="0"/>
              <a:t>human judge</a:t>
            </a:r>
            <a:r>
              <a:rPr lang="en-AU" dirty="0"/>
              <a:t> </a:t>
            </a:r>
          </a:p>
          <a:p>
            <a:r>
              <a:rPr lang="en-AU" dirty="0"/>
              <a:t>A </a:t>
            </a:r>
            <a:r>
              <a:rPr lang="en-AU" b="1" dirty="0"/>
              <a:t>human participant</a:t>
            </a:r>
            <a:r>
              <a:rPr lang="en-AU" dirty="0"/>
              <a:t> </a:t>
            </a:r>
          </a:p>
          <a:p>
            <a:r>
              <a:rPr lang="en-AU" dirty="0"/>
              <a:t>A </a:t>
            </a:r>
            <a:r>
              <a:rPr lang="en-AU" b="1" dirty="0"/>
              <a:t>machine (AI system)</a:t>
            </a:r>
            <a:r>
              <a:rPr lang="en-AU" dirty="0"/>
              <a:t> </a:t>
            </a:r>
          </a:p>
          <a:p>
            <a:r>
              <a:rPr lang="en-AU" dirty="0"/>
              <a:t>The judge communicates with both (usually via text, not face-to-face). The judge’s goal:</a:t>
            </a:r>
            <a:br>
              <a:rPr lang="en-AU" dirty="0"/>
            </a:br>
            <a:r>
              <a:rPr lang="en-AU" dirty="0"/>
              <a:t>👉 Figure out which one is the human. If the judge </a:t>
            </a:r>
            <a:r>
              <a:rPr lang="en-AU" b="1" dirty="0"/>
              <a:t>cannot reliably tell the difference</a:t>
            </a:r>
            <a:r>
              <a:rPr lang="en-AU" dirty="0"/>
              <a:t>, the machine is said to have </a:t>
            </a:r>
            <a:r>
              <a:rPr lang="en-AU" b="1" dirty="0"/>
              <a:t>passed the Turing Test</a:t>
            </a:r>
            <a:r>
              <a:rPr lang="en-AU" dirty="0"/>
              <a:t>.</a:t>
            </a:r>
          </a:p>
          <a:p>
            <a:endParaRPr lang="en-AU" dirty="0"/>
          </a:p>
          <a:p>
            <a:r>
              <a:rPr lang="en-AU" dirty="0"/>
              <a:t>The test doesn’t check how the AI works internally.</a:t>
            </a:r>
            <a:br>
              <a:rPr lang="en-AU" dirty="0"/>
            </a:br>
            <a:r>
              <a:rPr lang="en-AU" dirty="0"/>
              <a:t>Instead, it focuses on </a:t>
            </a:r>
            <a:r>
              <a:rPr lang="en-AU" b="1" dirty="0" err="1"/>
              <a:t>behavior</a:t>
            </a:r>
            <a:r>
              <a:rPr lang="en-AU" dirty="0"/>
              <a:t>:</a:t>
            </a:r>
          </a:p>
          <a:p>
            <a:r>
              <a:rPr lang="en-AU" dirty="0"/>
              <a:t>If a machine behaves like a human in conversation, it can be considered intelligent.</a:t>
            </a:r>
          </a:p>
          <a:p>
            <a:endParaRPr lang="en-AU" dirty="0"/>
          </a:p>
          <a:p>
            <a:r>
              <a:rPr lang="en-AU" b="1" dirty="0"/>
              <a:t>Why it matters</a:t>
            </a:r>
          </a:p>
          <a:p>
            <a:r>
              <a:rPr lang="en-AU" dirty="0"/>
              <a:t>It was the </a:t>
            </a:r>
            <a:r>
              <a:rPr lang="en-AU" b="1" dirty="0"/>
              <a:t>first practical definition of AI</a:t>
            </a:r>
            <a:r>
              <a:rPr lang="en-AU" dirty="0"/>
              <a:t> </a:t>
            </a:r>
          </a:p>
          <a:p>
            <a:r>
              <a:rPr lang="en-AU" dirty="0"/>
              <a:t>It </a:t>
            </a:r>
            <a:r>
              <a:rPr lang="en-AU" b="1" dirty="0"/>
              <a:t>shifted focus from “thinking” → “acting like a human” </a:t>
            </a:r>
          </a:p>
          <a:p>
            <a:r>
              <a:rPr lang="en-AU" dirty="0"/>
              <a:t>It still influences AI research and debates today</a:t>
            </a:r>
          </a:p>
          <a:p>
            <a:endParaRPr lang="en-AU" dirty="0"/>
          </a:p>
          <a:p>
            <a:endParaRPr lang="en-AU" dirty="0"/>
          </a:p>
          <a:p>
            <a:r>
              <a:rPr lang="en-AU" b="1" dirty="0"/>
              <a:t>Limitations (important for your AI teaching)</a:t>
            </a:r>
          </a:p>
          <a:p>
            <a:r>
              <a:rPr lang="en-AU" dirty="0"/>
              <a:t>Passing ≠ true understanding </a:t>
            </a:r>
          </a:p>
          <a:p>
            <a:r>
              <a:rPr lang="en-AU" dirty="0"/>
              <a:t>AI can </a:t>
            </a:r>
            <a:r>
              <a:rPr lang="en-AU" b="1" dirty="0"/>
              <a:t>fake human-like responses</a:t>
            </a:r>
            <a:r>
              <a:rPr lang="en-AU" dirty="0"/>
              <a:t> </a:t>
            </a:r>
          </a:p>
          <a:p>
            <a:r>
              <a:rPr lang="en-AU" dirty="0"/>
              <a:t>It measures </a:t>
            </a:r>
            <a:r>
              <a:rPr lang="en-AU" b="1" dirty="0"/>
              <a:t>imitation</a:t>
            </a:r>
            <a:r>
              <a:rPr lang="en-AU" dirty="0"/>
              <a:t>, not real intelligence</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8</a:t>
            </a:fld>
            <a:endParaRPr lang="en-US"/>
          </a:p>
        </p:txBody>
      </p:sp>
    </p:spTree>
    <p:extLst>
      <p:ext uri="{BB962C8B-B14F-4D97-AF65-F5344CB8AC3E}">
        <p14:creationId xmlns:p14="http://schemas.microsoft.com/office/powerpoint/2010/main" val="2407239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a:t>
            </a:r>
            <a:r>
              <a:rPr lang="en-AU" b="1" dirty="0"/>
              <a:t>rational agent</a:t>
            </a:r>
            <a:r>
              <a:rPr lang="en-AU" dirty="0"/>
              <a:t> is simply something that:</a:t>
            </a:r>
            <a:br>
              <a:rPr lang="en-AU" dirty="0"/>
            </a:br>
            <a:r>
              <a:rPr lang="en-AU" dirty="0"/>
              <a:t>👉 </a:t>
            </a:r>
            <a:r>
              <a:rPr lang="en-AU" b="1" dirty="0"/>
              <a:t>chooses the best possible action based on what it knows.</a:t>
            </a:r>
          </a:p>
          <a:p>
            <a:r>
              <a:rPr lang="en-AU" b="1" dirty="0"/>
              <a:t>Thinking vs Acting</a:t>
            </a:r>
          </a:p>
          <a:p>
            <a:r>
              <a:rPr lang="en-AU" dirty="0"/>
              <a:t>“In early AI, people believed intelligence meant:</a:t>
            </a:r>
            <a:br>
              <a:rPr lang="en-AU" dirty="0"/>
            </a:br>
            <a:r>
              <a:rPr lang="en-AU" dirty="0"/>
              <a:t>👉 </a:t>
            </a:r>
            <a:r>
              <a:rPr lang="en-AU" i="1" dirty="0"/>
              <a:t>thinking correctly</a:t>
            </a:r>
            <a:r>
              <a:rPr lang="en-AU" dirty="0"/>
              <a:t> — making logical, perfect inferences.</a:t>
            </a:r>
          </a:p>
          <a:p>
            <a:r>
              <a:rPr lang="en-AU" dirty="0"/>
              <a:t>That’s what we call the </a:t>
            </a:r>
            <a:r>
              <a:rPr lang="en-AU" b="1" dirty="0"/>
              <a:t>‘laws of thought’</a:t>
            </a:r>
            <a:r>
              <a:rPr lang="en-AU" dirty="0"/>
              <a:t> approach.”</a:t>
            </a:r>
          </a:p>
          <a:p>
            <a:r>
              <a:rPr lang="en-AU" b="1" dirty="0"/>
              <a:t>Rational ≠ always thinking deeply</a:t>
            </a:r>
          </a:p>
          <a:p>
            <a:r>
              <a:rPr lang="en-AU" dirty="0"/>
              <a:t>“But here’s the important part highlighted on the slide:</a:t>
            </a:r>
          </a:p>
          <a:p>
            <a:r>
              <a:rPr lang="en-AU" dirty="0"/>
              <a:t>👉 </a:t>
            </a:r>
            <a:r>
              <a:rPr lang="en-AU" i="1" dirty="0"/>
              <a:t>Being rational does NOT always mean doing complex reasoning.</a:t>
            </a:r>
            <a:endParaRPr lang="en-AU" dirty="0"/>
          </a:p>
          <a:p>
            <a:r>
              <a:rPr lang="en-AU" dirty="0"/>
              <a:t>Sometimes:</a:t>
            </a:r>
          </a:p>
          <a:p>
            <a:r>
              <a:rPr lang="en-AU" dirty="0"/>
              <a:t>Yes, we think carefully and make decisions </a:t>
            </a:r>
          </a:p>
          <a:p>
            <a:r>
              <a:rPr lang="en-AU" dirty="0"/>
              <a:t>But other times, </a:t>
            </a:r>
            <a:r>
              <a:rPr lang="en-AU" b="1" dirty="0"/>
              <a:t>fast reactions are actually better</a:t>
            </a:r>
            <a:endParaRPr lang="en-AU" dirty="0"/>
          </a:p>
          <a:p>
            <a:r>
              <a:rPr lang="en-AU" b="1" dirty="0"/>
              <a:t>Example (very important for students)</a:t>
            </a:r>
          </a:p>
          <a:p>
            <a:r>
              <a:rPr lang="en-AU" dirty="0"/>
              <a:t>“Imagine you touch a hot stove 🔥”</a:t>
            </a:r>
          </a:p>
          <a:p>
            <a:r>
              <a:rPr lang="en-AU" dirty="0"/>
              <a:t>You </a:t>
            </a:r>
            <a:r>
              <a:rPr lang="en-AU" b="1" dirty="0"/>
              <a:t>immediately pull your hand away</a:t>
            </a:r>
            <a:r>
              <a:rPr lang="en-AU" dirty="0"/>
              <a:t> </a:t>
            </a:r>
          </a:p>
          <a:p>
            <a:r>
              <a:rPr lang="en-AU" dirty="0"/>
              <a:t>You don’t stop and think:</a:t>
            </a:r>
          </a:p>
          <a:p>
            <a:r>
              <a:rPr lang="en-AU" dirty="0"/>
              <a:t>‘Let me logically infer whether this is dangerous…’</a:t>
            </a:r>
          </a:p>
          <a:p>
            <a:r>
              <a:rPr lang="en-AU" dirty="0"/>
              <a:t>👉 That reaction is </a:t>
            </a:r>
            <a:r>
              <a:rPr lang="en-AU" b="1" dirty="0"/>
              <a:t>rational</a:t>
            </a:r>
            <a:r>
              <a:rPr lang="en-AU" dirty="0"/>
              <a:t>, even though:</a:t>
            </a:r>
          </a:p>
          <a:p>
            <a:r>
              <a:rPr lang="en-AU" dirty="0"/>
              <a:t>No deep reasoning happened </a:t>
            </a:r>
          </a:p>
          <a:p>
            <a:r>
              <a:rPr lang="en-AU" dirty="0"/>
              <a:t>It was automatic</a:t>
            </a:r>
          </a:p>
          <a:p>
            <a:r>
              <a:rPr lang="en-AU" b="1" dirty="0"/>
              <a:t>What this means in AI</a:t>
            </a:r>
          </a:p>
          <a:p>
            <a:r>
              <a:rPr lang="en-AU" dirty="0"/>
              <a:t>“So in AI, we don’t judge intelligence by:</a:t>
            </a:r>
            <a:br>
              <a:rPr lang="en-AU" dirty="0"/>
            </a:br>
            <a:r>
              <a:rPr lang="en-AU" dirty="0"/>
              <a:t>❌ how much the system ‘thinks’</a:t>
            </a:r>
            <a:br>
              <a:rPr lang="en-AU" dirty="0"/>
            </a:br>
            <a:r>
              <a:rPr lang="en-AU" dirty="0"/>
              <a:t>✅ but by how well it </a:t>
            </a:r>
            <a:r>
              <a:rPr lang="en-AU" b="1" dirty="0"/>
              <a:t>acts to achieve a goal</a:t>
            </a:r>
          </a:p>
          <a:p>
            <a:endParaRPr lang="en-AU" b="1" dirty="0"/>
          </a:p>
          <a:p>
            <a:r>
              <a:rPr lang="en-AU" dirty="0"/>
              <a:t>This diagram shows a </a:t>
            </a:r>
            <a:r>
              <a:rPr lang="en-AU" b="1" dirty="0"/>
              <a:t>rational agent loop</a:t>
            </a:r>
            <a:r>
              <a:rPr lang="en-AU" dirty="0"/>
              <a:t>:</a:t>
            </a:r>
          </a:p>
          <a:p>
            <a:r>
              <a:rPr lang="en-AU" dirty="0"/>
              <a:t>👁️ </a:t>
            </a:r>
            <a:r>
              <a:rPr lang="en-AU" b="1" dirty="0"/>
              <a:t>Sensors</a:t>
            </a:r>
            <a:r>
              <a:rPr lang="en-AU" dirty="0"/>
              <a:t> → observe the environment </a:t>
            </a:r>
          </a:p>
          <a:p>
            <a:r>
              <a:rPr lang="en-AU" dirty="0"/>
              <a:t>🧠 Agent → decides what to do </a:t>
            </a:r>
          </a:p>
          <a:p>
            <a:r>
              <a:rPr lang="en-AU" dirty="0"/>
              <a:t>⚙️ </a:t>
            </a:r>
            <a:r>
              <a:rPr lang="en-AU" b="1" dirty="0"/>
              <a:t>Actuators</a:t>
            </a:r>
            <a:r>
              <a:rPr lang="en-AU" dirty="0"/>
              <a:t> → take action </a:t>
            </a:r>
          </a:p>
          <a:p>
            <a:r>
              <a:rPr lang="en-AU" dirty="0"/>
              <a:t>🌍 Environment changes </a:t>
            </a:r>
          </a:p>
          <a:p>
            <a:r>
              <a:rPr lang="en-AU" dirty="0"/>
              <a:t>👉 Then the cycle repeats</a:t>
            </a:r>
          </a:p>
          <a:p>
            <a:endParaRPr lang="en-AU" dirty="0"/>
          </a:p>
          <a:p>
            <a:r>
              <a:rPr lang="en-AU"/>
              <a:t>“A rational agent is not the one that thinks the most…</a:t>
            </a:r>
            <a:br>
              <a:rPr lang="en-AU"/>
            </a:br>
            <a:r>
              <a:rPr lang="en-AU"/>
              <a:t>it’s the one that </a:t>
            </a:r>
            <a:r>
              <a:rPr lang="en-AU" b="1"/>
              <a:t>acts in the best possible way</a:t>
            </a:r>
            <a:r>
              <a:rPr lang="en-AU"/>
              <a:t>.”</a:t>
            </a:r>
            <a:endParaRPr lang="en-AU" dirty="0"/>
          </a:p>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10</a:t>
            </a:fld>
            <a:endParaRPr lang="en-US"/>
          </a:p>
        </p:txBody>
      </p:sp>
    </p:spTree>
    <p:extLst>
      <p:ext uri="{BB962C8B-B14F-4D97-AF65-F5344CB8AC3E}">
        <p14:creationId xmlns:p14="http://schemas.microsoft.com/office/powerpoint/2010/main" val="1264570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12</a:t>
            </a:fld>
            <a:endParaRPr lang="en-US"/>
          </a:p>
        </p:txBody>
      </p:sp>
    </p:spTree>
    <p:extLst>
      <p:ext uri="{BB962C8B-B14F-4D97-AF65-F5344CB8AC3E}">
        <p14:creationId xmlns:p14="http://schemas.microsoft.com/office/powerpoint/2010/main" val="1834470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13</a:t>
            </a:fld>
            <a:endParaRPr lang="en-US"/>
          </a:p>
        </p:txBody>
      </p:sp>
    </p:spTree>
    <p:extLst>
      <p:ext uri="{BB962C8B-B14F-4D97-AF65-F5344CB8AC3E}">
        <p14:creationId xmlns:p14="http://schemas.microsoft.com/office/powerpoint/2010/main" val="3806899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Cybernetics</a:t>
            </a:r>
            <a:r>
              <a:rPr lang="en-AU" dirty="0"/>
              <a:t> is the study of how systems </a:t>
            </a:r>
            <a:r>
              <a:rPr lang="en-AU" b="1" dirty="0"/>
              <a:t>control, communicate, and regulate themselves</a:t>
            </a:r>
            <a:r>
              <a:rPr lang="en-AU" dirty="0"/>
              <a:t> using feedback.</a:t>
            </a:r>
          </a:p>
          <a:p>
            <a:endParaRPr lang="en-AU" dirty="0"/>
          </a:p>
          <a:p>
            <a:r>
              <a:rPr lang="en-AU" b="1" dirty="0"/>
              <a:t>Simple intuition</a:t>
            </a:r>
          </a:p>
          <a:p>
            <a:r>
              <a:rPr lang="en-AU" dirty="0"/>
              <a:t>Think of a </a:t>
            </a:r>
            <a:r>
              <a:rPr lang="en-AU" b="1" dirty="0"/>
              <a:t>thermostat</a:t>
            </a:r>
            <a:r>
              <a:rPr lang="en-AU" dirty="0"/>
              <a:t>:</a:t>
            </a:r>
          </a:p>
          <a:p>
            <a:r>
              <a:rPr lang="en-AU" dirty="0"/>
              <a:t>It measures room temperature </a:t>
            </a:r>
          </a:p>
          <a:p>
            <a:r>
              <a:rPr lang="en-AU" dirty="0"/>
              <a:t>Compares it to a desired value </a:t>
            </a:r>
          </a:p>
          <a:p>
            <a:r>
              <a:rPr lang="en-AU" dirty="0"/>
              <a:t>Adjusts heating automatically </a:t>
            </a:r>
          </a:p>
          <a:p>
            <a:r>
              <a:rPr lang="en-AU" dirty="0"/>
              <a:t>That loop is called </a:t>
            </a:r>
            <a:r>
              <a:rPr lang="en-AU" b="1" dirty="0"/>
              <a:t>feedback</a:t>
            </a:r>
            <a:r>
              <a:rPr lang="en-AU" dirty="0"/>
              <a:t> — the heart of cybernetics.</a:t>
            </a:r>
          </a:p>
          <a:p>
            <a:endParaRPr lang="en-AU" dirty="0"/>
          </a:p>
          <a:p>
            <a:endParaRPr lang="en-AU" dirty="0"/>
          </a:p>
          <a:p>
            <a:r>
              <a:rPr lang="en-AU" b="1" dirty="0"/>
              <a:t>Why it matters in AI (important for your teaching)</a:t>
            </a:r>
          </a:p>
          <a:p>
            <a:r>
              <a:rPr lang="en-AU" dirty="0"/>
              <a:t>Early foundation of </a:t>
            </a:r>
            <a:r>
              <a:rPr lang="en-AU" b="1" dirty="0"/>
              <a:t>AI and machine learning</a:t>
            </a:r>
            <a:r>
              <a:rPr lang="en-AU" dirty="0"/>
              <a:t> </a:t>
            </a:r>
          </a:p>
          <a:p>
            <a:r>
              <a:rPr lang="en-AU" dirty="0"/>
              <a:t>Introduced the idea of </a:t>
            </a:r>
            <a:r>
              <a:rPr lang="en-AU" b="1" dirty="0"/>
              <a:t>learning from feedback</a:t>
            </a:r>
            <a:r>
              <a:rPr lang="en-AU" dirty="0"/>
              <a:t> </a:t>
            </a:r>
          </a:p>
          <a:p>
            <a:r>
              <a:rPr lang="en-AU" dirty="0"/>
              <a:t>Influences modern concepts like: </a:t>
            </a:r>
          </a:p>
          <a:p>
            <a:pPr lvl="1"/>
            <a:r>
              <a:rPr lang="en-AU" dirty="0"/>
              <a:t>Reinforcement learning </a:t>
            </a:r>
          </a:p>
          <a:p>
            <a:pPr lvl="1"/>
            <a:r>
              <a:rPr lang="en-AU" dirty="0"/>
              <a:t>Adaptive systems </a:t>
            </a:r>
          </a:p>
          <a:p>
            <a:pPr lvl="1"/>
            <a:r>
              <a:rPr lang="en-AU" dirty="0"/>
              <a:t>Self-regulation</a:t>
            </a:r>
          </a:p>
          <a:p>
            <a:pPr lvl="1"/>
            <a:endParaRPr lang="en-AU" dirty="0"/>
          </a:p>
          <a:p>
            <a:r>
              <a:rPr lang="en-AU" dirty="0"/>
              <a:t>Cybernetics = </a:t>
            </a:r>
            <a:r>
              <a:rPr lang="en-AU" b="1" dirty="0"/>
              <a:t>how systems use feedback to control themselves and improve </a:t>
            </a:r>
            <a:r>
              <a:rPr lang="en-AU" b="1" dirty="0" err="1"/>
              <a:t>behavior</a:t>
            </a:r>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15</a:t>
            </a:fld>
            <a:endParaRPr lang="en-US"/>
          </a:p>
        </p:txBody>
      </p:sp>
    </p:spTree>
    <p:extLst>
      <p:ext uri="{BB962C8B-B14F-4D97-AF65-F5344CB8AC3E}">
        <p14:creationId xmlns:p14="http://schemas.microsoft.com/office/powerpoint/2010/main" val="755943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16</a:t>
            </a:fld>
            <a:endParaRPr lang="en-US"/>
          </a:p>
        </p:txBody>
      </p:sp>
    </p:spTree>
    <p:extLst>
      <p:ext uri="{BB962C8B-B14F-4D97-AF65-F5344CB8AC3E}">
        <p14:creationId xmlns:p14="http://schemas.microsoft.com/office/powerpoint/2010/main" val="1964179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20</a:t>
            </a:fld>
            <a:endParaRPr lang="en-US"/>
          </a:p>
        </p:txBody>
      </p:sp>
    </p:spTree>
    <p:extLst>
      <p:ext uri="{BB962C8B-B14F-4D97-AF65-F5344CB8AC3E}">
        <p14:creationId xmlns:p14="http://schemas.microsoft.com/office/powerpoint/2010/main" val="4121622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https://www.youtube.com/watch?v=f_uwKZIAeM0</a:t>
            </a:r>
          </a:p>
        </p:txBody>
      </p:sp>
      <p:sp>
        <p:nvSpPr>
          <p:cNvPr id="4" name="Slide Number Placeholder 3"/>
          <p:cNvSpPr>
            <a:spLocks noGrp="1"/>
          </p:cNvSpPr>
          <p:nvPr>
            <p:ph type="sldNum" sz="quarter" idx="5"/>
          </p:nvPr>
        </p:nvSpPr>
        <p:spPr/>
        <p:txBody>
          <a:bodyPr/>
          <a:lstStyle/>
          <a:p>
            <a:fld id="{62912D8E-D471-A34E-AB17-24705BCE498D}" type="slidenum">
              <a:rPr lang="en-US" smtClean="0"/>
              <a:t>21</a:t>
            </a:fld>
            <a:endParaRPr lang="en-US"/>
          </a:p>
        </p:txBody>
      </p:sp>
    </p:spTree>
    <p:extLst>
      <p:ext uri="{BB962C8B-B14F-4D97-AF65-F5344CB8AC3E}">
        <p14:creationId xmlns:p14="http://schemas.microsoft.com/office/powerpoint/2010/main" val="2142793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22</a:t>
            </a:fld>
            <a:endParaRPr lang="en-US"/>
          </a:p>
        </p:txBody>
      </p:sp>
    </p:spTree>
    <p:extLst>
      <p:ext uri="{BB962C8B-B14F-4D97-AF65-F5344CB8AC3E}">
        <p14:creationId xmlns:p14="http://schemas.microsoft.com/office/powerpoint/2010/main" val="494080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23</a:t>
            </a:fld>
            <a:endParaRPr lang="en-US"/>
          </a:p>
        </p:txBody>
      </p:sp>
    </p:spTree>
    <p:extLst>
      <p:ext uri="{BB962C8B-B14F-4D97-AF65-F5344CB8AC3E}">
        <p14:creationId xmlns:p14="http://schemas.microsoft.com/office/powerpoint/2010/main" val="1207436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24</a:t>
            </a:fld>
            <a:endParaRPr lang="en-US"/>
          </a:p>
        </p:txBody>
      </p:sp>
    </p:spTree>
    <p:extLst>
      <p:ext uri="{BB962C8B-B14F-4D97-AF65-F5344CB8AC3E}">
        <p14:creationId xmlns:p14="http://schemas.microsoft.com/office/powerpoint/2010/main" val="879096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26</a:t>
            </a:fld>
            <a:endParaRPr lang="en-US"/>
          </a:p>
        </p:txBody>
      </p:sp>
    </p:spTree>
    <p:extLst>
      <p:ext uri="{BB962C8B-B14F-4D97-AF65-F5344CB8AC3E}">
        <p14:creationId xmlns:p14="http://schemas.microsoft.com/office/powerpoint/2010/main" val="4196292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27</a:t>
            </a:fld>
            <a:endParaRPr lang="en-US"/>
          </a:p>
        </p:txBody>
      </p:sp>
    </p:spTree>
    <p:extLst>
      <p:ext uri="{BB962C8B-B14F-4D97-AF65-F5344CB8AC3E}">
        <p14:creationId xmlns:p14="http://schemas.microsoft.com/office/powerpoint/2010/main" val="1686220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28</a:t>
            </a:fld>
            <a:endParaRPr lang="en-US"/>
          </a:p>
        </p:txBody>
      </p:sp>
    </p:spTree>
    <p:extLst>
      <p:ext uri="{BB962C8B-B14F-4D97-AF65-F5344CB8AC3E}">
        <p14:creationId xmlns:p14="http://schemas.microsoft.com/office/powerpoint/2010/main" val="3648812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31</a:t>
            </a:fld>
            <a:endParaRPr lang="en-US"/>
          </a:p>
        </p:txBody>
      </p:sp>
    </p:spTree>
    <p:extLst>
      <p:ext uri="{BB962C8B-B14F-4D97-AF65-F5344CB8AC3E}">
        <p14:creationId xmlns:p14="http://schemas.microsoft.com/office/powerpoint/2010/main" val="579774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32</a:t>
            </a:fld>
            <a:endParaRPr lang="en-US"/>
          </a:p>
        </p:txBody>
      </p:sp>
    </p:spTree>
    <p:extLst>
      <p:ext uri="{BB962C8B-B14F-4D97-AF65-F5344CB8AC3E}">
        <p14:creationId xmlns:p14="http://schemas.microsoft.com/office/powerpoint/2010/main" val="3966722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36</a:t>
            </a:fld>
            <a:endParaRPr lang="en-US"/>
          </a:p>
        </p:txBody>
      </p:sp>
    </p:spTree>
    <p:extLst>
      <p:ext uri="{BB962C8B-B14F-4D97-AF65-F5344CB8AC3E}">
        <p14:creationId xmlns:p14="http://schemas.microsoft.com/office/powerpoint/2010/main" val="2748510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37</a:t>
            </a:fld>
            <a:endParaRPr lang="en-US"/>
          </a:p>
        </p:txBody>
      </p:sp>
    </p:spTree>
    <p:extLst>
      <p:ext uri="{BB962C8B-B14F-4D97-AF65-F5344CB8AC3E}">
        <p14:creationId xmlns:p14="http://schemas.microsoft.com/office/powerpoint/2010/main" val="2195110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https://www.anaconda.com/download</a:t>
            </a:r>
            <a:r>
              <a:rPr lang="en-US" dirty="0"/>
              <a:t> </a:t>
            </a:r>
          </a:p>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40</a:t>
            </a:fld>
            <a:endParaRPr lang="en-US"/>
          </a:p>
        </p:txBody>
      </p:sp>
    </p:spTree>
    <p:extLst>
      <p:ext uri="{BB962C8B-B14F-4D97-AF65-F5344CB8AC3E}">
        <p14:creationId xmlns:p14="http://schemas.microsoft.com/office/powerpoint/2010/main" val="33545784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 </a:t>
            </a:r>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41</a:t>
            </a:fld>
            <a:endParaRPr lang="en-US"/>
          </a:p>
        </p:txBody>
      </p:sp>
    </p:spTree>
    <p:extLst>
      <p:ext uri="{BB962C8B-B14F-4D97-AF65-F5344CB8AC3E}">
        <p14:creationId xmlns:p14="http://schemas.microsoft.com/office/powerpoint/2010/main" val="35113320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44</a:t>
            </a:fld>
            <a:endParaRPr lang="en-US"/>
          </a:p>
        </p:txBody>
      </p:sp>
    </p:spTree>
    <p:extLst>
      <p:ext uri="{BB962C8B-B14F-4D97-AF65-F5344CB8AC3E}">
        <p14:creationId xmlns:p14="http://schemas.microsoft.com/office/powerpoint/2010/main" val="3583589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u="none" strike="noStrike" kern="1200" dirty="0">
                <a:solidFill>
                  <a:schemeClr val="tx1"/>
                </a:solidFill>
                <a:effectLst/>
                <a:latin typeface="+mn-lt"/>
                <a:ea typeface="+mn-ea"/>
                <a:cs typeface="+mn-cs"/>
              </a:rPr>
              <a:t>The </a:t>
            </a:r>
            <a:r>
              <a:rPr lang="en-AU" sz="1200" b="1" u="none" strike="noStrike" kern="1200" dirty="0" err="1">
                <a:solidFill>
                  <a:schemeClr val="tx1"/>
                </a:solidFill>
                <a:effectLst/>
                <a:latin typeface="+mn-lt"/>
                <a:ea typeface="+mn-ea"/>
                <a:cs typeface="+mn-cs"/>
              </a:rPr>
              <a:t>df.query</a:t>
            </a:r>
            <a:r>
              <a:rPr lang="en-AU" sz="1200" b="1" u="none" strike="noStrike" kern="1200" dirty="0">
                <a:solidFill>
                  <a:schemeClr val="tx1"/>
                </a:solidFill>
                <a:effectLst/>
                <a:latin typeface="+mn-lt"/>
                <a:ea typeface="+mn-ea"/>
                <a:cs typeface="+mn-cs"/>
              </a:rPr>
              <a:t>()</a:t>
            </a:r>
            <a:r>
              <a:rPr lang="en-AU" sz="1200" b="0" u="none" strike="noStrike" kern="1200" dirty="0">
                <a:solidFill>
                  <a:schemeClr val="tx1"/>
                </a:solidFill>
                <a:effectLst/>
                <a:latin typeface="+mn-lt"/>
                <a:ea typeface="+mn-ea"/>
                <a:cs typeface="+mn-cs"/>
              </a:rPr>
              <a:t> method in pandas filters rows in a </a:t>
            </a:r>
            <a:r>
              <a:rPr lang="en-AU" sz="1200" b="0" u="none" strike="noStrike" kern="1200" dirty="0" err="1">
                <a:solidFill>
                  <a:schemeClr val="tx1"/>
                </a:solidFill>
                <a:effectLst/>
                <a:latin typeface="+mn-lt"/>
                <a:ea typeface="+mn-ea"/>
                <a:cs typeface="+mn-cs"/>
              </a:rPr>
              <a:t>DataFrame</a:t>
            </a:r>
            <a:r>
              <a:rPr lang="en-AU" sz="1200" b="0" u="none" strike="noStrike" kern="1200" dirty="0">
                <a:solidFill>
                  <a:schemeClr val="tx1"/>
                </a:solidFill>
                <a:effectLst/>
                <a:latin typeface="+mn-lt"/>
                <a:ea typeface="+mn-ea"/>
                <a:cs typeface="+mn-cs"/>
              </a:rPr>
              <a:t> using a user-friendly, SQL-like </a:t>
            </a:r>
            <a:r>
              <a:rPr lang="en-AU" sz="1200" b="0" u="none" strike="noStrike" kern="1200" dirty="0" err="1">
                <a:solidFill>
                  <a:schemeClr val="tx1"/>
                </a:solidFill>
                <a:effectLst/>
                <a:latin typeface="+mn-lt"/>
                <a:ea typeface="+mn-ea"/>
                <a:cs typeface="+mn-cs"/>
              </a:rPr>
              <a:t>boolean</a:t>
            </a:r>
            <a:r>
              <a:rPr lang="en-AU" sz="1200" b="0" u="none" strike="noStrike" kern="1200" dirty="0">
                <a:solidFill>
                  <a:schemeClr val="tx1"/>
                </a:solidFill>
                <a:effectLst/>
                <a:latin typeface="+mn-lt"/>
                <a:ea typeface="+mn-ea"/>
                <a:cs typeface="+mn-cs"/>
              </a:rPr>
              <a:t> string expression. Instead of using complex brackets and repeating the </a:t>
            </a:r>
            <a:r>
              <a:rPr lang="en-AU" sz="1200" b="0" u="none" strike="noStrike" kern="1200" dirty="0" err="1">
                <a:solidFill>
                  <a:schemeClr val="tx1"/>
                </a:solidFill>
                <a:effectLst/>
                <a:latin typeface="+mn-lt"/>
                <a:ea typeface="+mn-ea"/>
                <a:cs typeface="+mn-cs"/>
              </a:rPr>
              <a:t>DataFrame's</a:t>
            </a:r>
            <a:r>
              <a:rPr lang="en-AU" sz="1200" b="0" u="none" strike="noStrike" kern="1200" dirty="0">
                <a:solidFill>
                  <a:schemeClr val="tx1"/>
                </a:solidFill>
                <a:effectLst/>
                <a:latin typeface="+mn-lt"/>
                <a:ea typeface="+mn-ea"/>
                <a:cs typeface="+mn-cs"/>
              </a:rPr>
              <a:t> name, you simply pass the filtering conditions as a string.</a:t>
            </a:r>
            <a:r>
              <a:rPr lang="en-AU" dirty="0"/>
              <a:t> [</a:t>
            </a:r>
            <a:r>
              <a:rPr lang="en-AU" dirty="0">
                <a:hlinkClick r:id="rId3"/>
              </a:rPr>
              <a:t>1</a:t>
            </a:r>
            <a:r>
              <a:rPr lang="en-AU" dirty="0"/>
              <a:t>, </a:t>
            </a:r>
            <a:r>
              <a:rPr lang="en-AU" dirty="0">
                <a:hlinkClick r:id="rId4"/>
              </a:rPr>
              <a:t>2</a:t>
            </a:r>
            <a:r>
              <a:rPr lang="en-AU" dirty="0"/>
              <a:t>, </a:t>
            </a:r>
            <a:r>
              <a:rPr lang="en-AU" dirty="0">
                <a:hlinkClick r:id="rId5"/>
              </a:rPr>
              <a:t>3</a:t>
            </a:r>
            <a:r>
              <a:rPr lang="en-AU" dirty="0"/>
              <a:t>, </a:t>
            </a:r>
            <a:r>
              <a:rPr lang="en-AU" dirty="0">
                <a:hlinkClick r:id="rId6"/>
              </a:rPr>
              <a:t>4</a:t>
            </a:r>
            <a:r>
              <a:rPr lang="en-AU" dirty="0"/>
              <a:t>]</a:t>
            </a:r>
          </a:p>
        </p:txBody>
      </p:sp>
      <p:sp>
        <p:nvSpPr>
          <p:cNvPr id="4" name="Slide Number Placeholder 3"/>
          <p:cNvSpPr>
            <a:spLocks noGrp="1"/>
          </p:cNvSpPr>
          <p:nvPr>
            <p:ph type="sldNum" sz="quarter" idx="5"/>
          </p:nvPr>
        </p:nvSpPr>
        <p:spPr/>
        <p:txBody>
          <a:bodyPr/>
          <a:lstStyle/>
          <a:p>
            <a:fld id="{62912D8E-D471-A34E-AB17-24705BCE498D}" type="slidenum">
              <a:rPr lang="en-US" smtClean="0"/>
              <a:t>45</a:t>
            </a:fld>
            <a:endParaRPr lang="en-US"/>
          </a:p>
        </p:txBody>
      </p:sp>
    </p:spTree>
    <p:extLst>
      <p:ext uri="{BB962C8B-B14F-4D97-AF65-F5344CB8AC3E}">
        <p14:creationId xmlns:p14="http://schemas.microsoft.com/office/powerpoint/2010/main" val="9236116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47</a:t>
            </a:fld>
            <a:endParaRPr lang="en-US"/>
          </a:p>
        </p:txBody>
      </p:sp>
    </p:spTree>
    <p:extLst>
      <p:ext uri="{BB962C8B-B14F-4D97-AF65-F5344CB8AC3E}">
        <p14:creationId xmlns:p14="http://schemas.microsoft.com/office/powerpoint/2010/main" val="613648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u="none" strike="noStrike" kern="1200" dirty="0">
                <a:solidFill>
                  <a:schemeClr val="tx1"/>
                </a:solidFill>
                <a:effectLst/>
                <a:latin typeface="+mn-lt"/>
                <a:ea typeface="+mn-ea"/>
                <a:cs typeface="+mn-cs"/>
              </a:rPr>
              <a:t>"</a:t>
            </a:r>
            <a:r>
              <a:rPr lang="en-AU" sz="1200" b="1" u="none" strike="noStrike" kern="1200" dirty="0" err="1">
                <a:solidFill>
                  <a:schemeClr val="tx1"/>
                </a:solidFill>
                <a:effectLst/>
                <a:latin typeface="+mn-lt"/>
                <a:ea typeface="+mn-ea"/>
                <a:cs typeface="+mn-cs"/>
              </a:rPr>
              <a:t>inplace</a:t>
            </a:r>
            <a:r>
              <a:rPr lang="en-AU" sz="1200" b="1" u="none" strike="noStrike" kern="1200" dirty="0">
                <a:solidFill>
                  <a:schemeClr val="tx1"/>
                </a:solidFill>
                <a:effectLst/>
                <a:latin typeface="+mn-lt"/>
                <a:ea typeface="+mn-ea"/>
                <a:cs typeface="+mn-cs"/>
              </a:rPr>
              <a:t>" operation modifies the original data.</a:t>
            </a:r>
            <a:r>
              <a:rPr lang="en-AU" dirty="0"/>
              <a:t> </a:t>
            </a:r>
          </a:p>
          <a:p>
            <a:endParaRPr lang="en-AU" dirty="0"/>
          </a:p>
          <a:p>
            <a:endParaRPr lang="en-AU" dirty="0"/>
          </a:p>
          <a:p>
            <a:endParaRPr lang="en-AU" dirty="0"/>
          </a:p>
          <a:p>
            <a:r>
              <a:rPr lang="en-AU" dirty="0"/>
              <a:t>The expression </a:t>
            </a:r>
            <a:r>
              <a:rPr lang="en-AU" sz="1200" b="0" u="none" strike="noStrike" kern="1200" dirty="0" err="1">
                <a:solidFill>
                  <a:schemeClr val="tx1"/>
                </a:solidFill>
                <a:effectLst/>
                <a:latin typeface="+mn-lt"/>
                <a:ea typeface="+mn-ea"/>
                <a:cs typeface="+mn-cs"/>
              </a:rPr>
              <a:t>polls.loc</a:t>
            </a:r>
            <a:r>
              <a:rPr lang="en-AU" sz="1200" b="0" u="none" strike="noStrike" kern="1200" dirty="0">
                <a:solidFill>
                  <a:schemeClr val="tx1"/>
                </a:solidFill>
                <a:effectLst/>
                <a:latin typeface="+mn-lt"/>
                <a:ea typeface="+mn-ea"/>
                <a:cs typeface="+mn-cs"/>
              </a:rPr>
              <a:t>[0:100:10,'state':'grade']</a:t>
            </a:r>
            <a:r>
              <a:rPr lang="en-AU" dirty="0"/>
              <a:t> extracts a specific grid of data from a pandas </a:t>
            </a:r>
            <a:r>
              <a:rPr lang="en-AU" dirty="0" err="1"/>
              <a:t>DataFrame</a:t>
            </a:r>
            <a:r>
              <a:rPr lang="en-AU" dirty="0"/>
              <a:t>. It grabs rows starting at index </a:t>
            </a:r>
            <a:r>
              <a:rPr lang="en-AU" sz="1200" b="0" u="none" strike="noStrike" kern="1200" dirty="0">
                <a:solidFill>
                  <a:schemeClr val="tx1"/>
                </a:solidFill>
                <a:effectLst/>
                <a:latin typeface="+mn-lt"/>
                <a:ea typeface="+mn-ea"/>
                <a:cs typeface="+mn-cs"/>
              </a:rPr>
              <a:t>0</a:t>
            </a:r>
            <a:r>
              <a:rPr lang="en-AU" dirty="0"/>
              <a:t> up to </a:t>
            </a:r>
            <a:r>
              <a:rPr lang="en-AU" sz="1200" b="0" u="none" strike="noStrike" kern="1200" dirty="0">
                <a:solidFill>
                  <a:schemeClr val="tx1"/>
                </a:solidFill>
                <a:effectLst/>
                <a:latin typeface="+mn-lt"/>
                <a:ea typeface="+mn-ea"/>
                <a:cs typeface="+mn-cs"/>
              </a:rPr>
              <a:t>100</a:t>
            </a:r>
            <a:r>
              <a:rPr lang="en-AU" dirty="0"/>
              <a:t>, stepping every </a:t>
            </a:r>
            <a:r>
              <a:rPr lang="en-AU" sz="1200" b="0" u="none" strike="noStrike" kern="1200" dirty="0">
                <a:solidFill>
                  <a:schemeClr val="tx1"/>
                </a:solidFill>
                <a:effectLst/>
                <a:latin typeface="+mn-lt"/>
                <a:ea typeface="+mn-ea"/>
                <a:cs typeface="+mn-cs"/>
              </a:rPr>
              <a:t>10th</a:t>
            </a:r>
            <a:r>
              <a:rPr lang="en-AU" dirty="0"/>
              <a:t> row, and slices all columns from </a:t>
            </a:r>
            <a:r>
              <a:rPr lang="en-AU" sz="1200" b="0" u="none" strike="noStrike" kern="1200" dirty="0">
                <a:solidFill>
                  <a:schemeClr val="tx1"/>
                </a:solidFill>
                <a:effectLst/>
                <a:latin typeface="+mn-lt"/>
                <a:ea typeface="+mn-ea"/>
                <a:cs typeface="+mn-cs"/>
              </a:rPr>
              <a:t>state</a:t>
            </a:r>
            <a:r>
              <a:rPr lang="en-AU" dirty="0"/>
              <a:t> to </a:t>
            </a:r>
            <a:r>
              <a:rPr lang="en-AU" sz="1200" b="0" u="none" strike="noStrike" kern="1200" dirty="0">
                <a:solidFill>
                  <a:schemeClr val="tx1"/>
                </a:solidFill>
                <a:effectLst/>
                <a:latin typeface="+mn-lt"/>
                <a:ea typeface="+mn-ea"/>
                <a:cs typeface="+mn-cs"/>
              </a:rPr>
              <a:t>grade</a:t>
            </a:r>
            <a:r>
              <a:rPr lang="en-AU" dirty="0"/>
              <a:t> (inclusive)</a:t>
            </a:r>
          </a:p>
        </p:txBody>
      </p:sp>
      <p:sp>
        <p:nvSpPr>
          <p:cNvPr id="4" name="Slide Number Placeholder 3"/>
          <p:cNvSpPr>
            <a:spLocks noGrp="1"/>
          </p:cNvSpPr>
          <p:nvPr>
            <p:ph type="sldNum" sz="quarter" idx="5"/>
          </p:nvPr>
        </p:nvSpPr>
        <p:spPr/>
        <p:txBody>
          <a:bodyPr/>
          <a:lstStyle/>
          <a:p>
            <a:fld id="{62912D8E-D471-A34E-AB17-24705BCE498D}" type="slidenum">
              <a:rPr lang="en-US" smtClean="0"/>
              <a:t>48</a:t>
            </a:fld>
            <a:endParaRPr lang="en-US"/>
          </a:p>
        </p:txBody>
      </p:sp>
    </p:spTree>
    <p:extLst>
      <p:ext uri="{BB962C8B-B14F-4D97-AF65-F5344CB8AC3E}">
        <p14:creationId xmlns:p14="http://schemas.microsoft.com/office/powerpoint/2010/main" val="1159437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u="none" strike="noStrike" kern="1200" dirty="0">
                <a:solidFill>
                  <a:schemeClr val="tx1"/>
                </a:solidFill>
                <a:effectLst/>
                <a:latin typeface="+mn-lt"/>
                <a:ea typeface="+mn-ea"/>
                <a:cs typeface="+mn-cs"/>
              </a:rPr>
              <a:t>syntax</a:t>
            </a:r>
            <a:r>
              <a:rPr lang="en-AU" dirty="0"/>
              <a:t> refers to the strict set of rules that define how symbols, punctuation, keywords, and words must be structured and arranged to form a valid program. Essentially, it acts as the </a:t>
            </a:r>
            <a:r>
              <a:rPr lang="en-AU" sz="1200" b="1" u="none" strike="noStrike" kern="1200" dirty="0">
                <a:solidFill>
                  <a:schemeClr val="tx1"/>
                </a:solidFill>
                <a:effectLst/>
                <a:latin typeface="+mn-lt"/>
                <a:ea typeface="+mn-ea"/>
                <a:cs typeface="+mn-cs"/>
              </a:rPr>
              <a:t>grammar of a programming language</a:t>
            </a:r>
            <a:endParaRPr lang="en-AU" dirty="0"/>
          </a:p>
        </p:txBody>
      </p:sp>
      <p:sp>
        <p:nvSpPr>
          <p:cNvPr id="4" name="Slide Number Placeholder 3"/>
          <p:cNvSpPr>
            <a:spLocks noGrp="1"/>
          </p:cNvSpPr>
          <p:nvPr>
            <p:ph type="sldNum" sz="quarter" idx="5"/>
          </p:nvPr>
        </p:nvSpPr>
        <p:spPr/>
        <p:txBody>
          <a:bodyPr/>
          <a:lstStyle/>
          <a:p>
            <a:fld id="{62912D8E-D471-A34E-AB17-24705BCE498D}" type="slidenum">
              <a:rPr lang="en-US" smtClean="0"/>
              <a:t>49</a:t>
            </a:fld>
            <a:endParaRPr lang="en-US"/>
          </a:p>
        </p:txBody>
      </p:sp>
    </p:spTree>
    <p:extLst>
      <p:ext uri="{BB962C8B-B14F-4D97-AF65-F5344CB8AC3E}">
        <p14:creationId xmlns:p14="http://schemas.microsoft.com/office/powerpoint/2010/main" val="1488265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AU" sz="1200" b="0" u="none" strike="noStrike" kern="1200" dirty="0">
                <a:solidFill>
                  <a:schemeClr val="tx1"/>
                </a:solidFill>
                <a:effectLst/>
                <a:latin typeface="+mn-lt"/>
                <a:ea typeface="+mn-ea"/>
                <a:cs typeface="+mn-cs"/>
              </a:rPr>
              <a:t>here is </a:t>
            </a:r>
            <a:r>
              <a:rPr lang="en-AU" sz="1200" b="1" u="none" strike="noStrike" kern="1200" dirty="0">
                <a:solidFill>
                  <a:schemeClr val="tx1"/>
                </a:solidFill>
                <a:effectLst/>
                <a:latin typeface="+mn-lt"/>
                <a:ea typeface="+mn-ea"/>
                <a:cs typeface="+mn-cs"/>
              </a:rPr>
              <a:t>no functional difference</a:t>
            </a:r>
            <a:r>
              <a:rPr lang="en-AU" dirty="0"/>
              <a:t> in how the code executes.</a:t>
            </a:r>
          </a:p>
          <a:p>
            <a:endParaRPr lang="en-AU" dirty="0"/>
          </a:p>
          <a:p>
            <a:r>
              <a:rPr lang="en-AU" sz="1200" b="0" u="none" strike="noStrike" kern="1200" dirty="0">
                <a:solidFill>
                  <a:schemeClr val="tx1"/>
                </a:solidFill>
                <a:effectLst/>
                <a:latin typeface="+mn-lt"/>
                <a:ea typeface="+mn-ea"/>
                <a:cs typeface="+mn-cs"/>
              </a:rPr>
              <a:t>The only difference is readability and Python syntax:</a:t>
            </a:r>
          </a:p>
          <a:p>
            <a:r>
              <a:rPr lang="en-AU" sz="1200" b="1" u="none" strike="noStrike" kern="1200" dirty="0">
                <a:solidFill>
                  <a:schemeClr val="tx1"/>
                </a:solidFill>
                <a:effectLst/>
                <a:latin typeface="+mn-lt"/>
                <a:ea typeface="+mn-ea"/>
                <a:cs typeface="+mn-cs"/>
              </a:rPr>
              <a:t>Implicit continuation:</a:t>
            </a:r>
            <a:r>
              <a:rPr lang="en-AU" sz="1200" b="0" u="none" strike="noStrike" kern="1200" dirty="0">
                <a:solidFill>
                  <a:schemeClr val="tx1"/>
                </a:solidFill>
                <a:effectLst/>
                <a:latin typeface="+mn-lt"/>
                <a:ea typeface="+mn-ea"/>
                <a:cs typeface="+mn-cs"/>
              </a:rPr>
              <a:t> Uses Python's built-in rule that any </a:t>
            </a:r>
            <a:r>
              <a:rPr lang="en-AU" sz="1200" b="1" u="none" strike="noStrike" kern="1200" dirty="0">
                <a:solidFill>
                  <a:schemeClr val="tx1"/>
                </a:solidFill>
                <a:effectLst/>
                <a:latin typeface="+mn-lt"/>
                <a:ea typeface="+mn-ea"/>
                <a:cs typeface="+mn-cs"/>
              </a:rPr>
              <a:t>code inside parentheses ( ) can span multiple lines automatically</a:t>
            </a:r>
            <a:r>
              <a:rPr lang="en-AU" sz="1200" b="0" u="none" strike="noStrike" kern="1200" dirty="0">
                <a:solidFill>
                  <a:schemeClr val="tx1"/>
                </a:solidFill>
                <a:effectLst/>
                <a:latin typeface="+mn-lt"/>
                <a:ea typeface="+mn-ea"/>
                <a:cs typeface="+mn-cs"/>
              </a:rPr>
              <a:t>.</a:t>
            </a:r>
          </a:p>
          <a:p>
            <a:r>
              <a:rPr lang="en-AU" sz="1200" b="1" u="none" strike="noStrike" kern="1200" dirty="0">
                <a:solidFill>
                  <a:schemeClr val="tx1"/>
                </a:solidFill>
                <a:effectLst/>
                <a:latin typeface="+mn-lt"/>
                <a:ea typeface="+mn-ea"/>
                <a:cs typeface="+mn-cs"/>
              </a:rPr>
              <a:t>Explicit continuation:</a:t>
            </a:r>
            <a:r>
              <a:rPr lang="en-AU" sz="1200" b="0" u="none" strike="noStrike" kern="1200" dirty="0">
                <a:solidFill>
                  <a:schemeClr val="tx1"/>
                </a:solidFill>
                <a:effectLst/>
                <a:latin typeface="+mn-lt"/>
                <a:ea typeface="+mn-ea"/>
                <a:cs typeface="+mn-cs"/>
              </a:rPr>
              <a:t> Uses the backslash \ as a manual line-continuation character.</a:t>
            </a:r>
          </a:p>
          <a:p>
            <a:endParaRPr lang="en-AU" sz="1200" b="0" u="none" strike="noStrike" kern="1200" dirty="0">
              <a:solidFill>
                <a:schemeClr val="tx1"/>
              </a:solidFill>
              <a:effectLst/>
              <a:latin typeface="+mn-lt"/>
              <a:ea typeface="+mn-ea"/>
              <a:cs typeface="+mn-cs"/>
            </a:endParaRPr>
          </a:p>
          <a:p>
            <a:r>
              <a:rPr lang="en-AU" dirty="0"/>
              <a:t>For cleaner and more standard code, the </a:t>
            </a:r>
            <a:r>
              <a:rPr lang="en-AU" b="1" dirty="0"/>
              <a:t>implicit continuation (without </a:t>
            </a:r>
            <a:r>
              <a:rPr lang="en-AU" sz="1200" b="1" u="none" strike="noStrike" kern="1200" dirty="0">
                <a:solidFill>
                  <a:schemeClr val="tx1"/>
                </a:solidFill>
                <a:effectLst/>
                <a:latin typeface="+mn-lt"/>
                <a:ea typeface="+mn-ea"/>
                <a:cs typeface="+mn-cs"/>
              </a:rPr>
              <a:t>\</a:t>
            </a:r>
            <a:r>
              <a:rPr lang="en-AU" b="1" dirty="0"/>
              <a:t>) is highly recommended </a:t>
            </a:r>
            <a:r>
              <a:rPr lang="en-AU" dirty="0"/>
              <a:t>in Python and Pandas.</a:t>
            </a:r>
          </a:p>
        </p:txBody>
      </p:sp>
      <p:sp>
        <p:nvSpPr>
          <p:cNvPr id="4" name="Slide Number Placeholder 3"/>
          <p:cNvSpPr>
            <a:spLocks noGrp="1"/>
          </p:cNvSpPr>
          <p:nvPr>
            <p:ph type="sldNum" sz="quarter" idx="5"/>
          </p:nvPr>
        </p:nvSpPr>
        <p:spPr/>
        <p:txBody>
          <a:bodyPr/>
          <a:lstStyle/>
          <a:p>
            <a:fld id="{62912D8E-D471-A34E-AB17-24705BCE498D}" type="slidenum">
              <a:rPr lang="en-US" smtClean="0"/>
              <a:t>51</a:t>
            </a:fld>
            <a:endParaRPr lang="en-US"/>
          </a:p>
        </p:txBody>
      </p:sp>
    </p:spTree>
    <p:extLst>
      <p:ext uri="{BB962C8B-B14F-4D97-AF65-F5344CB8AC3E}">
        <p14:creationId xmlns:p14="http://schemas.microsoft.com/office/powerpoint/2010/main" val="29345536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52</a:t>
            </a:fld>
            <a:endParaRPr lang="en-US"/>
          </a:p>
        </p:txBody>
      </p:sp>
    </p:spTree>
    <p:extLst>
      <p:ext uri="{BB962C8B-B14F-4D97-AF65-F5344CB8AC3E}">
        <p14:creationId xmlns:p14="http://schemas.microsoft.com/office/powerpoint/2010/main" val="15065849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912D8E-D471-A34E-AB17-24705BCE498D}" type="slidenum">
              <a:rPr lang="en-US" smtClean="0"/>
              <a:t>59</a:t>
            </a:fld>
            <a:endParaRPr lang="en-US"/>
          </a:p>
        </p:txBody>
      </p:sp>
    </p:spTree>
    <p:extLst>
      <p:ext uri="{BB962C8B-B14F-4D97-AF65-F5344CB8AC3E}">
        <p14:creationId xmlns:p14="http://schemas.microsoft.com/office/powerpoint/2010/main" val="2566199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666DC1-CD27-4874-9484-9D06C59FE4D0}"/>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77579F-F417-47C2-AC03-911CCED021DB}"/>
              </a:ext>
            </a:extLst>
          </p:cNvPr>
          <p:cNvSpPr>
            <a:spLocks noGrp="1"/>
          </p:cNvSpPr>
          <p:nvPr>
            <p:ph type="ctrTitle"/>
          </p:nvPr>
        </p:nvSpPr>
        <p:spPr>
          <a:xfrm>
            <a:off x="484552" y="447675"/>
            <a:ext cx="8397511" cy="2714625"/>
          </a:xfrm>
        </p:spPr>
        <p:txBody>
          <a:bodyPr anchor="b">
            <a:normAutofit/>
          </a:bodyPr>
          <a:lstStyle>
            <a:lvl1pPr algn="l">
              <a:defRPr sz="5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1643E600-28DA-4780-9E00-2E12F74FF621}"/>
              </a:ext>
            </a:extLst>
          </p:cNvPr>
          <p:cNvSpPr>
            <a:spLocks noGrp="1"/>
          </p:cNvSpPr>
          <p:nvPr>
            <p:ph type="subTitle" idx="1"/>
          </p:nvPr>
        </p:nvSpPr>
        <p:spPr>
          <a:xfrm>
            <a:off x="484552" y="3602037"/>
            <a:ext cx="8397511" cy="2460625"/>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0E6F1DC-ADFB-42C9-AB34-FCB38C8123FC}"/>
              </a:ext>
            </a:extLst>
          </p:cNvPr>
          <p:cNvSpPr>
            <a:spLocks noGrp="1"/>
          </p:cNvSpPr>
          <p:nvPr>
            <p:ph type="dt" sz="half" idx="10"/>
          </p:nvPr>
        </p:nvSpPr>
        <p:spPr/>
        <p:txBody>
          <a:bodyPr/>
          <a:lstStyle/>
          <a:p>
            <a:fld id="{92538219-6E45-4D12-B767-46F92D5844D4}" type="datetime1">
              <a:rPr lang="en-US" smtClean="0"/>
              <a:t>7/22/2026</a:t>
            </a:fld>
            <a:endParaRPr lang="en-US"/>
          </a:p>
        </p:txBody>
      </p:sp>
      <p:sp>
        <p:nvSpPr>
          <p:cNvPr id="5" name="Footer Placeholder 4">
            <a:extLst>
              <a:ext uri="{FF2B5EF4-FFF2-40B4-BE49-F238E27FC236}">
                <a16:creationId xmlns:a16="http://schemas.microsoft.com/office/drawing/2014/main" id="{EE799E6D-BBA8-4A15-94DA-DBE8A4FDE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03C82-8719-4FAC-94BF-2A91335FB58A}"/>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206922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CF16-986E-4D90-AA40-CDB46E23320D}"/>
              </a:ext>
            </a:extLst>
          </p:cNvPr>
          <p:cNvSpPr>
            <a:spLocks noGrp="1"/>
          </p:cNvSpPr>
          <p:nvPr>
            <p:ph type="title"/>
          </p:nvPr>
        </p:nvSpPr>
        <p:spPr>
          <a:xfrm>
            <a:off x="484552" y="302097"/>
            <a:ext cx="10869248" cy="120549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A6F14DA-A783-43BC-8F15-95408B89D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8C48B6-C394-452A-94D9-D4802755D841}"/>
              </a:ext>
            </a:extLst>
          </p:cNvPr>
          <p:cNvSpPr>
            <a:spLocks noGrp="1"/>
          </p:cNvSpPr>
          <p:nvPr>
            <p:ph type="dt" sz="half" idx="10"/>
          </p:nvPr>
        </p:nvSpPr>
        <p:spPr/>
        <p:txBody>
          <a:bodyPr/>
          <a:lstStyle/>
          <a:p>
            <a:fld id="{8BB296A2-D8F0-4E17-BFD0-A6C902250D59}" type="datetime1">
              <a:rPr lang="en-US" smtClean="0"/>
              <a:t>7/22/2026</a:t>
            </a:fld>
            <a:endParaRPr lang="en-US"/>
          </a:p>
        </p:txBody>
      </p:sp>
      <p:sp>
        <p:nvSpPr>
          <p:cNvPr id="5" name="Footer Placeholder 4">
            <a:extLst>
              <a:ext uri="{FF2B5EF4-FFF2-40B4-BE49-F238E27FC236}">
                <a16:creationId xmlns:a16="http://schemas.microsoft.com/office/drawing/2014/main" id="{43858A8A-3DD0-41C8-9F48-F4309FA19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06C92-7C02-4D34-B3E5-D549A7A36BD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41894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66F9FA-E6B8-4CFC-B3F1-0C075546EE33}"/>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6F270-B2AA-4935-885F-5924B1F63A3E}"/>
              </a:ext>
            </a:extLst>
          </p:cNvPr>
          <p:cNvSpPr>
            <a:spLocks noGrp="1"/>
          </p:cNvSpPr>
          <p:nvPr>
            <p:ph type="title"/>
          </p:nvPr>
        </p:nvSpPr>
        <p:spPr>
          <a:xfrm>
            <a:off x="484552" y="457200"/>
            <a:ext cx="10862898" cy="272415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22658E-3D87-4D5A-A602-847153CC4845}"/>
              </a:ext>
            </a:extLst>
          </p:cNvPr>
          <p:cNvSpPr>
            <a:spLocks noGrp="1"/>
          </p:cNvSpPr>
          <p:nvPr>
            <p:ph type="body" idx="1"/>
          </p:nvPr>
        </p:nvSpPr>
        <p:spPr>
          <a:xfrm>
            <a:off x="484552" y="3695701"/>
            <a:ext cx="10862898" cy="2393950"/>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B1D84-A229-45B1-BD42-0DC0CE9F8DE9}"/>
              </a:ext>
            </a:extLst>
          </p:cNvPr>
          <p:cNvSpPr>
            <a:spLocks noGrp="1"/>
          </p:cNvSpPr>
          <p:nvPr>
            <p:ph type="dt" sz="half" idx="10"/>
          </p:nvPr>
        </p:nvSpPr>
        <p:spPr/>
        <p:txBody>
          <a:bodyPr/>
          <a:lstStyle/>
          <a:p>
            <a:fld id="{D9108C9C-1ACB-4C84-A002-C7E0E45B937A}" type="datetime1">
              <a:rPr lang="en-US" smtClean="0"/>
              <a:t>7/22/2026</a:t>
            </a:fld>
            <a:endParaRPr lang="en-US"/>
          </a:p>
        </p:txBody>
      </p:sp>
      <p:sp>
        <p:nvSpPr>
          <p:cNvPr id="5" name="Footer Placeholder 4">
            <a:extLst>
              <a:ext uri="{FF2B5EF4-FFF2-40B4-BE49-F238E27FC236}">
                <a16:creationId xmlns:a16="http://schemas.microsoft.com/office/drawing/2014/main" id="{2664EEF4-D461-49D7-8F24-8BFE2444B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055A-7488-4646-9E88-692036EA22DE}"/>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174844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1F74-ED26-4F8B-BF51-3533D8404E5A}"/>
              </a:ext>
            </a:extLst>
          </p:cNvPr>
          <p:cNvSpPr>
            <a:spLocks noGrp="1"/>
          </p:cNvSpPr>
          <p:nvPr>
            <p:ph type="title"/>
          </p:nvPr>
        </p:nvSpPr>
        <p:spPr>
          <a:xfrm>
            <a:off x="484552" y="365760"/>
            <a:ext cx="11264536" cy="168751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1D2D7-7F18-43E0-9B2E-3FCD83CC83BC}"/>
              </a:ext>
            </a:extLst>
          </p:cNvPr>
          <p:cNvSpPr>
            <a:spLocks noGrp="1"/>
          </p:cNvSpPr>
          <p:nvPr>
            <p:ph sz="half" idx="1"/>
          </p:nvPr>
        </p:nvSpPr>
        <p:spPr>
          <a:xfrm>
            <a:off x="48455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FCBBB66-EB7D-4F8C-9C78-1D1C88846469}"/>
              </a:ext>
            </a:extLst>
          </p:cNvPr>
          <p:cNvSpPr>
            <a:spLocks noGrp="1"/>
          </p:cNvSpPr>
          <p:nvPr>
            <p:ph sz="half" idx="2"/>
          </p:nvPr>
        </p:nvSpPr>
        <p:spPr>
          <a:xfrm>
            <a:off x="627016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7A684E6-393D-4587-AA45-E6734FB47AEC}"/>
              </a:ext>
            </a:extLst>
          </p:cNvPr>
          <p:cNvSpPr>
            <a:spLocks noGrp="1"/>
          </p:cNvSpPr>
          <p:nvPr>
            <p:ph type="dt" sz="half" idx="10"/>
          </p:nvPr>
        </p:nvSpPr>
        <p:spPr/>
        <p:txBody>
          <a:bodyPr/>
          <a:lstStyle/>
          <a:p>
            <a:fld id="{F49AF2A5-B297-4977-9E5B-4D3050E23689}" type="datetime1">
              <a:rPr lang="en-US" smtClean="0"/>
              <a:t>7/22/2026</a:t>
            </a:fld>
            <a:endParaRPr lang="en-US"/>
          </a:p>
        </p:txBody>
      </p:sp>
      <p:sp>
        <p:nvSpPr>
          <p:cNvPr id="6" name="Footer Placeholder 5">
            <a:extLst>
              <a:ext uri="{FF2B5EF4-FFF2-40B4-BE49-F238E27FC236}">
                <a16:creationId xmlns:a16="http://schemas.microsoft.com/office/drawing/2014/main" id="{0A1D8EE0-0333-4ABC-AE18-10DD5071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52369-A8F0-4709-8372-B420A67DB7C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21522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592-4621-4D72-BC2D-F2C439F81B81}"/>
              </a:ext>
            </a:extLst>
          </p:cNvPr>
          <p:cNvSpPr>
            <a:spLocks noGrp="1"/>
          </p:cNvSpPr>
          <p:nvPr>
            <p:ph type="title"/>
          </p:nvPr>
        </p:nvSpPr>
        <p:spPr>
          <a:xfrm>
            <a:off x="484552" y="365759"/>
            <a:ext cx="10870836" cy="16916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823F5-0A90-4666-BE88-2BE0D0A61603}"/>
              </a:ext>
            </a:extLst>
          </p:cNvPr>
          <p:cNvSpPr>
            <a:spLocks noGrp="1"/>
          </p:cNvSpPr>
          <p:nvPr>
            <p:ph type="body" idx="1"/>
          </p:nvPr>
        </p:nvSpPr>
        <p:spPr>
          <a:xfrm>
            <a:off x="484552" y="2436473"/>
            <a:ext cx="5332026"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C6A7C-6260-463D-B3FD-71A07ACD0669}"/>
              </a:ext>
            </a:extLst>
          </p:cNvPr>
          <p:cNvSpPr>
            <a:spLocks noGrp="1"/>
          </p:cNvSpPr>
          <p:nvPr>
            <p:ph sz="half" idx="2"/>
          </p:nvPr>
        </p:nvSpPr>
        <p:spPr>
          <a:xfrm>
            <a:off x="484552" y="3409051"/>
            <a:ext cx="5332026"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F2AF8D-90ED-4512-9423-C91BF73A99B2}"/>
              </a:ext>
            </a:extLst>
          </p:cNvPr>
          <p:cNvSpPr>
            <a:spLocks noGrp="1"/>
          </p:cNvSpPr>
          <p:nvPr>
            <p:ph type="body" sz="quarter" idx="3"/>
          </p:nvPr>
        </p:nvSpPr>
        <p:spPr>
          <a:xfrm>
            <a:off x="6270162" y="2436473"/>
            <a:ext cx="5358285"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838EA-E20D-4CC3-83C2-AFE0DE9F7376}"/>
              </a:ext>
            </a:extLst>
          </p:cNvPr>
          <p:cNvSpPr>
            <a:spLocks noGrp="1"/>
          </p:cNvSpPr>
          <p:nvPr>
            <p:ph sz="quarter" idx="4"/>
          </p:nvPr>
        </p:nvSpPr>
        <p:spPr>
          <a:xfrm>
            <a:off x="6270162" y="3409051"/>
            <a:ext cx="5358285"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3603F8A-08E1-4160-9B7E-E0CA4BF8EC3C}"/>
              </a:ext>
            </a:extLst>
          </p:cNvPr>
          <p:cNvSpPr>
            <a:spLocks noGrp="1"/>
          </p:cNvSpPr>
          <p:nvPr>
            <p:ph type="dt" sz="half" idx="10"/>
          </p:nvPr>
        </p:nvSpPr>
        <p:spPr/>
        <p:txBody>
          <a:bodyPr/>
          <a:lstStyle/>
          <a:p>
            <a:fld id="{70127434-4794-409A-9547-04789BA47588}" type="datetime1">
              <a:rPr lang="en-US" smtClean="0"/>
              <a:t>7/22/2026</a:t>
            </a:fld>
            <a:endParaRPr lang="en-US"/>
          </a:p>
        </p:txBody>
      </p:sp>
      <p:sp>
        <p:nvSpPr>
          <p:cNvPr id="8" name="Footer Placeholder 7">
            <a:extLst>
              <a:ext uri="{FF2B5EF4-FFF2-40B4-BE49-F238E27FC236}">
                <a16:creationId xmlns:a16="http://schemas.microsoft.com/office/drawing/2014/main" id="{118291AB-3C5C-4BE1-9E50-02F489336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96E64-CD6C-4CF7-8624-FA4AE9760EEB}"/>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95876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2B3-06A0-4F2F-96EC-A062DAE2FE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FC0095-49F0-4A83-AE8C-9D13E15C2BD8}"/>
              </a:ext>
            </a:extLst>
          </p:cNvPr>
          <p:cNvSpPr>
            <a:spLocks noGrp="1"/>
          </p:cNvSpPr>
          <p:nvPr>
            <p:ph type="dt" sz="half" idx="10"/>
          </p:nvPr>
        </p:nvSpPr>
        <p:spPr/>
        <p:txBody>
          <a:bodyPr/>
          <a:lstStyle/>
          <a:p>
            <a:fld id="{85658635-357A-4E3D-B824-A5CEFDB8449C}" type="datetime1">
              <a:rPr lang="en-US" smtClean="0"/>
              <a:t>7/22/2026</a:t>
            </a:fld>
            <a:endParaRPr lang="en-US"/>
          </a:p>
        </p:txBody>
      </p:sp>
      <p:sp>
        <p:nvSpPr>
          <p:cNvPr id="4" name="Footer Placeholder 3">
            <a:extLst>
              <a:ext uri="{FF2B5EF4-FFF2-40B4-BE49-F238E27FC236}">
                <a16:creationId xmlns:a16="http://schemas.microsoft.com/office/drawing/2014/main" id="{61824898-D4EA-497A-8FC8-43E0D0213B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4821F6-2C08-450C-A18C-702D7384292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08496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FE119-5FCA-4D9C-9C07-1B81A0BF3BFF}"/>
              </a:ext>
            </a:extLst>
          </p:cNvPr>
          <p:cNvSpPr>
            <a:spLocks noGrp="1"/>
          </p:cNvSpPr>
          <p:nvPr>
            <p:ph type="dt" sz="half" idx="10"/>
          </p:nvPr>
        </p:nvSpPr>
        <p:spPr/>
        <p:txBody>
          <a:bodyPr/>
          <a:lstStyle/>
          <a:p>
            <a:fld id="{7E86FF77-2719-4AD0-8740-0B90FF5D1EFB}" type="datetime1">
              <a:rPr lang="en-US" smtClean="0"/>
              <a:t>7/22/2026</a:t>
            </a:fld>
            <a:endParaRPr lang="en-US"/>
          </a:p>
        </p:txBody>
      </p:sp>
      <p:sp>
        <p:nvSpPr>
          <p:cNvPr id="3" name="Footer Placeholder 2">
            <a:extLst>
              <a:ext uri="{FF2B5EF4-FFF2-40B4-BE49-F238E27FC236}">
                <a16:creationId xmlns:a16="http://schemas.microsoft.com/office/drawing/2014/main" id="{2A2C5995-6284-4D7F-AB1C-CA8FE63A78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E4B0D-9C21-48D0-9438-C473706814B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16047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0AF76DA-8F95-47D9-9EB6-B1EC93437387}"/>
              </a:ext>
            </a:extLst>
          </p:cNvPr>
          <p:cNvGrpSpPr/>
          <p:nvPr/>
        </p:nvGrpSpPr>
        <p:grpSpPr>
          <a:xfrm>
            <a:off x="2" y="0"/>
            <a:ext cx="6095998" cy="6858002"/>
            <a:chOff x="1" y="4563942"/>
            <a:chExt cx="12192005" cy="2294060"/>
          </a:xfrm>
        </p:grpSpPr>
        <p:sp>
          <p:nvSpPr>
            <p:cNvPr id="28" name="Rectangle 27">
              <a:extLst>
                <a:ext uri="{FF2B5EF4-FFF2-40B4-BE49-F238E27FC236}">
                  <a16:creationId xmlns:a16="http://schemas.microsoft.com/office/drawing/2014/main" id="{31355B14-077B-4BA1-962D-6E97D93FFCCC}"/>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30B99F-AC6F-4973-A35E-16C87C38711D}"/>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8E41614-9483-47F8-A429-FB0D1C5AA89A}"/>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5E91C-3C4F-40A2-BCC6-918D3BEDD24B}"/>
              </a:ext>
            </a:extLst>
          </p:cNvPr>
          <p:cNvSpPr>
            <a:spLocks noGrp="1"/>
          </p:cNvSpPr>
          <p:nvPr>
            <p:ph type="title"/>
          </p:nvPr>
        </p:nvSpPr>
        <p:spPr>
          <a:xfrm>
            <a:off x="484552" y="457200"/>
            <a:ext cx="5287234" cy="1600200"/>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30F113-1C61-4F74-BD5B-727668BBEAFC}"/>
              </a:ext>
            </a:extLst>
          </p:cNvPr>
          <p:cNvSpPr>
            <a:spLocks noGrp="1"/>
          </p:cNvSpPr>
          <p:nvPr>
            <p:ph idx="1"/>
          </p:nvPr>
        </p:nvSpPr>
        <p:spPr>
          <a:xfrm>
            <a:off x="6270162" y="457201"/>
            <a:ext cx="5085226"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10EB228-A180-4DF6-9D5B-2CF86B6B9BB0}"/>
              </a:ext>
            </a:extLst>
          </p:cNvPr>
          <p:cNvSpPr>
            <a:spLocks noGrp="1"/>
          </p:cNvSpPr>
          <p:nvPr>
            <p:ph type="body" sz="half" idx="2"/>
          </p:nvPr>
        </p:nvSpPr>
        <p:spPr>
          <a:xfrm>
            <a:off x="484552" y="2514600"/>
            <a:ext cx="5287234"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13719-D65D-4BAE-97B7-FAE8F39982EF}"/>
              </a:ext>
            </a:extLst>
          </p:cNvPr>
          <p:cNvSpPr>
            <a:spLocks noGrp="1"/>
          </p:cNvSpPr>
          <p:nvPr>
            <p:ph type="dt" sz="half" idx="10"/>
          </p:nvPr>
        </p:nvSpPr>
        <p:spPr/>
        <p:txBody>
          <a:bodyPr/>
          <a:lstStyle/>
          <a:p>
            <a:fld id="{6E441C83-1089-48B9-8B65-293D4C236D35}" type="datetime1">
              <a:rPr lang="en-US" smtClean="0"/>
              <a:t>7/22/2026</a:t>
            </a:fld>
            <a:endParaRPr lang="en-US"/>
          </a:p>
        </p:txBody>
      </p:sp>
      <p:sp>
        <p:nvSpPr>
          <p:cNvPr id="6" name="Footer Placeholder 5">
            <a:extLst>
              <a:ext uri="{FF2B5EF4-FFF2-40B4-BE49-F238E27FC236}">
                <a16:creationId xmlns:a16="http://schemas.microsoft.com/office/drawing/2014/main" id="{F747F5BB-DC3C-45D1-A0D2-05168FECA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44BA3-19DB-4072-9A2C-08C92361AF9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7686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0A6909D-DC0B-4221-8140-21E981D896AF}"/>
              </a:ext>
            </a:extLst>
          </p:cNvPr>
          <p:cNvGrpSpPr/>
          <p:nvPr/>
        </p:nvGrpSpPr>
        <p:grpSpPr>
          <a:xfrm>
            <a:off x="2" y="0"/>
            <a:ext cx="6095998" cy="6858002"/>
            <a:chOff x="1" y="4563942"/>
            <a:chExt cx="12192005" cy="2294060"/>
          </a:xfrm>
        </p:grpSpPr>
        <p:sp>
          <p:nvSpPr>
            <p:cNvPr id="9" name="Rectangle 8">
              <a:extLst>
                <a:ext uri="{FF2B5EF4-FFF2-40B4-BE49-F238E27FC236}">
                  <a16:creationId xmlns:a16="http://schemas.microsoft.com/office/drawing/2014/main" id="{53D581C2-F39E-4958-A3F3-BB65AB1C5E66}"/>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D77040-27EF-4D2C-8D34-32337B0C8544}"/>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1A26D20-69F8-4BBC-98C0-BEB470AB8284}"/>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7B6BC-4B2A-4001-9634-47473F82701E}"/>
              </a:ext>
            </a:extLst>
          </p:cNvPr>
          <p:cNvSpPr>
            <a:spLocks noGrp="1"/>
          </p:cNvSpPr>
          <p:nvPr>
            <p:ph type="title"/>
          </p:nvPr>
        </p:nvSpPr>
        <p:spPr>
          <a:xfrm>
            <a:off x="484552" y="457200"/>
            <a:ext cx="5211519" cy="1600200"/>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97D074-2CCB-4AB8-A7A0-7847D3C1EF8A}"/>
              </a:ext>
            </a:extLst>
          </p:cNvPr>
          <p:cNvSpPr>
            <a:spLocks noGrp="1"/>
          </p:cNvSpPr>
          <p:nvPr>
            <p:ph type="pic" idx="1"/>
          </p:nvPr>
        </p:nvSpPr>
        <p:spPr>
          <a:xfrm>
            <a:off x="6270162" y="457201"/>
            <a:ext cx="5085226"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1FB94BD-D906-4213-9F31-1BE17A86F926}"/>
              </a:ext>
            </a:extLst>
          </p:cNvPr>
          <p:cNvSpPr>
            <a:spLocks noGrp="1"/>
          </p:cNvSpPr>
          <p:nvPr>
            <p:ph type="body" sz="half" idx="2"/>
          </p:nvPr>
        </p:nvSpPr>
        <p:spPr>
          <a:xfrm>
            <a:off x="484552" y="2514600"/>
            <a:ext cx="5211519"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B8431-70CB-4E9F-8A49-CDFF18554212}"/>
              </a:ext>
            </a:extLst>
          </p:cNvPr>
          <p:cNvSpPr>
            <a:spLocks noGrp="1"/>
          </p:cNvSpPr>
          <p:nvPr>
            <p:ph type="dt" sz="half" idx="10"/>
          </p:nvPr>
        </p:nvSpPr>
        <p:spPr/>
        <p:txBody>
          <a:bodyPr/>
          <a:lstStyle/>
          <a:p>
            <a:fld id="{D162FE45-CC1E-47DB-8B82-6CF0636FBDB8}" type="datetime1">
              <a:rPr lang="en-US" smtClean="0"/>
              <a:t>7/22/2026</a:t>
            </a:fld>
            <a:endParaRPr lang="en-US"/>
          </a:p>
        </p:txBody>
      </p:sp>
      <p:sp>
        <p:nvSpPr>
          <p:cNvPr id="6" name="Footer Placeholder 5">
            <a:extLst>
              <a:ext uri="{FF2B5EF4-FFF2-40B4-BE49-F238E27FC236}">
                <a16:creationId xmlns:a16="http://schemas.microsoft.com/office/drawing/2014/main" id="{ADD2F293-170E-410E-88BF-187A63C5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D93A2-588D-43B5-B6FA-0B7892E6E13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701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8A33-CB96-4CB1-9941-753BD0824C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EB269-70DF-4510-A313-336226558E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1EA3CC-B2DC-4E87-826C-B885A7E62819}"/>
              </a:ext>
            </a:extLst>
          </p:cNvPr>
          <p:cNvSpPr>
            <a:spLocks noGrp="1"/>
          </p:cNvSpPr>
          <p:nvPr>
            <p:ph type="dt" sz="half" idx="10"/>
          </p:nvPr>
        </p:nvSpPr>
        <p:spPr/>
        <p:txBody>
          <a:bodyPr/>
          <a:lstStyle/>
          <a:p>
            <a:fld id="{836430B8-6059-41E5-A5DC-C07A76F5859A}" type="datetime1">
              <a:rPr lang="en-US" smtClean="0"/>
              <a:t>7/22/2026</a:t>
            </a:fld>
            <a:endParaRPr lang="en-US"/>
          </a:p>
        </p:txBody>
      </p:sp>
      <p:sp>
        <p:nvSpPr>
          <p:cNvPr id="5" name="Footer Placeholder 4">
            <a:extLst>
              <a:ext uri="{FF2B5EF4-FFF2-40B4-BE49-F238E27FC236}">
                <a16:creationId xmlns:a16="http://schemas.microsoft.com/office/drawing/2014/main" id="{7AF37F52-A7C4-4E21-A12A-02546D477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6031F-5A79-48A7-8EDC-DDD9A9E4B9F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49692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188483-96C4-4E9C-AA6A-E70005461AEE}"/>
              </a:ext>
            </a:extLst>
          </p:cNvPr>
          <p:cNvSpPr/>
          <p:nvPr/>
        </p:nvSpPr>
        <p:spPr>
          <a:xfrm>
            <a:off x="9144000" y="0"/>
            <a:ext cx="3048000" cy="6854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0E4FCD54-7F0B-446E-9998-93E7BD7CE74D}"/>
              </a:ext>
            </a:extLst>
          </p:cNvPr>
          <p:cNvSpPr>
            <a:spLocks noGrp="1"/>
          </p:cNvSpPr>
          <p:nvPr>
            <p:ph type="title" orient="vert"/>
          </p:nvPr>
        </p:nvSpPr>
        <p:spPr>
          <a:xfrm>
            <a:off x="9534222" y="365125"/>
            <a:ext cx="2238678"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0766238-BBF1-4672-BC09-746C6967E5DF}"/>
              </a:ext>
            </a:extLst>
          </p:cNvPr>
          <p:cNvSpPr>
            <a:spLocks noGrp="1"/>
          </p:cNvSpPr>
          <p:nvPr>
            <p:ph type="body" orient="vert" idx="1"/>
          </p:nvPr>
        </p:nvSpPr>
        <p:spPr>
          <a:xfrm>
            <a:off x="484552" y="365125"/>
            <a:ext cx="837406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8F32A5-B67B-45C1-B454-12E9FBE0C869}"/>
              </a:ext>
            </a:extLst>
          </p:cNvPr>
          <p:cNvSpPr>
            <a:spLocks noGrp="1"/>
          </p:cNvSpPr>
          <p:nvPr>
            <p:ph type="dt" sz="half" idx="10"/>
          </p:nvPr>
        </p:nvSpPr>
        <p:spPr/>
        <p:txBody>
          <a:bodyPr/>
          <a:lstStyle/>
          <a:p>
            <a:fld id="{A09D0CB7-D16E-4358-B7F4-EA4A24554592}" type="datetime1">
              <a:rPr lang="en-US" smtClean="0"/>
              <a:t>7/22/2026</a:t>
            </a:fld>
            <a:endParaRPr lang="en-US"/>
          </a:p>
        </p:txBody>
      </p:sp>
      <p:sp>
        <p:nvSpPr>
          <p:cNvPr id="5" name="Footer Placeholder 4">
            <a:extLst>
              <a:ext uri="{FF2B5EF4-FFF2-40B4-BE49-F238E27FC236}">
                <a16:creationId xmlns:a16="http://schemas.microsoft.com/office/drawing/2014/main" id="{48E91896-9441-4636-89D5-84E5932A1EDB}"/>
              </a:ext>
            </a:extLst>
          </p:cNvPr>
          <p:cNvSpPr>
            <a:spLocks noGrp="1"/>
          </p:cNvSpPr>
          <p:nvPr>
            <p:ph type="ftr" sz="quarter" idx="11"/>
          </p:nvPr>
        </p:nvSpPr>
        <p:spPr>
          <a:xfrm>
            <a:off x="3228110"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88937DFE-7F48-4EB0-83BC-A93F342D2618}"/>
              </a:ext>
            </a:extLst>
          </p:cNvPr>
          <p:cNvSpPr>
            <a:spLocks noGrp="1"/>
          </p:cNvSpPr>
          <p:nvPr>
            <p:ph type="sldNum" sz="quarter" idx="12"/>
          </p:nvPr>
        </p:nvSpPr>
        <p:spPr/>
        <p:txBody>
          <a:bodyPr/>
          <a:lstStyle>
            <a:lvl1pPr>
              <a:defRPr>
                <a:solidFill>
                  <a:schemeClr val="bg1">
                    <a:alpha val="80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3528231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26A151-13BF-4305-A6DC-9DC7C9877195}"/>
              </a:ext>
            </a:extLst>
          </p:cNvPr>
          <p:cNvSpPr/>
          <p:nvPr/>
        </p:nvSpPr>
        <p:spPr>
          <a:xfrm>
            <a:off x="0" y="1"/>
            <a:ext cx="12192000" cy="17890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DEE6AE3-3BCC-4B3B-AC4E-60F91014449A}"/>
              </a:ext>
            </a:extLst>
          </p:cNvPr>
          <p:cNvSpPr>
            <a:spLocks noGrp="1"/>
          </p:cNvSpPr>
          <p:nvPr>
            <p:ph type="title"/>
          </p:nvPr>
        </p:nvSpPr>
        <p:spPr>
          <a:xfrm>
            <a:off x="484552" y="194519"/>
            <a:ext cx="10869248" cy="1205491"/>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4CB514A-E7EA-41A8-ADBA-85CA1DF6D349}"/>
              </a:ext>
            </a:extLst>
          </p:cNvPr>
          <p:cNvSpPr>
            <a:spLocks noGrp="1"/>
          </p:cNvSpPr>
          <p:nvPr>
            <p:ph type="body" idx="1"/>
          </p:nvPr>
        </p:nvSpPr>
        <p:spPr>
          <a:xfrm>
            <a:off x="484552" y="2065467"/>
            <a:ext cx="10869248" cy="4096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19CB0BD-D6E3-4B3D-BCBB-6FECA5D6323C}"/>
              </a:ext>
            </a:extLst>
          </p:cNvPr>
          <p:cNvSpPr>
            <a:spLocks noGrp="1"/>
          </p:cNvSpPr>
          <p:nvPr>
            <p:ph type="dt" sz="half" idx="2"/>
          </p:nvPr>
        </p:nvSpPr>
        <p:spPr>
          <a:xfrm>
            <a:off x="146221" y="635720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FC8E16-3C03-4238-9C6F-B34F3D10F77E}" type="datetime1">
              <a:rPr lang="en-US" smtClean="0"/>
              <a:t>7/22/2026</a:t>
            </a:fld>
            <a:endParaRPr lang="en-US" dirty="0"/>
          </a:p>
        </p:txBody>
      </p:sp>
      <p:sp>
        <p:nvSpPr>
          <p:cNvPr id="5" name="Footer Placeholder 4">
            <a:extLst>
              <a:ext uri="{FF2B5EF4-FFF2-40B4-BE49-F238E27FC236}">
                <a16:creationId xmlns:a16="http://schemas.microsoft.com/office/drawing/2014/main" id="{A84147F7-B466-4892-BE27-876F947515C8}"/>
              </a:ext>
            </a:extLst>
          </p:cNvPr>
          <p:cNvSpPr>
            <a:spLocks noGrp="1"/>
          </p:cNvSpPr>
          <p:nvPr>
            <p:ph type="ftr" sz="quarter" idx="3"/>
          </p:nvPr>
        </p:nvSpPr>
        <p:spPr>
          <a:xfrm>
            <a:off x="6270162" y="635635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64B4FE0-65CC-4435-A6AF-150E52F35BB8}"/>
              </a:ext>
            </a:extLst>
          </p:cNvPr>
          <p:cNvSpPr>
            <a:spLocks noGrp="1"/>
          </p:cNvSpPr>
          <p:nvPr>
            <p:ph type="sldNum" sz="quarter" idx="4"/>
          </p:nvPr>
        </p:nvSpPr>
        <p:spPr>
          <a:xfrm>
            <a:off x="10764983" y="6356350"/>
            <a:ext cx="128079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411656788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hf sldNum="0" hdr="0" ftr="0" dt="0"/>
  <p:txStyles>
    <p:titleStyle>
      <a:lvl1pPr algn="l" defTabSz="914400" rtl="0" eaLnBrk="1" latinLnBrk="0" hangingPunct="1">
        <a:lnSpc>
          <a:spcPct val="100000"/>
        </a:lnSpc>
        <a:spcBef>
          <a:spcPct val="0"/>
        </a:spcBef>
        <a:buNone/>
        <a:defRPr sz="4800" kern="1200">
          <a:solidFill>
            <a:schemeClr val="bg1"/>
          </a:solidFill>
          <a:latin typeface="Cambria" panose="02040503050406030204" pitchFamily="18" charset="0"/>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Cambria" panose="02040503050406030204" pitchFamily="18" charset="0"/>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Cambria" panose="02040503050406030204" pitchFamily="18" charset="0"/>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Cambria" panose="02040503050406030204" pitchFamily="18" charset="0"/>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Cambria" panose="02040503050406030204" pitchFamily="18" charset="0"/>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deviq.io/"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levity.ai/"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f_uwKZIAeM0?feature=oembed" TargetMode="External"/><Relationship Id="rId1" Type="http://schemas.openxmlformats.org/officeDocument/2006/relationships/tags" Target="../tags/tag1.xml"/><Relationship Id="rId5" Type="http://schemas.openxmlformats.org/officeDocument/2006/relationships/image" Target="../media/image20.jpeg"/><Relationship Id="rId4"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deviq.io/" TargetMode="Externa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6028/NIST.SP.1500-1r2"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www.anaconda.com/download"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docs.conda.io/projects/conda/en/latest/user-guide/concepts/channels.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p01wt-WB84c?feature=oembed" TargetMode="External"/><Relationship Id="rId1" Type="http://schemas.openxmlformats.org/officeDocument/2006/relationships/tags" Target="../tags/tag2.xml"/><Relationship Id="rId4" Type="http://schemas.openxmlformats.org/officeDocument/2006/relationships/image" Target="../media/image30.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7wf1HhYQiDg?feature=oembed" TargetMode="External"/><Relationship Id="rId1" Type="http://schemas.openxmlformats.org/officeDocument/2006/relationships/tags" Target="../tags/tag3.xml"/><Relationship Id="rId4" Type="http://schemas.openxmlformats.org/officeDocument/2006/relationships/image" Target="../media/image31.jpeg"/></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4.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A26A151-13BF-4305-A6DC-9DC7C9877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EFFDDA6-2CAE-438F-B0D6-FF4E710E2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29884" y="6324431"/>
            <a:ext cx="62116" cy="4289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F06B261F-632C-43DC-8DC7-7723B3682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E524C7F-EE50-42C5-9434-7C78CE044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3644" cy="68613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F8BA2-5609-1185-67AB-D0B477AE412E}"/>
              </a:ext>
            </a:extLst>
          </p:cNvPr>
          <p:cNvSpPr>
            <a:spLocks noGrp="1"/>
          </p:cNvSpPr>
          <p:nvPr>
            <p:ph type="ctrTitle"/>
          </p:nvPr>
        </p:nvSpPr>
        <p:spPr>
          <a:xfrm>
            <a:off x="430121" y="365125"/>
            <a:ext cx="5479791" cy="2430030"/>
          </a:xfrm>
        </p:spPr>
        <p:txBody>
          <a:bodyPr vert="horz" lIns="91440" tIns="45720" rIns="91440" bIns="45720" rtlCol="0" anchor="b">
            <a:normAutofit/>
          </a:bodyPr>
          <a:lstStyle/>
          <a:p>
            <a:r>
              <a:rPr lang="en-US" dirty="0"/>
              <a:t>Introduction to Data Science &amp; AI</a:t>
            </a:r>
          </a:p>
        </p:txBody>
      </p:sp>
      <p:sp>
        <p:nvSpPr>
          <p:cNvPr id="3" name="Subtitle 2">
            <a:extLst>
              <a:ext uri="{FF2B5EF4-FFF2-40B4-BE49-F238E27FC236}">
                <a16:creationId xmlns:a16="http://schemas.microsoft.com/office/drawing/2014/main" id="{4B14F7A9-0B69-50D3-EFD6-01EB73B91590}"/>
              </a:ext>
            </a:extLst>
          </p:cNvPr>
          <p:cNvSpPr>
            <a:spLocks noGrp="1"/>
          </p:cNvSpPr>
          <p:nvPr>
            <p:ph type="subTitle" idx="1"/>
          </p:nvPr>
        </p:nvSpPr>
        <p:spPr>
          <a:xfrm>
            <a:off x="484552" y="3054927"/>
            <a:ext cx="5022630" cy="3122036"/>
          </a:xfrm>
        </p:spPr>
        <p:txBody>
          <a:bodyPr vert="horz" lIns="91440" tIns="45720" rIns="91440" bIns="45720" rtlCol="0">
            <a:normAutofit/>
          </a:bodyPr>
          <a:lstStyle/>
          <a:p>
            <a:r>
              <a:rPr lang="en-US" dirty="0">
                <a:solidFill>
                  <a:schemeClr val="bg1"/>
                </a:solidFill>
              </a:rPr>
              <a:t>SIT112 | Intro to Data Science &amp; AI</a:t>
            </a:r>
          </a:p>
          <a:p>
            <a:endParaRPr lang="en-US" dirty="0">
              <a:solidFill>
                <a:schemeClr val="bg1"/>
              </a:solidFill>
            </a:endParaRPr>
          </a:p>
          <a:p>
            <a:r>
              <a:rPr lang="en-US" dirty="0">
                <a:solidFill>
                  <a:schemeClr val="bg1"/>
                </a:solidFill>
              </a:rPr>
              <a:t>Lecture Week 1– Part 2</a:t>
            </a:r>
          </a:p>
          <a:p>
            <a:endParaRPr lang="en-US" dirty="0">
              <a:solidFill>
                <a:schemeClr val="bg1"/>
              </a:solidFill>
            </a:endParaRPr>
          </a:p>
          <a:p>
            <a:endParaRPr lang="en-US" dirty="0">
              <a:solidFill>
                <a:schemeClr val="bg1"/>
              </a:solidFill>
            </a:endParaRPr>
          </a:p>
        </p:txBody>
      </p:sp>
      <p:pic>
        <p:nvPicPr>
          <p:cNvPr id="23" name="Picture 12">
            <a:extLst>
              <a:ext uri="{FF2B5EF4-FFF2-40B4-BE49-F238E27FC236}">
                <a16:creationId xmlns:a16="http://schemas.microsoft.com/office/drawing/2014/main" id="{27DDA6F5-26EC-28A4-45B4-8F5AB8D9F2F9}"/>
              </a:ext>
            </a:extLst>
          </p:cNvPr>
          <p:cNvPicPr>
            <a:picLocks noChangeAspect="1"/>
          </p:cNvPicPr>
          <p:nvPr/>
        </p:nvPicPr>
        <p:blipFill rotWithShape="1">
          <a:blip r:embed="rId3"/>
          <a:srcRect l="27964" r="9242"/>
          <a:stretch/>
        </p:blipFill>
        <p:spPr>
          <a:xfrm>
            <a:off x="6083645" y="10"/>
            <a:ext cx="6108356" cy="6857990"/>
          </a:xfrm>
          <a:prstGeom prst="rect">
            <a:avLst/>
          </a:prstGeom>
        </p:spPr>
      </p:pic>
      <p:sp>
        <p:nvSpPr>
          <p:cNvPr id="6" name="TextBox 5">
            <a:extLst>
              <a:ext uri="{FF2B5EF4-FFF2-40B4-BE49-F238E27FC236}">
                <a16:creationId xmlns:a16="http://schemas.microsoft.com/office/drawing/2014/main" id="{60EB6CD3-1079-C315-AFA6-5381F1AB7B61}"/>
              </a:ext>
            </a:extLst>
          </p:cNvPr>
          <p:cNvSpPr txBox="1"/>
          <p:nvPr/>
        </p:nvSpPr>
        <p:spPr>
          <a:xfrm>
            <a:off x="484552" y="5054351"/>
            <a:ext cx="6096000" cy="1184940"/>
          </a:xfrm>
          <a:prstGeom prst="rect">
            <a:avLst/>
          </a:prstGeom>
          <a:noFill/>
        </p:spPr>
        <p:txBody>
          <a:bodyPr wrap="square">
            <a:spAutoFit/>
          </a:bodyPr>
          <a:lstStyle/>
          <a:p>
            <a:pPr>
              <a:spcAft>
                <a:spcPts val="600"/>
              </a:spcAft>
            </a:pPr>
            <a:r>
              <a:rPr lang="en-US" sz="1400" dirty="0">
                <a:solidFill>
                  <a:schemeClr val="bg1"/>
                </a:solidFill>
                <a:latin typeface="Cambria" panose="02040503050406030204" pitchFamily="18" charset="0"/>
              </a:rPr>
              <a:t>Dr. Fatima Ansarizadeh</a:t>
            </a:r>
          </a:p>
          <a:p>
            <a:pPr>
              <a:spcAft>
                <a:spcPts val="600"/>
              </a:spcAft>
            </a:pPr>
            <a:r>
              <a:rPr lang="en-US" sz="1400" dirty="0">
                <a:solidFill>
                  <a:schemeClr val="bg1"/>
                </a:solidFill>
                <a:latin typeface="Cambria" panose="02040503050406030204" pitchFamily="18" charset="0"/>
              </a:rPr>
              <a:t>Lecturer in Applied AI</a:t>
            </a:r>
          </a:p>
          <a:p>
            <a:pPr>
              <a:spcAft>
                <a:spcPts val="600"/>
              </a:spcAft>
            </a:pPr>
            <a:r>
              <a:rPr lang="en-US" sz="1400" dirty="0">
                <a:solidFill>
                  <a:schemeClr val="bg1"/>
                </a:solidFill>
                <a:latin typeface="Cambria" panose="02040503050406030204" pitchFamily="18" charset="0"/>
              </a:rPr>
              <a:t>School of Information Technology, Deakin University</a:t>
            </a:r>
          </a:p>
          <a:p>
            <a:pPr>
              <a:spcAft>
                <a:spcPts val="600"/>
              </a:spcAft>
            </a:pPr>
            <a:r>
              <a:rPr lang="en-US" sz="1400" dirty="0">
                <a:solidFill>
                  <a:schemeClr val="bg1"/>
                </a:solidFill>
                <a:latin typeface="Cambria" panose="02040503050406030204" pitchFamily="18" charset="0"/>
              </a:rPr>
              <a:t>Email: f.ansarizadeh@deakin.edu.au</a:t>
            </a:r>
          </a:p>
        </p:txBody>
      </p:sp>
      <p:pic>
        <p:nvPicPr>
          <p:cNvPr id="2056" name="Picture 8" descr="Free Artificial Intelligence Brain illustration and picture">
            <a:extLst>
              <a:ext uri="{FF2B5EF4-FFF2-40B4-BE49-F238E27FC236}">
                <a16:creationId xmlns:a16="http://schemas.microsoft.com/office/drawing/2014/main" id="{2CAC7885-F5FC-9728-CD03-112A71453C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7321" y="1552489"/>
            <a:ext cx="6096000" cy="40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387644"/>
      </p:ext>
    </p:extLst>
  </p:cSld>
  <p:clrMapOvr>
    <a:masterClrMapping/>
  </p:clrMapOvr>
  <mc:AlternateContent xmlns:mc="http://schemas.openxmlformats.org/markup-compatibility/2006" xmlns:p14="http://schemas.microsoft.com/office/powerpoint/2010/main">
    <mc:Choice Requires="p14">
      <p:transition spd="slow" p14:dur="2000" advTm="8494"/>
    </mc:Choice>
    <mc:Fallback xmlns="">
      <p:transition spd="slow" advTm="849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6B261F-632C-43DC-8DC7-7723B3682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E524C7F-EE50-42C5-9434-7C78CE044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3644" cy="68613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3F3412-A31C-61AE-CC62-99A43BD216E6}"/>
              </a:ext>
            </a:extLst>
          </p:cNvPr>
          <p:cNvSpPr>
            <a:spLocks noGrp="1"/>
          </p:cNvSpPr>
          <p:nvPr>
            <p:ph type="title"/>
          </p:nvPr>
        </p:nvSpPr>
        <p:spPr>
          <a:xfrm>
            <a:off x="484552" y="365125"/>
            <a:ext cx="5022630" cy="2430030"/>
          </a:xfrm>
        </p:spPr>
        <p:txBody>
          <a:bodyPr>
            <a:normAutofit/>
          </a:bodyPr>
          <a:lstStyle/>
          <a:p>
            <a:r>
              <a:rPr lang="en-US" sz="4800" dirty="0">
                <a:solidFill>
                  <a:schemeClr val="bg1"/>
                </a:solidFill>
              </a:rPr>
              <a:t>The Unit Outline</a:t>
            </a:r>
            <a:endParaRPr lang="en-US" dirty="0"/>
          </a:p>
        </p:txBody>
      </p:sp>
      <p:sp>
        <p:nvSpPr>
          <p:cNvPr id="3" name="Content Placeholder 2">
            <a:extLst>
              <a:ext uri="{FF2B5EF4-FFF2-40B4-BE49-F238E27FC236}">
                <a16:creationId xmlns:a16="http://schemas.microsoft.com/office/drawing/2014/main" id="{8ED3CB2A-8CAD-5B3B-B817-727317089AF3}"/>
              </a:ext>
            </a:extLst>
          </p:cNvPr>
          <p:cNvSpPr>
            <a:spLocks noGrp="1"/>
          </p:cNvSpPr>
          <p:nvPr>
            <p:ph idx="1"/>
          </p:nvPr>
        </p:nvSpPr>
        <p:spPr>
          <a:xfrm>
            <a:off x="484552" y="3054927"/>
            <a:ext cx="5393734" cy="3122036"/>
          </a:xfrm>
        </p:spPr>
        <p:txBody>
          <a:bodyPr>
            <a:normAutofit/>
          </a:bodyPr>
          <a:lstStyle/>
          <a:p>
            <a:r>
              <a:rPr lang="en-US" sz="2800" dirty="0">
                <a:solidFill>
                  <a:schemeClr val="bg1"/>
                </a:solidFill>
              </a:rPr>
              <a:t>Please make sure you have visited Part 1 (The Unit Outline) …</a:t>
            </a:r>
          </a:p>
        </p:txBody>
      </p:sp>
      <p:pic>
        <p:nvPicPr>
          <p:cNvPr id="4" name="Picture 2" descr="Free Stop Sign photo and picture">
            <a:extLst>
              <a:ext uri="{FF2B5EF4-FFF2-40B4-BE49-F238E27FC236}">
                <a16:creationId xmlns:a16="http://schemas.microsoft.com/office/drawing/2014/main" id="{DFBE99B0-3855-0C59-1A00-1B985DD856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547" r="-1" b="-1"/>
          <a:stretch/>
        </p:blipFill>
        <p:spPr bwMode="auto">
          <a:xfrm>
            <a:off x="6083644" y="10"/>
            <a:ext cx="6108356"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556787"/>
      </p:ext>
    </p:extLst>
  </p:cSld>
  <p:clrMapOvr>
    <a:masterClrMapping/>
  </p:clrMapOvr>
  <mc:AlternateContent xmlns:mc="http://schemas.openxmlformats.org/markup-compatibility/2006" xmlns:p14="http://schemas.microsoft.com/office/powerpoint/2010/main">
    <mc:Choice Requires="p14">
      <p:transition spd="slow" p14:dur="2000" advTm="23784"/>
    </mc:Choice>
    <mc:Fallback xmlns="">
      <p:transition spd="slow" advTm="2378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58" name="Rectangle 14349">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9" name="Rectangle 14351">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5C675C-E1DA-9BB4-FFAF-956FB6AA62A0}"/>
              </a:ext>
            </a:extLst>
          </p:cNvPr>
          <p:cNvSpPr>
            <a:spLocks noGrp="1"/>
          </p:cNvSpPr>
          <p:nvPr>
            <p:ph type="title"/>
          </p:nvPr>
        </p:nvSpPr>
        <p:spPr>
          <a:xfrm>
            <a:off x="484552" y="365125"/>
            <a:ext cx="10869248" cy="1530910"/>
          </a:xfrm>
        </p:spPr>
        <p:txBody>
          <a:bodyPr>
            <a:normAutofit/>
          </a:bodyPr>
          <a:lstStyle/>
          <a:p>
            <a:r>
              <a:rPr lang="en-US"/>
              <a:t>Content</a:t>
            </a:r>
            <a:endParaRPr lang="en-US" dirty="0"/>
          </a:p>
        </p:txBody>
      </p:sp>
      <p:sp>
        <p:nvSpPr>
          <p:cNvPr id="3" name="Content Placeholder 2">
            <a:extLst>
              <a:ext uri="{FF2B5EF4-FFF2-40B4-BE49-F238E27FC236}">
                <a16:creationId xmlns:a16="http://schemas.microsoft.com/office/drawing/2014/main" id="{F35C8377-7225-BED2-506F-7CB8C5B0106A}"/>
              </a:ext>
            </a:extLst>
          </p:cNvPr>
          <p:cNvSpPr>
            <a:spLocks noGrp="1"/>
          </p:cNvSpPr>
          <p:nvPr>
            <p:ph idx="1"/>
          </p:nvPr>
        </p:nvSpPr>
        <p:spPr>
          <a:xfrm>
            <a:off x="697455" y="2399486"/>
            <a:ext cx="5784027" cy="4338917"/>
          </a:xfrm>
        </p:spPr>
        <p:txBody>
          <a:bodyPr>
            <a:noAutofit/>
          </a:bodyPr>
          <a:lstStyle/>
          <a:p>
            <a:pPr marL="571500" lvl="1" indent="-342900">
              <a:lnSpc>
                <a:spcPct val="110000"/>
              </a:lnSpc>
              <a:buFont typeface="Arial" panose="020B0604020202020204" pitchFamily="34" charset="0"/>
              <a:buChar char="•"/>
            </a:pPr>
            <a:r>
              <a:rPr lang="en-US" sz="2000" dirty="0"/>
              <a:t>What is Artificial Intelligence (AI)?</a:t>
            </a:r>
          </a:p>
          <a:p>
            <a:pPr marL="571500" lvl="1" indent="-342900">
              <a:lnSpc>
                <a:spcPct val="110000"/>
              </a:lnSpc>
              <a:buFont typeface="Arial" panose="020B0604020202020204" pitchFamily="34" charset="0"/>
              <a:buChar char="•"/>
            </a:pPr>
            <a:r>
              <a:rPr lang="en-US" sz="2000" dirty="0"/>
              <a:t>Foundations of AI</a:t>
            </a:r>
          </a:p>
          <a:p>
            <a:pPr marL="571500" lvl="1" indent="-342900">
              <a:lnSpc>
                <a:spcPct val="110000"/>
              </a:lnSpc>
              <a:buFont typeface="Arial" panose="020B0604020202020204" pitchFamily="34" charset="0"/>
              <a:buChar char="•"/>
            </a:pPr>
            <a:r>
              <a:rPr lang="en-US" sz="2000" dirty="0"/>
              <a:t>The Risks of  using (misusing) AI</a:t>
            </a:r>
          </a:p>
          <a:p>
            <a:pPr marL="571500" lvl="1" indent="-342900">
              <a:lnSpc>
                <a:spcPct val="110000"/>
              </a:lnSpc>
              <a:buFont typeface="Arial" panose="020B0604020202020204" pitchFamily="34" charset="0"/>
              <a:buChar char="•"/>
            </a:pPr>
            <a:r>
              <a:rPr lang="en-US" sz="2000" dirty="0"/>
              <a:t>Human-Centered AI</a:t>
            </a:r>
          </a:p>
          <a:p>
            <a:pPr marL="571500" lvl="1" indent="-342900">
              <a:lnSpc>
                <a:spcPct val="110000"/>
              </a:lnSpc>
              <a:buFont typeface="Arial" panose="020B0604020202020204" pitchFamily="34" charset="0"/>
              <a:buChar char="•"/>
            </a:pPr>
            <a:r>
              <a:rPr lang="en-US" sz="2000" dirty="0"/>
              <a:t>Machine Learning</a:t>
            </a:r>
          </a:p>
          <a:p>
            <a:pPr marL="571500" lvl="1" indent="-342900">
              <a:lnSpc>
                <a:spcPct val="110000"/>
              </a:lnSpc>
              <a:buFont typeface="Arial" panose="020B0604020202020204" pitchFamily="34" charset="0"/>
              <a:buChar char="•"/>
            </a:pPr>
            <a:r>
              <a:rPr lang="en-US" sz="2000" dirty="0"/>
              <a:t>Natural Language Processing (NLP)</a:t>
            </a:r>
          </a:p>
          <a:p>
            <a:pPr marL="571500" lvl="1" indent="-342900">
              <a:lnSpc>
                <a:spcPct val="110000"/>
              </a:lnSpc>
              <a:buFont typeface="Arial" panose="020B0604020202020204" pitchFamily="34" charset="0"/>
              <a:buChar char="•"/>
            </a:pPr>
            <a:r>
              <a:rPr lang="en-US" sz="2000" dirty="0"/>
              <a:t>What is Data Science?</a:t>
            </a:r>
          </a:p>
          <a:p>
            <a:pPr marL="571500" lvl="1" indent="-342900">
              <a:lnSpc>
                <a:spcPct val="110000"/>
              </a:lnSpc>
              <a:buFont typeface="Arial" panose="020B0604020202020204" pitchFamily="34" charset="0"/>
              <a:buChar char="•"/>
            </a:pPr>
            <a:r>
              <a:rPr lang="en-US" sz="2000" dirty="0"/>
              <a:t>Before Data Analysis</a:t>
            </a:r>
          </a:p>
          <a:p>
            <a:pPr marL="571500" lvl="1" indent="-342900">
              <a:lnSpc>
                <a:spcPct val="110000"/>
              </a:lnSpc>
              <a:buFont typeface="Arial" panose="020B0604020202020204" pitchFamily="34" charset="0"/>
              <a:buChar char="•"/>
            </a:pPr>
            <a:r>
              <a:rPr lang="en-US" sz="2000" dirty="0"/>
              <a:t>The 5 Phases of Data Analysis</a:t>
            </a:r>
          </a:p>
          <a:p>
            <a:pPr marL="571500" lvl="1" indent="-342900">
              <a:lnSpc>
                <a:spcPct val="110000"/>
              </a:lnSpc>
              <a:buFont typeface="Arial" panose="020B0604020202020204" pitchFamily="34" charset="0"/>
              <a:buChar char="•"/>
            </a:pPr>
            <a:r>
              <a:rPr lang="en-US" sz="2000" dirty="0"/>
              <a:t>Python for Data Science and AI</a:t>
            </a:r>
          </a:p>
          <a:p>
            <a:pPr marL="571500" lvl="1" indent="-342900">
              <a:lnSpc>
                <a:spcPct val="110000"/>
              </a:lnSpc>
              <a:buFont typeface="Arial" panose="020B0604020202020204" pitchFamily="34" charset="0"/>
              <a:buChar char="•"/>
            </a:pPr>
            <a:r>
              <a:rPr lang="en-US" sz="2000" dirty="0" err="1"/>
              <a:t>JupyterLab</a:t>
            </a:r>
            <a:r>
              <a:rPr lang="en-US" sz="2000" dirty="0"/>
              <a:t> </a:t>
            </a:r>
          </a:p>
        </p:txBody>
      </p:sp>
      <p:pic>
        <p:nvPicPr>
          <p:cNvPr id="14338" name="Picture 2" descr="Artificial Intelligence vs. Machine Learning vs. Data Science">
            <a:extLst>
              <a:ext uri="{FF2B5EF4-FFF2-40B4-BE49-F238E27FC236}">
                <a16:creationId xmlns:a16="http://schemas.microsoft.com/office/drawing/2014/main" id="{92393BC8-9D00-832E-A266-BE87D2CAAA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08" b="1"/>
          <a:stretch/>
        </p:blipFill>
        <p:spPr bwMode="auto">
          <a:xfrm>
            <a:off x="6300333" y="2837328"/>
            <a:ext cx="4727175" cy="35501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A4B3541-8968-D2E0-DD63-78C1CD21F24A}"/>
              </a:ext>
            </a:extLst>
          </p:cNvPr>
          <p:cNvSpPr txBox="1"/>
          <p:nvPr/>
        </p:nvSpPr>
        <p:spPr>
          <a:xfrm>
            <a:off x="9020287" y="5660160"/>
            <a:ext cx="2770094" cy="215444"/>
          </a:xfrm>
          <a:prstGeom prst="rect">
            <a:avLst/>
          </a:prstGeom>
          <a:noFill/>
        </p:spPr>
        <p:txBody>
          <a:bodyPr wrap="square">
            <a:spAutoFit/>
          </a:bodyPr>
          <a:lstStyle/>
          <a:p>
            <a:r>
              <a:rPr lang="en-US" sz="800" dirty="0">
                <a:hlinkClick r:id="rId3"/>
              </a:rPr>
              <a:t>https://www.deviq.io/</a:t>
            </a:r>
            <a:r>
              <a:rPr lang="en-US" sz="800" dirty="0"/>
              <a:t> </a:t>
            </a:r>
          </a:p>
        </p:txBody>
      </p:sp>
    </p:spTree>
    <p:extLst>
      <p:ext uri="{BB962C8B-B14F-4D97-AF65-F5344CB8AC3E}">
        <p14:creationId xmlns:p14="http://schemas.microsoft.com/office/powerpoint/2010/main" val="1489771610"/>
      </p:ext>
    </p:extLst>
  </p:cSld>
  <p:clrMapOvr>
    <a:masterClrMapping/>
  </p:clrMapOvr>
  <mc:AlternateContent xmlns:mc="http://schemas.openxmlformats.org/markup-compatibility/2006" xmlns:p14="http://schemas.microsoft.com/office/powerpoint/2010/main">
    <mc:Choice Requires="p14">
      <p:transition spd="slow" p14:dur="2000" advTm="117885"/>
    </mc:Choice>
    <mc:Fallback xmlns="">
      <p:transition spd="slow" advTm="11788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F8C57-3777-8102-242D-4EAD3F646A6C}"/>
              </a:ext>
            </a:extLst>
          </p:cNvPr>
          <p:cNvSpPr>
            <a:spLocks noGrp="1"/>
          </p:cNvSpPr>
          <p:nvPr>
            <p:ph type="title"/>
          </p:nvPr>
        </p:nvSpPr>
        <p:spPr>
          <a:xfrm>
            <a:off x="318476" y="0"/>
            <a:ext cx="10869248" cy="1205491"/>
          </a:xfrm>
        </p:spPr>
        <p:txBody>
          <a:bodyPr/>
          <a:lstStyle/>
          <a:p>
            <a:r>
              <a:rPr lang="en-US" dirty="0"/>
              <a:t>What is Artificial Intelligence? </a:t>
            </a:r>
          </a:p>
        </p:txBody>
      </p:sp>
      <p:sp>
        <p:nvSpPr>
          <p:cNvPr id="3" name="Content Placeholder 2">
            <a:extLst>
              <a:ext uri="{FF2B5EF4-FFF2-40B4-BE49-F238E27FC236}">
                <a16:creationId xmlns:a16="http://schemas.microsoft.com/office/drawing/2014/main" id="{CABE7FE5-FE3E-3FC1-592A-4F79B21E774C}"/>
              </a:ext>
            </a:extLst>
          </p:cNvPr>
          <p:cNvSpPr>
            <a:spLocks noGrp="1"/>
          </p:cNvSpPr>
          <p:nvPr>
            <p:ph idx="1"/>
          </p:nvPr>
        </p:nvSpPr>
        <p:spPr>
          <a:xfrm>
            <a:off x="318476" y="2128220"/>
            <a:ext cx="11555048" cy="4490436"/>
          </a:xfrm>
        </p:spPr>
        <p:txBody>
          <a:bodyPr>
            <a:normAutofit/>
          </a:bodyPr>
          <a:lstStyle/>
          <a:p>
            <a:pPr marL="342900" indent="-342900">
              <a:buFont typeface="Arial" panose="020B0604020202020204" pitchFamily="34" charset="0"/>
              <a:buChar char="•"/>
            </a:pPr>
            <a:r>
              <a:rPr lang="en-US" dirty="0"/>
              <a:t>Definition of </a:t>
            </a:r>
            <a:r>
              <a:rPr lang="en-US" dirty="0">
                <a:highlight>
                  <a:srgbClr val="FFFF00"/>
                </a:highlight>
              </a:rPr>
              <a:t>Intelligence</a:t>
            </a:r>
            <a:r>
              <a:rPr lang="en-US" dirty="0"/>
              <a:t>:</a:t>
            </a:r>
          </a:p>
          <a:p>
            <a:pPr marL="571500" lvl="1" indent="-342900">
              <a:buFont typeface="Arial" panose="020B0604020202020204" pitchFamily="34" charset="0"/>
              <a:buChar char="•"/>
            </a:pPr>
            <a:r>
              <a:rPr lang="en-US" sz="2000" dirty="0">
                <a:solidFill>
                  <a:schemeClr val="tx1">
                    <a:lumMod val="95000"/>
                    <a:lumOff val="5000"/>
                  </a:schemeClr>
                </a:solidFill>
              </a:rPr>
              <a:t>Intelligence as </a:t>
            </a:r>
            <a:r>
              <a:rPr lang="en-US" sz="2000" dirty="0">
                <a:solidFill>
                  <a:srgbClr val="FF0000"/>
                </a:solidFill>
              </a:rPr>
              <a:t>ﬁdelity to human performance</a:t>
            </a:r>
            <a:r>
              <a:rPr lang="en-US" sz="2000" dirty="0">
                <a:solidFill>
                  <a:schemeClr val="tx1">
                    <a:lumMod val="95000"/>
                    <a:lumOff val="5000"/>
                  </a:schemeClr>
                </a:solidFill>
              </a:rPr>
              <a:t>. </a:t>
            </a:r>
          </a:p>
          <a:p>
            <a:pPr marL="571500" lvl="1" indent="-342900">
              <a:buFont typeface="Arial" panose="020B0604020202020204" pitchFamily="34" charset="0"/>
              <a:buChar char="•"/>
            </a:pPr>
            <a:r>
              <a:rPr lang="en-US" sz="2000" dirty="0"/>
              <a:t>An abstract, formal deﬁnition of intelligence called </a:t>
            </a:r>
            <a:r>
              <a:rPr lang="en-US" sz="2000" dirty="0">
                <a:solidFill>
                  <a:srgbClr val="FF0000"/>
                </a:solidFill>
              </a:rPr>
              <a:t>rationality</a:t>
            </a:r>
            <a:r>
              <a:rPr lang="en-US" sz="2000" dirty="0"/>
              <a:t> —loosely speaking, </a:t>
            </a:r>
            <a:r>
              <a:rPr lang="en-US" sz="2000" dirty="0">
                <a:solidFill>
                  <a:srgbClr val="FF0000"/>
                </a:solidFill>
              </a:rPr>
              <a:t>doing the “right thing.” </a:t>
            </a:r>
          </a:p>
          <a:p>
            <a:pPr lvl="1"/>
            <a:endParaRPr lang="en-US" sz="2000" dirty="0">
              <a:solidFill>
                <a:srgbClr val="FF0000"/>
              </a:solidFill>
            </a:endParaRPr>
          </a:p>
          <a:p>
            <a:pPr marL="342900" indent="-342900">
              <a:buFont typeface="Arial" panose="020B0604020202020204" pitchFamily="34" charset="0"/>
              <a:buChar char="•"/>
            </a:pPr>
            <a:r>
              <a:rPr lang="en-US" dirty="0"/>
              <a:t>The subject matter itself also varies: </a:t>
            </a:r>
          </a:p>
          <a:p>
            <a:pPr marL="514350" lvl="1" indent="-285750">
              <a:buFont typeface="Arial" panose="020B0604020202020204" pitchFamily="34" charset="0"/>
              <a:buChar char="•"/>
            </a:pPr>
            <a:r>
              <a:rPr lang="en-US" sz="2000" dirty="0"/>
              <a:t>Some consider</a:t>
            </a:r>
            <a:r>
              <a:rPr lang="en-US" sz="2000" dirty="0">
                <a:solidFill>
                  <a:srgbClr val="FF0000"/>
                </a:solidFill>
              </a:rPr>
              <a:t> </a:t>
            </a:r>
            <a:r>
              <a:rPr lang="en-US" sz="2000" dirty="0">
                <a:solidFill>
                  <a:schemeClr val="tx1">
                    <a:lumMod val="95000"/>
                    <a:lumOff val="5000"/>
                  </a:schemeClr>
                </a:solidFill>
              </a:rPr>
              <a:t>I</a:t>
            </a:r>
            <a:r>
              <a:rPr lang="en-US" sz="2000" dirty="0"/>
              <a:t>ntelligence a property of internal thought processes and reasoning </a:t>
            </a:r>
            <a:r>
              <a:rPr lang="en-US" sz="2000" dirty="0">
                <a:solidFill>
                  <a:srgbClr val="FF0000"/>
                </a:solidFill>
              </a:rPr>
              <a:t>(</a:t>
            </a:r>
            <a:r>
              <a:rPr lang="en-US" sz="2000" dirty="0">
                <a:solidFill>
                  <a:srgbClr val="FF0000"/>
                </a:solidFill>
                <a:highlight>
                  <a:srgbClr val="FFFF00"/>
                </a:highlight>
              </a:rPr>
              <a:t>thinking</a:t>
            </a:r>
            <a:r>
              <a:rPr lang="en-US" sz="2000" dirty="0">
                <a:solidFill>
                  <a:srgbClr val="FF0000"/>
                </a:solidFill>
              </a:rPr>
              <a:t> intelligently).</a:t>
            </a:r>
          </a:p>
          <a:p>
            <a:pPr marL="514350" lvl="1" indent="-285750">
              <a:buFont typeface="Arial" panose="020B0604020202020204" pitchFamily="34" charset="0"/>
              <a:buChar char="•"/>
            </a:pPr>
            <a:r>
              <a:rPr lang="en-US" sz="2000" dirty="0"/>
              <a:t>Others focus on Intelligence as an external </a:t>
            </a:r>
            <a:r>
              <a:rPr lang="en-US" sz="2000" dirty="0" err="1"/>
              <a:t>characterisation</a:t>
            </a:r>
            <a:r>
              <a:rPr lang="en-US" sz="2000" dirty="0"/>
              <a:t> </a:t>
            </a:r>
            <a:r>
              <a:rPr lang="en-US" sz="2000" dirty="0">
                <a:solidFill>
                  <a:srgbClr val="FF0000"/>
                </a:solidFill>
              </a:rPr>
              <a:t>(</a:t>
            </a:r>
            <a:r>
              <a:rPr lang="en-US" sz="2000" dirty="0">
                <a:solidFill>
                  <a:srgbClr val="FF0000"/>
                </a:solidFill>
                <a:highlight>
                  <a:srgbClr val="FFFF00"/>
                </a:highlight>
              </a:rPr>
              <a:t>acting</a:t>
            </a:r>
            <a:r>
              <a:rPr lang="en-US" sz="2000" dirty="0">
                <a:solidFill>
                  <a:srgbClr val="FF0000"/>
                </a:solidFill>
              </a:rPr>
              <a:t> intelligently).</a:t>
            </a:r>
            <a:endParaRPr lang="en-US" sz="2000" dirty="0"/>
          </a:p>
        </p:txBody>
      </p:sp>
    </p:spTree>
    <p:extLst>
      <p:ext uri="{BB962C8B-B14F-4D97-AF65-F5344CB8AC3E}">
        <p14:creationId xmlns:p14="http://schemas.microsoft.com/office/powerpoint/2010/main" val="2759258917"/>
      </p:ext>
    </p:extLst>
  </p:cSld>
  <p:clrMapOvr>
    <a:masterClrMapping/>
  </p:clrMapOvr>
  <mc:AlternateContent xmlns:mc="http://schemas.openxmlformats.org/markup-compatibility/2006" xmlns:p14="http://schemas.microsoft.com/office/powerpoint/2010/main">
    <mc:Choice Requires="p14">
      <p:transition spd="slow" p14:dur="2000" advTm="154365"/>
    </mc:Choice>
    <mc:Fallback xmlns="">
      <p:transition spd="slow" advTm="15436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EF8C57-3777-8102-242D-4EAD3F646A6C}"/>
              </a:ext>
            </a:extLst>
          </p:cNvPr>
          <p:cNvSpPr>
            <a:spLocks noGrp="1"/>
          </p:cNvSpPr>
          <p:nvPr>
            <p:ph type="title"/>
          </p:nvPr>
        </p:nvSpPr>
        <p:spPr>
          <a:xfrm>
            <a:off x="116999" y="0"/>
            <a:ext cx="10869248" cy="1530910"/>
          </a:xfrm>
        </p:spPr>
        <p:txBody>
          <a:bodyPr>
            <a:normAutofit/>
          </a:bodyPr>
          <a:lstStyle/>
          <a:p>
            <a:r>
              <a:rPr lang="en-US" dirty="0"/>
              <a:t>What is Artificial Intelligence? (Cont.)</a:t>
            </a:r>
          </a:p>
        </p:txBody>
      </p:sp>
      <p:sp>
        <p:nvSpPr>
          <p:cNvPr id="3" name="Content Placeholder 2">
            <a:extLst>
              <a:ext uri="{FF2B5EF4-FFF2-40B4-BE49-F238E27FC236}">
                <a16:creationId xmlns:a16="http://schemas.microsoft.com/office/drawing/2014/main" id="{CABE7FE5-FE3E-3FC1-592A-4F79B21E774C}"/>
              </a:ext>
            </a:extLst>
          </p:cNvPr>
          <p:cNvSpPr>
            <a:spLocks noGrp="1"/>
          </p:cNvSpPr>
          <p:nvPr>
            <p:ph idx="1"/>
          </p:nvPr>
        </p:nvSpPr>
        <p:spPr>
          <a:xfrm>
            <a:off x="184932" y="2645014"/>
            <a:ext cx="5726134" cy="3774422"/>
          </a:xfrm>
        </p:spPr>
        <p:txBody>
          <a:bodyPr>
            <a:noAutofit/>
          </a:bodyPr>
          <a:lstStyle/>
          <a:p>
            <a:pPr>
              <a:lnSpc>
                <a:spcPct val="110000"/>
              </a:lnSpc>
            </a:pPr>
            <a:r>
              <a:rPr lang="en-US" dirty="0"/>
              <a:t>Two approaches:</a:t>
            </a:r>
          </a:p>
          <a:p>
            <a:pPr marL="571500" lvl="1" indent="-342900">
              <a:lnSpc>
                <a:spcPct val="110000"/>
              </a:lnSpc>
              <a:buFont typeface="Arial" panose="020B0604020202020204" pitchFamily="34" charset="0"/>
              <a:buChar char="•"/>
            </a:pPr>
            <a:r>
              <a:rPr lang="en-US" sz="2000" dirty="0"/>
              <a:t>The pursuit of </a:t>
            </a:r>
            <a:r>
              <a:rPr lang="en-US" sz="2000" dirty="0">
                <a:solidFill>
                  <a:schemeClr val="tx1">
                    <a:lumMod val="95000"/>
                    <a:lumOff val="5000"/>
                  </a:schemeClr>
                </a:solidFill>
                <a:highlight>
                  <a:srgbClr val="FFFF00"/>
                </a:highlight>
              </a:rPr>
              <a:t>human-like intelligence </a:t>
            </a:r>
            <a:r>
              <a:rPr lang="en-US" sz="2000" dirty="0"/>
              <a:t>must be in part an empirical science related to </a:t>
            </a:r>
            <a:r>
              <a:rPr lang="en-US" sz="2000" dirty="0">
                <a:solidFill>
                  <a:schemeClr val="tx1">
                    <a:lumMod val="95000"/>
                    <a:lumOff val="5000"/>
                  </a:schemeClr>
                </a:solidFill>
                <a:highlight>
                  <a:srgbClr val="FFFF00"/>
                </a:highlight>
              </a:rPr>
              <a:t>psychology</a:t>
            </a:r>
            <a:r>
              <a:rPr lang="en-US" sz="2000" dirty="0"/>
              <a:t>, involving observations and hypotheses about </a:t>
            </a:r>
            <a:r>
              <a:rPr lang="en-US" sz="2000" dirty="0">
                <a:solidFill>
                  <a:schemeClr val="tx1">
                    <a:lumMod val="95000"/>
                    <a:lumOff val="5000"/>
                  </a:schemeClr>
                </a:solidFill>
                <a:highlight>
                  <a:srgbClr val="FFFF00"/>
                </a:highlight>
              </a:rPr>
              <a:t>actual human behavior and thought processes</a:t>
            </a:r>
            <a:r>
              <a:rPr lang="en-US" sz="2000" dirty="0"/>
              <a:t>; </a:t>
            </a:r>
          </a:p>
          <a:p>
            <a:pPr marL="571500" lvl="1" indent="-342900">
              <a:lnSpc>
                <a:spcPct val="110000"/>
              </a:lnSpc>
              <a:buFont typeface="Arial" panose="020B0604020202020204" pitchFamily="34" charset="0"/>
              <a:buChar char="•"/>
            </a:pPr>
            <a:r>
              <a:rPr lang="en-US" sz="2000" dirty="0"/>
              <a:t>A </a:t>
            </a:r>
            <a:r>
              <a:rPr lang="en-US" sz="2000" dirty="0">
                <a:solidFill>
                  <a:schemeClr val="tx1">
                    <a:lumMod val="95000"/>
                    <a:lumOff val="5000"/>
                  </a:schemeClr>
                </a:solidFill>
                <a:highlight>
                  <a:srgbClr val="FFFF00"/>
                </a:highlight>
              </a:rPr>
              <a:t>rationalist approach</a:t>
            </a:r>
            <a:r>
              <a:rPr lang="en-US" sz="2000" dirty="0"/>
              <a:t>, on the other hand, involves a combination of </a:t>
            </a:r>
            <a:r>
              <a:rPr lang="en-US" sz="2000" dirty="0">
                <a:solidFill>
                  <a:schemeClr val="tx1">
                    <a:lumMod val="95000"/>
                    <a:lumOff val="5000"/>
                  </a:schemeClr>
                </a:solidFill>
                <a:highlight>
                  <a:srgbClr val="FFFF00"/>
                </a:highlight>
              </a:rPr>
              <a:t>mathematics and engineering</a:t>
            </a:r>
            <a:r>
              <a:rPr lang="en-US" sz="2000" dirty="0"/>
              <a:t>, and connects to statistics, control theory, and economics. </a:t>
            </a:r>
          </a:p>
        </p:txBody>
      </p:sp>
      <p:pic>
        <p:nvPicPr>
          <p:cNvPr id="1028" name="Picture 4" descr="Business investment and AI artificial intelligence data analysis technology. Businessman and robot future investor, stock market, forex, and crypto currency finance investment. Artificial Intelligence Stock Photo">
            <a:extLst>
              <a:ext uri="{FF2B5EF4-FFF2-40B4-BE49-F238E27FC236}">
                <a16:creationId xmlns:a16="http://schemas.microsoft.com/office/drawing/2014/main" id="{39938B76-2BC4-3C5E-4D2F-4E1829112E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116" b="-3"/>
          <a:stretch/>
        </p:blipFill>
        <p:spPr bwMode="auto">
          <a:xfrm>
            <a:off x="6095998" y="2279889"/>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4997140"/>
      </p:ext>
    </p:extLst>
  </p:cSld>
  <p:clrMapOvr>
    <a:masterClrMapping/>
  </p:clrMapOvr>
  <mc:AlternateContent xmlns:mc="http://schemas.openxmlformats.org/markup-compatibility/2006" xmlns:p14="http://schemas.microsoft.com/office/powerpoint/2010/main">
    <mc:Choice Requires="p14">
      <p:transition spd="slow" p14:dur="2000" advTm="117972"/>
    </mc:Choice>
    <mc:Fallback xmlns="">
      <p:transition spd="slow" advTm="11797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E232-2F66-5053-9ECA-C2FF67BFA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5057D-0740-2734-ECC7-F6319C7F6353}"/>
              </a:ext>
            </a:extLst>
          </p:cNvPr>
          <p:cNvSpPr>
            <a:spLocks noGrp="1"/>
          </p:cNvSpPr>
          <p:nvPr>
            <p:ph type="title"/>
          </p:nvPr>
        </p:nvSpPr>
        <p:spPr>
          <a:xfrm>
            <a:off x="116999" y="0"/>
            <a:ext cx="10869248" cy="1530910"/>
          </a:xfrm>
        </p:spPr>
        <p:txBody>
          <a:bodyPr>
            <a:normAutofit/>
          </a:bodyPr>
          <a:lstStyle/>
          <a:p>
            <a:r>
              <a:rPr lang="en-US" dirty="0"/>
              <a:t>What is Artificial Intelligence? (Cont.)</a:t>
            </a:r>
          </a:p>
        </p:txBody>
      </p:sp>
      <p:pic>
        <p:nvPicPr>
          <p:cNvPr id="1028" name="Picture 4" descr="Business investment and AI artificial intelligence data analysis technology. Businessman and robot future investor, stock market, forex, and crypto currency finance investment. Artificial Intelligence Stock Photo">
            <a:extLst>
              <a:ext uri="{FF2B5EF4-FFF2-40B4-BE49-F238E27FC236}">
                <a16:creationId xmlns:a16="http://schemas.microsoft.com/office/drawing/2014/main" id="{DC0B611D-F3A3-280B-66B9-5168975F7B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116" b="-3"/>
          <a:stretch/>
        </p:blipFill>
        <p:spPr bwMode="auto">
          <a:xfrm>
            <a:off x="5441830" y="1788607"/>
            <a:ext cx="6750166" cy="506939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2DC343D7-E34F-BEB5-3B5A-936D846AE7BB}"/>
              </a:ext>
            </a:extLst>
          </p:cNvPr>
          <p:cNvSpPr>
            <a:spLocks noGrp="1"/>
          </p:cNvSpPr>
          <p:nvPr>
            <p:ph idx="1"/>
          </p:nvPr>
        </p:nvSpPr>
        <p:spPr/>
        <p:txBody>
          <a:bodyPr/>
          <a:lstStyle/>
          <a:p>
            <a:endParaRPr lang="en-AU"/>
          </a:p>
        </p:txBody>
      </p:sp>
      <p:sp>
        <p:nvSpPr>
          <p:cNvPr id="6" name="Content Placeholder 2">
            <a:extLst>
              <a:ext uri="{FF2B5EF4-FFF2-40B4-BE49-F238E27FC236}">
                <a16:creationId xmlns:a16="http://schemas.microsoft.com/office/drawing/2014/main" id="{CABE7FE5-FE3E-3FC1-592A-4F79B21E774C}"/>
              </a:ext>
            </a:extLst>
          </p:cNvPr>
          <p:cNvSpPr txBox="1">
            <a:spLocks/>
          </p:cNvSpPr>
          <p:nvPr/>
        </p:nvSpPr>
        <p:spPr>
          <a:xfrm>
            <a:off x="484552" y="2837329"/>
            <a:ext cx="5331229" cy="3339634"/>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Cambria" panose="02040503050406030204" pitchFamily="18" charset="0"/>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Cambria" panose="02040503050406030204" pitchFamily="18" charset="0"/>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Cambria" panose="02040503050406030204" pitchFamily="18" charset="0"/>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Cambria" panose="02040503050406030204" pitchFamily="18" charset="0"/>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t>Four possible definitions for AI:</a:t>
            </a:r>
          </a:p>
          <a:p>
            <a:pPr marL="571500" lvl="1" indent="-342900">
              <a:lnSpc>
                <a:spcPct val="110000"/>
              </a:lnSpc>
              <a:buFont typeface="Arial" panose="020B0604020202020204" pitchFamily="34" charset="0"/>
              <a:buChar char="•"/>
            </a:pPr>
            <a:r>
              <a:rPr lang="en-US" sz="2000"/>
              <a:t>Thinking Humanly</a:t>
            </a:r>
          </a:p>
          <a:p>
            <a:pPr marL="571500" lvl="1" indent="-342900">
              <a:lnSpc>
                <a:spcPct val="110000"/>
              </a:lnSpc>
              <a:buFont typeface="Arial" panose="020B0604020202020204" pitchFamily="34" charset="0"/>
              <a:buChar char="•"/>
            </a:pPr>
            <a:r>
              <a:rPr lang="en-US" sz="2000"/>
              <a:t>Acting Humanly </a:t>
            </a:r>
          </a:p>
          <a:p>
            <a:pPr marL="571500" lvl="1" indent="-342900">
              <a:lnSpc>
                <a:spcPct val="110000"/>
              </a:lnSpc>
              <a:buFont typeface="Arial" panose="020B0604020202020204" pitchFamily="34" charset="0"/>
              <a:buChar char="•"/>
            </a:pPr>
            <a:r>
              <a:rPr lang="en-US" sz="2000"/>
              <a:t>Thinking Rationally</a:t>
            </a:r>
          </a:p>
          <a:p>
            <a:pPr marL="571500" lvl="1" indent="-342900">
              <a:lnSpc>
                <a:spcPct val="110000"/>
              </a:lnSpc>
              <a:buFont typeface="Arial" panose="020B0604020202020204" pitchFamily="34" charset="0"/>
              <a:buChar char="•"/>
            </a:pPr>
            <a:r>
              <a:rPr lang="en-US" sz="2000"/>
              <a:t>Acting Rationally</a:t>
            </a:r>
          </a:p>
          <a:p>
            <a:pPr marL="571500" lvl="1" indent="-342900">
              <a:lnSpc>
                <a:spcPct val="11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2123683091"/>
      </p:ext>
    </p:extLst>
  </p:cSld>
  <p:clrMapOvr>
    <a:masterClrMapping/>
  </p:clrMapOvr>
  <mc:AlternateContent xmlns:mc="http://schemas.openxmlformats.org/markup-compatibility/2006" xmlns:p14="http://schemas.microsoft.com/office/powerpoint/2010/main">
    <mc:Choice Requires="p14">
      <p:transition spd="slow" p14:dur="2000" advTm="117972"/>
    </mc:Choice>
    <mc:Fallback xmlns="">
      <p:transition spd="slow" advTm="11797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Rectangle 3087">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EF8C57-3777-8102-242D-4EAD3F646A6C}"/>
              </a:ext>
            </a:extLst>
          </p:cNvPr>
          <p:cNvSpPr>
            <a:spLocks noGrp="1"/>
          </p:cNvSpPr>
          <p:nvPr>
            <p:ph type="title"/>
          </p:nvPr>
        </p:nvSpPr>
        <p:spPr>
          <a:xfrm>
            <a:off x="484552" y="365125"/>
            <a:ext cx="10869248" cy="1530910"/>
          </a:xfrm>
        </p:spPr>
        <p:txBody>
          <a:bodyPr>
            <a:normAutofit/>
          </a:bodyPr>
          <a:lstStyle/>
          <a:p>
            <a:pPr>
              <a:lnSpc>
                <a:spcPct val="90000"/>
              </a:lnSpc>
            </a:pPr>
            <a:r>
              <a:rPr lang="en-US" dirty="0"/>
              <a:t>What is Artificial Intelligence? </a:t>
            </a:r>
            <a:br>
              <a:rPr lang="en-US" dirty="0"/>
            </a:br>
            <a:r>
              <a:rPr lang="en-US" dirty="0"/>
              <a:t>Thinking Humanly; Cognitive Modeling</a:t>
            </a:r>
          </a:p>
        </p:txBody>
      </p:sp>
      <p:sp>
        <p:nvSpPr>
          <p:cNvPr id="3" name="Content Placeholder 2">
            <a:extLst>
              <a:ext uri="{FF2B5EF4-FFF2-40B4-BE49-F238E27FC236}">
                <a16:creationId xmlns:a16="http://schemas.microsoft.com/office/drawing/2014/main" id="{CABE7FE5-FE3E-3FC1-592A-4F79B21E774C}"/>
              </a:ext>
            </a:extLst>
          </p:cNvPr>
          <p:cNvSpPr>
            <a:spLocks noGrp="1"/>
          </p:cNvSpPr>
          <p:nvPr>
            <p:ph idx="1"/>
          </p:nvPr>
        </p:nvSpPr>
        <p:spPr>
          <a:xfrm>
            <a:off x="582522" y="2793797"/>
            <a:ext cx="7621387" cy="3339634"/>
          </a:xfrm>
        </p:spPr>
        <p:txBody>
          <a:bodyPr>
            <a:noAutofit/>
          </a:bodyPr>
          <a:lstStyle/>
          <a:p>
            <a:pPr marL="285750" marR="0" lvl="0" indent="-285750"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effectLst/>
                <a:uLnTx/>
                <a:uFillTx/>
                <a:latin typeface="Cambria" panose="02040503050406030204" pitchFamily="18" charset="0"/>
                <a:ea typeface="+mn-ea"/>
                <a:cs typeface="+mn-cs"/>
              </a:rPr>
              <a:t>To say that a program thinks like a human, we must know how humans think. We can learn about human thought in three ways: </a:t>
            </a:r>
          </a:p>
          <a:p>
            <a:pPr marL="514350" lvl="1" indent="-285750">
              <a:lnSpc>
                <a:spcPct val="110000"/>
              </a:lnSpc>
              <a:spcBef>
                <a:spcPts val="1000"/>
              </a:spcBef>
              <a:buFont typeface="Arial" panose="020B0604020202020204" pitchFamily="34" charset="0"/>
              <a:buChar char="•"/>
              <a:defRPr/>
            </a:pPr>
            <a:r>
              <a:rPr lang="en-US" sz="1600" dirty="0">
                <a:solidFill>
                  <a:schemeClr val="tx1">
                    <a:lumMod val="95000"/>
                    <a:lumOff val="5000"/>
                  </a:schemeClr>
                </a:solidFill>
                <a:highlight>
                  <a:srgbClr val="FFFF00"/>
                </a:highlight>
              </a:rPr>
              <a:t>I</a:t>
            </a:r>
            <a:r>
              <a:rPr kumimoji="0" lang="en-US" sz="1600" b="0" i="0" u="none" strike="noStrike" kern="1200" cap="none" spc="0" normalizeH="0" baseline="0" noProof="0" dirty="0" err="1">
                <a:ln>
                  <a:noFill/>
                </a:ln>
                <a:solidFill>
                  <a:schemeClr val="tx1">
                    <a:lumMod val="95000"/>
                    <a:lumOff val="5000"/>
                  </a:schemeClr>
                </a:solidFill>
                <a:effectLst/>
                <a:highlight>
                  <a:srgbClr val="FFFF00"/>
                </a:highlight>
                <a:uLnTx/>
                <a:uFillTx/>
                <a:latin typeface="Cambria" panose="02040503050406030204" pitchFamily="18" charset="0"/>
                <a:ea typeface="+mn-ea"/>
                <a:cs typeface="+mn-cs"/>
              </a:rPr>
              <a:t>ntrospection</a:t>
            </a:r>
            <a:r>
              <a:rPr kumimoji="0" lang="en-US" sz="16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 —trying to catch our own thoughts as they go by; </a:t>
            </a:r>
          </a:p>
          <a:p>
            <a:pPr marL="514350" lvl="1" indent="-285750">
              <a:lnSpc>
                <a:spcPct val="110000"/>
              </a:lnSpc>
              <a:spcBef>
                <a:spcPts val="1000"/>
              </a:spcBef>
              <a:buFont typeface="Arial" panose="020B0604020202020204" pitchFamily="34" charset="0"/>
              <a:buChar char="•"/>
              <a:defRPr/>
            </a:pPr>
            <a:r>
              <a:rPr lang="en-US" sz="1600" dirty="0">
                <a:solidFill>
                  <a:schemeClr val="tx1">
                    <a:lumMod val="95000"/>
                    <a:lumOff val="5000"/>
                  </a:schemeClr>
                </a:solidFill>
                <a:highlight>
                  <a:srgbClr val="FFFF00"/>
                </a:highlight>
              </a:rPr>
              <a:t>P</a:t>
            </a:r>
            <a:r>
              <a:rPr kumimoji="0" lang="en-US" sz="1600" b="0" i="0" u="none" strike="noStrike" kern="1200" cap="none" spc="0" normalizeH="0" baseline="0" noProof="0" dirty="0" err="1">
                <a:ln>
                  <a:noFill/>
                </a:ln>
                <a:solidFill>
                  <a:schemeClr val="tx1">
                    <a:lumMod val="95000"/>
                    <a:lumOff val="5000"/>
                  </a:schemeClr>
                </a:solidFill>
                <a:effectLst/>
                <a:highlight>
                  <a:srgbClr val="FFFF00"/>
                </a:highlight>
                <a:uLnTx/>
                <a:uFillTx/>
                <a:latin typeface="Cambria" panose="02040503050406030204" pitchFamily="18" charset="0"/>
                <a:ea typeface="+mn-ea"/>
                <a:cs typeface="+mn-cs"/>
              </a:rPr>
              <a:t>sychological</a:t>
            </a:r>
            <a:r>
              <a:rPr kumimoji="0" lang="en-US" sz="1600" b="0" i="0" u="none" strike="noStrike" kern="1200" cap="none" spc="0" normalizeH="0" baseline="0" noProof="0" dirty="0">
                <a:ln>
                  <a:noFill/>
                </a:ln>
                <a:solidFill>
                  <a:schemeClr val="tx1">
                    <a:lumMod val="95000"/>
                    <a:lumOff val="5000"/>
                  </a:schemeClr>
                </a:solidFill>
                <a:effectLst/>
                <a:highlight>
                  <a:srgbClr val="FFFF00"/>
                </a:highlight>
                <a:uLnTx/>
                <a:uFillTx/>
                <a:latin typeface="Cambria" panose="02040503050406030204" pitchFamily="18" charset="0"/>
                <a:ea typeface="+mn-ea"/>
                <a:cs typeface="+mn-cs"/>
              </a:rPr>
              <a:t> experiments </a:t>
            </a:r>
            <a:r>
              <a:rPr kumimoji="0" lang="en-US" sz="16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—observing a person in action;</a:t>
            </a:r>
          </a:p>
          <a:p>
            <a:pPr marL="514350" lvl="1" indent="-285750">
              <a:lnSpc>
                <a:spcPct val="110000"/>
              </a:lnSpc>
              <a:spcBef>
                <a:spcPts val="1000"/>
              </a:spcBef>
              <a:buFont typeface="Arial" panose="020B0604020202020204" pitchFamily="34" charset="0"/>
              <a:buChar char="•"/>
              <a:defRPr/>
            </a:pPr>
            <a:r>
              <a:rPr lang="en-US" sz="1600" dirty="0">
                <a:solidFill>
                  <a:schemeClr val="tx1">
                    <a:lumMod val="95000"/>
                    <a:lumOff val="5000"/>
                  </a:schemeClr>
                </a:solidFill>
                <a:highlight>
                  <a:srgbClr val="FFFF00"/>
                </a:highlight>
              </a:rPr>
              <a:t>B</a:t>
            </a:r>
            <a:r>
              <a:rPr kumimoji="0" lang="en-US" sz="1600" b="0" i="0" u="none" strike="noStrike" kern="1200" cap="none" spc="0" normalizeH="0" baseline="0" noProof="0" dirty="0">
                <a:ln>
                  <a:noFill/>
                </a:ln>
                <a:solidFill>
                  <a:schemeClr val="tx1">
                    <a:lumMod val="95000"/>
                    <a:lumOff val="5000"/>
                  </a:schemeClr>
                </a:solidFill>
                <a:effectLst/>
                <a:highlight>
                  <a:srgbClr val="FFFF00"/>
                </a:highlight>
                <a:uLnTx/>
                <a:uFillTx/>
                <a:latin typeface="Cambria" panose="02040503050406030204" pitchFamily="18" charset="0"/>
                <a:ea typeface="+mn-ea"/>
                <a:cs typeface="+mn-cs"/>
              </a:rPr>
              <a:t>rain imaging </a:t>
            </a:r>
            <a:r>
              <a:rPr kumimoji="0" lang="en-US" sz="16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—observing the brain in action. </a:t>
            </a:r>
            <a:endParaRPr lang="en-US" sz="1600" dirty="0">
              <a:solidFill>
                <a:schemeClr val="tx1">
                  <a:lumMod val="95000"/>
                  <a:lumOff val="5000"/>
                </a:schemeClr>
              </a:solidFill>
            </a:endParaRPr>
          </a:p>
          <a:p>
            <a:pPr marL="514350" lvl="1" indent="-285750">
              <a:lnSpc>
                <a:spcPct val="110000"/>
              </a:lnSpc>
              <a:spcBef>
                <a:spcPts val="1000"/>
              </a:spcBef>
              <a:buFont typeface="Arial" panose="020B0604020202020204" pitchFamily="34" charset="0"/>
              <a:buChar char="•"/>
              <a:defRPr/>
            </a:pPr>
            <a:endParaRPr kumimoji="0" lang="en-US" sz="1600" b="0" i="0" u="none" strike="noStrike" kern="1200" cap="none" spc="0" normalizeH="0" baseline="0" noProof="0" dirty="0">
              <a:ln>
                <a:noFill/>
              </a:ln>
              <a:effectLst/>
              <a:uLnTx/>
              <a:uFillTx/>
              <a:latin typeface="Cambria" panose="02040503050406030204" pitchFamily="18" charset="0"/>
              <a:ea typeface="+mn-ea"/>
              <a:cs typeface="+mn-cs"/>
            </a:endParaRPr>
          </a:p>
          <a:p>
            <a:pPr marL="285750" indent="-285750">
              <a:lnSpc>
                <a:spcPct val="110000"/>
              </a:lnSpc>
              <a:buFont typeface="Arial" panose="020B0604020202020204" pitchFamily="34" charset="0"/>
              <a:buChar char="•"/>
              <a:defRPr/>
            </a:pPr>
            <a:r>
              <a:rPr kumimoji="0" lang="en-US" sz="18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The interdisciplinary ﬁeld of </a:t>
            </a:r>
            <a:r>
              <a:rPr kumimoji="0" lang="en-US" sz="1800" b="0" i="0" u="none" strike="noStrike" kern="1200" cap="none" spc="0" normalizeH="0" baseline="0" noProof="0" dirty="0">
                <a:ln>
                  <a:noFill/>
                </a:ln>
                <a:solidFill>
                  <a:schemeClr val="tx1">
                    <a:lumMod val="95000"/>
                    <a:lumOff val="5000"/>
                  </a:schemeClr>
                </a:solidFill>
                <a:effectLst/>
                <a:highlight>
                  <a:srgbClr val="FFFF00"/>
                </a:highlight>
                <a:uLnTx/>
                <a:uFillTx/>
                <a:latin typeface="Cambria" panose="02040503050406030204" pitchFamily="18" charset="0"/>
                <a:ea typeface="+mn-ea"/>
                <a:cs typeface="+mn-cs"/>
              </a:rPr>
              <a:t>cognitive science </a:t>
            </a:r>
            <a:r>
              <a:rPr kumimoji="0" lang="en-US" sz="18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brings together </a:t>
            </a:r>
            <a:r>
              <a:rPr kumimoji="0" lang="en-US" sz="1800" b="0"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computer models </a:t>
            </a:r>
            <a:r>
              <a:rPr kumimoji="0" lang="en-US" sz="18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from AI and </a:t>
            </a:r>
            <a:r>
              <a:rPr kumimoji="0" lang="en-US" sz="1800" b="0"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experimental techniques from psychology </a:t>
            </a:r>
            <a:r>
              <a:rPr kumimoji="0" lang="en-US" sz="18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to construct </a:t>
            </a:r>
            <a:r>
              <a:rPr kumimoji="0" lang="en-US" sz="1800" b="0"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theories of the human mind</a:t>
            </a:r>
            <a:r>
              <a:rPr kumimoji="0" lang="en-US" sz="1800" b="0" i="0" u="none" strike="noStrike" kern="1200" cap="none" spc="0" normalizeH="0" baseline="0" noProof="0" dirty="0">
                <a:ln>
                  <a:noFill/>
                </a:ln>
                <a:solidFill>
                  <a:schemeClr val="tx1">
                    <a:lumMod val="95000"/>
                    <a:lumOff val="5000"/>
                  </a:schemeClr>
                </a:solidFill>
                <a:effectLst/>
                <a:uLnTx/>
                <a:uFillTx/>
                <a:latin typeface="Cambria" panose="02040503050406030204" pitchFamily="18" charset="0"/>
                <a:ea typeface="+mn-ea"/>
                <a:cs typeface="+mn-cs"/>
              </a:rPr>
              <a:t>.</a:t>
            </a:r>
          </a:p>
        </p:txBody>
      </p:sp>
      <p:pic>
        <p:nvPicPr>
          <p:cNvPr id="3078" name="Picture 6" descr="The Thinker | History, Description, &amp; Facts | Britannica">
            <a:extLst>
              <a:ext uri="{FF2B5EF4-FFF2-40B4-BE49-F238E27FC236}">
                <a16:creationId xmlns:a16="http://schemas.microsoft.com/office/drawing/2014/main" id="{6F1AAE47-72AE-8AD9-6CBD-1AF517B6F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1600" y="2387791"/>
            <a:ext cx="3101559" cy="4341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719086"/>
      </p:ext>
    </p:extLst>
  </p:cSld>
  <p:clrMapOvr>
    <a:masterClrMapping/>
  </p:clrMapOvr>
  <mc:AlternateContent xmlns:mc="http://schemas.openxmlformats.org/markup-compatibility/2006" xmlns:p14="http://schemas.microsoft.com/office/powerpoint/2010/main">
    <mc:Choice Requires="p14">
      <p:transition spd="slow" p14:dur="2000" advTm="91341"/>
    </mc:Choice>
    <mc:Fallback xmlns="">
      <p:transition spd="slow" advTm="9134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00" name="Rectangle 2099">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2" name="Rectangle 2101">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EF8C57-3777-8102-242D-4EAD3F646A6C}"/>
              </a:ext>
            </a:extLst>
          </p:cNvPr>
          <p:cNvSpPr>
            <a:spLocks noGrp="1"/>
          </p:cNvSpPr>
          <p:nvPr>
            <p:ph type="title"/>
          </p:nvPr>
        </p:nvSpPr>
        <p:spPr>
          <a:xfrm>
            <a:off x="359046" y="160751"/>
            <a:ext cx="10869248" cy="1530910"/>
          </a:xfrm>
        </p:spPr>
        <p:txBody>
          <a:bodyPr>
            <a:normAutofit/>
          </a:bodyPr>
          <a:lstStyle/>
          <a:p>
            <a:pPr>
              <a:lnSpc>
                <a:spcPct val="90000"/>
              </a:lnSpc>
            </a:pPr>
            <a:r>
              <a:rPr lang="en-US" sz="4100" dirty="0"/>
              <a:t>What is Artificial Intelligence? </a:t>
            </a:r>
            <a:br>
              <a:rPr lang="en-US" sz="4100" dirty="0"/>
            </a:br>
            <a:r>
              <a:rPr lang="en-US" sz="4100" dirty="0"/>
              <a:t>Acting Humanly; The Turing Test</a:t>
            </a:r>
          </a:p>
        </p:txBody>
      </p:sp>
      <p:sp>
        <p:nvSpPr>
          <p:cNvPr id="3" name="Content Placeholder 2">
            <a:extLst>
              <a:ext uri="{FF2B5EF4-FFF2-40B4-BE49-F238E27FC236}">
                <a16:creationId xmlns:a16="http://schemas.microsoft.com/office/drawing/2014/main" id="{CABE7FE5-FE3E-3FC1-592A-4F79B21E774C}"/>
              </a:ext>
            </a:extLst>
          </p:cNvPr>
          <p:cNvSpPr>
            <a:spLocks noGrp="1"/>
          </p:cNvSpPr>
          <p:nvPr>
            <p:ph idx="1"/>
          </p:nvPr>
        </p:nvSpPr>
        <p:spPr>
          <a:xfrm>
            <a:off x="165652" y="2475617"/>
            <a:ext cx="5963000" cy="4027929"/>
          </a:xfrm>
        </p:spPr>
        <p:txBody>
          <a:bodyPr>
            <a:noAutofit/>
          </a:bodyPr>
          <a:lstStyle/>
          <a:p>
            <a:pPr marL="285750" indent="-285750">
              <a:lnSpc>
                <a:spcPct val="110000"/>
              </a:lnSpc>
              <a:buFont typeface="Arial" panose="020B0604020202020204" pitchFamily="34" charset="0"/>
              <a:buChar char="•"/>
            </a:pPr>
            <a:r>
              <a:rPr lang="en-US" sz="1600" dirty="0">
                <a:solidFill>
                  <a:schemeClr val="tx1">
                    <a:lumMod val="95000"/>
                    <a:lumOff val="5000"/>
                  </a:schemeClr>
                </a:solidFill>
                <a:highlight>
                  <a:srgbClr val="FFFF00"/>
                </a:highlight>
              </a:rPr>
              <a:t>Turing test </a:t>
            </a:r>
            <a:r>
              <a:rPr lang="en-US" sz="1600" dirty="0">
                <a:solidFill>
                  <a:schemeClr val="tx1">
                    <a:lumMod val="95000"/>
                    <a:lumOff val="5000"/>
                  </a:schemeClr>
                </a:solidFill>
              </a:rPr>
              <a:t>is passed if a human interrogator cannot tell whether the written responses come from a person or from a computer.  The computer would need:</a:t>
            </a:r>
          </a:p>
          <a:p>
            <a:pPr marL="514350" lvl="1" indent="-285750">
              <a:lnSpc>
                <a:spcPct val="110000"/>
              </a:lnSpc>
              <a:buFont typeface="Arial" panose="020B0604020202020204" pitchFamily="34" charset="0"/>
              <a:buChar char="•"/>
            </a:pPr>
            <a:r>
              <a:rPr lang="en-US" sz="1400" dirty="0">
                <a:solidFill>
                  <a:schemeClr val="tx1">
                    <a:lumMod val="95000"/>
                    <a:lumOff val="5000"/>
                  </a:schemeClr>
                </a:solidFill>
                <a:highlight>
                  <a:srgbClr val="FFFF00"/>
                </a:highlight>
              </a:rPr>
              <a:t>Natural language processing </a:t>
            </a:r>
            <a:r>
              <a:rPr lang="en-US" sz="1400" dirty="0">
                <a:solidFill>
                  <a:schemeClr val="tx1">
                    <a:lumMod val="95000"/>
                    <a:lumOff val="5000"/>
                  </a:schemeClr>
                </a:solidFill>
              </a:rPr>
              <a:t>to communicate successfully; </a:t>
            </a:r>
          </a:p>
          <a:p>
            <a:pPr marL="514350" lvl="1" indent="-285750">
              <a:lnSpc>
                <a:spcPct val="110000"/>
              </a:lnSpc>
              <a:buFont typeface="Arial" panose="020B0604020202020204" pitchFamily="34" charset="0"/>
              <a:buChar char="•"/>
            </a:pPr>
            <a:r>
              <a:rPr lang="en-US" sz="1400" dirty="0">
                <a:solidFill>
                  <a:schemeClr val="tx1">
                    <a:lumMod val="95000"/>
                    <a:lumOff val="5000"/>
                  </a:schemeClr>
                </a:solidFill>
                <a:highlight>
                  <a:srgbClr val="FFFF00"/>
                </a:highlight>
              </a:rPr>
              <a:t>Knowledge representation </a:t>
            </a:r>
            <a:r>
              <a:rPr lang="en-US" sz="1400" dirty="0">
                <a:solidFill>
                  <a:schemeClr val="tx1">
                    <a:lumMod val="95000"/>
                    <a:lumOff val="5000"/>
                  </a:schemeClr>
                </a:solidFill>
              </a:rPr>
              <a:t>to store what it knows or hears; </a:t>
            </a:r>
          </a:p>
          <a:p>
            <a:pPr marL="514350" lvl="1" indent="-285750">
              <a:lnSpc>
                <a:spcPct val="110000"/>
              </a:lnSpc>
              <a:buFont typeface="Arial" panose="020B0604020202020204" pitchFamily="34" charset="0"/>
              <a:buChar char="•"/>
            </a:pPr>
            <a:r>
              <a:rPr lang="en-US" sz="1400" dirty="0">
                <a:solidFill>
                  <a:schemeClr val="tx1">
                    <a:lumMod val="95000"/>
                    <a:lumOff val="5000"/>
                  </a:schemeClr>
                </a:solidFill>
                <a:highlight>
                  <a:srgbClr val="FFFF00"/>
                </a:highlight>
              </a:rPr>
              <a:t>Automated reasoning </a:t>
            </a:r>
            <a:r>
              <a:rPr lang="en-US" sz="1400" dirty="0">
                <a:solidFill>
                  <a:schemeClr val="tx1">
                    <a:lumMod val="95000"/>
                    <a:lumOff val="5000"/>
                  </a:schemeClr>
                </a:solidFill>
              </a:rPr>
              <a:t>to answer questions and to draw conclusions; </a:t>
            </a:r>
          </a:p>
          <a:p>
            <a:pPr marL="514350" lvl="1" indent="-285750">
              <a:lnSpc>
                <a:spcPct val="110000"/>
              </a:lnSpc>
              <a:buFont typeface="Arial" panose="020B0604020202020204" pitchFamily="34" charset="0"/>
              <a:buChar char="•"/>
            </a:pPr>
            <a:r>
              <a:rPr lang="en-US" sz="1400" dirty="0">
                <a:solidFill>
                  <a:schemeClr val="tx1">
                    <a:lumMod val="95000"/>
                    <a:lumOff val="5000"/>
                  </a:schemeClr>
                </a:solidFill>
                <a:highlight>
                  <a:srgbClr val="FFFF00"/>
                </a:highlight>
              </a:rPr>
              <a:t>Machine learning</a:t>
            </a:r>
            <a:r>
              <a:rPr lang="en-US" sz="1400" dirty="0">
                <a:solidFill>
                  <a:schemeClr val="tx1">
                    <a:lumMod val="95000"/>
                    <a:lumOff val="5000"/>
                  </a:schemeClr>
                </a:solidFill>
              </a:rPr>
              <a:t> to adapt to new circumstances and to detect and extrapolate patterns.</a:t>
            </a:r>
          </a:p>
          <a:p>
            <a:pPr marL="285750" indent="-285750">
              <a:lnSpc>
                <a:spcPct val="110000"/>
              </a:lnSpc>
              <a:buFont typeface="Arial" panose="020B0604020202020204" pitchFamily="34" charset="0"/>
              <a:buChar char="•"/>
            </a:pPr>
            <a:r>
              <a:rPr lang="en-US" sz="1600" dirty="0"/>
              <a:t>Total Turing test  requires interaction with objects in the real world, hence the need for:</a:t>
            </a:r>
          </a:p>
          <a:p>
            <a:pPr marL="514350" lvl="1" indent="-285750">
              <a:lnSpc>
                <a:spcPct val="110000"/>
              </a:lnSpc>
              <a:buFont typeface="Arial" panose="020B0604020202020204" pitchFamily="34" charset="0"/>
              <a:buChar char="•"/>
            </a:pPr>
            <a:r>
              <a:rPr lang="en-US" sz="1400" dirty="0">
                <a:solidFill>
                  <a:schemeClr val="tx1">
                    <a:lumMod val="95000"/>
                    <a:lumOff val="5000"/>
                  </a:schemeClr>
                </a:solidFill>
                <a:highlight>
                  <a:srgbClr val="FFFF00"/>
                </a:highlight>
              </a:rPr>
              <a:t>Computer vision </a:t>
            </a:r>
            <a:r>
              <a:rPr lang="en-US" sz="1400" dirty="0">
                <a:solidFill>
                  <a:schemeClr val="tx1">
                    <a:lumMod val="95000"/>
                    <a:lumOff val="5000"/>
                  </a:schemeClr>
                </a:solidFill>
              </a:rPr>
              <a:t>and </a:t>
            </a:r>
            <a:r>
              <a:rPr lang="en-US" sz="1400" dirty="0">
                <a:solidFill>
                  <a:schemeClr val="tx1">
                    <a:lumMod val="95000"/>
                    <a:lumOff val="5000"/>
                  </a:schemeClr>
                </a:solidFill>
                <a:highlight>
                  <a:srgbClr val="FFFF00"/>
                </a:highlight>
              </a:rPr>
              <a:t>speech recognition </a:t>
            </a:r>
            <a:r>
              <a:rPr lang="en-US" sz="1400" dirty="0">
                <a:solidFill>
                  <a:schemeClr val="tx1">
                    <a:lumMod val="95000"/>
                    <a:lumOff val="5000"/>
                  </a:schemeClr>
                </a:solidFill>
              </a:rPr>
              <a:t>to perceive the world;</a:t>
            </a:r>
          </a:p>
          <a:p>
            <a:pPr marL="514350" lvl="1" indent="-285750">
              <a:lnSpc>
                <a:spcPct val="110000"/>
              </a:lnSpc>
              <a:buFont typeface="Arial" panose="020B0604020202020204" pitchFamily="34" charset="0"/>
              <a:buChar char="•"/>
            </a:pPr>
            <a:r>
              <a:rPr lang="en-US" sz="1400" dirty="0">
                <a:solidFill>
                  <a:schemeClr val="tx1">
                    <a:lumMod val="95000"/>
                    <a:lumOff val="5000"/>
                  </a:schemeClr>
                </a:solidFill>
                <a:highlight>
                  <a:srgbClr val="FFFF00"/>
                </a:highlight>
              </a:rPr>
              <a:t>Computer robotics </a:t>
            </a:r>
            <a:r>
              <a:rPr lang="en-US" sz="1400" dirty="0">
                <a:solidFill>
                  <a:schemeClr val="tx1">
                    <a:lumMod val="95000"/>
                    <a:lumOff val="5000"/>
                  </a:schemeClr>
                </a:solidFill>
              </a:rPr>
              <a:t>to manipulate objects.</a:t>
            </a:r>
          </a:p>
        </p:txBody>
      </p:sp>
      <p:pic>
        <p:nvPicPr>
          <p:cNvPr id="5" name="Picture 4">
            <a:extLst>
              <a:ext uri="{FF2B5EF4-FFF2-40B4-BE49-F238E27FC236}">
                <a16:creationId xmlns:a16="http://schemas.microsoft.com/office/drawing/2014/main" id="{37E60676-A666-AF29-2D21-07F79B0EA1F6}"/>
              </a:ext>
            </a:extLst>
          </p:cNvPr>
          <p:cNvPicPr>
            <a:picLocks noChangeAspect="1"/>
          </p:cNvPicPr>
          <p:nvPr/>
        </p:nvPicPr>
        <p:blipFill>
          <a:blip r:embed="rId3"/>
          <a:stretch>
            <a:fillRect/>
          </a:stretch>
        </p:blipFill>
        <p:spPr>
          <a:xfrm>
            <a:off x="6239551" y="2840291"/>
            <a:ext cx="5841549" cy="2806424"/>
          </a:xfrm>
          <a:prstGeom prst="rect">
            <a:avLst/>
          </a:prstGeom>
        </p:spPr>
      </p:pic>
    </p:spTree>
    <p:extLst>
      <p:ext uri="{BB962C8B-B14F-4D97-AF65-F5344CB8AC3E}">
        <p14:creationId xmlns:p14="http://schemas.microsoft.com/office/powerpoint/2010/main" val="3231892469"/>
      </p:ext>
    </p:extLst>
  </p:cSld>
  <p:clrMapOvr>
    <a:masterClrMapping/>
  </p:clrMapOvr>
  <mc:AlternateContent xmlns:mc="http://schemas.openxmlformats.org/markup-compatibility/2006" xmlns:p14="http://schemas.microsoft.com/office/powerpoint/2010/main">
    <mc:Choice Requires="p14">
      <p:transition spd="slow" p14:dur="2000" advTm="188031"/>
    </mc:Choice>
    <mc:Fallback xmlns="">
      <p:transition spd="slow" advTm="18803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E7FE5-FE3E-3FC1-592A-4F79B21E774C}"/>
              </a:ext>
            </a:extLst>
          </p:cNvPr>
          <p:cNvSpPr>
            <a:spLocks noGrp="1"/>
          </p:cNvSpPr>
          <p:nvPr>
            <p:ph idx="1"/>
          </p:nvPr>
        </p:nvSpPr>
        <p:spPr>
          <a:xfrm>
            <a:off x="484552" y="2152552"/>
            <a:ext cx="7581762" cy="4275680"/>
          </a:xfrm>
        </p:spPr>
        <p:txBody>
          <a:bodyPr>
            <a:noAutofit/>
          </a:bodyPr>
          <a:lstStyle/>
          <a:p>
            <a:pPr marL="285750" indent="-285750">
              <a:buFont typeface="Arial" panose="020B0604020202020204" pitchFamily="34" charset="0"/>
              <a:buChar char="•"/>
            </a:pPr>
            <a:r>
              <a:rPr lang="en-US" sz="1600" dirty="0">
                <a:solidFill>
                  <a:schemeClr val="tx1">
                    <a:lumMod val="95000"/>
                    <a:lumOff val="5000"/>
                  </a:schemeClr>
                </a:solidFill>
              </a:rPr>
              <a:t>Attempts to codify “</a:t>
            </a:r>
            <a:r>
              <a:rPr lang="en-US" sz="1600" dirty="0">
                <a:solidFill>
                  <a:schemeClr val="tx1">
                    <a:lumMod val="95000"/>
                    <a:lumOff val="5000"/>
                  </a:schemeClr>
                </a:solidFill>
                <a:highlight>
                  <a:srgbClr val="FFFF00"/>
                </a:highlight>
              </a:rPr>
              <a:t>right thinking</a:t>
            </a:r>
            <a:r>
              <a:rPr lang="en-US" sz="1600" dirty="0">
                <a:solidFill>
                  <a:schemeClr val="tx1">
                    <a:lumMod val="95000"/>
                    <a:lumOff val="5000"/>
                  </a:schemeClr>
                </a:solidFill>
              </a:rPr>
              <a:t>”— that is, </a:t>
            </a:r>
            <a:r>
              <a:rPr lang="en-US" sz="1600" dirty="0">
                <a:solidFill>
                  <a:schemeClr val="tx1">
                    <a:lumMod val="95000"/>
                    <a:lumOff val="5000"/>
                  </a:schemeClr>
                </a:solidFill>
                <a:highlight>
                  <a:srgbClr val="FFFF00"/>
                </a:highlight>
              </a:rPr>
              <a:t>irrefutable reasoning processes</a:t>
            </a:r>
            <a:r>
              <a:rPr lang="en-US" sz="1600" dirty="0">
                <a:solidFill>
                  <a:schemeClr val="tx1">
                    <a:lumMod val="95000"/>
                    <a:lumOff val="5000"/>
                  </a:schemeClr>
                </a:solidFill>
              </a:rPr>
              <a:t>. </a:t>
            </a:r>
          </a:p>
          <a:p>
            <a:pPr marL="285750" indent="-285750">
              <a:buFont typeface="Arial" panose="020B0604020202020204" pitchFamily="34" charset="0"/>
              <a:buChar char="•"/>
            </a:pPr>
            <a:r>
              <a:rPr lang="en-US" sz="1600" dirty="0">
                <a:solidFill>
                  <a:schemeClr val="tx1">
                    <a:lumMod val="95000"/>
                    <a:lumOff val="5000"/>
                  </a:schemeClr>
                </a:solidFill>
                <a:highlight>
                  <a:srgbClr val="FFFF00"/>
                </a:highlight>
              </a:rPr>
              <a:t>Laws of thought</a:t>
            </a:r>
            <a:r>
              <a:rPr lang="en-US" sz="1600" dirty="0">
                <a:solidFill>
                  <a:schemeClr val="tx1">
                    <a:lumMod val="95000"/>
                    <a:lumOff val="5000"/>
                  </a:schemeClr>
                </a:solidFill>
              </a:rPr>
              <a:t>: patterns for argument structures that always yield correct conclusions when given correct premises. </a:t>
            </a:r>
          </a:p>
          <a:p>
            <a:pPr marL="514350" lvl="1" indent="-285750">
              <a:buFont typeface="Arial" panose="020B0604020202020204" pitchFamily="34" charset="0"/>
              <a:buChar char="•"/>
            </a:pPr>
            <a:r>
              <a:rPr lang="en-US" sz="1400" dirty="0"/>
              <a:t>Socrates is a man &amp; all men are mortal -&gt; Socrates is mortal. </a:t>
            </a:r>
          </a:p>
          <a:p>
            <a:pPr marL="285750" indent="-285750">
              <a:buFont typeface="Arial" panose="020B0604020202020204" pitchFamily="34" charset="0"/>
              <a:buChar char="•"/>
            </a:pPr>
            <a:r>
              <a:rPr lang="en-US" sz="1600" dirty="0">
                <a:solidFill>
                  <a:schemeClr val="tx1">
                    <a:lumMod val="95000"/>
                    <a:lumOff val="5000"/>
                  </a:schemeClr>
                </a:solidFill>
              </a:rPr>
              <a:t>The </a:t>
            </a:r>
            <a:r>
              <a:rPr lang="en-US" sz="1600" dirty="0" err="1">
                <a:solidFill>
                  <a:schemeClr val="tx1">
                    <a:lumMod val="95000"/>
                    <a:lumOff val="5000"/>
                  </a:schemeClr>
                </a:solidFill>
                <a:highlight>
                  <a:srgbClr val="FFFF00"/>
                </a:highlight>
              </a:rPr>
              <a:t>logicist</a:t>
            </a:r>
            <a:r>
              <a:rPr lang="en-US" sz="1600" dirty="0">
                <a:solidFill>
                  <a:schemeClr val="tx1">
                    <a:lumMod val="95000"/>
                    <a:lumOff val="5000"/>
                  </a:schemeClr>
                </a:solidFill>
                <a:highlight>
                  <a:srgbClr val="FFFF00"/>
                </a:highlight>
              </a:rPr>
              <a:t> tradition </a:t>
            </a:r>
            <a:r>
              <a:rPr lang="en-US" sz="1600" dirty="0">
                <a:solidFill>
                  <a:schemeClr val="tx1">
                    <a:lumMod val="95000"/>
                    <a:lumOff val="5000"/>
                  </a:schemeClr>
                </a:solidFill>
              </a:rPr>
              <a:t>in artiﬁcial intelligence hopes to build on laws of thought (logic) to </a:t>
            </a:r>
            <a:r>
              <a:rPr lang="en-US" sz="1600" dirty="0">
                <a:solidFill>
                  <a:schemeClr val="tx1">
                    <a:lumMod val="95000"/>
                    <a:lumOff val="5000"/>
                  </a:schemeClr>
                </a:solidFill>
                <a:highlight>
                  <a:srgbClr val="FFFF00"/>
                </a:highlight>
              </a:rPr>
              <a:t>create intelligent systems</a:t>
            </a:r>
            <a:r>
              <a:rPr lang="en-US" sz="1600" dirty="0">
                <a:solidFill>
                  <a:schemeClr val="tx1">
                    <a:lumMod val="95000"/>
                    <a:lumOff val="5000"/>
                  </a:schemeClr>
                </a:solidFill>
              </a:rPr>
              <a:t>. </a:t>
            </a:r>
          </a:p>
          <a:p>
            <a:pPr marL="285750" indent="-285750">
              <a:buFont typeface="Arial" panose="020B0604020202020204" pitchFamily="34" charset="0"/>
              <a:buChar char="•"/>
            </a:pPr>
            <a:r>
              <a:rPr lang="en-US" sz="1600" dirty="0">
                <a:solidFill>
                  <a:schemeClr val="tx1">
                    <a:lumMod val="95000"/>
                    <a:lumOff val="5000"/>
                  </a:schemeClr>
                </a:solidFill>
              </a:rPr>
              <a:t>Logic requires </a:t>
            </a:r>
            <a:r>
              <a:rPr lang="en-US" sz="1600" dirty="0">
                <a:solidFill>
                  <a:schemeClr val="tx1">
                    <a:lumMod val="95000"/>
                    <a:lumOff val="5000"/>
                  </a:schemeClr>
                </a:solidFill>
                <a:highlight>
                  <a:srgbClr val="FFFF00"/>
                </a:highlight>
              </a:rPr>
              <a:t>knowledge of the world that is certain </a:t>
            </a:r>
            <a:r>
              <a:rPr lang="en-US" sz="1600" dirty="0">
                <a:solidFill>
                  <a:schemeClr val="tx1">
                    <a:lumMod val="95000"/>
                    <a:lumOff val="5000"/>
                  </a:schemeClr>
                </a:solidFill>
              </a:rPr>
              <a:t>— a condition that, in reality, is </a:t>
            </a:r>
            <a:r>
              <a:rPr lang="en-US" sz="1600" dirty="0">
                <a:solidFill>
                  <a:schemeClr val="tx1">
                    <a:lumMod val="95000"/>
                    <a:lumOff val="5000"/>
                  </a:schemeClr>
                </a:solidFill>
                <a:highlight>
                  <a:srgbClr val="FFFF00"/>
                </a:highlight>
              </a:rPr>
              <a:t>seldom achieved</a:t>
            </a:r>
            <a:r>
              <a:rPr lang="en-US" sz="1600" dirty="0">
                <a:solidFill>
                  <a:schemeClr val="tx1">
                    <a:lumMod val="95000"/>
                    <a:lumOff val="5000"/>
                  </a:schemeClr>
                </a:solidFill>
              </a:rPr>
              <a:t>. We don’t know the rules of, say, </a:t>
            </a:r>
            <a:r>
              <a:rPr lang="en-US" sz="1600" dirty="0">
                <a:solidFill>
                  <a:schemeClr val="tx1">
                    <a:lumMod val="95000"/>
                    <a:lumOff val="5000"/>
                  </a:schemeClr>
                </a:solidFill>
                <a:highlight>
                  <a:srgbClr val="FFFF00"/>
                </a:highlight>
              </a:rPr>
              <a:t>politics</a:t>
            </a:r>
            <a:r>
              <a:rPr lang="en-US" sz="1600" dirty="0">
                <a:solidFill>
                  <a:schemeClr val="tx1">
                    <a:lumMod val="95000"/>
                    <a:lumOff val="5000"/>
                  </a:schemeClr>
                </a:solidFill>
              </a:rPr>
              <a:t> or warfare in the same way that we know the rules of </a:t>
            </a:r>
            <a:r>
              <a:rPr lang="en-US" sz="1600" dirty="0">
                <a:solidFill>
                  <a:schemeClr val="tx1">
                    <a:lumMod val="95000"/>
                    <a:lumOff val="5000"/>
                  </a:schemeClr>
                </a:solidFill>
                <a:highlight>
                  <a:srgbClr val="FFFF00"/>
                </a:highlight>
              </a:rPr>
              <a:t>chess</a:t>
            </a:r>
            <a:r>
              <a:rPr lang="en-US" sz="1600" dirty="0">
                <a:solidFill>
                  <a:schemeClr val="tx1">
                    <a:lumMod val="95000"/>
                    <a:lumOff val="5000"/>
                  </a:schemeClr>
                </a:solidFill>
              </a:rPr>
              <a:t> or arithmetic. </a:t>
            </a:r>
          </a:p>
          <a:p>
            <a:pPr marL="285750" indent="-285750">
              <a:buFont typeface="Arial" panose="020B0604020202020204" pitchFamily="34" charset="0"/>
              <a:buChar char="•"/>
            </a:pPr>
            <a:r>
              <a:rPr lang="en-US" sz="1600" dirty="0"/>
              <a:t>The theory of </a:t>
            </a:r>
            <a:r>
              <a:rPr lang="en-US" sz="1600" dirty="0">
                <a:solidFill>
                  <a:schemeClr val="tx1">
                    <a:lumMod val="95000"/>
                    <a:lumOff val="5000"/>
                  </a:schemeClr>
                </a:solidFill>
                <a:highlight>
                  <a:srgbClr val="FFFF00"/>
                </a:highlight>
              </a:rPr>
              <a:t>probability ﬁlls this gap, </a:t>
            </a:r>
            <a:r>
              <a:rPr lang="en-US" sz="1600" dirty="0"/>
              <a:t>allowing rigorous reasoning with </a:t>
            </a:r>
            <a:r>
              <a:rPr lang="en-US" sz="1600" dirty="0">
                <a:solidFill>
                  <a:schemeClr val="tx1">
                    <a:lumMod val="95000"/>
                    <a:lumOff val="5000"/>
                  </a:schemeClr>
                </a:solidFill>
                <a:highlight>
                  <a:srgbClr val="FFFF00"/>
                </a:highlight>
              </a:rPr>
              <a:t>uncertainty</a:t>
            </a:r>
            <a:r>
              <a:rPr lang="en-US" sz="1600" dirty="0">
                <a:solidFill>
                  <a:schemeClr val="tx1">
                    <a:lumMod val="95000"/>
                    <a:lumOff val="5000"/>
                  </a:schemeClr>
                </a:solidFill>
              </a:rPr>
              <a:t>. </a:t>
            </a:r>
          </a:p>
        </p:txBody>
      </p:sp>
      <p:sp>
        <p:nvSpPr>
          <p:cNvPr id="5" name="Title 4">
            <a:extLst>
              <a:ext uri="{FF2B5EF4-FFF2-40B4-BE49-F238E27FC236}">
                <a16:creationId xmlns:a16="http://schemas.microsoft.com/office/drawing/2014/main" id="{35257457-77A0-4528-9CB9-6DC78A1C2BC6}"/>
              </a:ext>
            </a:extLst>
          </p:cNvPr>
          <p:cNvSpPr>
            <a:spLocks noGrp="1"/>
          </p:cNvSpPr>
          <p:nvPr>
            <p:ph type="title"/>
          </p:nvPr>
        </p:nvSpPr>
        <p:spPr/>
        <p:txBody>
          <a:bodyPr>
            <a:normAutofit fontScale="90000"/>
          </a:bodyPr>
          <a:lstStyle/>
          <a:p>
            <a:r>
              <a:rPr lang="en-US" dirty="0"/>
              <a:t>What is Artificial Intelligence? </a:t>
            </a:r>
            <a:br>
              <a:rPr lang="en-US" dirty="0"/>
            </a:br>
            <a:r>
              <a:rPr lang="en-US" dirty="0"/>
              <a:t>Thinking Rationally; “Laws of  Thought”</a:t>
            </a:r>
          </a:p>
        </p:txBody>
      </p:sp>
      <p:pic>
        <p:nvPicPr>
          <p:cNvPr id="4098" name="Picture 2" descr="Free brain artificial intelligence technology vector">
            <a:extLst>
              <a:ext uri="{FF2B5EF4-FFF2-40B4-BE49-F238E27FC236}">
                <a16:creationId xmlns:a16="http://schemas.microsoft.com/office/drawing/2014/main" id="{AF74A6E1-C0D3-A825-E379-849AA2C78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6314" y="1978381"/>
            <a:ext cx="3944011" cy="4359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514227"/>
      </p:ext>
    </p:extLst>
  </p:cSld>
  <p:clrMapOvr>
    <a:masterClrMapping/>
  </p:clrMapOvr>
  <mc:AlternateContent xmlns:mc="http://schemas.openxmlformats.org/markup-compatibility/2006" xmlns:p14="http://schemas.microsoft.com/office/powerpoint/2010/main">
    <mc:Choice Requires="p14">
      <p:transition spd="slow" p14:dur="2000" advTm="99061"/>
    </mc:Choice>
    <mc:Fallback xmlns="">
      <p:transition spd="slow" advTm="9906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E7FE5-FE3E-3FC1-592A-4F79B21E774C}"/>
              </a:ext>
            </a:extLst>
          </p:cNvPr>
          <p:cNvSpPr>
            <a:spLocks noGrp="1"/>
          </p:cNvSpPr>
          <p:nvPr>
            <p:ph idx="1"/>
          </p:nvPr>
        </p:nvSpPr>
        <p:spPr>
          <a:xfrm>
            <a:off x="137080" y="2010604"/>
            <a:ext cx="7443296" cy="3508019"/>
          </a:xfrm>
        </p:spPr>
        <p:txBody>
          <a:bodyPr>
            <a:noAutofit/>
          </a:bodyPr>
          <a:lstStyle/>
          <a:p>
            <a:pPr marL="285750" indent="-285750">
              <a:buFont typeface="Arial" panose="020B0604020202020204" pitchFamily="34" charset="0"/>
              <a:buChar char="•"/>
            </a:pPr>
            <a:r>
              <a:rPr lang="en-US" sz="1600" dirty="0"/>
              <a:t>In the “laws of thought” approach to AI, the emphasis was on correct </a:t>
            </a:r>
            <a:r>
              <a:rPr lang="en-US" sz="1600" dirty="0">
                <a:highlight>
                  <a:srgbClr val="FFFF00"/>
                </a:highlight>
              </a:rPr>
              <a:t>inferences</a:t>
            </a:r>
            <a:r>
              <a:rPr lang="en-US" sz="1600" dirty="0"/>
              <a:t>. </a:t>
            </a:r>
          </a:p>
          <a:p>
            <a:pPr marL="285750" indent="-285750">
              <a:buFont typeface="Arial" panose="020B0604020202020204" pitchFamily="34" charset="0"/>
              <a:buChar char="•"/>
            </a:pPr>
            <a:r>
              <a:rPr lang="en-US" sz="1600" dirty="0">
                <a:highlight>
                  <a:srgbClr val="FFFF00"/>
                </a:highlight>
              </a:rPr>
              <a:t>Making correct inferences is sometimes part of being a rational agent</a:t>
            </a:r>
            <a:r>
              <a:rPr lang="en-US" sz="1600" dirty="0"/>
              <a:t>, because one way to act rationally is to </a:t>
            </a:r>
            <a:r>
              <a:rPr lang="en-US" sz="1600" dirty="0">
                <a:highlight>
                  <a:srgbClr val="FFFF00"/>
                </a:highlight>
              </a:rPr>
              <a:t>deduce</a:t>
            </a:r>
            <a:r>
              <a:rPr lang="en-US" sz="1600" dirty="0"/>
              <a:t> that a given action is best and then to act on that conclusion. </a:t>
            </a:r>
          </a:p>
          <a:p>
            <a:pPr marL="285750" indent="-285750">
              <a:buFont typeface="Arial" panose="020B0604020202020204" pitchFamily="34" charset="0"/>
              <a:buChar char="•"/>
            </a:pPr>
            <a:r>
              <a:rPr lang="en-US" sz="1600" dirty="0"/>
              <a:t>On the other hand, </a:t>
            </a:r>
            <a:r>
              <a:rPr lang="en-US" sz="1600" dirty="0">
                <a:highlight>
                  <a:srgbClr val="FFFF00"/>
                </a:highlight>
              </a:rPr>
              <a:t>there are </a:t>
            </a:r>
            <a:r>
              <a:rPr lang="en-US" sz="1600" dirty="0">
                <a:solidFill>
                  <a:schemeClr val="tx1">
                    <a:lumMod val="95000"/>
                    <a:lumOff val="5000"/>
                  </a:schemeClr>
                </a:solidFill>
                <a:highlight>
                  <a:srgbClr val="FFFF00"/>
                </a:highlight>
              </a:rPr>
              <a:t>ways of acting rationally that cannot be said to involve inference. </a:t>
            </a:r>
            <a:r>
              <a:rPr lang="en-US" sz="1600" dirty="0"/>
              <a:t>For example, recoiling from a hot stove is a </a:t>
            </a:r>
            <a:r>
              <a:rPr lang="en-US" sz="1600" dirty="0">
                <a:highlight>
                  <a:srgbClr val="FFFF00"/>
                </a:highlight>
              </a:rPr>
              <a:t>reﬂex</a:t>
            </a:r>
            <a:r>
              <a:rPr lang="en-US" sz="1600" dirty="0"/>
              <a:t> action that is usually more successful than a slower action taken after careful deliberation.</a:t>
            </a:r>
          </a:p>
        </p:txBody>
      </p:sp>
      <p:sp>
        <p:nvSpPr>
          <p:cNvPr id="5" name="Title 4">
            <a:extLst>
              <a:ext uri="{FF2B5EF4-FFF2-40B4-BE49-F238E27FC236}">
                <a16:creationId xmlns:a16="http://schemas.microsoft.com/office/drawing/2014/main" id="{35257457-77A0-4528-9CB9-6DC78A1C2BC6}"/>
              </a:ext>
            </a:extLst>
          </p:cNvPr>
          <p:cNvSpPr>
            <a:spLocks noGrp="1"/>
          </p:cNvSpPr>
          <p:nvPr>
            <p:ph type="title"/>
          </p:nvPr>
        </p:nvSpPr>
        <p:spPr/>
        <p:txBody>
          <a:bodyPr>
            <a:normAutofit fontScale="90000"/>
          </a:bodyPr>
          <a:lstStyle/>
          <a:p>
            <a:r>
              <a:rPr lang="en-US" dirty="0"/>
              <a:t>What is Artificial Intelligence? </a:t>
            </a:r>
            <a:br>
              <a:rPr lang="en-US" dirty="0"/>
            </a:br>
            <a:r>
              <a:rPr lang="en-US" dirty="0"/>
              <a:t>Acting Rationally; “Rational Agent”</a:t>
            </a:r>
          </a:p>
        </p:txBody>
      </p:sp>
      <p:pic>
        <p:nvPicPr>
          <p:cNvPr id="2" name="Picture 1">
            <a:extLst>
              <a:ext uri="{FF2B5EF4-FFF2-40B4-BE49-F238E27FC236}">
                <a16:creationId xmlns:a16="http://schemas.microsoft.com/office/drawing/2014/main" id="{0269B44F-ADEF-2558-8C70-50562EAC4EC3}"/>
              </a:ext>
            </a:extLst>
          </p:cNvPr>
          <p:cNvPicPr>
            <a:picLocks noChangeAspect="1"/>
          </p:cNvPicPr>
          <p:nvPr/>
        </p:nvPicPr>
        <p:blipFill>
          <a:blip r:embed="rId3"/>
          <a:stretch>
            <a:fillRect/>
          </a:stretch>
        </p:blipFill>
        <p:spPr>
          <a:xfrm>
            <a:off x="7513597" y="2895600"/>
            <a:ext cx="4541324" cy="2852639"/>
          </a:xfrm>
          <a:prstGeom prst="rect">
            <a:avLst/>
          </a:prstGeom>
        </p:spPr>
      </p:pic>
      <p:pic>
        <p:nvPicPr>
          <p:cNvPr id="6" name="Picture 5">
            <a:extLst>
              <a:ext uri="{FF2B5EF4-FFF2-40B4-BE49-F238E27FC236}">
                <a16:creationId xmlns:a16="http://schemas.microsoft.com/office/drawing/2014/main" id="{544D578C-0D04-B38D-8E03-D7B5E8DC4DC8}"/>
              </a:ext>
            </a:extLst>
          </p:cNvPr>
          <p:cNvPicPr>
            <a:picLocks noChangeAspect="1"/>
          </p:cNvPicPr>
          <p:nvPr/>
        </p:nvPicPr>
        <p:blipFill>
          <a:blip r:embed="rId4"/>
          <a:stretch>
            <a:fillRect/>
          </a:stretch>
        </p:blipFill>
        <p:spPr>
          <a:xfrm>
            <a:off x="2817982" y="4542006"/>
            <a:ext cx="3278018" cy="2209266"/>
          </a:xfrm>
          <a:prstGeom prst="rect">
            <a:avLst/>
          </a:prstGeom>
        </p:spPr>
      </p:pic>
    </p:spTree>
    <p:extLst>
      <p:ext uri="{BB962C8B-B14F-4D97-AF65-F5344CB8AC3E}">
        <p14:creationId xmlns:p14="http://schemas.microsoft.com/office/powerpoint/2010/main" val="3643415310"/>
      </p:ext>
    </p:extLst>
  </p:cSld>
  <p:clrMapOvr>
    <a:masterClrMapping/>
  </p:clrMapOvr>
  <mc:AlternateContent xmlns:mc="http://schemas.openxmlformats.org/markup-compatibility/2006" xmlns:p14="http://schemas.microsoft.com/office/powerpoint/2010/main">
    <mc:Choice Requires="p14">
      <p:transition spd="slow" p14:dur="2000" advTm="121091"/>
    </mc:Choice>
    <mc:Fallback xmlns="">
      <p:transition spd="slow" advTm="12109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39B0B3-50CC-B492-DF6C-16FD1C0E3E85}"/>
              </a:ext>
            </a:extLst>
          </p:cNvPr>
          <p:cNvSpPr>
            <a:spLocks noGrp="1"/>
          </p:cNvSpPr>
          <p:nvPr>
            <p:ph type="title"/>
          </p:nvPr>
        </p:nvSpPr>
        <p:spPr>
          <a:xfrm>
            <a:off x="484551" y="-92075"/>
            <a:ext cx="11707445" cy="1530910"/>
          </a:xfrm>
        </p:spPr>
        <p:txBody>
          <a:bodyPr>
            <a:normAutofit/>
          </a:bodyPr>
          <a:lstStyle/>
          <a:p>
            <a:pPr>
              <a:lnSpc>
                <a:spcPct val="90000"/>
              </a:lnSpc>
            </a:pPr>
            <a:r>
              <a:rPr lang="en-US" dirty="0"/>
              <a:t>Foundations of AI: Philosophy</a:t>
            </a:r>
          </a:p>
        </p:txBody>
      </p:sp>
      <p:sp>
        <p:nvSpPr>
          <p:cNvPr id="3" name="Content Placeholder 2">
            <a:extLst>
              <a:ext uri="{FF2B5EF4-FFF2-40B4-BE49-F238E27FC236}">
                <a16:creationId xmlns:a16="http://schemas.microsoft.com/office/drawing/2014/main" id="{3C4CEBFA-C61D-8198-E521-FFB450F2366C}"/>
              </a:ext>
            </a:extLst>
          </p:cNvPr>
          <p:cNvSpPr>
            <a:spLocks noGrp="1"/>
          </p:cNvSpPr>
          <p:nvPr>
            <p:ph idx="1"/>
          </p:nvPr>
        </p:nvSpPr>
        <p:spPr>
          <a:xfrm>
            <a:off x="382385" y="3040398"/>
            <a:ext cx="5331229" cy="3339634"/>
          </a:xfrm>
        </p:spPr>
        <p:txBody>
          <a:bodyPr>
            <a:normAutofit/>
          </a:bodyPr>
          <a:lstStyle/>
          <a:p>
            <a:pPr marL="342900" indent="-342900">
              <a:buFont typeface="Arial" panose="020B0604020202020204" pitchFamily="34" charset="0"/>
              <a:buChar char="•"/>
            </a:pPr>
            <a:r>
              <a:rPr lang="en-US" dirty="0"/>
              <a:t>Can </a:t>
            </a:r>
            <a:r>
              <a:rPr lang="en-US" dirty="0">
                <a:highlight>
                  <a:srgbClr val="FFFF00"/>
                </a:highlight>
              </a:rPr>
              <a:t>formal rules </a:t>
            </a:r>
            <a:r>
              <a:rPr lang="en-US" dirty="0"/>
              <a:t>be used to draw valid conclusions? </a:t>
            </a:r>
          </a:p>
          <a:p>
            <a:pPr marL="342900" indent="-342900">
              <a:buFont typeface="Arial" panose="020B0604020202020204" pitchFamily="34" charset="0"/>
              <a:buChar char="•"/>
            </a:pPr>
            <a:r>
              <a:rPr lang="en-US" dirty="0"/>
              <a:t>Does the </a:t>
            </a:r>
            <a:r>
              <a:rPr lang="en-US" dirty="0">
                <a:highlight>
                  <a:srgbClr val="FFFF00"/>
                </a:highlight>
              </a:rPr>
              <a:t>mind</a:t>
            </a:r>
            <a:r>
              <a:rPr lang="en-US" dirty="0"/>
              <a:t> arise from a physical </a:t>
            </a:r>
            <a:r>
              <a:rPr lang="en-US" dirty="0">
                <a:highlight>
                  <a:srgbClr val="FFFF00"/>
                </a:highlight>
              </a:rPr>
              <a:t>brain</a:t>
            </a:r>
            <a:r>
              <a:rPr lang="en-US" dirty="0"/>
              <a:t>? If so, how?  </a:t>
            </a:r>
          </a:p>
          <a:p>
            <a:pPr marL="342900" indent="-342900">
              <a:buFont typeface="Arial" panose="020B0604020202020204" pitchFamily="34" charset="0"/>
              <a:buChar char="•"/>
            </a:pPr>
            <a:r>
              <a:rPr lang="en-US" dirty="0"/>
              <a:t>Where does knowledge come from?</a:t>
            </a:r>
            <a:br>
              <a:rPr lang="en-US" dirty="0"/>
            </a:br>
            <a:endParaRPr lang="en-US" dirty="0"/>
          </a:p>
        </p:txBody>
      </p:sp>
      <p:pic>
        <p:nvPicPr>
          <p:cNvPr id="5122" name="Picture 2" descr="Free Busts Philosophy photo and picture">
            <a:extLst>
              <a:ext uri="{FF2B5EF4-FFF2-40B4-BE49-F238E27FC236}">
                <a16:creationId xmlns:a16="http://schemas.microsoft.com/office/drawing/2014/main" id="{41EC9B17-8092-6662-8CCA-AC97281D19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786" r="3" b="3"/>
          <a:stretch/>
        </p:blipFill>
        <p:spPr bwMode="auto">
          <a:xfrm>
            <a:off x="6095998" y="2279889"/>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2928225"/>
      </p:ext>
    </p:extLst>
  </p:cSld>
  <p:clrMapOvr>
    <a:masterClrMapping/>
  </p:clrMapOvr>
  <mc:AlternateContent xmlns:mc="http://schemas.openxmlformats.org/markup-compatibility/2006" xmlns:p14="http://schemas.microsoft.com/office/powerpoint/2010/main">
    <mc:Choice Requires="p14">
      <p:transition spd="slow" p14:dur="2000" advTm="127153"/>
    </mc:Choice>
    <mc:Fallback xmlns="">
      <p:transition spd="slow" advTm="12715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39B0B3-50CC-B492-DF6C-16FD1C0E3E85}"/>
              </a:ext>
            </a:extLst>
          </p:cNvPr>
          <p:cNvSpPr>
            <a:spLocks noGrp="1"/>
          </p:cNvSpPr>
          <p:nvPr>
            <p:ph type="title"/>
          </p:nvPr>
        </p:nvSpPr>
        <p:spPr>
          <a:xfrm>
            <a:off x="381157" y="-84418"/>
            <a:ext cx="10869248" cy="1530910"/>
          </a:xfrm>
        </p:spPr>
        <p:txBody>
          <a:bodyPr>
            <a:normAutofit/>
          </a:bodyPr>
          <a:lstStyle/>
          <a:p>
            <a:r>
              <a:rPr lang="en-US" dirty="0"/>
              <a:t>Foundations of AI: Mathematics</a:t>
            </a:r>
          </a:p>
        </p:txBody>
      </p:sp>
      <p:sp>
        <p:nvSpPr>
          <p:cNvPr id="3" name="Content Placeholder 2">
            <a:extLst>
              <a:ext uri="{FF2B5EF4-FFF2-40B4-BE49-F238E27FC236}">
                <a16:creationId xmlns:a16="http://schemas.microsoft.com/office/drawing/2014/main" id="{3C4CEBFA-C61D-8198-E521-FFB450F2366C}"/>
              </a:ext>
            </a:extLst>
          </p:cNvPr>
          <p:cNvSpPr>
            <a:spLocks noGrp="1"/>
          </p:cNvSpPr>
          <p:nvPr>
            <p:ph idx="1"/>
          </p:nvPr>
        </p:nvSpPr>
        <p:spPr>
          <a:xfrm>
            <a:off x="381157" y="3154829"/>
            <a:ext cx="5331229" cy="3339634"/>
          </a:xfrm>
        </p:spPr>
        <p:txBody>
          <a:bodyPr>
            <a:normAutofit/>
          </a:bodyPr>
          <a:lstStyle/>
          <a:p>
            <a:pPr marL="342900" indent="-342900">
              <a:buFont typeface="Arial" panose="020B0604020202020204" pitchFamily="34" charset="0"/>
              <a:buChar char="•"/>
            </a:pPr>
            <a:r>
              <a:rPr lang="en-US" dirty="0"/>
              <a:t>What are the formal rules to draw valid conclusions? </a:t>
            </a:r>
          </a:p>
          <a:p>
            <a:pPr marL="342900" indent="-342900">
              <a:buFont typeface="Arial" panose="020B0604020202020204" pitchFamily="34" charset="0"/>
              <a:buChar char="•"/>
            </a:pPr>
            <a:r>
              <a:rPr lang="en-US" dirty="0">
                <a:highlight>
                  <a:srgbClr val="FFFF00"/>
                </a:highlight>
              </a:rPr>
              <a:t>What</a:t>
            </a:r>
            <a:r>
              <a:rPr lang="en-US" dirty="0"/>
              <a:t> can be </a:t>
            </a:r>
            <a:r>
              <a:rPr lang="en-US" dirty="0">
                <a:highlight>
                  <a:srgbClr val="FFFF00"/>
                </a:highlight>
              </a:rPr>
              <a:t>computed</a:t>
            </a:r>
            <a:r>
              <a:rPr lang="en-US" dirty="0"/>
              <a:t>? </a:t>
            </a:r>
          </a:p>
          <a:p>
            <a:pPr marL="342900" indent="-342900">
              <a:buFont typeface="Arial" panose="020B0604020202020204" pitchFamily="34" charset="0"/>
              <a:buChar char="•"/>
            </a:pPr>
            <a:r>
              <a:rPr lang="en-US" dirty="0"/>
              <a:t>How do we reason with </a:t>
            </a:r>
            <a:r>
              <a:rPr lang="en-US" dirty="0">
                <a:highlight>
                  <a:srgbClr val="FFFF00"/>
                </a:highlight>
              </a:rPr>
              <a:t>uncertain</a:t>
            </a:r>
            <a:r>
              <a:rPr lang="en-US" dirty="0"/>
              <a:t> information?</a:t>
            </a:r>
            <a:br>
              <a:rPr lang="en-US" dirty="0"/>
            </a:br>
            <a:endParaRPr lang="en-US" dirty="0"/>
          </a:p>
        </p:txBody>
      </p:sp>
      <p:pic>
        <p:nvPicPr>
          <p:cNvPr id="6146" name="Picture 2" descr="Free Board Mathematics photo and picture">
            <a:extLst>
              <a:ext uri="{FF2B5EF4-FFF2-40B4-BE49-F238E27FC236}">
                <a16:creationId xmlns:a16="http://schemas.microsoft.com/office/drawing/2014/main" id="{64D77996-662A-CB69-0FC3-5F4A368F57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015" r="2101" b="-3"/>
          <a:stretch/>
        </p:blipFill>
        <p:spPr bwMode="auto">
          <a:xfrm>
            <a:off x="6095998" y="2279889"/>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681872"/>
      </p:ext>
    </p:extLst>
  </p:cSld>
  <p:clrMapOvr>
    <a:masterClrMapping/>
  </p:clrMapOvr>
  <mc:AlternateContent xmlns:mc="http://schemas.openxmlformats.org/markup-compatibility/2006" xmlns:p14="http://schemas.microsoft.com/office/powerpoint/2010/main">
    <mc:Choice Requires="p14">
      <p:transition spd="slow" p14:dur="2000" advTm="50428"/>
    </mc:Choice>
    <mc:Fallback xmlns="">
      <p:transition spd="slow" advTm="5042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39B0B3-50CC-B492-DF6C-16FD1C0E3E85}"/>
              </a:ext>
            </a:extLst>
          </p:cNvPr>
          <p:cNvSpPr>
            <a:spLocks noGrp="1"/>
          </p:cNvSpPr>
          <p:nvPr>
            <p:ph type="title"/>
          </p:nvPr>
        </p:nvSpPr>
        <p:spPr>
          <a:xfrm>
            <a:off x="287328" y="24399"/>
            <a:ext cx="10869248" cy="1530910"/>
          </a:xfrm>
        </p:spPr>
        <p:txBody>
          <a:bodyPr>
            <a:normAutofit/>
          </a:bodyPr>
          <a:lstStyle/>
          <a:p>
            <a:r>
              <a:rPr lang="en-US" dirty="0"/>
              <a:t>Foundations of AI: Economics</a:t>
            </a:r>
          </a:p>
        </p:txBody>
      </p:sp>
      <p:sp>
        <p:nvSpPr>
          <p:cNvPr id="3" name="Content Placeholder 2">
            <a:extLst>
              <a:ext uri="{FF2B5EF4-FFF2-40B4-BE49-F238E27FC236}">
                <a16:creationId xmlns:a16="http://schemas.microsoft.com/office/drawing/2014/main" id="{3C4CEBFA-C61D-8198-E521-FFB450F2366C}"/>
              </a:ext>
            </a:extLst>
          </p:cNvPr>
          <p:cNvSpPr>
            <a:spLocks noGrp="1"/>
          </p:cNvSpPr>
          <p:nvPr>
            <p:ph idx="1"/>
          </p:nvPr>
        </p:nvSpPr>
        <p:spPr>
          <a:xfrm>
            <a:off x="587947" y="2793786"/>
            <a:ext cx="5331229" cy="3339634"/>
          </a:xfrm>
        </p:spPr>
        <p:txBody>
          <a:bodyPr>
            <a:normAutofit lnSpcReduction="10000"/>
          </a:bodyPr>
          <a:lstStyle/>
          <a:p>
            <a:pPr marL="342900" indent="-342900">
              <a:lnSpc>
                <a:spcPct val="110000"/>
              </a:lnSpc>
              <a:buFont typeface="Arial" panose="020B0604020202020204" pitchFamily="34" charset="0"/>
              <a:buChar char="•"/>
            </a:pPr>
            <a:r>
              <a:rPr lang="en-US" sz="1800" dirty="0"/>
              <a:t>How should we make decisions in accordance with our </a:t>
            </a:r>
            <a:r>
              <a:rPr lang="en-US" sz="1800" dirty="0">
                <a:highlight>
                  <a:srgbClr val="FFFF00"/>
                </a:highlight>
              </a:rPr>
              <a:t>preferences</a:t>
            </a:r>
            <a:r>
              <a:rPr lang="en-US" sz="1800" dirty="0"/>
              <a:t>? </a:t>
            </a:r>
          </a:p>
          <a:p>
            <a:pPr marL="342900" indent="-342900">
              <a:lnSpc>
                <a:spcPct val="110000"/>
              </a:lnSpc>
              <a:buFont typeface="Arial" panose="020B0604020202020204" pitchFamily="34" charset="0"/>
              <a:buChar char="•"/>
            </a:pPr>
            <a:r>
              <a:rPr lang="en-US" sz="1800" dirty="0"/>
              <a:t>How should we do this when </a:t>
            </a:r>
            <a:r>
              <a:rPr lang="en-US" sz="1800" dirty="0">
                <a:highlight>
                  <a:srgbClr val="FFFF00"/>
                </a:highlight>
              </a:rPr>
              <a:t>others may not go along</a:t>
            </a:r>
            <a:r>
              <a:rPr lang="en-US" sz="1800" dirty="0"/>
              <a:t>? </a:t>
            </a:r>
          </a:p>
          <a:p>
            <a:pPr marL="342900" indent="-342900">
              <a:lnSpc>
                <a:spcPct val="110000"/>
              </a:lnSpc>
              <a:buFont typeface="Arial" panose="020B0604020202020204" pitchFamily="34" charset="0"/>
              <a:buChar char="•"/>
            </a:pPr>
            <a:r>
              <a:rPr lang="en-US" sz="1800" dirty="0"/>
              <a:t>How should we do this when the </a:t>
            </a:r>
            <a:r>
              <a:rPr lang="en-US" sz="1800" dirty="0">
                <a:highlight>
                  <a:srgbClr val="FFFF00"/>
                </a:highlight>
              </a:rPr>
              <a:t>payoff may be far in the future</a:t>
            </a:r>
            <a:r>
              <a:rPr lang="en-US" sz="1800" dirty="0"/>
              <a:t>?</a:t>
            </a:r>
          </a:p>
          <a:p>
            <a:pPr marL="342900" indent="-342900">
              <a:lnSpc>
                <a:spcPct val="110000"/>
              </a:lnSpc>
              <a:buFont typeface="Arial" panose="020B0604020202020204" pitchFamily="34" charset="0"/>
              <a:buChar char="•"/>
            </a:pPr>
            <a:endParaRPr lang="en-US" sz="1600" dirty="0"/>
          </a:p>
          <a:p>
            <a:pPr>
              <a:lnSpc>
                <a:spcPct val="110000"/>
              </a:lnSpc>
            </a:pPr>
            <a:r>
              <a:rPr lang="en-US" sz="1800" i="1" dirty="0"/>
              <a:t>It’s not just about money, it includes both monetary and non-monetary values.</a:t>
            </a:r>
            <a:br>
              <a:rPr lang="en-US" sz="1800" i="1" dirty="0"/>
            </a:br>
            <a:endParaRPr lang="en-US" sz="1800" i="1" dirty="0"/>
          </a:p>
        </p:txBody>
      </p:sp>
      <p:pic>
        <p:nvPicPr>
          <p:cNvPr id="7170" name="Picture 2" descr="Free Woman Face photo and picture">
            <a:extLst>
              <a:ext uri="{FF2B5EF4-FFF2-40B4-BE49-F238E27FC236}">
                <a16:creationId xmlns:a16="http://schemas.microsoft.com/office/drawing/2014/main" id="{EE90149E-A1F4-D70F-47B6-7F04E965A8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792"/>
          <a:stretch/>
        </p:blipFill>
        <p:spPr bwMode="auto">
          <a:xfrm>
            <a:off x="6095998" y="2279889"/>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623959"/>
      </p:ext>
    </p:extLst>
  </p:cSld>
  <p:clrMapOvr>
    <a:masterClrMapping/>
  </p:clrMapOvr>
  <mc:AlternateContent xmlns:mc="http://schemas.openxmlformats.org/markup-compatibility/2006" xmlns:p14="http://schemas.microsoft.com/office/powerpoint/2010/main">
    <mc:Choice Requires="p14">
      <p:transition spd="slow" p14:dur="2000" advTm="37543"/>
    </mc:Choice>
    <mc:Fallback xmlns="">
      <p:transition spd="slow" advTm="3754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B0B3-50CC-B492-DF6C-16FD1C0E3E85}"/>
              </a:ext>
            </a:extLst>
          </p:cNvPr>
          <p:cNvSpPr>
            <a:spLocks noGrp="1"/>
          </p:cNvSpPr>
          <p:nvPr>
            <p:ph type="title"/>
          </p:nvPr>
        </p:nvSpPr>
        <p:spPr>
          <a:xfrm>
            <a:off x="251470" y="-8967"/>
            <a:ext cx="10869248" cy="1205491"/>
          </a:xfrm>
        </p:spPr>
        <p:txBody>
          <a:bodyPr/>
          <a:lstStyle/>
          <a:p>
            <a:r>
              <a:rPr lang="en-US" dirty="0"/>
              <a:t>Foundations of AI: Neuroscience</a:t>
            </a:r>
          </a:p>
        </p:txBody>
      </p:sp>
      <p:sp>
        <p:nvSpPr>
          <p:cNvPr id="3" name="Content Placeholder 2">
            <a:extLst>
              <a:ext uri="{FF2B5EF4-FFF2-40B4-BE49-F238E27FC236}">
                <a16:creationId xmlns:a16="http://schemas.microsoft.com/office/drawing/2014/main" id="{3C4CEBFA-C61D-8198-E521-FFB450F2366C}"/>
              </a:ext>
            </a:extLst>
          </p:cNvPr>
          <p:cNvSpPr>
            <a:spLocks noGrp="1"/>
          </p:cNvSpPr>
          <p:nvPr>
            <p:ph idx="1"/>
          </p:nvPr>
        </p:nvSpPr>
        <p:spPr/>
        <p:txBody>
          <a:bodyPr/>
          <a:lstStyle/>
          <a:p>
            <a:pPr marL="342900" indent="-342900">
              <a:buFont typeface="Arial" panose="020B0604020202020204" pitchFamily="34" charset="0"/>
              <a:buChar char="•"/>
            </a:pPr>
            <a:r>
              <a:rPr lang="en-US" dirty="0"/>
              <a:t>How does brain process information?</a:t>
            </a:r>
            <a:br>
              <a:rPr lang="en-US" dirty="0"/>
            </a:br>
            <a:endParaRPr lang="en-US" dirty="0"/>
          </a:p>
        </p:txBody>
      </p:sp>
      <p:pic>
        <p:nvPicPr>
          <p:cNvPr id="4" name="Picture 3">
            <a:extLst>
              <a:ext uri="{FF2B5EF4-FFF2-40B4-BE49-F238E27FC236}">
                <a16:creationId xmlns:a16="http://schemas.microsoft.com/office/drawing/2014/main" id="{FF294FC3-CAEE-4F0F-3FD9-CB55C7F58BD3}"/>
              </a:ext>
            </a:extLst>
          </p:cNvPr>
          <p:cNvPicPr>
            <a:picLocks noChangeAspect="1"/>
          </p:cNvPicPr>
          <p:nvPr/>
        </p:nvPicPr>
        <p:blipFill>
          <a:blip r:embed="rId2"/>
          <a:stretch>
            <a:fillRect/>
          </a:stretch>
        </p:blipFill>
        <p:spPr>
          <a:xfrm>
            <a:off x="2147316" y="2708221"/>
            <a:ext cx="6629400" cy="3556000"/>
          </a:xfrm>
          <a:prstGeom prst="rect">
            <a:avLst/>
          </a:prstGeom>
        </p:spPr>
      </p:pic>
    </p:spTree>
    <p:extLst>
      <p:ext uri="{BB962C8B-B14F-4D97-AF65-F5344CB8AC3E}">
        <p14:creationId xmlns:p14="http://schemas.microsoft.com/office/powerpoint/2010/main" val="3550219258"/>
      </p:ext>
    </p:extLst>
  </p:cSld>
  <p:clrMapOvr>
    <a:masterClrMapping/>
  </p:clrMapOvr>
  <mc:AlternateContent xmlns:mc="http://schemas.openxmlformats.org/markup-compatibility/2006" xmlns:p14="http://schemas.microsoft.com/office/powerpoint/2010/main">
    <mc:Choice Requires="p14">
      <p:transition spd="slow" p14:dur="2000" advTm="67815"/>
    </mc:Choice>
    <mc:Fallback xmlns="">
      <p:transition spd="slow" advTm="6781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B0B3-50CC-B492-DF6C-16FD1C0E3E85}"/>
              </a:ext>
            </a:extLst>
          </p:cNvPr>
          <p:cNvSpPr>
            <a:spLocks noGrp="1"/>
          </p:cNvSpPr>
          <p:nvPr>
            <p:ph type="title"/>
          </p:nvPr>
        </p:nvSpPr>
        <p:spPr>
          <a:xfrm>
            <a:off x="368011" y="0"/>
            <a:ext cx="10869248" cy="1205491"/>
          </a:xfrm>
        </p:spPr>
        <p:txBody>
          <a:bodyPr/>
          <a:lstStyle/>
          <a:p>
            <a:r>
              <a:rPr lang="en-AU" dirty="0"/>
              <a:t>Foundations of AI: Other Disciplines</a:t>
            </a:r>
            <a:endParaRPr lang="en-US" dirty="0"/>
          </a:p>
        </p:txBody>
      </p:sp>
      <p:sp>
        <p:nvSpPr>
          <p:cNvPr id="3" name="Content Placeholder 2">
            <a:extLst>
              <a:ext uri="{FF2B5EF4-FFF2-40B4-BE49-F238E27FC236}">
                <a16:creationId xmlns:a16="http://schemas.microsoft.com/office/drawing/2014/main" id="{3C4CEBFA-C61D-8198-E521-FFB450F2366C}"/>
              </a:ext>
            </a:extLst>
          </p:cNvPr>
          <p:cNvSpPr>
            <a:spLocks noGrp="1"/>
          </p:cNvSpPr>
          <p:nvPr>
            <p:ph idx="1"/>
          </p:nvPr>
        </p:nvSpPr>
        <p:spPr>
          <a:xfrm>
            <a:off x="567107" y="2568455"/>
            <a:ext cx="10869248" cy="4096363"/>
          </a:xfrm>
        </p:spPr>
        <p:txBody>
          <a:body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highlight>
                  <a:srgbClr val="FFFF00"/>
                </a:highlight>
              </a:rPr>
              <a:t>Psychology</a:t>
            </a:r>
            <a:r>
              <a:rPr lang="en-US" dirty="0"/>
              <a:t>: How do humans think and act?</a:t>
            </a:r>
          </a:p>
          <a:p>
            <a:pPr marL="342900" indent="-342900">
              <a:buFont typeface="Arial" panose="020B0604020202020204" pitchFamily="34" charset="0"/>
              <a:buChar char="•"/>
            </a:pPr>
            <a:r>
              <a:rPr lang="en-US" dirty="0">
                <a:highlight>
                  <a:srgbClr val="FFFF00"/>
                </a:highlight>
              </a:rPr>
              <a:t>Linguistics</a:t>
            </a:r>
            <a:r>
              <a:rPr lang="en-US" dirty="0"/>
              <a:t>: How does language relate to thought?</a:t>
            </a:r>
          </a:p>
          <a:p>
            <a:pPr marL="342900" indent="-342900">
              <a:buFont typeface="Arial" panose="020B0604020202020204" pitchFamily="34" charset="0"/>
              <a:buChar char="•"/>
            </a:pPr>
            <a:r>
              <a:rPr lang="en-US" dirty="0">
                <a:highlight>
                  <a:srgbClr val="FFFF00"/>
                </a:highlight>
              </a:rPr>
              <a:t>Computer Engineering</a:t>
            </a:r>
            <a:r>
              <a:rPr lang="en-US" dirty="0"/>
              <a:t>: How to build efficient computers?</a:t>
            </a:r>
          </a:p>
          <a:p>
            <a:pPr marL="342900" indent="-342900">
              <a:buFont typeface="Arial" panose="020B0604020202020204" pitchFamily="34" charset="0"/>
              <a:buChar char="•"/>
            </a:pPr>
            <a:r>
              <a:rPr lang="en-US" dirty="0">
                <a:highlight>
                  <a:srgbClr val="FFFF00"/>
                </a:highlight>
              </a:rPr>
              <a:t>Control Theory and Cybernetics</a:t>
            </a:r>
            <a:r>
              <a:rPr lang="en-US" dirty="0"/>
              <a:t>: How can artifacts operate under their own control?</a:t>
            </a:r>
          </a:p>
        </p:txBody>
      </p:sp>
    </p:spTree>
    <p:extLst>
      <p:ext uri="{BB962C8B-B14F-4D97-AF65-F5344CB8AC3E}">
        <p14:creationId xmlns:p14="http://schemas.microsoft.com/office/powerpoint/2010/main" val="4060905575"/>
      </p:ext>
    </p:extLst>
  </p:cSld>
  <p:clrMapOvr>
    <a:masterClrMapping/>
  </p:clrMapOvr>
  <mc:AlternateContent xmlns:mc="http://schemas.openxmlformats.org/markup-compatibility/2006" xmlns:p14="http://schemas.microsoft.com/office/powerpoint/2010/main">
    <mc:Choice Requires="p14">
      <p:transition spd="slow" p14:dur="2000" advTm="62888"/>
    </mc:Choice>
    <mc:Fallback xmlns="">
      <p:transition spd="slow" advTm="6288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3" name="Rectangle 8202">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AE16F7-F3D3-55D1-86B8-5FCBD3852B57}"/>
              </a:ext>
            </a:extLst>
          </p:cNvPr>
          <p:cNvSpPr>
            <a:spLocks noGrp="1"/>
          </p:cNvSpPr>
          <p:nvPr>
            <p:ph type="title"/>
          </p:nvPr>
        </p:nvSpPr>
        <p:spPr>
          <a:xfrm>
            <a:off x="314222" y="-55710"/>
            <a:ext cx="10869248" cy="1530910"/>
          </a:xfrm>
        </p:spPr>
        <p:txBody>
          <a:bodyPr>
            <a:normAutofit/>
          </a:bodyPr>
          <a:lstStyle/>
          <a:p>
            <a:r>
              <a:rPr lang="en-US" dirty="0"/>
              <a:t>The Risks of using (misusing) AI</a:t>
            </a:r>
          </a:p>
        </p:txBody>
      </p:sp>
      <p:sp>
        <p:nvSpPr>
          <p:cNvPr id="3" name="Content Placeholder 2">
            <a:extLst>
              <a:ext uri="{FF2B5EF4-FFF2-40B4-BE49-F238E27FC236}">
                <a16:creationId xmlns:a16="http://schemas.microsoft.com/office/drawing/2014/main" id="{924DCEF7-542A-CE8B-E53B-25E0D6E6F5A6}"/>
              </a:ext>
            </a:extLst>
          </p:cNvPr>
          <p:cNvSpPr>
            <a:spLocks noGrp="1"/>
          </p:cNvSpPr>
          <p:nvPr>
            <p:ph idx="1"/>
          </p:nvPr>
        </p:nvSpPr>
        <p:spPr>
          <a:xfrm>
            <a:off x="0" y="2358357"/>
            <a:ext cx="6400796" cy="3339634"/>
          </a:xfrm>
        </p:spPr>
        <p:txBody>
          <a:bodyPr>
            <a:noAutofit/>
          </a:bodyPr>
          <a:lstStyle/>
          <a:p>
            <a:pPr lvl="1">
              <a:lnSpc>
                <a:spcPct val="110000"/>
              </a:lnSpc>
            </a:pPr>
            <a:r>
              <a:rPr lang="en-US" sz="1600" dirty="0"/>
              <a:t>We incur risks from AI, inadvertent or otherwise. E.g.,</a:t>
            </a:r>
          </a:p>
          <a:p>
            <a:pPr marL="571500" lvl="1" indent="-342900">
              <a:lnSpc>
                <a:spcPct val="110000"/>
              </a:lnSpc>
              <a:buFont typeface="Arial" panose="020B0604020202020204" pitchFamily="34" charset="0"/>
              <a:buChar char="•"/>
            </a:pPr>
            <a:r>
              <a:rPr lang="en-US" sz="1600" dirty="0"/>
              <a:t>Risk of </a:t>
            </a:r>
            <a:r>
              <a:rPr lang="en-US" sz="1600" dirty="0">
                <a:solidFill>
                  <a:schemeClr val="tx1">
                    <a:lumMod val="95000"/>
                    <a:lumOff val="5000"/>
                  </a:schemeClr>
                </a:solidFill>
                <a:highlight>
                  <a:srgbClr val="FFFF00"/>
                </a:highlight>
              </a:rPr>
              <a:t>lethal autonomous </a:t>
            </a:r>
            <a:r>
              <a:rPr lang="en-US" sz="1600" dirty="0"/>
              <a:t>weapons : These are deﬁned by the UN as weapons that can locate, select, and eliminate human targets without human intervention.</a:t>
            </a:r>
          </a:p>
          <a:p>
            <a:pPr marL="571500" lvl="1" indent="-342900">
              <a:lnSpc>
                <a:spcPct val="110000"/>
              </a:lnSpc>
              <a:buFont typeface="Arial" panose="020B0604020202020204" pitchFamily="34" charset="0"/>
              <a:buChar char="•"/>
            </a:pPr>
            <a:r>
              <a:rPr lang="en-US" sz="1600" dirty="0"/>
              <a:t>Risk of </a:t>
            </a:r>
            <a:r>
              <a:rPr lang="en-US" sz="1600" dirty="0">
                <a:solidFill>
                  <a:schemeClr val="tx1">
                    <a:lumMod val="95000"/>
                    <a:lumOff val="5000"/>
                  </a:schemeClr>
                </a:solidFill>
                <a:highlight>
                  <a:srgbClr val="FFFF00"/>
                </a:highlight>
              </a:rPr>
              <a:t>surveillance and persuasion </a:t>
            </a:r>
            <a:r>
              <a:rPr lang="en-US" sz="1600" dirty="0"/>
              <a:t>: While it is expensive, tedious, and sometimes legally questionable for security personnel to monitor phone lines, video camera feeds, emails, and other messaging channels, AI (speech recognition, computer vision, and natural language understanding) can be used for mass surveillance.</a:t>
            </a:r>
          </a:p>
          <a:p>
            <a:pPr marL="571500" lvl="1" indent="-342900">
              <a:lnSpc>
                <a:spcPct val="110000"/>
              </a:lnSpc>
              <a:buFont typeface="Arial" panose="020B0604020202020204" pitchFamily="34" charset="0"/>
              <a:buChar char="•"/>
            </a:pPr>
            <a:r>
              <a:rPr lang="en-US" sz="1600" dirty="0"/>
              <a:t>Risk of </a:t>
            </a:r>
            <a:r>
              <a:rPr lang="en-US" sz="1600" dirty="0">
                <a:solidFill>
                  <a:schemeClr val="tx1">
                    <a:lumMod val="95000"/>
                    <a:lumOff val="5000"/>
                  </a:schemeClr>
                </a:solidFill>
                <a:highlight>
                  <a:srgbClr val="FFFF00"/>
                </a:highlight>
              </a:rPr>
              <a:t>biased decision making </a:t>
            </a:r>
            <a:r>
              <a:rPr lang="en-US" sz="1600" dirty="0"/>
              <a:t>: Careless or deliberate misuse of machine learning algorithms for tasks such as evaluating parole and loan applications can result in decisions that are biased by race, gender, or other protected categories. Often, the data themselves reﬂect bias in society.</a:t>
            </a:r>
            <a:br>
              <a:rPr lang="en-US" sz="1600" dirty="0"/>
            </a:br>
            <a:br>
              <a:rPr lang="en-US" sz="1600" dirty="0"/>
            </a:br>
            <a:br>
              <a:rPr lang="en-US" sz="1600" dirty="0"/>
            </a:br>
            <a:endParaRPr lang="en-US" sz="1600" dirty="0"/>
          </a:p>
        </p:txBody>
      </p:sp>
      <p:pic>
        <p:nvPicPr>
          <p:cNvPr id="8196" name="Picture 4" descr="Free Frankenstein Monster photo and picture">
            <a:extLst>
              <a:ext uri="{FF2B5EF4-FFF2-40B4-BE49-F238E27FC236}">
                <a16:creationId xmlns:a16="http://schemas.microsoft.com/office/drawing/2014/main" id="{F9053565-080E-DF7F-B79D-50291A3E7D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873" r="-2" b="36996"/>
          <a:stretch/>
        </p:blipFill>
        <p:spPr bwMode="auto">
          <a:xfrm>
            <a:off x="6400800" y="2279889"/>
            <a:ext cx="5791196"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0157065"/>
      </p:ext>
    </p:extLst>
  </p:cSld>
  <p:clrMapOvr>
    <a:masterClrMapping/>
  </p:clrMapOvr>
  <mc:AlternateContent xmlns:mc="http://schemas.openxmlformats.org/markup-compatibility/2006" xmlns:p14="http://schemas.microsoft.com/office/powerpoint/2010/main">
    <mc:Choice Requires="p14">
      <p:transition spd="slow" p14:dur="2000" advTm="80496"/>
    </mc:Choice>
    <mc:Fallback xmlns="">
      <p:transition spd="slow" advTm="8049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E16F7-F3D3-55D1-86B8-5FCBD3852B57}"/>
              </a:ext>
            </a:extLst>
          </p:cNvPr>
          <p:cNvSpPr>
            <a:spLocks noGrp="1"/>
          </p:cNvSpPr>
          <p:nvPr>
            <p:ph type="title"/>
          </p:nvPr>
        </p:nvSpPr>
        <p:spPr/>
        <p:txBody>
          <a:bodyPr>
            <a:normAutofit/>
          </a:bodyPr>
          <a:lstStyle/>
          <a:p>
            <a:r>
              <a:rPr lang="en-US" dirty="0"/>
              <a:t>Human-Centered AI: Human Values</a:t>
            </a:r>
          </a:p>
        </p:txBody>
      </p:sp>
      <p:sp>
        <p:nvSpPr>
          <p:cNvPr id="3" name="Content Placeholder 2">
            <a:extLst>
              <a:ext uri="{FF2B5EF4-FFF2-40B4-BE49-F238E27FC236}">
                <a16:creationId xmlns:a16="http://schemas.microsoft.com/office/drawing/2014/main" id="{924DCEF7-542A-CE8B-E53B-25E0D6E6F5A6}"/>
              </a:ext>
            </a:extLst>
          </p:cNvPr>
          <p:cNvSpPr>
            <a:spLocks noGrp="1"/>
          </p:cNvSpPr>
          <p:nvPr>
            <p:ph idx="1"/>
          </p:nvPr>
        </p:nvSpPr>
        <p:spPr>
          <a:xfrm>
            <a:off x="558265" y="2065467"/>
            <a:ext cx="11220077" cy="4096363"/>
          </a:xfrm>
        </p:spPr>
        <p:txBody>
          <a:bodyPr>
            <a:normAutofit/>
          </a:bodyPr>
          <a:lstStyle/>
          <a:p>
            <a:br>
              <a:rPr lang="en-US" dirty="0"/>
            </a:br>
            <a:endParaRPr lang="en-US" dirty="0"/>
          </a:p>
        </p:txBody>
      </p:sp>
      <p:pic>
        <p:nvPicPr>
          <p:cNvPr id="5" name="Picture 4" descr="A diagram of different types of personal data&#10;&#10;Description automatically generated with medium confidence">
            <a:extLst>
              <a:ext uri="{FF2B5EF4-FFF2-40B4-BE49-F238E27FC236}">
                <a16:creationId xmlns:a16="http://schemas.microsoft.com/office/drawing/2014/main" id="{7E1F7AED-F701-AAF1-848F-C4687F91C892}"/>
              </a:ext>
            </a:extLst>
          </p:cNvPr>
          <p:cNvPicPr>
            <a:picLocks noChangeAspect="1"/>
          </p:cNvPicPr>
          <p:nvPr/>
        </p:nvPicPr>
        <p:blipFill>
          <a:blip r:embed="rId2"/>
          <a:stretch>
            <a:fillRect/>
          </a:stretch>
        </p:blipFill>
        <p:spPr>
          <a:xfrm>
            <a:off x="2022842" y="1973503"/>
            <a:ext cx="6755397" cy="4485253"/>
          </a:xfrm>
          <a:prstGeom prst="rect">
            <a:avLst/>
          </a:prstGeom>
        </p:spPr>
      </p:pic>
    </p:spTree>
    <p:extLst>
      <p:ext uri="{BB962C8B-B14F-4D97-AF65-F5344CB8AC3E}">
        <p14:creationId xmlns:p14="http://schemas.microsoft.com/office/powerpoint/2010/main" val="300808241"/>
      </p:ext>
    </p:extLst>
  </p:cSld>
  <p:clrMapOvr>
    <a:masterClrMapping/>
  </p:clrMapOvr>
  <mc:AlternateContent xmlns:mc="http://schemas.openxmlformats.org/markup-compatibility/2006" xmlns:p14="http://schemas.microsoft.com/office/powerpoint/2010/main">
    <mc:Choice Requires="p14">
      <p:transition spd="slow" p14:dur="2000" advTm="60029"/>
    </mc:Choice>
    <mc:Fallback xmlns="">
      <p:transition spd="slow" advTm="600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F7023783-1BA7-4B53-8EDC-B7F22732F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25" name="Group 9224">
            <a:extLst>
              <a:ext uri="{FF2B5EF4-FFF2-40B4-BE49-F238E27FC236}">
                <a16:creationId xmlns:a16="http://schemas.microsoft.com/office/drawing/2014/main" id="{1B8B7D45-C71F-4FD6-BE9F-31CB246781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305878"/>
            <a:ext cx="12192000" cy="4552121"/>
            <a:chOff x="6096002" y="-9073"/>
            <a:chExt cx="6095998" cy="6867073"/>
          </a:xfrm>
        </p:grpSpPr>
        <p:sp>
          <p:nvSpPr>
            <p:cNvPr id="9226" name="Rectangle 9225">
              <a:extLst>
                <a:ext uri="{FF2B5EF4-FFF2-40B4-BE49-F238E27FC236}">
                  <a16:creationId xmlns:a16="http://schemas.microsoft.com/office/drawing/2014/main" id="{4F0E55DB-2DD2-4990-952E-AF7499C79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E131DE2E-D7A0-4137-B8A6-3F996F89A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29" name="Rectangle 9228">
            <a:extLst>
              <a:ext uri="{FF2B5EF4-FFF2-40B4-BE49-F238E27FC236}">
                <a16:creationId xmlns:a16="http://schemas.microsoft.com/office/drawing/2014/main" id="{0BEECA9E-C489-4B62-9103-5A6D60EA2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913"/>
            <a:ext cx="6095996" cy="23187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AE16F7-F3D3-55D1-86B8-5FCBD3852B57}"/>
              </a:ext>
            </a:extLst>
          </p:cNvPr>
          <p:cNvSpPr>
            <a:spLocks noGrp="1"/>
          </p:cNvSpPr>
          <p:nvPr>
            <p:ph type="title"/>
          </p:nvPr>
        </p:nvSpPr>
        <p:spPr>
          <a:xfrm>
            <a:off x="484552" y="398495"/>
            <a:ext cx="5251230" cy="1601755"/>
          </a:xfrm>
        </p:spPr>
        <p:txBody>
          <a:bodyPr>
            <a:normAutofit/>
          </a:bodyPr>
          <a:lstStyle/>
          <a:p>
            <a:r>
              <a:rPr lang="en-US" sz="4400"/>
              <a:t>Human-Centered AI: Ethical Principles</a:t>
            </a:r>
          </a:p>
        </p:txBody>
      </p:sp>
      <p:pic>
        <p:nvPicPr>
          <p:cNvPr id="9218" name="Picture 2" descr="Free angel devil morality vector">
            <a:extLst>
              <a:ext uri="{FF2B5EF4-FFF2-40B4-BE49-F238E27FC236}">
                <a16:creationId xmlns:a16="http://schemas.microsoft.com/office/drawing/2014/main" id="{A8F6A0EE-8BF1-45BD-E8D2-1E03D809B5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32384" y="136526"/>
            <a:ext cx="3759911" cy="197395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24DCEF7-542A-CE8B-E53B-25E0D6E6F5A6}"/>
              </a:ext>
            </a:extLst>
          </p:cNvPr>
          <p:cNvSpPr>
            <a:spLocks noGrp="1"/>
          </p:cNvSpPr>
          <p:nvPr>
            <p:ph idx="1"/>
          </p:nvPr>
        </p:nvSpPr>
        <p:spPr>
          <a:xfrm>
            <a:off x="275238" y="2438656"/>
            <a:ext cx="7244243" cy="4020849"/>
          </a:xfrm>
        </p:spPr>
        <p:txBody>
          <a:bodyPr>
            <a:noAutofit/>
          </a:bodyPr>
          <a:lstStyle/>
          <a:p>
            <a:pPr>
              <a:lnSpc>
                <a:spcPct val="110000"/>
              </a:lnSpc>
            </a:pPr>
            <a:endParaRPr lang="en-US" sz="1800" dirty="0"/>
          </a:p>
          <a:p>
            <a:pPr marL="571500" lvl="1" indent="-342900">
              <a:lnSpc>
                <a:spcPct val="110000"/>
              </a:lnSpc>
              <a:buFont typeface="Arial" panose="020B0604020202020204" pitchFamily="34" charset="0"/>
              <a:buChar char="•"/>
            </a:pPr>
            <a:r>
              <a:rPr lang="en-US" dirty="0">
                <a:highlight>
                  <a:srgbClr val="FFFF00"/>
                </a:highlight>
              </a:rPr>
              <a:t>Transparency</a:t>
            </a:r>
            <a:r>
              <a:rPr lang="en-US" dirty="0"/>
              <a:t>: Ensuring AI systems and their decisions can be understood by users and stakeholders.</a:t>
            </a:r>
          </a:p>
          <a:p>
            <a:pPr marL="571500" lvl="1" indent="-342900">
              <a:lnSpc>
                <a:spcPct val="110000"/>
              </a:lnSpc>
              <a:buFont typeface="Arial" panose="020B0604020202020204" pitchFamily="34" charset="0"/>
              <a:buChar char="•"/>
            </a:pPr>
            <a:endParaRPr lang="en-US" dirty="0"/>
          </a:p>
          <a:p>
            <a:pPr marL="571500" lvl="1" indent="-342900">
              <a:lnSpc>
                <a:spcPct val="110000"/>
              </a:lnSpc>
              <a:buFont typeface="Arial" panose="020B0604020202020204" pitchFamily="34" charset="0"/>
              <a:buChar char="•"/>
            </a:pPr>
            <a:r>
              <a:rPr lang="en-US" dirty="0">
                <a:highlight>
                  <a:srgbClr val="FFFF00"/>
                </a:highlight>
              </a:rPr>
              <a:t>Fairness</a:t>
            </a:r>
            <a:r>
              <a:rPr lang="en-US" dirty="0"/>
              <a:t> and Non-discrimination: Preventing AI from perpetuating or exacerbating biases and inequalities.</a:t>
            </a:r>
          </a:p>
          <a:p>
            <a:pPr marL="571500" lvl="1" indent="-342900">
              <a:lnSpc>
                <a:spcPct val="110000"/>
              </a:lnSpc>
              <a:buFont typeface="Arial" panose="020B0604020202020204" pitchFamily="34" charset="0"/>
              <a:buChar char="•"/>
            </a:pPr>
            <a:endParaRPr lang="en-US" dirty="0"/>
          </a:p>
          <a:p>
            <a:pPr marL="571500" lvl="1" indent="-342900">
              <a:lnSpc>
                <a:spcPct val="110000"/>
              </a:lnSpc>
              <a:buFont typeface="Arial" panose="020B0604020202020204" pitchFamily="34" charset="0"/>
              <a:buChar char="•"/>
            </a:pPr>
            <a:r>
              <a:rPr lang="en-US" dirty="0">
                <a:highlight>
                  <a:srgbClr val="FFFF00"/>
                </a:highlight>
              </a:rPr>
              <a:t>Privacy</a:t>
            </a:r>
            <a:r>
              <a:rPr lang="en-US" dirty="0"/>
              <a:t> and Data Protection: Safeguarding personal information processed by AI systems.</a:t>
            </a:r>
          </a:p>
          <a:p>
            <a:pPr marL="571500" lvl="1" indent="-342900">
              <a:lnSpc>
                <a:spcPct val="110000"/>
              </a:lnSpc>
              <a:buFont typeface="Arial" panose="020B0604020202020204" pitchFamily="34" charset="0"/>
              <a:buChar char="•"/>
            </a:pPr>
            <a:endParaRPr lang="en-US" dirty="0"/>
          </a:p>
          <a:p>
            <a:pPr marL="571500" lvl="1" indent="-342900">
              <a:lnSpc>
                <a:spcPct val="110000"/>
              </a:lnSpc>
              <a:buFont typeface="Arial" panose="020B0604020202020204" pitchFamily="34" charset="0"/>
              <a:buChar char="•"/>
            </a:pPr>
            <a:r>
              <a:rPr lang="en-US" dirty="0">
                <a:highlight>
                  <a:srgbClr val="FFFF00"/>
                </a:highlight>
              </a:rPr>
              <a:t>Accountability</a:t>
            </a:r>
            <a:r>
              <a:rPr lang="en-US" dirty="0"/>
              <a:t> and Responsibility: Establishing clear accountability for AI decisions and actions.</a:t>
            </a:r>
          </a:p>
          <a:p>
            <a:pPr>
              <a:lnSpc>
                <a:spcPct val="110000"/>
              </a:lnSpc>
            </a:pPr>
            <a:br>
              <a:rPr lang="en-US" sz="1800" dirty="0"/>
            </a:br>
            <a:endParaRPr lang="en-US" sz="1800" dirty="0"/>
          </a:p>
        </p:txBody>
      </p:sp>
      <p:pic>
        <p:nvPicPr>
          <p:cNvPr id="5" name="Picture 4">
            <a:extLst>
              <a:ext uri="{FF2B5EF4-FFF2-40B4-BE49-F238E27FC236}">
                <a16:creationId xmlns:a16="http://schemas.microsoft.com/office/drawing/2014/main" id="{2886104A-2C7C-C64F-E726-42A45D908148}"/>
              </a:ext>
            </a:extLst>
          </p:cNvPr>
          <p:cNvPicPr>
            <a:picLocks noChangeAspect="1"/>
          </p:cNvPicPr>
          <p:nvPr/>
        </p:nvPicPr>
        <p:blipFill>
          <a:blip r:embed="rId3"/>
          <a:stretch>
            <a:fillRect/>
          </a:stretch>
        </p:blipFill>
        <p:spPr>
          <a:xfrm>
            <a:off x="8171234" y="2653282"/>
            <a:ext cx="3912644" cy="3244427"/>
          </a:xfrm>
          <a:prstGeom prst="rect">
            <a:avLst/>
          </a:prstGeom>
        </p:spPr>
      </p:pic>
    </p:spTree>
    <p:extLst>
      <p:ext uri="{BB962C8B-B14F-4D97-AF65-F5344CB8AC3E}">
        <p14:creationId xmlns:p14="http://schemas.microsoft.com/office/powerpoint/2010/main" val="3057524013"/>
      </p:ext>
    </p:extLst>
  </p:cSld>
  <p:clrMapOvr>
    <a:masterClrMapping/>
  </p:clrMapOvr>
  <mc:AlternateContent xmlns:mc="http://schemas.openxmlformats.org/markup-compatibility/2006" xmlns:p14="http://schemas.microsoft.com/office/powerpoint/2010/main">
    <mc:Choice Requires="p14">
      <p:transition spd="slow" p14:dur="2000" advTm="23339"/>
    </mc:Choice>
    <mc:Fallback xmlns="">
      <p:transition spd="slow" advTm="2333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8CE26-F5EB-2558-F99E-BBE207D4AD9A}"/>
              </a:ext>
            </a:extLst>
          </p:cNvPr>
          <p:cNvSpPr>
            <a:spLocks noGrp="1"/>
          </p:cNvSpPr>
          <p:nvPr>
            <p:ph type="title"/>
          </p:nvPr>
        </p:nvSpPr>
        <p:spPr>
          <a:xfrm>
            <a:off x="260435" y="0"/>
            <a:ext cx="10869248" cy="1205491"/>
          </a:xfrm>
        </p:spPr>
        <p:txBody>
          <a:bodyPr>
            <a:normAutofit fontScale="90000"/>
          </a:bodyPr>
          <a:lstStyle/>
          <a:p>
            <a:r>
              <a:rPr lang="en-US" dirty="0"/>
              <a:t>Human-Centered AI: Strategies for Ethical AI</a:t>
            </a:r>
          </a:p>
        </p:txBody>
      </p:sp>
      <p:sp>
        <p:nvSpPr>
          <p:cNvPr id="3" name="Content Placeholder 2">
            <a:extLst>
              <a:ext uri="{FF2B5EF4-FFF2-40B4-BE49-F238E27FC236}">
                <a16:creationId xmlns:a16="http://schemas.microsoft.com/office/drawing/2014/main" id="{C1B97505-69EE-2CD0-ECCA-806349B47498}"/>
              </a:ext>
            </a:extLst>
          </p:cNvPr>
          <p:cNvSpPr>
            <a:spLocks noGrp="1"/>
          </p:cNvSpPr>
          <p:nvPr>
            <p:ph idx="1"/>
          </p:nvPr>
        </p:nvSpPr>
        <p:spPr>
          <a:xfrm>
            <a:off x="347304" y="2700842"/>
            <a:ext cx="10968789" cy="3979462"/>
          </a:xfrm>
        </p:spPr>
        <p:txBody>
          <a:bodyPr/>
          <a:lstStyle/>
          <a:p>
            <a:pPr marL="514350" lvl="1" indent="-285750">
              <a:buFont typeface="Arial" panose="020B0604020202020204" pitchFamily="34" charset="0"/>
              <a:buChar char="•"/>
            </a:pPr>
            <a:r>
              <a:rPr lang="en-US" dirty="0">
                <a:highlight>
                  <a:srgbClr val="FFFF00"/>
                </a:highlight>
              </a:rPr>
              <a:t>Inclusive Design</a:t>
            </a:r>
            <a:r>
              <a:rPr lang="en-US" dirty="0"/>
              <a:t>: Engaging diverse groups in AI development to reflect a wide range of human values and perspectives.</a:t>
            </a:r>
          </a:p>
          <a:p>
            <a:pPr marL="514350" lvl="1" indent="-285750">
              <a:buFont typeface="Arial" panose="020B0604020202020204" pitchFamily="34" charset="0"/>
              <a:buChar char="•"/>
            </a:pPr>
            <a:r>
              <a:rPr lang="en-US" dirty="0">
                <a:highlight>
                  <a:srgbClr val="FFFF00"/>
                </a:highlight>
              </a:rPr>
              <a:t>Ethical AI Governance</a:t>
            </a:r>
            <a:r>
              <a:rPr lang="en-US" dirty="0"/>
              <a:t>: Developing and enforcing guidelines, policies, and regulations to guide ethical AI development and use.</a:t>
            </a:r>
          </a:p>
          <a:p>
            <a:pPr marL="514350" lvl="1" indent="-285750">
              <a:buFont typeface="Arial" panose="020B0604020202020204" pitchFamily="34" charset="0"/>
              <a:buChar char="•"/>
            </a:pPr>
            <a:r>
              <a:rPr lang="en-US" dirty="0">
                <a:highlight>
                  <a:srgbClr val="FFFF00"/>
                </a:highlight>
              </a:rPr>
              <a:t>Continuous Monitoring</a:t>
            </a:r>
            <a:r>
              <a:rPr lang="en-US" dirty="0"/>
              <a:t>: Regularly assessing AI systems for ethical compliance and societal impact.</a:t>
            </a:r>
            <a:br>
              <a:rPr lang="en-US" dirty="0"/>
            </a:br>
            <a:endParaRPr lang="en-US" dirty="0"/>
          </a:p>
        </p:txBody>
      </p:sp>
    </p:spTree>
    <p:extLst>
      <p:ext uri="{BB962C8B-B14F-4D97-AF65-F5344CB8AC3E}">
        <p14:creationId xmlns:p14="http://schemas.microsoft.com/office/powerpoint/2010/main" val="104962929"/>
      </p:ext>
    </p:extLst>
  </p:cSld>
  <p:clrMapOvr>
    <a:masterClrMapping/>
  </p:clrMapOvr>
  <mc:AlternateContent xmlns:mc="http://schemas.openxmlformats.org/markup-compatibility/2006" xmlns:p14="http://schemas.microsoft.com/office/powerpoint/2010/main">
    <mc:Choice Requires="p14">
      <p:transition spd="slow" p14:dur="2000" advTm="49633"/>
    </mc:Choice>
    <mc:Fallback xmlns="">
      <p:transition spd="slow" advTm="4963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91" name="Rectangle 16390">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393" name="Rectangle 16392">
            <a:extLst>
              <a:ext uri="{FF2B5EF4-FFF2-40B4-BE49-F238E27FC236}">
                <a16:creationId xmlns:a16="http://schemas.microsoft.com/office/drawing/2014/main" id="{5C8041AD-0A28-47FA-8BFF-56BAAA246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5" name="Rectangle 16394">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95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91253F-6349-10A5-47E4-06A193F1CB37}"/>
              </a:ext>
            </a:extLst>
          </p:cNvPr>
          <p:cNvSpPr>
            <a:spLocks noGrp="1"/>
          </p:cNvSpPr>
          <p:nvPr>
            <p:ph type="title"/>
          </p:nvPr>
        </p:nvSpPr>
        <p:spPr>
          <a:xfrm>
            <a:off x="484553" y="397275"/>
            <a:ext cx="5216531" cy="3761257"/>
          </a:xfrm>
        </p:spPr>
        <p:txBody>
          <a:bodyPr vert="horz" lIns="91440" tIns="45720" rIns="91440" bIns="45720" rtlCol="0" anchor="ctr">
            <a:normAutofit/>
          </a:bodyPr>
          <a:lstStyle/>
          <a:p>
            <a:r>
              <a:rPr lang="en-US" sz="5400" dirty="0"/>
              <a:t>Machine Learning</a:t>
            </a:r>
          </a:p>
        </p:txBody>
      </p:sp>
      <p:grpSp>
        <p:nvGrpSpPr>
          <p:cNvPr id="16397" name="Group 16396">
            <a:extLst>
              <a:ext uri="{FF2B5EF4-FFF2-40B4-BE49-F238E27FC236}">
                <a16:creationId xmlns:a16="http://schemas.microsoft.com/office/drawing/2014/main" id="{3409BBD1-8A75-44DA-88E2-3A70470322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73946"/>
            <a:ext cx="6095998" cy="2284054"/>
            <a:chOff x="6096002" y="-9073"/>
            <a:chExt cx="6095998" cy="6867073"/>
          </a:xfrm>
        </p:grpSpPr>
        <p:sp>
          <p:nvSpPr>
            <p:cNvPr id="16398" name="Rectangle 16397">
              <a:extLst>
                <a:ext uri="{FF2B5EF4-FFF2-40B4-BE49-F238E27FC236}">
                  <a16:creationId xmlns:a16="http://schemas.microsoft.com/office/drawing/2014/main" id="{957EEA50-86F1-415A-8F6B-829E2272B5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9" name="Rectangle 16398">
              <a:extLst>
                <a:ext uri="{FF2B5EF4-FFF2-40B4-BE49-F238E27FC236}">
                  <a16:creationId xmlns:a16="http://schemas.microsoft.com/office/drawing/2014/main" id="{1707547F-6B3D-4540-808D-410C9EE34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6386" name="Picture 2" descr="Deep Learning vs. Machine Learning – What's The Difference?">
            <a:extLst>
              <a:ext uri="{FF2B5EF4-FFF2-40B4-BE49-F238E27FC236}">
                <a16:creationId xmlns:a16="http://schemas.microsoft.com/office/drawing/2014/main" id="{4A41B24C-E660-4908-7408-D0FA25E9073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71603" y="587022"/>
            <a:ext cx="5813778" cy="5813778"/>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144BFFF8-58FE-373A-D1BF-5F81D5235464}"/>
              </a:ext>
            </a:extLst>
          </p:cNvPr>
          <p:cNvSpPr txBox="1"/>
          <p:nvPr/>
        </p:nvSpPr>
        <p:spPr>
          <a:xfrm>
            <a:off x="6626577" y="6163256"/>
            <a:ext cx="1704623" cy="215444"/>
          </a:xfrm>
          <a:prstGeom prst="rect">
            <a:avLst/>
          </a:prstGeom>
          <a:noFill/>
        </p:spPr>
        <p:txBody>
          <a:bodyPr wrap="square">
            <a:spAutoFit/>
          </a:bodyPr>
          <a:lstStyle/>
          <a:p>
            <a:r>
              <a:rPr lang="en-US" sz="800" dirty="0">
                <a:hlinkClick r:id="rId4"/>
              </a:rPr>
              <a:t>https://levity.ai/</a:t>
            </a:r>
            <a:r>
              <a:rPr lang="en-US" sz="800" dirty="0"/>
              <a:t> </a:t>
            </a:r>
          </a:p>
        </p:txBody>
      </p:sp>
    </p:spTree>
    <p:extLst>
      <p:ext uri="{BB962C8B-B14F-4D97-AF65-F5344CB8AC3E}">
        <p14:creationId xmlns:p14="http://schemas.microsoft.com/office/powerpoint/2010/main" val="2322330320"/>
      </p:ext>
    </p:extLst>
  </p:cSld>
  <p:clrMapOvr>
    <a:masterClrMapping/>
  </p:clrMapOvr>
  <mc:AlternateContent xmlns:mc="http://schemas.openxmlformats.org/markup-compatibility/2006" xmlns:p14="http://schemas.microsoft.com/office/powerpoint/2010/main">
    <mc:Choice Requires="p14">
      <p:transition spd="slow" p14:dur="2000" advTm="104636"/>
    </mc:Choice>
    <mc:Fallback xmlns="">
      <p:transition spd="slow" advTm="10463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1253F-6349-10A5-47E4-06A193F1CB37}"/>
              </a:ext>
            </a:extLst>
          </p:cNvPr>
          <p:cNvSpPr>
            <a:spLocks noGrp="1"/>
          </p:cNvSpPr>
          <p:nvPr>
            <p:ph type="title"/>
          </p:nvPr>
        </p:nvSpPr>
        <p:spPr>
          <a:xfrm>
            <a:off x="251469" y="0"/>
            <a:ext cx="10869248" cy="1205491"/>
          </a:xfrm>
        </p:spPr>
        <p:txBody>
          <a:bodyPr/>
          <a:lstStyle/>
          <a:p>
            <a:r>
              <a:rPr lang="en-US" dirty="0"/>
              <a:t>Machine Learning</a:t>
            </a:r>
          </a:p>
        </p:txBody>
      </p:sp>
      <p:pic>
        <p:nvPicPr>
          <p:cNvPr id="4" name="Online Media 3" descr="What is Machine Learning?">
            <a:hlinkClick r:id="" action="ppaction://media"/>
            <a:extLst>
              <a:ext uri="{FF2B5EF4-FFF2-40B4-BE49-F238E27FC236}">
                <a16:creationId xmlns:a16="http://schemas.microsoft.com/office/drawing/2014/main" id="{39B224AF-2E18-31AB-F0D8-F833CCFE69FE}"/>
              </a:ext>
            </a:extLst>
          </p:cNvPr>
          <p:cNvPicPr>
            <a:picLocks noGrp="1" noRot="1" noChangeAspect="1"/>
          </p:cNvPicPr>
          <p:nvPr>
            <p:ph idx="1"/>
            <a:videoFile r:link="rId2"/>
          </p:nvPr>
        </p:nvPicPr>
        <p:blipFill>
          <a:blip r:embed="rId5"/>
          <a:stretch>
            <a:fillRect/>
          </a:stretch>
        </p:blipFill>
        <p:spPr>
          <a:xfrm>
            <a:off x="628931" y="1838524"/>
            <a:ext cx="8348663" cy="4717379"/>
          </a:xfrm>
          <a:prstGeom prst="rect">
            <a:avLst/>
          </a:prstGeom>
        </p:spPr>
      </p:pic>
    </p:spTree>
    <p:custDataLst>
      <p:tags r:id="rId1"/>
    </p:custDataLst>
    <p:extLst>
      <p:ext uri="{BB962C8B-B14F-4D97-AF65-F5344CB8AC3E}">
        <p14:creationId xmlns:p14="http://schemas.microsoft.com/office/powerpoint/2010/main" val="3131784542"/>
      </p:ext>
    </p:extLst>
  </p:cSld>
  <p:clrMapOvr>
    <a:masterClrMapping/>
  </p:clrMapOvr>
  <mc:AlternateContent xmlns:mc="http://schemas.openxmlformats.org/markup-compatibility/2006" xmlns:p14="http://schemas.microsoft.com/office/powerpoint/2010/main">
    <mc:Choice Requires="p14">
      <p:transition spd="slow" p14:dur="2000" advTm="18154"/>
    </mc:Choice>
    <mc:Fallback xmlns="">
      <p:transition spd="slow" advTm="181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extLst>
    <p:ext uri="{E180D4A7-C9FB-4DFB-919C-405C955672EB}">
      <p14:showEvtLst xmlns:p14="http://schemas.microsoft.com/office/powerpoint/2010/main">
        <p14:stopEvt time="15953" objId="4"/>
        <p14:playEvt time="15954" objId="4"/>
        <p14:pauseEvt time="18112" objId="4"/>
        <p14:stopEvt time="18112" objId="4"/>
      </p14:showEvtLst>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1FDA3-45C1-8AD4-720A-9EE5D73A2FB1}"/>
              </a:ext>
            </a:extLst>
          </p:cNvPr>
          <p:cNvSpPr>
            <a:spLocks noGrp="1"/>
          </p:cNvSpPr>
          <p:nvPr>
            <p:ph type="title"/>
          </p:nvPr>
        </p:nvSpPr>
        <p:spPr>
          <a:xfrm>
            <a:off x="269399" y="0"/>
            <a:ext cx="10869248" cy="1205491"/>
          </a:xfrm>
        </p:spPr>
        <p:txBody>
          <a:bodyPr/>
          <a:lstStyle/>
          <a:p>
            <a:r>
              <a:rPr lang="en-US" dirty="0"/>
              <a:t>Machine Learning: Supervised Learning</a:t>
            </a:r>
          </a:p>
        </p:txBody>
      </p:sp>
      <p:sp>
        <p:nvSpPr>
          <p:cNvPr id="3" name="Content Placeholder 2">
            <a:extLst>
              <a:ext uri="{FF2B5EF4-FFF2-40B4-BE49-F238E27FC236}">
                <a16:creationId xmlns:a16="http://schemas.microsoft.com/office/drawing/2014/main" id="{451EBB76-A308-E093-6FB6-7E2A4F701678}"/>
              </a:ext>
            </a:extLst>
          </p:cNvPr>
          <p:cNvSpPr>
            <a:spLocks noGrp="1"/>
          </p:cNvSpPr>
          <p:nvPr>
            <p:ph idx="1"/>
          </p:nvPr>
        </p:nvSpPr>
        <p:spPr>
          <a:xfrm>
            <a:off x="573241" y="2186652"/>
            <a:ext cx="10869248" cy="4096363"/>
          </a:xfrm>
        </p:spPr>
        <p:txBody>
          <a:bodyPr>
            <a:normAutofit/>
          </a:bodyPr>
          <a:lstStyle/>
          <a:p>
            <a:pPr algn="l" fontAlgn="base"/>
            <a:r>
              <a:rPr lang="en-US" sz="1800" i="0" dirty="0">
                <a:solidFill>
                  <a:srgbClr val="3D3B49"/>
                </a:solidFill>
                <a:effectLst/>
              </a:rPr>
              <a:t>Models that can predict labels based on </a:t>
            </a:r>
            <a:r>
              <a:rPr lang="en-US" sz="1800" i="0" u="sng" dirty="0">
                <a:solidFill>
                  <a:srgbClr val="3D3B49"/>
                </a:solidFill>
                <a:effectLst/>
              </a:rPr>
              <a:t>labelled training data.</a:t>
            </a:r>
          </a:p>
          <a:p>
            <a:pPr algn="l" fontAlgn="base"/>
            <a:endParaRPr lang="en-US" sz="1800" i="0" u="sng" dirty="0">
              <a:solidFill>
                <a:srgbClr val="3D3B49"/>
              </a:solidFill>
              <a:effectLst/>
            </a:endParaRPr>
          </a:p>
          <a:p>
            <a:pPr marL="571500" lvl="1" indent="-342900" fontAlgn="base">
              <a:buFont typeface="Arial" panose="020B0604020202020204" pitchFamily="34" charset="0"/>
              <a:buChar char="•"/>
            </a:pPr>
            <a:r>
              <a:rPr lang="en-US" i="0" dirty="0">
                <a:solidFill>
                  <a:srgbClr val="3D3B49"/>
                </a:solidFill>
                <a:effectLst/>
                <a:highlight>
                  <a:srgbClr val="FFFF00"/>
                </a:highlight>
              </a:rPr>
              <a:t>Classification</a:t>
            </a:r>
            <a:r>
              <a:rPr lang="en-US" i="0" dirty="0">
                <a:solidFill>
                  <a:srgbClr val="3D3B49"/>
                </a:solidFill>
                <a:effectLst/>
              </a:rPr>
              <a:t>: Models that predict labels as </a:t>
            </a:r>
            <a:r>
              <a:rPr lang="en-US" i="0" dirty="0">
                <a:effectLst/>
              </a:rPr>
              <a:t>two or more </a:t>
            </a:r>
            <a:r>
              <a:rPr lang="en-US" i="0" dirty="0">
                <a:solidFill>
                  <a:srgbClr val="FF0000"/>
                </a:solidFill>
                <a:effectLst/>
              </a:rPr>
              <a:t>discrete categories</a:t>
            </a:r>
            <a:r>
              <a:rPr lang="en-US" i="0" dirty="0">
                <a:solidFill>
                  <a:srgbClr val="3D3B49"/>
                </a:solidFill>
                <a:effectLst/>
              </a:rPr>
              <a:t>.</a:t>
            </a:r>
          </a:p>
          <a:p>
            <a:pPr marL="800100" lvl="2" indent="-342900" fontAlgn="base">
              <a:buFont typeface="Arial" panose="020B0604020202020204" pitchFamily="34" charset="0"/>
              <a:buChar char="•"/>
            </a:pPr>
            <a:r>
              <a:rPr lang="en-US" i="0" dirty="0">
                <a:solidFill>
                  <a:srgbClr val="3D3B49"/>
                </a:solidFill>
                <a:effectLst/>
              </a:rPr>
              <a:t>Email spam classification: Given an email, classify it as either spam or not spam. </a:t>
            </a:r>
          </a:p>
          <a:p>
            <a:pPr marL="800100" lvl="2" indent="-342900" fontAlgn="base">
              <a:buFont typeface="Arial" panose="020B0604020202020204" pitchFamily="34" charset="0"/>
              <a:buChar char="•"/>
            </a:pPr>
            <a:r>
              <a:rPr lang="en-US" i="0" dirty="0">
                <a:solidFill>
                  <a:srgbClr val="3D3B49"/>
                </a:solidFill>
                <a:effectLst/>
              </a:rPr>
              <a:t>Image classification: Given an image, classify it into one of several categories, such as dogs, cats, birds, etc. </a:t>
            </a:r>
          </a:p>
          <a:p>
            <a:pPr lvl="2" fontAlgn="base"/>
            <a:endParaRPr lang="en-US" i="0" dirty="0">
              <a:solidFill>
                <a:srgbClr val="3D3B49"/>
              </a:solidFill>
              <a:effectLst/>
            </a:endParaRPr>
          </a:p>
          <a:p>
            <a:pPr marL="571500" lvl="1" indent="-342900" fontAlgn="base">
              <a:buFont typeface="Arial" panose="020B0604020202020204" pitchFamily="34" charset="0"/>
              <a:buChar char="•"/>
            </a:pPr>
            <a:r>
              <a:rPr lang="en-US" i="0" dirty="0">
                <a:solidFill>
                  <a:srgbClr val="3D3B49"/>
                </a:solidFill>
                <a:effectLst/>
                <a:highlight>
                  <a:srgbClr val="FFFF00"/>
                </a:highlight>
              </a:rPr>
              <a:t>Regression</a:t>
            </a:r>
            <a:r>
              <a:rPr lang="en-US" i="0" dirty="0">
                <a:solidFill>
                  <a:srgbClr val="3D3B49"/>
                </a:solidFill>
                <a:effectLst/>
              </a:rPr>
              <a:t>: Models that predict </a:t>
            </a:r>
            <a:r>
              <a:rPr lang="en-US" i="0" dirty="0">
                <a:solidFill>
                  <a:srgbClr val="FF0000"/>
                </a:solidFill>
                <a:effectLst/>
              </a:rPr>
              <a:t>continuous values</a:t>
            </a:r>
            <a:r>
              <a:rPr lang="en-US" i="0" dirty="0">
                <a:solidFill>
                  <a:srgbClr val="3D3B49"/>
                </a:solidFill>
                <a:effectLst/>
              </a:rPr>
              <a:t>.</a:t>
            </a:r>
          </a:p>
          <a:p>
            <a:pPr marL="800100" lvl="2" indent="-342900" fontAlgn="base">
              <a:buFont typeface="Arial" panose="020B0604020202020204" pitchFamily="34" charset="0"/>
              <a:buChar char="•"/>
            </a:pPr>
            <a:r>
              <a:rPr lang="en-US" i="0" dirty="0">
                <a:solidFill>
                  <a:srgbClr val="3D3B49"/>
                </a:solidFill>
                <a:effectLst/>
              </a:rPr>
              <a:t>House price prediction: Given a set of features such as the number of bedrooms, bathrooms, square footage, etc., predict the selling price of a house.</a:t>
            </a:r>
          </a:p>
          <a:p>
            <a:pPr marL="800100" lvl="2" indent="-342900" fontAlgn="base">
              <a:buFont typeface="Arial" panose="020B0604020202020204" pitchFamily="34" charset="0"/>
              <a:buChar char="•"/>
            </a:pPr>
            <a:r>
              <a:rPr lang="en-US" i="0" dirty="0">
                <a:solidFill>
                  <a:srgbClr val="3D3B49"/>
                </a:solidFill>
                <a:effectLst/>
              </a:rPr>
              <a:t>Stock price prediction: Given historical stock prices, predict the future stock prices. </a:t>
            </a:r>
          </a:p>
          <a:p>
            <a:pPr lvl="1" fontAlgn="base"/>
            <a:endParaRPr lang="en-US" sz="2000" i="0" dirty="0">
              <a:solidFill>
                <a:srgbClr val="3D3B49"/>
              </a:solidFill>
              <a:effectLst/>
            </a:endParaRPr>
          </a:p>
        </p:txBody>
      </p:sp>
    </p:spTree>
    <p:extLst>
      <p:ext uri="{BB962C8B-B14F-4D97-AF65-F5344CB8AC3E}">
        <p14:creationId xmlns:p14="http://schemas.microsoft.com/office/powerpoint/2010/main" val="1881285998"/>
      </p:ext>
    </p:extLst>
  </p:cSld>
  <p:clrMapOvr>
    <a:masterClrMapping/>
  </p:clrMapOvr>
  <mc:AlternateContent xmlns:mc="http://schemas.openxmlformats.org/markup-compatibility/2006" xmlns:p14="http://schemas.microsoft.com/office/powerpoint/2010/main">
    <mc:Choice Requires="p14">
      <p:transition spd="slow" p14:dur="2000" advTm="245972"/>
    </mc:Choice>
    <mc:Fallback xmlns="">
      <p:transition spd="slow" advTm="24597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1FDA3-45C1-8AD4-720A-9EE5D73A2FB1}"/>
              </a:ext>
            </a:extLst>
          </p:cNvPr>
          <p:cNvSpPr>
            <a:spLocks noGrp="1"/>
          </p:cNvSpPr>
          <p:nvPr>
            <p:ph type="title"/>
          </p:nvPr>
        </p:nvSpPr>
        <p:spPr>
          <a:xfrm>
            <a:off x="219133" y="0"/>
            <a:ext cx="10869248" cy="1205491"/>
          </a:xfrm>
        </p:spPr>
        <p:txBody>
          <a:bodyPr>
            <a:normAutofit fontScale="90000"/>
          </a:bodyPr>
          <a:lstStyle/>
          <a:p>
            <a:r>
              <a:rPr lang="en-US" dirty="0"/>
              <a:t>Machine Learning: Unsupervised Learning</a:t>
            </a:r>
          </a:p>
        </p:txBody>
      </p:sp>
      <p:sp>
        <p:nvSpPr>
          <p:cNvPr id="3" name="Content Placeholder 2">
            <a:extLst>
              <a:ext uri="{FF2B5EF4-FFF2-40B4-BE49-F238E27FC236}">
                <a16:creationId xmlns:a16="http://schemas.microsoft.com/office/drawing/2014/main" id="{451EBB76-A308-E093-6FB6-7E2A4F701678}"/>
              </a:ext>
            </a:extLst>
          </p:cNvPr>
          <p:cNvSpPr>
            <a:spLocks noGrp="1"/>
          </p:cNvSpPr>
          <p:nvPr>
            <p:ph idx="1"/>
          </p:nvPr>
        </p:nvSpPr>
        <p:spPr>
          <a:xfrm>
            <a:off x="297027" y="1839086"/>
            <a:ext cx="11375754" cy="4818087"/>
          </a:xfrm>
        </p:spPr>
        <p:txBody>
          <a:bodyPr>
            <a:noAutofit/>
          </a:bodyPr>
          <a:lstStyle/>
          <a:p>
            <a:pPr algn="l" fontAlgn="base"/>
            <a:r>
              <a:rPr lang="en-US" sz="1800" i="0" dirty="0">
                <a:solidFill>
                  <a:srgbClr val="3D3B49"/>
                </a:solidFill>
                <a:effectLst/>
              </a:rPr>
              <a:t>Models that identify structure in </a:t>
            </a:r>
            <a:r>
              <a:rPr lang="en-US" sz="1800" i="0" dirty="0">
                <a:solidFill>
                  <a:srgbClr val="3D3B49"/>
                </a:solidFill>
                <a:effectLst/>
                <a:highlight>
                  <a:srgbClr val="FFFF00"/>
                </a:highlight>
              </a:rPr>
              <a:t>unlabeled</a:t>
            </a:r>
            <a:r>
              <a:rPr lang="en-US" sz="1800" i="0" dirty="0">
                <a:solidFill>
                  <a:srgbClr val="3D3B49"/>
                </a:solidFill>
                <a:effectLst/>
              </a:rPr>
              <a:t> data:</a:t>
            </a:r>
          </a:p>
          <a:p>
            <a:pPr algn="l" fontAlgn="base"/>
            <a:endParaRPr lang="en-US" sz="1800" i="0" dirty="0">
              <a:solidFill>
                <a:srgbClr val="3D3B49"/>
              </a:solidFill>
              <a:effectLst/>
            </a:endParaRPr>
          </a:p>
          <a:p>
            <a:pPr marL="571500" lvl="1" indent="-342900" fontAlgn="base">
              <a:buFont typeface="Arial" panose="020B0604020202020204" pitchFamily="34" charset="0"/>
              <a:buChar char="•"/>
            </a:pPr>
            <a:r>
              <a:rPr lang="en-US" i="0" dirty="0">
                <a:solidFill>
                  <a:srgbClr val="3D3B49"/>
                </a:solidFill>
                <a:effectLst/>
                <a:highlight>
                  <a:srgbClr val="FFFF00"/>
                </a:highlight>
              </a:rPr>
              <a:t>Clustering</a:t>
            </a:r>
            <a:r>
              <a:rPr lang="en-US" i="0" dirty="0">
                <a:solidFill>
                  <a:srgbClr val="3D3B49"/>
                </a:solidFill>
                <a:effectLst/>
              </a:rPr>
              <a:t>: Models that detect and </a:t>
            </a:r>
            <a:r>
              <a:rPr lang="en-US" i="0" dirty="0">
                <a:solidFill>
                  <a:srgbClr val="FF0000"/>
                </a:solidFill>
                <a:effectLst/>
              </a:rPr>
              <a:t>identify distinct groups</a:t>
            </a:r>
            <a:r>
              <a:rPr lang="en-US" i="0" dirty="0">
                <a:solidFill>
                  <a:srgbClr val="3D3B49"/>
                </a:solidFill>
                <a:effectLst/>
              </a:rPr>
              <a:t> in the data</a:t>
            </a:r>
          </a:p>
          <a:p>
            <a:pPr marL="800100" lvl="2" indent="-342900" fontAlgn="base">
              <a:buFont typeface="Arial" panose="020B0604020202020204" pitchFamily="34" charset="0"/>
              <a:buChar char="•"/>
            </a:pPr>
            <a:r>
              <a:rPr lang="en-US" i="0" dirty="0">
                <a:solidFill>
                  <a:srgbClr val="3D3B49"/>
                </a:solidFill>
                <a:effectLst/>
              </a:rPr>
              <a:t>Customer segmentation: To segment </a:t>
            </a:r>
            <a:r>
              <a:rPr lang="en-US" i="0" dirty="0">
                <a:solidFill>
                  <a:srgbClr val="3D3B49"/>
                </a:solidFill>
                <a:effectLst/>
                <a:highlight>
                  <a:srgbClr val="FFFF00"/>
                </a:highlight>
              </a:rPr>
              <a:t>customers into groups </a:t>
            </a:r>
            <a:r>
              <a:rPr lang="en-US" i="0" dirty="0">
                <a:solidFill>
                  <a:srgbClr val="3D3B49"/>
                </a:solidFill>
                <a:effectLst/>
              </a:rPr>
              <a:t>based on similarities in their </a:t>
            </a:r>
            <a:r>
              <a:rPr lang="en-US" i="0" dirty="0" err="1">
                <a:solidFill>
                  <a:srgbClr val="3D3B49"/>
                </a:solidFill>
                <a:effectLst/>
              </a:rPr>
              <a:t>behaviour</a:t>
            </a:r>
            <a:r>
              <a:rPr lang="en-US" i="0" dirty="0">
                <a:solidFill>
                  <a:srgbClr val="3D3B49"/>
                </a:solidFill>
                <a:effectLst/>
              </a:rPr>
              <a:t>, preferences, demographics, or purchase history. </a:t>
            </a:r>
          </a:p>
          <a:p>
            <a:pPr marL="800100" lvl="2" indent="-342900" fontAlgn="base">
              <a:buFont typeface="Arial" panose="020B0604020202020204" pitchFamily="34" charset="0"/>
              <a:buChar char="•"/>
            </a:pPr>
            <a:r>
              <a:rPr lang="en-US" i="0" dirty="0">
                <a:solidFill>
                  <a:srgbClr val="3D3B49"/>
                </a:solidFill>
                <a:effectLst/>
              </a:rPr>
              <a:t>Image segmentation: To identify different </a:t>
            </a:r>
            <a:r>
              <a:rPr lang="en-US" i="0" dirty="0">
                <a:solidFill>
                  <a:srgbClr val="3D3B49"/>
                </a:solidFill>
                <a:effectLst/>
                <a:highlight>
                  <a:srgbClr val="FFFF00"/>
                </a:highlight>
              </a:rPr>
              <a:t>objects in an image</a:t>
            </a:r>
            <a:r>
              <a:rPr lang="en-US" i="0" dirty="0">
                <a:solidFill>
                  <a:srgbClr val="3D3B49"/>
                </a:solidFill>
                <a:effectLst/>
              </a:rPr>
              <a:t>, such as cars, people, or animals. This can be useful for tasks like object recognition, image search, or autonomous driving.</a:t>
            </a:r>
          </a:p>
          <a:p>
            <a:pPr marL="571500" lvl="1" indent="-342900" fontAlgn="base">
              <a:buFont typeface="Arial" panose="020B0604020202020204" pitchFamily="34" charset="0"/>
              <a:buChar char="•"/>
            </a:pPr>
            <a:r>
              <a:rPr lang="en-US" i="0" dirty="0">
                <a:solidFill>
                  <a:srgbClr val="3D3B49"/>
                </a:solidFill>
                <a:effectLst/>
                <a:highlight>
                  <a:srgbClr val="FFFF00"/>
                </a:highlight>
              </a:rPr>
              <a:t>Dimensionality reduction</a:t>
            </a:r>
            <a:r>
              <a:rPr lang="en-US" i="0" dirty="0">
                <a:solidFill>
                  <a:srgbClr val="3D3B49"/>
                </a:solidFill>
                <a:effectLst/>
              </a:rPr>
              <a:t>: Models that </a:t>
            </a:r>
            <a:r>
              <a:rPr lang="en-US" i="0" dirty="0">
                <a:solidFill>
                  <a:srgbClr val="FF0000"/>
                </a:solidFill>
                <a:effectLst/>
              </a:rPr>
              <a:t>detect and identify lower-dimensional structure </a:t>
            </a:r>
            <a:r>
              <a:rPr lang="en-US" i="0" dirty="0">
                <a:solidFill>
                  <a:srgbClr val="3D3B49"/>
                </a:solidFill>
                <a:effectLst/>
              </a:rPr>
              <a:t>in higher-dimensional data</a:t>
            </a:r>
          </a:p>
          <a:p>
            <a:pPr marL="800100" lvl="2" indent="-342900" fontAlgn="base">
              <a:buFont typeface="Arial" panose="020B0604020202020204" pitchFamily="34" charset="0"/>
              <a:buChar char="•"/>
            </a:pPr>
            <a:r>
              <a:rPr lang="en-US" i="0" dirty="0">
                <a:solidFill>
                  <a:srgbClr val="3D3B49"/>
                </a:solidFill>
                <a:effectLst/>
              </a:rPr>
              <a:t>Face recognition: To </a:t>
            </a:r>
            <a:r>
              <a:rPr lang="en-US" i="0" dirty="0">
                <a:solidFill>
                  <a:srgbClr val="FF0000"/>
                </a:solidFill>
                <a:effectLst/>
              </a:rPr>
              <a:t>extract the most important features from images</a:t>
            </a:r>
            <a:r>
              <a:rPr lang="en-US" i="0" dirty="0">
                <a:solidFill>
                  <a:srgbClr val="3D3B49"/>
                </a:solidFill>
                <a:effectLst/>
              </a:rPr>
              <a:t> to </a:t>
            </a:r>
            <a:r>
              <a:rPr lang="en-US" i="0" dirty="0" err="1">
                <a:solidFill>
                  <a:srgbClr val="3D3B49"/>
                </a:solidFill>
                <a:effectLst/>
              </a:rPr>
              <a:t>recognise</a:t>
            </a:r>
            <a:r>
              <a:rPr lang="en-US" i="0" dirty="0">
                <a:solidFill>
                  <a:srgbClr val="3D3B49"/>
                </a:solidFill>
                <a:effectLst/>
              </a:rPr>
              <a:t> faces. For example, </a:t>
            </a:r>
            <a:r>
              <a:rPr lang="en-US" b="1" i="0" dirty="0">
                <a:solidFill>
                  <a:srgbClr val="3D3B49"/>
                </a:solidFill>
                <a:effectLst/>
              </a:rPr>
              <a:t>Principal Component Analysis (PCA) </a:t>
            </a:r>
            <a:r>
              <a:rPr lang="en-US" i="0" dirty="0">
                <a:solidFill>
                  <a:srgbClr val="3D3B49"/>
                </a:solidFill>
                <a:effectLst/>
              </a:rPr>
              <a:t>can be used to reduce the dimensionality of facial images.</a:t>
            </a:r>
          </a:p>
          <a:p>
            <a:pPr marL="800100" lvl="2" indent="-342900" fontAlgn="base">
              <a:buFont typeface="Arial" panose="020B0604020202020204" pitchFamily="34" charset="0"/>
              <a:buChar char="•"/>
            </a:pPr>
            <a:r>
              <a:rPr lang="en-US" i="0" dirty="0">
                <a:solidFill>
                  <a:srgbClr val="3D3B49"/>
                </a:solidFill>
                <a:effectLst/>
              </a:rPr>
              <a:t>Sentiment analysis: </a:t>
            </a:r>
            <a:r>
              <a:rPr lang="en-US" i="0" dirty="0">
                <a:effectLst/>
              </a:rPr>
              <a:t>To</a:t>
            </a:r>
            <a:r>
              <a:rPr lang="en-US" i="0" dirty="0">
                <a:solidFill>
                  <a:srgbClr val="FF0000"/>
                </a:solidFill>
                <a:effectLst/>
              </a:rPr>
              <a:t> extract the most important features from text </a:t>
            </a:r>
            <a:r>
              <a:rPr lang="en-US" i="0" dirty="0">
                <a:solidFill>
                  <a:srgbClr val="3D3B49"/>
                </a:solidFill>
                <a:effectLst/>
              </a:rPr>
              <a:t>to perform sentiment analysis. For example, </a:t>
            </a:r>
            <a:r>
              <a:rPr lang="en-US" b="1" i="0" dirty="0">
                <a:solidFill>
                  <a:srgbClr val="3D3B49"/>
                </a:solidFill>
                <a:effectLst/>
              </a:rPr>
              <a:t>Singular Value Decomposition (SVD) </a:t>
            </a:r>
            <a:r>
              <a:rPr lang="en-US" i="0" dirty="0">
                <a:solidFill>
                  <a:srgbClr val="3D3B49"/>
                </a:solidFill>
                <a:effectLst/>
              </a:rPr>
              <a:t>can be used to reduce the dimensionality of a document-term matrix. </a:t>
            </a:r>
          </a:p>
        </p:txBody>
      </p:sp>
    </p:spTree>
    <p:extLst>
      <p:ext uri="{BB962C8B-B14F-4D97-AF65-F5344CB8AC3E}">
        <p14:creationId xmlns:p14="http://schemas.microsoft.com/office/powerpoint/2010/main" val="1070125668"/>
      </p:ext>
    </p:extLst>
  </p:cSld>
  <p:clrMapOvr>
    <a:masterClrMapping/>
  </p:clrMapOvr>
  <mc:AlternateContent xmlns:mc="http://schemas.openxmlformats.org/markup-compatibility/2006" xmlns:p14="http://schemas.microsoft.com/office/powerpoint/2010/main">
    <mc:Choice Requires="p14">
      <p:transition spd="slow" p14:dur="2000" advTm="297002"/>
    </mc:Choice>
    <mc:Fallback xmlns="">
      <p:transition spd="slow" advTm="297002"/>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E16F7-F3D3-55D1-86B8-5FCBD3852B57}"/>
              </a:ext>
            </a:extLst>
          </p:cNvPr>
          <p:cNvSpPr>
            <a:spLocks noGrp="1"/>
          </p:cNvSpPr>
          <p:nvPr>
            <p:ph type="title"/>
          </p:nvPr>
        </p:nvSpPr>
        <p:spPr>
          <a:xfrm>
            <a:off x="185449" y="120625"/>
            <a:ext cx="10869248" cy="1205491"/>
          </a:xfrm>
        </p:spPr>
        <p:txBody>
          <a:bodyPr>
            <a:normAutofit fontScale="90000"/>
          </a:bodyPr>
          <a:lstStyle/>
          <a:p>
            <a:r>
              <a:rPr lang="en-US" dirty="0"/>
              <a:t>Natural Language Processing: What is NLP?</a:t>
            </a:r>
          </a:p>
        </p:txBody>
      </p:sp>
      <p:sp>
        <p:nvSpPr>
          <p:cNvPr id="3" name="Content Placeholder 2">
            <a:extLst>
              <a:ext uri="{FF2B5EF4-FFF2-40B4-BE49-F238E27FC236}">
                <a16:creationId xmlns:a16="http://schemas.microsoft.com/office/drawing/2014/main" id="{924DCEF7-542A-CE8B-E53B-25E0D6E6F5A6}"/>
              </a:ext>
            </a:extLst>
          </p:cNvPr>
          <p:cNvSpPr>
            <a:spLocks noGrp="1"/>
          </p:cNvSpPr>
          <p:nvPr>
            <p:ph idx="1"/>
          </p:nvPr>
        </p:nvSpPr>
        <p:spPr>
          <a:xfrm>
            <a:off x="484552" y="2065467"/>
            <a:ext cx="5560328" cy="4096363"/>
          </a:xfrm>
        </p:spPr>
        <p:txBody>
          <a:bodyPr>
            <a:normAutofit/>
          </a:bodyPr>
          <a:lstStyle/>
          <a:p>
            <a:pPr marL="342900" indent="-342900">
              <a:buFont typeface="Arial" panose="020B0604020202020204" pitchFamily="34" charset="0"/>
              <a:buChar char="•"/>
            </a:pPr>
            <a:r>
              <a:rPr lang="en-US" sz="1800" dirty="0"/>
              <a:t>Enables computers to </a:t>
            </a:r>
            <a:r>
              <a:rPr lang="en-US" sz="1800" dirty="0">
                <a:highlight>
                  <a:srgbClr val="FFFF00"/>
                </a:highlight>
              </a:rPr>
              <a:t>understand, interpret, and generate human languages</a:t>
            </a:r>
            <a:r>
              <a:rPr lang="en-US" sz="1800" dirty="0"/>
              <a:t>.</a:t>
            </a:r>
          </a:p>
          <a:p>
            <a:pPr marL="342900" indent="-342900">
              <a:buFont typeface="Arial" panose="020B0604020202020204" pitchFamily="34" charset="0"/>
              <a:buChar char="•"/>
            </a:pPr>
            <a:r>
              <a:rPr lang="en-US" sz="1800" dirty="0"/>
              <a:t>Core </a:t>
            </a:r>
            <a:r>
              <a:rPr lang="en-US" sz="1800" dirty="0">
                <a:highlight>
                  <a:srgbClr val="FFFF00"/>
                </a:highlight>
              </a:rPr>
              <a:t>Objectives</a:t>
            </a:r>
            <a:r>
              <a:rPr lang="en-US" sz="1800" dirty="0"/>
              <a:t>:	</a:t>
            </a:r>
          </a:p>
          <a:p>
            <a:pPr marL="571500" lvl="1" indent="-342900">
              <a:buFont typeface="Arial" panose="020B0604020202020204" pitchFamily="34" charset="0"/>
              <a:buChar char="•"/>
            </a:pPr>
            <a:r>
              <a:rPr lang="en-US" sz="1600" dirty="0">
                <a:highlight>
                  <a:srgbClr val="00FFFF"/>
                </a:highlight>
              </a:rPr>
              <a:t>Understanding</a:t>
            </a:r>
            <a:r>
              <a:rPr lang="en-US" sz="1600" dirty="0"/>
              <a:t>: Extract meaning from human language.</a:t>
            </a:r>
          </a:p>
          <a:p>
            <a:pPr marL="571500" lvl="1" indent="-342900">
              <a:buFont typeface="Arial" panose="020B0604020202020204" pitchFamily="34" charset="0"/>
              <a:buChar char="•"/>
            </a:pPr>
            <a:r>
              <a:rPr lang="en-US" sz="1600" dirty="0">
                <a:highlight>
                  <a:srgbClr val="00FFFF"/>
                </a:highlight>
              </a:rPr>
              <a:t>Interaction</a:t>
            </a:r>
            <a:r>
              <a:rPr lang="en-US" sz="1600" dirty="0"/>
              <a:t>: Enable seamless communication between humans and machines.</a:t>
            </a:r>
          </a:p>
          <a:p>
            <a:pPr marL="571500" lvl="1" indent="-342900">
              <a:buFont typeface="Arial" panose="020B0604020202020204" pitchFamily="34" charset="0"/>
              <a:buChar char="•"/>
            </a:pPr>
            <a:r>
              <a:rPr lang="en-US" sz="1600" dirty="0">
                <a:highlight>
                  <a:srgbClr val="00FFFF"/>
                </a:highlight>
              </a:rPr>
              <a:t>Generation</a:t>
            </a:r>
            <a:r>
              <a:rPr lang="en-US" sz="1600" dirty="0"/>
              <a:t>: Produce human-like responses and texts.</a:t>
            </a:r>
          </a:p>
          <a:p>
            <a:pPr marL="342900" indent="-342900">
              <a:buFont typeface="Arial" panose="020B0604020202020204" pitchFamily="34" charset="0"/>
              <a:buChar char="•"/>
            </a:pPr>
            <a:r>
              <a:rPr lang="en-US" sz="1800" dirty="0"/>
              <a:t>Main </a:t>
            </a:r>
            <a:r>
              <a:rPr lang="en-US" sz="1800" dirty="0">
                <a:highlight>
                  <a:srgbClr val="FFFF00"/>
                </a:highlight>
              </a:rPr>
              <a:t>Components</a:t>
            </a:r>
            <a:r>
              <a:rPr lang="en-US" sz="1800" dirty="0"/>
              <a:t>:</a:t>
            </a:r>
          </a:p>
          <a:p>
            <a:pPr marL="571500" lvl="1" indent="-342900">
              <a:buFont typeface="Arial" panose="020B0604020202020204" pitchFamily="34" charset="0"/>
              <a:buChar char="•"/>
            </a:pPr>
            <a:r>
              <a:rPr lang="en-US" sz="1600" dirty="0">
                <a:highlight>
                  <a:srgbClr val="00FFFF"/>
                </a:highlight>
              </a:rPr>
              <a:t>Syntax Analysis</a:t>
            </a:r>
            <a:r>
              <a:rPr lang="en-US" sz="1600" dirty="0"/>
              <a:t>: Grammar, sentence structure.</a:t>
            </a:r>
          </a:p>
          <a:p>
            <a:pPr marL="571500" lvl="1" indent="-342900">
              <a:buFont typeface="Arial" panose="020B0604020202020204" pitchFamily="34" charset="0"/>
              <a:buChar char="•"/>
            </a:pPr>
            <a:r>
              <a:rPr lang="en-US" sz="1600" dirty="0">
                <a:highlight>
                  <a:srgbClr val="00FFFF"/>
                </a:highlight>
              </a:rPr>
              <a:t>Semantic Analysis</a:t>
            </a:r>
            <a:r>
              <a:rPr lang="en-US" sz="1600" dirty="0"/>
              <a:t>: Meaning of words and sentences.</a:t>
            </a:r>
          </a:p>
          <a:p>
            <a:pPr marL="571500" lvl="1" indent="-342900">
              <a:buFont typeface="Arial" panose="020B0604020202020204" pitchFamily="34" charset="0"/>
              <a:buChar char="•"/>
            </a:pPr>
            <a:r>
              <a:rPr lang="en-US" sz="1600" dirty="0">
                <a:highlight>
                  <a:srgbClr val="00FFFF"/>
                </a:highlight>
              </a:rPr>
              <a:t>Pragmatics</a:t>
            </a:r>
            <a:r>
              <a:rPr lang="en-US" sz="1600" dirty="0"/>
              <a:t>: Context and situational understanding.</a:t>
            </a:r>
          </a:p>
          <a:p>
            <a:pPr marL="342900" indent="-34290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3E2F75B8-95BB-C77E-3801-F6955EDF0C6F}"/>
              </a:ext>
            </a:extLst>
          </p:cNvPr>
          <p:cNvPicPr>
            <a:picLocks noChangeAspect="1"/>
          </p:cNvPicPr>
          <p:nvPr/>
        </p:nvPicPr>
        <p:blipFill>
          <a:blip r:embed="rId3"/>
          <a:stretch>
            <a:fillRect/>
          </a:stretch>
        </p:blipFill>
        <p:spPr>
          <a:xfrm>
            <a:off x="6546652" y="2629538"/>
            <a:ext cx="5292308" cy="2968219"/>
          </a:xfrm>
          <a:prstGeom prst="rect">
            <a:avLst/>
          </a:prstGeom>
        </p:spPr>
      </p:pic>
    </p:spTree>
    <p:extLst>
      <p:ext uri="{BB962C8B-B14F-4D97-AF65-F5344CB8AC3E}">
        <p14:creationId xmlns:p14="http://schemas.microsoft.com/office/powerpoint/2010/main" val="2725525269"/>
      </p:ext>
    </p:extLst>
  </p:cSld>
  <p:clrMapOvr>
    <a:masterClrMapping/>
  </p:clrMapOvr>
  <mc:AlternateContent xmlns:mc="http://schemas.openxmlformats.org/markup-compatibility/2006" xmlns:p14="http://schemas.microsoft.com/office/powerpoint/2010/main">
    <mc:Choice Requires="p14">
      <p:transition spd="slow" p14:dur="2000" advTm="121166"/>
    </mc:Choice>
    <mc:Fallback xmlns="">
      <p:transition spd="slow" advTm="1211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arn(inVertical)">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1000"/>
                                        <p:tgtEl>
                                          <p:spTgt spid="3">
                                            <p:txEl>
                                              <p:pRg st="2" end="2"/>
                                            </p:txEl>
                                          </p:spTgt>
                                        </p:tgtEl>
                                      </p:cBhvr>
                                    </p:animEffect>
                                    <p:anim calcmode="lin" valueType="num">
                                      <p:cBhvr>
                                        <p:cTn id="1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8"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wipe(down)">
                                      <p:cBhvr>
                                        <p:cTn id="39" dur="500"/>
                                        <p:tgtEl>
                                          <p:spTgt spid="3">
                                            <p:txEl>
                                              <p:pRg st="6" end="6"/>
                                            </p:txEl>
                                          </p:spTgt>
                                        </p:tgtEl>
                                      </p:cBhvr>
                                    </p:animEffect>
                                  </p:childTnLst>
                                </p:cTn>
                              </p:par>
                              <p:par>
                                <p:cTn id="40" presetID="22" presetClass="entr" presetSubtype="4"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wipe(down)">
                                      <p:cBhvr>
                                        <p:cTn id="4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F15C8E-093E-4823-A12A-001BAA62B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C60494-71A0-4561-A012-BA2338D0D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295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AE16F7-F3D3-55D1-86B8-5FCBD3852B57}"/>
              </a:ext>
            </a:extLst>
          </p:cNvPr>
          <p:cNvSpPr>
            <a:spLocks noGrp="1"/>
          </p:cNvSpPr>
          <p:nvPr>
            <p:ph type="title"/>
          </p:nvPr>
        </p:nvSpPr>
        <p:spPr>
          <a:xfrm>
            <a:off x="484552" y="365125"/>
            <a:ext cx="10869248" cy="1570831"/>
          </a:xfrm>
        </p:spPr>
        <p:txBody>
          <a:bodyPr>
            <a:normAutofit/>
          </a:bodyPr>
          <a:lstStyle/>
          <a:p>
            <a:r>
              <a:rPr lang="en-US" dirty="0"/>
              <a:t>Natural Language Processing: </a:t>
            </a:r>
            <a:br>
              <a:rPr lang="en-US" dirty="0"/>
            </a:br>
            <a:r>
              <a:rPr lang="en-US" dirty="0"/>
              <a:t>Key Challenges</a:t>
            </a:r>
          </a:p>
        </p:txBody>
      </p:sp>
      <p:graphicFrame>
        <p:nvGraphicFramePr>
          <p:cNvPr id="5" name="Content Placeholder 2">
            <a:extLst>
              <a:ext uri="{FF2B5EF4-FFF2-40B4-BE49-F238E27FC236}">
                <a16:creationId xmlns:a16="http://schemas.microsoft.com/office/drawing/2014/main" id="{22930011-A80A-BF9F-48E0-7491BCB3EBD3}"/>
              </a:ext>
            </a:extLst>
          </p:cNvPr>
          <p:cNvGraphicFramePr>
            <a:graphicFrameLocks noGrp="1"/>
          </p:cNvGraphicFramePr>
          <p:nvPr>
            <p:ph idx="1"/>
            <p:extLst>
              <p:ext uri="{D42A27DB-BD31-4B8C-83A1-F6EECF244321}">
                <p14:modId xmlns:p14="http://schemas.microsoft.com/office/powerpoint/2010/main" val="519664459"/>
              </p:ext>
            </p:extLst>
          </p:nvPr>
        </p:nvGraphicFramePr>
        <p:xfrm>
          <a:off x="427383" y="2713383"/>
          <a:ext cx="11380304" cy="3414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3556232"/>
      </p:ext>
    </p:extLst>
  </p:cSld>
  <p:clrMapOvr>
    <a:masterClrMapping/>
  </p:clrMapOvr>
  <mc:AlternateContent xmlns:mc="http://schemas.openxmlformats.org/markup-compatibility/2006" xmlns:p14="http://schemas.microsoft.com/office/powerpoint/2010/main">
    <mc:Choice Requires="p14">
      <p:transition spd="slow" p14:dur="2000" advTm="42715"/>
    </mc:Choice>
    <mc:Fallback xmlns="">
      <p:transition spd="slow" advTm="427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0793-F3E5-2EEC-4629-B865713926B9}"/>
              </a:ext>
            </a:extLst>
          </p:cNvPr>
          <p:cNvSpPr>
            <a:spLocks noGrp="1"/>
          </p:cNvSpPr>
          <p:nvPr>
            <p:ph type="title"/>
          </p:nvPr>
        </p:nvSpPr>
        <p:spPr>
          <a:xfrm>
            <a:off x="367594" y="0"/>
            <a:ext cx="10869248" cy="1205491"/>
          </a:xfrm>
        </p:spPr>
        <p:txBody>
          <a:bodyPr>
            <a:normAutofit/>
          </a:bodyPr>
          <a:lstStyle/>
          <a:p>
            <a:r>
              <a:rPr lang="en-US" dirty="0"/>
              <a:t>What is Data Science?</a:t>
            </a:r>
          </a:p>
        </p:txBody>
      </p:sp>
      <p:pic>
        <p:nvPicPr>
          <p:cNvPr id="15" name="Picture 2" descr="Artificial Intelligence vs. Machine Learning vs. Data Science">
            <a:extLst>
              <a:ext uri="{FF2B5EF4-FFF2-40B4-BE49-F238E27FC236}">
                <a16:creationId xmlns:a16="http://schemas.microsoft.com/office/drawing/2014/main" id="{B183620D-625B-B5A9-3AD3-B9FC1877D5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08" b="1"/>
          <a:stretch/>
        </p:blipFill>
        <p:spPr bwMode="auto">
          <a:xfrm>
            <a:off x="2383089" y="2196162"/>
            <a:ext cx="6004556" cy="450943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C4A16D5-F85B-80CC-5316-8600A0F0B584}"/>
              </a:ext>
            </a:extLst>
          </p:cNvPr>
          <p:cNvSpPr txBox="1"/>
          <p:nvPr/>
        </p:nvSpPr>
        <p:spPr>
          <a:xfrm>
            <a:off x="4741331" y="6457421"/>
            <a:ext cx="3518631" cy="215444"/>
          </a:xfrm>
          <a:prstGeom prst="rect">
            <a:avLst/>
          </a:prstGeom>
          <a:noFill/>
        </p:spPr>
        <p:txBody>
          <a:bodyPr wrap="square">
            <a:spAutoFit/>
          </a:bodyPr>
          <a:lstStyle/>
          <a:p>
            <a:r>
              <a:rPr lang="en-US" sz="800" dirty="0">
                <a:hlinkClick r:id="rId4"/>
              </a:rPr>
              <a:t>https://www.deviq.io/</a:t>
            </a:r>
            <a:r>
              <a:rPr lang="en-US" sz="800" dirty="0"/>
              <a:t> </a:t>
            </a:r>
          </a:p>
        </p:txBody>
      </p:sp>
    </p:spTree>
    <p:extLst>
      <p:ext uri="{BB962C8B-B14F-4D97-AF65-F5344CB8AC3E}">
        <p14:creationId xmlns:p14="http://schemas.microsoft.com/office/powerpoint/2010/main" val="1827724891"/>
      </p:ext>
    </p:extLst>
  </p:cSld>
  <p:clrMapOvr>
    <a:masterClrMapping/>
  </p:clrMapOvr>
  <mc:AlternateContent xmlns:mc="http://schemas.openxmlformats.org/markup-compatibility/2006" xmlns:p14="http://schemas.microsoft.com/office/powerpoint/2010/main">
    <mc:Choice Requires="p14">
      <p:transition spd="slow" p14:dur="2000" advTm="70180"/>
    </mc:Choice>
    <mc:Fallback xmlns="">
      <p:transition spd="slow" advTm="7018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0793-F3E5-2EEC-4629-B865713926B9}"/>
              </a:ext>
            </a:extLst>
          </p:cNvPr>
          <p:cNvSpPr>
            <a:spLocks noGrp="1"/>
          </p:cNvSpPr>
          <p:nvPr>
            <p:ph type="title"/>
          </p:nvPr>
        </p:nvSpPr>
        <p:spPr>
          <a:xfrm>
            <a:off x="484552" y="400579"/>
            <a:ext cx="10869248" cy="1205491"/>
          </a:xfrm>
        </p:spPr>
        <p:txBody>
          <a:bodyPr>
            <a:normAutofit fontScale="90000"/>
          </a:bodyPr>
          <a:lstStyle/>
          <a:p>
            <a:r>
              <a:rPr lang="en-US"/>
              <a:t>What is Data Science?</a:t>
            </a:r>
            <a:br>
              <a:rPr lang="en-US"/>
            </a:br>
            <a:r>
              <a:rPr lang="en-US"/>
              <a:t>There are Different Definitions</a:t>
            </a:r>
            <a:endParaRPr lang="en-US" dirty="0"/>
          </a:p>
        </p:txBody>
      </p:sp>
      <p:graphicFrame>
        <p:nvGraphicFramePr>
          <p:cNvPr id="13" name="Content Placeholder 2">
            <a:extLst>
              <a:ext uri="{FF2B5EF4-FFF2-40B4-BE49-F238E27FC236}">
                <a16:creationId xmlns:a16="http://schemas.microsoft.com/office/drawing/2014/main" id="{BFF16413-1A7F-F71C-3E6B-EBD0EEE450DF}"/>
              </a:ext>
            </a:extLst>
          </p:cNvPr>
          <p:cNvGraphicFramePr>
            <a:graphicFrameLocks noGrp="1"/>
          </p:cNvGraphicFramePr>
          <p:nvPr>
            <p:ph idx="1"/>
          </p:nvPr>
        </p:nvGraphicFramePr>
        <p:xfrm>
          <a:off x="484552" y="2470068"/>
          <a:ext cx="10869248" cy="36917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7926396"/>
      </p:ext>
    </p:extLst>
  </p:cSld>
  <p:clrMapOvr>
    <a:masterClrMapping/>
  </p:clrMapOvr>
  <mc:AlternateContent xmlns:mc="http://schemas.openxmlformats.org/markup-compatibility/2006" xmlns:p14="http://schemas.microsoft.com/office/powerpoint/2010/main">
    <mc:Choice Requires="p14">
      <p:transition spd="slow" p14:dur="2000" advTm="42784"/>
    </mc:Choice>
    <mc:Fallback xmlns="">
      <p:transition spd="slow" advTm="4278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8DDAA74B-8E81-4F15-BC0F-4050965FF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0">
            <a:extLst>
              <a:ext uri="{FF2B5EF4-FFF2-40B4-BE49-F238E27FC236}">
                <a16:creationId xmlns:a16="http://schemas.microsoft.com/office/drawing/2014/main" id="{66A2B6FF-98AF-4A0F-AAA9-F291A7D2D5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6083644" cy="3429000"/>
            <a:chOff x="6096002" y="-9073"/>
            <a:chExt cx="6095998" cy="6867073"/>
          </a:xfrm>
        </p:grpSpPr>
        <p:sp>
          <p:nvSpPr>
            <p:cNvPr id="12" name="Rectangle 11">
              <a:extLst>
                <a:ext uri="{FF2B5EF4-FFF2-40B4-BE49-F238E27FC236}">
                  <a16:creationId xmlns:a16="http://schemas.microsoft.com/office/drawing/2014/main" id="{53A2D870-BA00-4DBB-BF6E-782BAFEDC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FD376E6-424C-4887-B673-6B4126758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374CD4C6-F07B-411C-876A-727559731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83644"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EBDF85-B983-E06B-A7ED-E0988C0237A5}"/>
              </a:ext>
            </a:extLst>
          </p:cNvPr>
          <p:cNvSpPr>
            <a:spLocks noGrp="1"/>
          </p:cNvSpPr>
          <p:nvPr>
            <p:ph type="title"/>
          </p:nvPr>
        </p:nvSpPr>
        <p:spPr>
          <a:xfrm>
            <a:off x="484552" y="365125"/>
            <a:ext cx="5022630" cy="2430030"/>
          </a:xfrm>
        </p:spPr>
        <p:txBody>
          <a:bodyPr>
            <a:normAutofit/>
          </a:bodyPr>
          <a:lstStyle/>
          <a:p>
            <a:r>
              <a:rPr lang="en-US" dirty="0"/>
              <a:t>What is Data Science?</a:t>
            </a:r>
            <a:br>
              <a:rPr lang="en-US" dirty="0"/>
            </a:br>
            <a:r>
              <a:rPr lang="en-US" dirty="0"/>
              <a:t>NIST’s definition</a:t>
            </a:r>
          </a:p>
        </p:txBody>
      </p:sp>
      <p:sp>
        <p:nvSpPr>
          <p:cNvPr id="3" name="Content Placeholder 2">
            <a:extLst>
              <a:ext uri="{FF2B5EF4-FFF2-40B4-BE49-F238E27FC236}">
                <a16:creationId xmlns:a16="http://schemas.microsoft.com/office/drawing/2014/main" id="{4323EA54-2E28-D147-57A9-B5653F375F77}"/>
              </a:ext>
            </a:extLst>
          </p:cNvPr>
          <p:cNvSpPr>
            <a:spLocks noGrp="1"/>
          </p:cNvSpPr>
          <p:nvPr>
            <p:ph idx="1"/>
          </p:nvPr>
        </p:nvSpPr>
        <p:spPr>
          <a:xfrm>
            <a:off x="484551" y="3715399"/>
            <a:ext cx="5197791" cy="2306349"/>
          </a:xfrm>
        </p:spPr>
        <p:txBody>
          <a:bodyPr>
            <a:noAutofit/>
          </a:bodyPr>
          <a:lstStyle/>
          <a:p>
            <a:pPr>
              <a:lnSpc>
                <a:spcPct val="110000"/>
              </a:lnSpc>
            </a:pPr>
            <a:r>
              <a:rPr lang="en-US" sz="2400" dirty="0"/>
              <a:t>NIST’s definition: “</a:t>
            </a:r>
            <a:r>
              <a:rPr lang="en-US" sz="2400" i="1" dirty="0"/>
              <a:t>Data science is the </a:t>
            </a:r>
            <a:r>
              <a:rPr lang="en-US" sz="2400" i="1" u="sng" dirty="0"/>
              <a:t>methodology</a:t>
            </a:r>
            <a:r>
              <a:rPr lang="en-US" sz="2400" i="1" dirty="0"/>
              <a:t> for the synthesis of useful knowledge directly from data through a process of </a:t>
            </a:r>
            <a:r>
              <a:rPr lang="en-US" sz="2400" i="1" u="sng" dirty="0"/>
              <a:t>discovery</a:t>
            </a:r>
            <a:r>
              <a:rPr lang="en-US" sz="2400" i="1" dirty="0"/>
              <a:t> or of </a:t>
            </a:r>
            <a:r>
              <a:rPr lang="en-US" sz="2400" i="1" u="sng" dirty="0"/>
              <a:t>hypothesis formulation </a:t>
            </a:r>
            <a:r>
              <a:rPr lang="en-US" sz="2400" i="1" dirty="0"/>
              <a:t>and </a:t>
            </a:r>
            <a:r>
              <a:rPr lang="en-US" sz="2400" i="1" u="sng" dirty="0"/>
              <a:t>hypothesis testing</a:t>
            </a:r>
            <a:r>
              <a:rPr lang="en-US" sz="2400" i="1" dirty="0"/>
              <a:t>.”</a:t>
            </a:r>
          </a:p>
          <a:p>
            <a:pPr>
              <a:lnSpc>
                <a:spcPct val="110000"/>
              </a:lnSpc>
            </a:pPr>
            <a:endParaRPr lang="en-US" sz="2400" dirty="0"/>
          </a:p>
        </p:txBody>
      </p:sp>
      <p:pic>
        <p:nvPicPr>
          <p:cNvPr id="4" name="Picture 3" descr="A white cover with black text&#10;&#10;Description automatically generated">
            <a:extLst>
              <a:ext uri="{FF2B5EF4-FFF2-40B4-BE49-F238E27FC236}">
                <a16:creationId xmlns:a16="http://schemas.microsoft.com/office/drawing/2014/main" id="{40DC58D6-B8E7-8D60-8D0A-DE92B34F736C}"/>
              </a:ext>
            </a:extLst>
          </p:cNvPr>
          <p:cNvPicPr>
            <a:picLocks noChangeAspect="1"/>
          </p:cNvPicPr>
          <p:nvPr/>
        </p:nvPicPr>
        <p:blipFill>
          <a:blip r:embed="rId3"/>
          <a:stretch>
            <a:fillRect/>
          </a:stretch>
        </p:blipFill>
        <p:spPr>
          <a:xfrm>
            <a:off x="6412992" y="257659"/>
            <a:ext cx="5294456" cy="6398137"/>
          </a:xfrm>
          <a:prstGeom prst="rect">
            <a:avLst/>
          </a:prstGeom>
        </p:spPr>
      </p:pic>
    </p:spTree>
    <p:extLst>
      <p:ext uri="{BB962C8B-B14F-4D97-AF65-F5344CB8AC3E}">
        <p14:creationId xmlns:p14="http://schemas.microsoft.com/office/powerpoint/2010/main" val="282250712"/>
      </p:ext>
    </p:extLst>
  </p:cSld>
  <p:clrMapOvr>
    <a:masterClrMapping/>
  </p:clrMapOvr>
  <mc:AlternateContent xmlns:mc="http://schemas.openxmlformats.org/markup-compatibility/2006" xmlns:p14="http://schemas.microsoft.com/office/powerpoint/2010/main">
    <mc:Choice Requires="p14">
      <p:transition spd="slow" p14:dur="2000" advTm="41586"/>
    </mc:Choice>
    <mc:Fallback xmlns="">
      <p:transition spd="slow" advTm="4158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DAA74B-8E81-4F15-BC0F-4050965FF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6A2B6FF-98AF-4A0F-AAA9-F291A7D2D5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6083644" cy="3429000"/>
            <a:chOff x="6096002" y="-9073"/>
            <a:chExt cx="6095998" cy="6867073"/>
          </a:xfrm>
        </p:grpSpPr>
        <p:sp>
          <p:nvSpPr>
            <p:cNvPr id="12" name="Rectangle 11">
              <a:extLst>
                <a:ext uri="{FF2B5EF4-FFF2-40B4-BE49-F238E27FC236}">
                  <a16:creationId xmlns:a16="http://schemas.microsoft.com/office/drawing/2014/main" id="{53A2D870-BA00-4DBB-BF6E-782BAFEDC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FD376E6-424C-4887-B673-6B4126758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374CD4C6-F07B-411C-876A-727559731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83644"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FEB760-F3E2-3347-0357-853DAEBE6801}"/>
              </a:ext>
            </a:extLst>
          </p:cNvPr>
          <p:cNvSpPr>
            <a:spLocks noGrp="1"/>
          </p:cNvSpPr>
          <p:nvPr>
            <p:ph type="title"/>
          </p:nvPr>
        </p:nvSpPr>
        <p:spPr>
          <a:xfrm>
            <a:off x="484552" y="365125"/>
            <a:ext cx="5022630" cy="2430030"/>
          </a:xfrm>
        </p:spPr>
        <p:txBody>
          <a:bodyPr>
            <a:normAutofit/>
          </a:bodyPr>
          <a:lstStyle/>
          <a:p>
            <a:r>
              <a:rPr lang="en-US" dirty="0"/>
              <a:t>Who is Data Scientist?</a:t>
            </a:r>
            <a:br>
              <a:rPr lang="en-US" dirty="0"/>
            </a:br>
            <a:r>
              <a:rPr lang="en-US" dirty="0"/>
              <a:t>NIST Definition</a:t>
            </a:r>
          </a:p>
        </p:txBody>
      </p:sp>
      <p:sp>
        <p:nvSpPr>
          <p:cNvPr id="3" name="Content Placeholder 2">
            <a:extLst>
              <a:ext uri="{FF2B5EF4-FFF2-40B4-BE49-F238E27FC236}">
                <a16:creationId xmlns:a16="http://schemas.microsoft.com/office/drawing/2014/main" id="{6F2F8829-B771-3C72-0879-B235A0102D07}"/>
              </a:ext>
            </a:extLst>
          </p:cNvPr>
          <p:cNvSpPr>
            <a:spLocks noGrp="1"/>
          </p:cNvSpPr>
          <p:nvPr>
            <p:ph idx="1"/>
          </p:nvPr>
        </p:nvSpPr>
        <p:spPr>
          <a:xfrm>
            <a:off x="249209" y="3551636"/>
            <a:ext cx="5834435" cy="2306349"/>
          </a:xfrm>
        </p:spPr>
        <p:txBody>
          <a:bodyPr>
            <a:noAutofit/>
          </a:bodyPr>
          <a:lstStyle/>
          <a:p>
            <a:r>
              <a:rPr lang="en-US" sz="2400" dirty="0"/>
              <a:t>NIST definition: “</a:t>
            </a:r>
            <a:r>
              <a:rPr lang="en-US" sz="2400" i="1" dirty="0"/>
              <a:t>A data scientist is a practitioner who has sufficient knowledge in the </a:t>
            </a:r>
            <a:r>
              <a:rPr lang="en-US" sz="2400" i="1" dirty="0">
                <a:highlight>
                  <a:srgbClr val="FFFF00"/>
                </a:highlight>
              </a:rPr>
              <a:t>overlapping regimes of business needs, domain knowledge, analytical skills</a:t>
            </a:r>
            <a:r>
              <a:rPr lang="en-US" sz="2400" i="1" dirty="0"/>
              <a:t>, and software and systems engineering to manage the end-to-end data processes in the analytics life cycle.</a:t>
            </a:r>
            <a:r>
              <a:rPr lang="en-US" sz="2400" dirty="0"/>
              <a:t>”</a:t>
            </a:r>
          </a:p>
        </p:txBody>
      </p:sp>
      <p:pic>
        <p:nvPicPr>
          <p:cNvPr id="5" name="Picture 4" descr="A white cover with black text&#10;&#10;Description automatically generated">
            <a:extLst>
              <a:ext uri="{FF2B5EF4-FFF2-40B4-BE49-F238E27FC236}">
                <a16:creationId xmlns:a16="http://schemas.microsoft.com/office/drawing/2014/main" id="{178206B9-91C1-1EC9-5DC2-A892116A2211}"/>
              </a:ext>
            </a:extLst>
          </p:cNvPr>
          <p:cNvPicPr>
            <a:picLocks noChangeAspect="1"/>
          </p:cNvPicPr>
          <p:nvPr/>
        </p:nvPicPr>
        <p:blipFill>
          <a:blip r:embed="rId2"/>
          <a:stretch>
            <a:fillRect/>
          </a:stretch>
        </p:blipFill>
        <p:spPr>
          <a:xfrm>
            <a:off x="6412992" y="257659"/>
            <a:ext cx="5294456" cy="6398137"/>
          </a:xfrm>
          <a:prstGeom prst="rect">
            <a:avLst/>
          </a:prstGeom>
        </p:spPr>
      </p:pic>
    </p:spTree>
    <p:extLst>
      <p:ext uri="{BB962C8B-B14F-4D97-AF65-F5344CB8AC3E}">
        <p14:creationId xmlns:p14="http://schemas.microsoft.com/office/powerpoint/2010/main" val="2829111162"/>
      </p:ext>
    </p:extLst>
  </p:cSld>
  <p:clrMapOvr>
    <a:masterClrMapping/>
  </p:clrMapOvr>
  <mc:AlternateContent xmlns:mc="http://schemas.openxmlformats.org/markup-compatibility/2006" xmlns:p14="http://schemas.microsoft.com/office/powerpoint/2010/main">
    <mc:Choice Requires="p14">
      <p:transition spd="slow" p14:dur="2000" advTm="105555"/>
    </mc:Choice>
    <mc:Fallback xmlns="">
      <p:transition spd="slow" advTm="10555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5F3DF-F5DE-6B60-28FE-5F8CA27EC42C}"/>
              </a:ext>
            </a:extLst>
          </p:cNvPr>
          <p:cNvSpPr>
            <a:spLocks noGrp="1"/>
          </p:cNvSpPr>
          <p:nvPr>
            <p:ph type="title"/>
          </p:nvPr>
        </p:nvSpPr>
        <p:spPr/>
        <p:txBody>
          <a:bodyPr/>
          <a:lstStyle/>
          <a:p>
            <a:r>
              <a:rPr lang="en-US" dirty="0"/>
              <a:t>Data Science is Interdisciplinary … </a:t>
            </a:r>
          </a:p>
        </p:txBody>
      </p:sp>
      <p:pic>
        <p:nvPicPr>
          <p:cNvPr id="4" name="Picture 3">
            <a:extLst>
              <a:ext uri="{FF2B5EF4-FFF2-40B4-BE49-F238E27FC236}">
                <a16:creationId xmlns:a16="http://schemas.microsoft.com/office/drawing/2014/main" id="{DA4F1CBF-748D-8D00-CE41-29BB64DB6D03}"/>
              </a:ext>
            </a:extLst>
          </p:cNvPr>
          <p:cNvPicPr>
            <a:picLocks noChangeAspect="1"/>
          </p:cNvPicPr>
          <p:nvPr/>
        </p:nvPicPr>
        <p:blipFill>
          <a:blip r:embed="rId2"/>
          <a:stretch>
            <a:fillRect/>
          </a:stretch>
        </p:blipFill>
        <p:spPr>
          <a:xfrm>
            <a:off x="2899702" y="1846619"/>
            <a:ext cx="4849838" cy="4182985"/>
          </a:xfrm>
          <a:prstGeom prst="rect">
            <a:avLst/>
          </a:prstGeom>
        </p:spPr>
      </p:pic>
      <p:sp>
        <p:nvSpPr>
          <p:cNvPr id="6" name="TextBox 5">
            <a:extLst>
              <a:ext uri="{FF2B5EF4-FFF2-40B4-BE49-F238E27FC236}">
                <a16:creationId xmlns:a16="http://schemas.microsoft.com/office/drawing/2014/main" id="{CF81CD4F-94D1-BE50-E981-4A2590D76B0A}"/>
              </a:ext>
            </a:extLst>
          </p:cNvPr>
          <p:cNvSpPr txBox="1"/>
          <p:nvPr/>
        </p:nvSpPr>
        <p:spPr>
          <a:xfrm>
            <a:off x="3990063" y="6091636"/>
            <a:ext cx="4665233" cy="276999"/>
          </a:xfrm>
          <a:prstGeom prst="rect">
            <a:avLst/>
          </a:prstGeom>
          <a:noFill/>
        </p:spPr>
        <p:txBody>
          <a:bodyPr wrap="square">
            <a:spAutoFit/>
          </a:bodyPr>
          <a:lstStyle/>
          <a:p>
            <a:r>
              <a:rPr lang="en-US" sz="1200" dirty="0">
                <a:solidFill>
                  <a:schemeClr val="bg1"/>
                </a:solidFill>
                <a:hlinkClick r:id="rId3"/>
              </a:rPr>
              <a:t>https://doi.org/10.6028/NIST.SP.1500-1r2</a:t>
            </a:r>
            <a:endParaRPr lang="en-US" sz="1200" dirty="0">
              <a:solidFill>
                <a:schemeClr val="bg1"/>
              </a:solidFill>
            </a:endParaRPr>
          </a:p>
        </p:txBody>
      </p:sp>
    </p:spTree>
    <p:extLst>
      <p:ext uri="{BB962C8B-B14F-4D97-AF65-F5344CB8AC3E}">
        <p14:creationId xmlns:p14="http://schemas.microsoft.com/office/powerpoint/2010/main" val="1277425648"/>
      </p:ext>
    </p:extLst>
  </p:cSld>
  <p:clrMapOvr>
    <a:masterClrMapping/>
  </p:clrMapOvr>
  <mc:AlternateContent xmlns:mc="http://schemas.openxmlformats.org/markup-compatibility/2006" xmlns:p14="http://schemas.microsoft.com/office/powerpoint/2010/main">
    <mc:Choice Requires="p14">
      <p:transition spd="slow" p14:dur="2000" advTm="24288"/>
    </mc:Choice>
    <mc:Fallback xmlns="">
      <p:transition spd="slow" advTm="24288"/>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6B261F-632C-43DC-8DC7-7723B3682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524C7F-EE50-42C5-9434-7C78CE044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3644" cy="68613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97280E-4299-2DA4-0CD2-7E814FA6ADD8}"/>
              </a:ext>
            </a:extLst>
          </p:cNvPr>
          <p:cNvSpPr>
            <a:spLocks noGrp="1"/>
          </p:cNvSpPr>
          <p:nvPr>
            <p:ph type="title"/>
          </p:nvPr>
        </p:nvSpPr>
        <p:spPr>
          <a:xfrm>
            <a:off x="484552" y="365125"/>
            <a:ext cx="5022630" cy="2430030"/>
          </a:xfrm>
        </p:spPr>
        <p:txBody>
          <a:bodyPr>
            <a:normAutofit/>
          </a:bodyPr>
          <a:lstStyle/>
          <a:p>
            <a:r>
              <a:rPr lang="en-US" dirty="0"/>
              <a:t>Our Focus</a:t>
            </a:r>
          </a:p>
        </p:txBody>
      </p:sp>
      <p:sp>
        <p:nvSpPr>
          <p:cNvPr id="4" name="Content Placeholder 3">
            <a:extLst>
              <a:ext uri="{FF2B5EF4-FFF2-40B4-BE49-F238E27FC236}">
                <a16:creationId xmlns:a16="http://schemas.microsoft.com/office/drawing/2014/main" id="{A901F452-F5D1-2CF3-E421-71E4275231B9}"/>
              </a:ext>
            </a:extLst>
          </p:cNvPr>
          <p:cNvSpPr>
            <a:spLocks noGrp="1"/>
          </p:cNvSpPr>
          <p:nvPr>
            <p:ph idx="1"/>
          </p:nvPr>
        </p:nvSpPr>
        <p:spPr>
          <a:xfrm>
            <a:off x="373456" y="3160280"/>
            <a:ext cx="5623806" cy="3122036"/>
          </a:xfrm>
        </p:spPr>
        <p:txBody>
          <a:bodyPr>
            <a:normAutofit/>
          </a:bodyPr>
          <a:lstStyle/>
          <a:p>
            <a:pPr marL="342900" lvl="0" indent="-342900">
              <a:buFontTx/>
              <a:buChar char="-"/>
            </a:pPr>
            <a:r>
              <a:rPr lang="en-US" dirty="0">
                <a:solidFill>
                  <a:schemeClr val="bg1"/>
                </a:solidFill>
                <a:latin typeface="Noto serif" panose="020F0502020204030204" pitchFamily="34" charset="0"/>
              </a:rPr>
              <a:t>The </a:t>
            </a:r>
            <a:r>
              <a:rPr lang="en-US" b="0" i="0" dirty="0">
                <a:solidFill>
                  <a:schemeClr val="bg1"/>
                </a:solidFill>
                <a:effectLst/>
                <a:latin typeface="Noto serif" panose="020F0502020204030204" pitchFamily="34" charset="0"/>
              </a:rPr>
              <a:t>synergies between Data </a:t>
            </a:r>
            <a:r>
              <a:rPr lang="en-US" dirty="0">
                <a:solidFill>
                  <a:schemeClr val="bg1"/>
                </a:solidFill>
                <a:latin typeface="Noto serif" panose="020F0502020204030204" pitchFamily="34" charset="0"/>
              </a:rPr>
              <a:t>S</a:t>
            </a:r>
            <a:r>
              <a:rPr lang="en-US" b="0" i="0" dirty="0">
                <a:solidFill>
                  <a:schemeClr val="bg1"/>
                </a:solidFill>
                <a:effectLst/>
                <a:latin typeface="Noto serif" panose="020F0502020204030204" pitchFamily="34" charset="0"/>
              </a:rPr>
              <a:t>cience &amp; AI as </a:t>
            </a:r>
            <a:r>
              <a:rPr lang="en-US" dirty="0">
                <a:solidFill>
                  <a:schemeClr val="bg1"/>
                </a:solidFill>
                <a:latin typeface="Noto serif" panose="020F0502020204030204" pitchFamily="34" charset="0"/>
              </a:rPr>
              <a:t>interdisciplinary domains of knowledge and skill sets.</a:t>
            </a:r>
          </a:p>
          <a:p>
            <a:pPr marL="342900" lvl="0" indent="-342900">
              <a:buFontTx/>
              <a:buChar char="-"/>
            </a:pPr>
            <a:r>
              <a:rPr lang="en-US" b="0" i="0" dirty="0">
                <a:solidFill>
                  <a:schemeClr val="bg1"/>
                </a:solidFill>
                <a:effectLst/>
                <a:latin typeface="Noto serif" panose="020F0502020204030204" pitchFamily="34" charset="0"/>
              </a:rPr>
              <a:t>Analyzing textual data</a:t>
            </a:r>
            <a:endParaRPr lang="en-US" dirty="0">
              <a:solidFill>
                <a:schemeClr val="bg1"/>
              </a:solidFill>
            </a:endParaRPr>
          </a:p>
        </p:txBody>
      </p:sp>
      <p:pic>
        <p:nvPicPr>
          <p:cNvPr id="8" name="Picture 5" descr="Abstract background of data">
            <a:extLst>
              <a:ext uri="{FF2B5EF4-FFF2-40B4-BE49-F238E27FC236}">
                <a16:creationId xmlns:a16="http://schemas.microsoft.com/office/drawing/2014/main" id="{5B5388C4-29AD-5433-8163-A336E6801DD1}"/>
              </a:ext>
            </a:extLst>
          </p:cNvPr>
          <p:cNvPicPr>
            <a:picLocks noChangeAspect="1"/>
          </p:cNvPicPr>
          <p:nvPr/>
        </p:nvPicPr>
        <p:blipFill rotWithShape="1">
          <a:blip r:embed="rId3"/>
          <a:srcRect l="20740" r="29159"/>
          <a:stretch/>
        </p:blipFill>
        <p:spPr>
          <a:xfrm>
            <a:off x="6083644" y="10"/>
            <a:ext cx="6108356" cy="6857990"/>
          </a:xfrm>
          <a:prstGeom prst="rect">
            <a:avLst/>
          </a:prstGeom>
        </p:spPr>
      </p:pic>
    </p:spTree>
    <p:extLst>
      <p:ext uri="{BB962C8B-B14F-4D97-AF65-F5344CB8AC3E}">
        <p14:creationId xmlns:p14="http://schemas.microsoft.com/office/powerpoint/2010/main" val="3586236006"/>
      </p:ext>
    </p:extLst>
  </p:cSld>
  <p:clrMapOvr>
    <a:masterClrMapping/>
  </p:clrMapOvr>
  <mc:AlternateContent xmlns:mc="http://schemas.openxmlformats.org/markup-compatibility/2006" xmlns:p14="http://schemas.microsoft.com/office/powerpoint/2010/main">
    <mc:Choice Requires="p14">
      <p:transition spd="slow" p14:dur="2000" advTm="53845"/>
    </mc:Choice>
    <mc:Fallback xmlns="">
      <p:transition spd="slow" advTm="53845"/>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A3774-CCBE-ACEC-83B1-0DE8E89580CB}"/>
              </a:ext>
            </a:extLst>
          </p:cNvPr>
          <p:cNvSpPr>
            <a:spLocks noGrp="1"/>
          </p:cNvSpPr>
          <p:nvPr>
            <p:ph type="title"/>
          </p:nvPr>
        </p:nvSpPr>
        <p:spPr>
          <a:xfrm>
            <a:off x="484552" y="302097"/>
            <a:ext cx="11260144" cy="1205491"/>
          </a:xfrm>
        </p:spPr>
        <p:txBody>
          <a:bodyPr>
            <a:normAutofit fontScale="90000"/>
          </a:bodyPr>
          <a:lstStyle/>
          <a:p>
            <a:r>
              <a:rPr lang="en-US" dirty="0"/>
              <a:t>Before Data Analysis: Define Your Audience </a:t>
            </a:r>
          </a:p>
        </p:txBody>
      </p:sp>
      <p:sp>
        <p:nvSpPr>
          <p:cNvPr id="3" name="Content Placeholder 2">
            <a:extLst>
              <a:ext uri="{FF2B5EF4-FFF2-40B4-BE49-F238E27FC236}">
                <a16:creationId xmlns:a16="http://schemas.microsoft.com/office/drawing/2014/main" id="{38E7EA21-2CD6-E18E-721B-2671239B3661}"/>
              </a:ext>
            </a:extLst>
          </p:cNvPr>
          <p:cNvSpPr>
            <a:spLocks noGrp="1"/>
          </p:cNvSpPr>
          <p:nvPr>
            <p:ph idx="1"/>
          </p:nvPr>
        </p:nvSpPr>
        <p:spPr>
          <a:xfrm>
            <a:off x="296544" y="2014192"/>
            <a:ext cx="11325736" cy="4541711"/>
          </a:xfrm>
        </p:spPr>
        <p:txBody>
          <a:bodyPr>
            <a:normAutofit/>
          </a:bodyPr>
          <a:lstStyle/>
          <a:p>
            <a:r>
              <a:rPr lang="en-US" dirty="0"/>
              <a:t>If you’re presenting your findings to other people, like managers or clients, you also need to define your target audience before you start your analysis. This helps you </a:t>
            </a:r>
            <a:r>
              <a:rPr lang="en-US" dirty="0">
                <a:highlight>
                  <a:srgbClr val="FFFF00"/>
                </a:highlight>
              </a:rPr>
              <a:t>tailor your analysis and presentation to their specific needs </a:t>
            </a:r>
            <a:r>
              <a:rPr lang="en-US" dirty="0"/>
              <a:t>and interests. </a:t>
            </a:r>
          </a:p>
          <a:p>
            <a:pPr marL="342900" indent="-342900">
              <a:buFont typeface="Arial" panose="020B0604020202020204" pitchFamily="34" charset="0"/>
              <a:buChar char="•"/>
            </a:pPr>
            <a:r>
              <a:rPr lang="en-US" dirty="0">
                <a:highlight>
                  <a:srgbClr val="FFFF00"/>
                </a:highlight>
              </a:rPr>
              <a:t>Managers</a:t>
            </a:r>
            <a:r>
              <a:rPr lang="en-US" dirty="0"/>
              <a:t> may be more interested in </a:t>
            </a:r>
            <a:r>
              <a:rPr lang="en-US" dirty="0">
                <a:solidFill>
                  <a:srgbClr val="FF0000"/>
                </a:solidFill>
              </a:rPr>
              <a:t>high-level insights </a:t>
            </a:r>
            <a:r>
              <a:rPr lang="en-US" dirty="0"/>
              <a:t>and strategic recommendations than in detailed technical explanations.</a:t>
            </a:r>
          </a:p>
          <a:p>
            <a:pPr marL="342900" indent="-342900">
              <a:buFont typeface="Arial" panose="020B0604020202020204" pitchFamily="34" charset="0"/>
              <a:buChar char="•"/>
            </a:pPr>
            <a:r>
              <a:rPr lang="en-US" dirty="0">
                <a:highlight>
                  <a:srgbClr val="FFFF00"/>
                </a:highlight>
              </a:rPr>
              <a:t>Clients</a:t>
            </a:r>
            <a:r>
              <a:rPr lang="en-US" dirty="0"/>
              <a:t> may be more interested in </a:t>
            </a:r>
            <a:r>
              <a:rPr lang="en-US" dirty="0">
                <a:solidFill>
                  <a:srgbClr val="FF0000"/>
                </a:solidFill>
              </a:rPr>
              <a:t>how your analysis can help them solve specific problems </a:t>
            </a:r>
            <a:r>
              <a:rPr lang="en-US" dirty="0"/>
              <a:t>or achieve specific goals. They may also be more interested in interactive </a:t>
            </a:r>
            <a:r>
              <a:rPr lang="en-US" dirty="0">
                <a:solidFill>
                  <a:srgbClr val="FF0000"/>
                </a:solidFill>
              </a:rPr>
              <a:t>tools that allow them to explore the data themselves</a:t>
            </a:r>
            <a:r>
              <a:rPr lang="en-US" dirty="0"/>
              <a:t>.</a:t>
            </a:r>
          </a:p>
          <a:p>
            <a:pPr marL="342900" indent="-342900">
              <a:buFont typeface="Arial" panose="020B0604020202020204" pitchFamily="34" charset="0"/>
              <a:buChar char="•"/>
            </a:pPr>
            <a:r>
              <a:rPr lang="en-US" dirty="0"/>
              <a:t>By defining your target audience, you can also </a:t>
            </a:r>
            <a:r>
              <a:rPr lang="en-US" dirty="0">
                <a:highlight>
                  <a:srgbClr val="FFFF00"/>
                </a:highlight>
              </a:rPr>
              <a:t>anticipate potential objections or questions </a:t>
            </a:r>
            <a:r>
              <a:rPr lang="en-US" dirty="0"/>
              <a:t>they may have and </a:t>
            </a:r>
            <a:r>
              <a:rPr lang="en-US" dirty="0">
                <a:solidFill>
                  <a:srgbClr val="FF0000"/>
                </a:solidFill>
              </a:rPr>
              <a:t>address them proactively </a:t>
            </a:r>
            <a:r>
              <a:rPr lang="en-US" dirty="0"/>
              <a:t>in your analysis and presentation. This can help </a:t>
            </a:r>
            <a:r>
              <a:rPr lang="en-US" dirty="0">
                <a:solidFill>
                  <a:srgbClr val="FF0000"/>
                </a:solidFill>
              </a:rPr>
              <a:t>build credibility and trust</a:t>
            </a:r>
            <a:r>
              <a:rPr lang="en-US" dirty="0"/>
              <a:t> with your audience. </a:t>
            </a:r>
          </a:p>
          <a:p>
            <a:endParaRPr lang="en-US" dirty="0"/>
          </a:p>
          <a:p>
            <a:endParaRPr lang="en-US" dirty="0"/>
          </a:p>
          <a:p>
            <a:endParaRPr lang="en-US" dirty="0"/>
          </a:p>
        </p:txBody>
      </p:sp>
    </p:spTree>
    <p:extLst>
      <p:ext uri="{BB962C8B-B14F-4D97-AF65-F5344CB8AC3E}">
        <p14:creationId xmlns:p14="http://schemas.microsoft.com/office/powerpoint/2010/main" val="89094459"/>
      </p:ext>
    </p:extLst>
  </p:cSld>
  <p:clrMapOvr>
    <a:masterClrMapping/>
  </p:clrMapOvr>
  <mc:AlternateContent xmlns:mc="http://schemas.openxmlformats.org/markup-compatibility/2006" xmlns:p14="http://schemas.microsoft.com/office/powerpoint/2010/main">
    <mc:Choice Requires="p14">
      <p:transition spd="slow" p14:dur="2000" advTm="135214"/>
    </mc:Choice>
    <mc:Fallback xmlns="">
      <p:transition spd="slow" advTm="13521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ADF5-50D9-1A3C-98F9-B6D31BBFF109}"/>
              </a:ext>
            </a:extLst>
          </p:cNvPr>
          <p:cNvSpPr>
            <a:spLocks noGrp="1"/>
          </p:cNvSpPr>
          <p:nvPr>
            <p:ph type="title"/>
          </p:nvPr>
        </p:nvSpPr>
        <p:spPr/>
        <p:txBody>
          <a:bodyPr>
            <a:normAutofit/>
          </a:bodyPr>
          <a:lstStyle/>
          <a:p>
            <a:r>
              <a:rPr lang="en-US" dirty="0"/>
              <a:t>Data Analysis: Phase 1. Get the Data </a:t>
            </a:r>
          </a:p>
        </p:txBody>
      </p:sp>
      <p:sp>
        <p:nvSpPr>
          <p:cNvPr id="3" name="Content Placeholder 2">
            <a:extLst>
              <a:ext uri="{FF2B5EF4-FFF2-40B4-BE49-F238E27FC236}">
                <a16:creationId xmlns:a16="http://schemas.microsoft.com/office/drawing/2014/main" id="{D2C26D68-0929-0B1E-98C5-BE0106610006}"/>
              </a:ext>
            </a:extLst>
          </p:cNvPr>
          <p:cNvSpPr>
            <a:spLocks noGrp="1"/>
          </p:cNvSpPr>
          <p:nvPr>
            <p:ph idx="1"/>
          </p:nvPr>
        </p:nvSpPr>
        <p:spPr>
          <a:xfrm>
            <a:off x="484552" y="2459540"/>
            <a:ext cx="10869248" cy="4096363"/>
          </a:xfrm>
        </p:spPr>
        <p:txBody>
          <a:bodyPr>
            <a:normAutofit/>
          </a:bodyPr>
          <a:lstStyle/>
          <a:p>
            <a:pPr marL="342900" indent="-342900">
              <a:buFont typeface="Arial" panose="020B0604020202020204" pitchFamily="34" charset="0"/>
              <a:buChar char="•"/>
            </a:pPr>
            <a:r>
              <a:rPr lang="en-US" dirty="0"/>
              <a:t>Refers to the process of </a:t>
            </a:r>
            <a:r>
              <a:rPr lang="en-US" dirty="0">
                <a:highlight>
                  <a:srgbClr val="FFFF00"/>
                </a:highlight>
              </a:rPr>
              <a:t>collecting and acquiring data </a:t>
            </a:r>
            <a:r>
              <a:rPr lang="en-US" dirty="0"/>
              <a:t>for analysis.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Involves identifying and gathering relevant data from various sources, such as </a:t>
            </a:r>
            <a:r>
              <a:rPr lang="en-US" dirty="0">
                <a:highlight>
                  <a:srgbClr val="FFFF00"/>
                </a:highlight>
              </a:rPr>
              <a:t>databases, APIs, web scraping, surveys, or experiments</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It also </a:t>
            </a:r>
            <a:r>
              <a:rPr lang="en-US" dirty="0">
                <a:highlight>
                  <a:srgbClr val="FFFF00"/>
                </a:highlight>
              </a:rPr>
              <a:t>involves documenting the data sources</a:t>
            </a:r>
            <a:r>
              <a:rPr lang="en-US" dirty="0"/>
              <a:t>, which is important for </a:t>
            </a:r>
            <a:r>
              <a:rPr lang="en-US" dirty="0">
                <a:solidFill>
                  <a:srgbClr val="FF0000"/>
                </a:solidFill>
              </a:rPr>
              <a:t>transparency</a:t>
            </a:r>
            <a:r>
              <a:rPr lang="en-US" dirty="0"/>
              <a:t>, </a:t>
            </a:r>
            <a:r>
              <a:rPr lang="en-US" dirty="0">
                <a:solidFill>
                  <a:srgbClr val="FF0000"/>
                </a:solidFill>
              </a:rPr>
              <a:t>reproducibility, and data governance</a:t>
            </a:r>
            <a:r>
              <a:rPr lang="en-US" dirty="0"/>
              <a:t>; it can help ensure the analysis is valid and trustworthy.</a:t>
            </a:r>
          </a:p>
        </p:txBody>
      </p:sp>
    </p:spTree>
    <p:extLst>
      <p:ext uri="{BB962C8B-B14F-4D97-AF65-F5344CB8AC3E}">
        <p14:creationId xmlns:p14="http://schemas.microsoft.com/office/powerpoint/2010/main" val="3350758488"/>
      </p:ext>
    </p:extLst>
  </p:cSld>
  <p:clrMapOvr>
    <a:masterClrMapping/>
  </p:clrMapOvr>
  <mc:AlternateContent xmlns:mc="http://schemas.openxmlformats.org/markup-compatibility/2006" xmlns:p14="http://schemas.microsoft.com/office/powerpoint/2010/main">
    <mc:Choice Requires="p14">
      <p:transition spd="slow" p14:dur="2000" advTm="160060"/>
    </mc:Choice>
    <mc:Fallback xmlns="">
      <p:transition spd="slow" advTm="160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ADF5-50D9-1A3C-98F9-B6D31BBFF109}"/>
              </a:ext>
            </a:extLst>
          </p:cNvPr>
          <p:cNvSpPr>
            <a:spLocks noGrp="1"/>
          </p:cNvSpPr>
          <p:nvPr>
            <p:ph type="title"/>
          </p:nvPr>
        </p:nvSpPr>
        <p:spPr>
          <a:xfrm>
            <a:off x="484551" y="302097"/>
            <a:ext cx="11343271" cy="1205491"/>
          </a:xfrm>
        </p:spPr>
        <p:txBody>
          <a:bodyPr>
            <a:normAutofit/>
          </a:bodyPr>
          <a:lstStyle/>
          <a:p>
            <a:r>
              <a:rPr lang="en-US" dirty="0"/>
              <a:t>Data Analysis: Phase 2. Clean the Data </a:t>
            </a:r>
          </a:p>
        </p:txBody>
      </p:sp>
      <p:sp>
        <p:nvSpPr>
          <p:cNvPr id="3" name="Content Placeholder 2">
            <a:extLst>
              <a:ext uri="{FF2B5EF4-FFF2-40B4-BE49-F238E27FC236}">
                <a16:creationId xmlns:a16="http://schemas.microsoft.com/office/drawing/2014/main" id="{D2C26D68-0929-0B1E-98C5-BE0106610006}"/>
              </a:ext>
            </a:extLst>
          </p:cNvPr>
          <p:cNvSpPr>
            <a:spLocks noGrp="1"/>
          </p:cNvSpPr>
          <p:nvPr>
            <p:ph idx="1"/>
          </p:nvPr>
        </p:nvSpPr>
        <p:spPr>
          <a:xfrm>
            <a:off x="484552" y="2065467"/>
            <a:ext cx="10869248" cy="4490436"/>
          </a:xfrm>
        </p:spPr>
        <p:txBody>
          <a:bodyPr>
            <a:normAutofit fontScale="92500" lnSpcReduction="10000"/>
          </a:bodyPr>
          <a:lstStyle/>
          <a:p>
            <a:pPr algn="l"/>
            <a:r>
              <a:rPr lang="en-US" sz="2000" b="0" i="0" u="none" strike="noStrike" dirty="0">
                <a:effectLst/>
              </a:rPr>
              <a:t>Focuses on </a:t>
            </a:r>
            <a:r>
              <a:rPr lang="en-US" sz="2000" b="0" i="0" u="none" strike="noStrike" dirty="0">
                <a:effectLst/>
                <a:highlight>
                  <a:srgbClr val="FFFF00"/>
                </a:highlight>
              </a:rPr>
              <a:t>identifying and correcting errors and inconsistencies </a:t>
            </a:r>
            <a:r>
              <a:rPr lang="en-US" sz="2000" b="0" i="0" u="none" strike="noStrike" dirty="0">
                <a:effectLst/>
              </a:rPr>
              <a:t>in the data:</a:t>
            </a:r>
          </a:p>
          <a:p>
            <a:pPr algn="l"/>
            <a:endParaRPr lang="en-US" sz="2000" b="0" i="0" u="none" strike="noStrike" dirty="0">
              <a:effectLst/>
            </a:endParaRPr>
          </a:p>
          <a:p>
            <a:pPr marL="342900" indent="-342900" algn="l">
              <a:buFont typeface="Arial" panose="020B0604020202020204" pitchFamily="34" charset="0"/>
              <a:buChar char="•"/>
            </a:pPr>
            <a:r>
              <a:rPr lang="en-US" sz="2000" i="0" u="none" strike="noStrike" dirty="0">
                <a:effectLst/>
                <a:highlight>
                  <a:srgbClr val="FFFF00"/>
                </a:highlight>
              </a:rPr>
              <a:t>Remove unnecessary rows and columns</a:t>
            </a:r>
            <a:r>
              <a:rPr lang="en-US" sz="2000" b="0" i="0" u="none" strike="noStrike" dirty="0">
                <a:effectLst/>
              </a:rPr>
              <a:t>: This involves </a:t>
            </a:r>
            <a:r>
              <a:rPr lang="en-US" sz="2000" b="0" i="0" u="none" strike="noStrike" dirty="0">
                <a:solidFill>
                  <a:srgbClr val="FF0000"/>
                </a:solidFill>
                <a:effectLst/>
              </a:rPr>
              <a:t>eliminating the rows or columns </a:t>
            </a:r>
            <a:r>
              <a:rPr lang="en-US" sz="2000" b="0" i="0" u="none" strike="noStrike" dirty="0">
                <a:effectLst/>
              </a:rPr>
              <a:t>in the dataset that are </a:t>
            </a:r>
            <a:r>
              <a:rPr lang="en-US" sz="2000" b="0" i="0" u="none" strike="noStrike" dirty="0">
                <a:solidFill>
                  <a:srgbClr val="FF0000"/>
                </a:solidFill>
                <a:effectLst/>
              </a:rPr>
              <a:t>not relevant or useful </a:t>
            </a:r>
            <a:r>
              <a:rPr lang="en-US" sz="2000" b="0" i="0" u="none" strike="noStrike" dirty="0">
                <a:effectLst/>
              </a:rPr>
              <a:t>for the analysis, which </a:t>
            </a:r>
            <a:r>
              <a:rPr lang="en-US" sz="2000" b="0" i="0" u="none" strike="noStrike" dirty="0">
                <a:solidFill>
                  <a:srgbClr val="FF0000"/>
                </a:solidFill>
                <a:effectLst/>
              </a:rPr>
              <a:t>can improve processing speed and reduce noise in the data</a:t>
            </a:r>
            <a:r>
              <a:rPr lang="en-US" sz="2000" b="0" i="0" u="none" strike="noStrike" dirty="0">
                <a:effectLst/>
              </a:rPr>
              <a:t>.</a:t>
            </a:r>
          </a:p>
          <a:p>
            <a:pPr marL="342900" indent="-342900" algn="l">
              <a:buFont typeface="Arial" panose="020B0604020202020204" pitchFamily="34" charset="0"/>
              <a:buChar char="•"/>
            </a:pPr>
            <a:r>
              <a:rPr lang="en-US" sz="2000" i="0" u="none" strike="noStrike" dirty="0">
                <a:effectLst/>
                <a:highlight>
                  <a:srgbClr val="FFFF00"/>
                </a:highlight>
              </a:rPr>
              <a:t>Handle invalid or missing values</a:t>
            </a:r>
            <a:r>
              <a:rPr lang="en-US" sz="2000" b="0" i="0" u="none" strike="noStrike" dirty="0">
                <a:effectLst/>
              </a:rPr>
              <a:t>: This involves identifying and addressing </a:t>
            </a:r>
            <a:r>
              <a:rPr lang="en-US" sz="2000" b="0" i="0" u="none" strike="noStrike" dirty="0">
                <a:solidFill>
                  <a:srgbClr val="FF0000"/>
                </a:solidFill>
                <a:effectLst/>
              </a:rPr>
              <a:t>missing or invalid data </a:t>
            </a:r>
            <a:r>
              <a:rPr lang="en-US" sz="2000" b="0" i="0" u="none" strike="noStrike" dirty="0">
                <a:effectLst/>
              </a:rPr>
              <a:t>values in the dataset, which can impact the accuracy and reliability of the analysis. Common approaches to handling missing or invalid values include</a:t>
            </a:r>
            <a:r>
              <a:rPr lang="en-US" dirty="0"/>
              <a:t> </a:t>
            </a:r>
            <a:r>
              <a:rPr lang="en-US" sz="2000" b="0" i="0" u="none" strike="noStrike" dirty="0">
                <a:solidFill>
                  <a:srgbClr val="FF0000"/>
                </a:solidFill>
                <a:effectLst/>
              </a:rPr>
              <a:t>deletion, substitution, or imputation </a:t>
            </a:r>
            <a:r>
              <a:rPr lang="en-US" sz="2000" b="0" i="0" u="none" strike="noStrike" dirty="0">
                <a:effectLst/>
              </a:rPr>
              <a:t>(estimating the values by preserving the statistical relationships).</a:t>
            </a:r>
          </a:p>
          <a:p>
            <a:pPr marL="342900" indent="-342900" algn="l">
              <a:buFont typeface="Arial" panose="020B0604020202020204" pitchFamily="34" charset="0"/>
              <a:buChar char="•"/>
            </a:pPr>
            <a:r>
              <a:rPr lang="en-US" sz="2000" i="0" u="none" strike="noStrike" dirty="0">
                <a:effectLst/>
                <a:highlight>
                  <a:srgbClr val="FFFF00"/>
                </a:highlight>
              </a:rPr>
              <a:t>Change object data types to datetime or numeric data types</a:t>
            </a:r>
            <a:r>
              <a:rPr lang="en-US" sz="2000" b="0" i="0" u="none" strike="noStrike" dirty="0">
                <a:effectLst/>
              </a:rPr>
              <a:t>: Converting data stored in </a:t>
            </a:r>
            <a:r>
              <a:rPr lang="en-US" sz="2000" b="0" i="0" u="none" strike="noStrike" dirty="0">
                <a:solidFill>
                  <a:srgbClr val="FF0000"/>
                </a:solidFill>
                <a:effectLst/>
              </a:rPr>
              <a:t>object (text) format into datetime or numeric </a:t>
            </a:r>
            <a:r>
              <a:rPr lang="en-US" sz="2000" b="0" i="0" u="none" strike="noStrike" dirty="0">
                <a:effectLst/>
              </a:rPr>
              <a:t>formats, such as integers, floats, or timestamps, is necessary for many analysis techniques that require specific data formats.</a:t>
            </a:r>
          </a:p>
          <a:p>
            <a:endParaRPr lang="en-US" sz="2200" dirty="0"/>
          </a:p>
        </p:txBody>
      </p:sp>
    </p:spTree>
    <p:extLst>
      <p:ext uri="{BB962C8B-B14F-4D97-AF65-F5344CB8AC3E}">
        <p14:creationId xmlns:p14="http://schemas.microsoft.com/office/powerpoint/2010/main" val="3913453637"/>
      </p:ext>
    </p:extLst>
  </p:cSld>
  <p:clrMapOvr>
    <a:masterClrMapping/>
  </p:clrMapOvr>
  <mc:AlternateContent xmlns:mc="http://schemas.openxmlformats.org/markup-compatibility/2006" xmlns:p14="http://schemas.microsoft.com/office/powerpoint/2010/main">
    <mc:Choice Requires="p14">
      <p:transition spd="slow" p14:dur="2000" advTm="155290"/>
    </mc:Choice>
    <mc:Fallback xmlns="">
      <p:transition spd="slow" advTm="15529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ADF5-50D9-1A3C-98F9-B6D31BBFF109}"/>
              </a:ext>
            </a:extLst>
          </p:cNvPr>
          <p:cNvSpPr>
            <a:spLocks noGrp="1"/>
          </p:cNvSpPr>
          <p:nvPr>
            <p:ph type="title"/>
          </p:nvPr>
        </p:nvSpPr>
        <p:spPr>
          <a:xfrm>
            <a:off x="142504" y="0"/>
            <a:ext cx="11906992" cy="1205491"/>
          </a:xfrm>
        </p:spPr>
        <p:txBody>
          <a:bodyPr>
            <a:normAutofit/>
          </a:bodyPr>
          <a:lstStyle/>
          <a:p>
            <a:r>
              <a:rPr lang="en-US" dirty="0"/>
              <a:t>Data Analysis: Phase 3. Prepare the Data </a:t>
            </a:r>
          </a:p>
        </p:txBody>
      </p:sp>
      <p:sp>
        <p:nvSpPr>
          <p:cNvPr id="3" name="Content Placeholder 2">
            <a:extLst>
              <a:ext uri="{FF2B5EF4-FFF2-40B4-BE49-F238E27FC236}">
                <a16:creationId xmlns:a16="http://schemas.microsoft.com/office/drawing/2014/main" id="{D2C26D68-0929-0B1E-98C5-BE0106610006}"/>
              </a:ext>
            </a:extLst>
          </p:cNvPr>
          <p:cNvSpPr>
            <a:spLocks noGrp="1"/>
          </p:cNvSpPr>
          <p:nvPr>
            <p:ph idx="1"/>
          </p:nvPr>
        </p:nvSpPr>
        <p:spPr>
          <a:xfrm>
            <a:off x="484552" y="2065467"/>
            <a:ext cx="10869248" cy="4574615"/>
          </a:xfrm>
        </p:spPr>
        <p:txBody>
          <a:bodyPr>
            <a:normAutofit fontScale="92500" lnSpcReduction="20000"/>
          </a:bodyPr>
          <a:lstStyle/>
          <a:p>
            <a:pPr marL="342900" indent="-342900">
              <a:buFont typeface="Arial" panose="020B0604020202020204" pitchFamily="34" charset="0"/>
              <a:buChar char="•"/>
            </a:pPr>
            <a:r>
              <a:rPr lang="en-US" dirty="0">
                <a:highlight>
                  <a:srgbClr val="FFFF00"/>
                </a:highlight>
              </a:rPr>
              <a:t>Add columns that are derived from other columns</a:t>
            </a:r>
            <a:r>
              <a:rPr lang="en-US" dirty="0"/>
              <a:t>: This involves creating </a:t>
            </a:r>
            <a:r>
              <a:rPr lang="en-US" dirty="0">
                <a:solidFill>
                  <a:srgbClr val="FF0000"/>
                </a:solidFill>
              </a:rPr>
              <a:t>new columns </a:t>
            </a:r>
            <a:r>
              <a:rPr lang="en-US" dirty="0"/>
              <a:t>in a dataset </a:t>
            </a:r>
            <a:r>
              <a:rPr lang="en-US" dirty="0">
                <a:solidFill>
                  <a:srgbClr val="FF0000"/>
                </a:solidFill>
              </a:rPr>
              <a:t>based on the values of other columns</a:t>
            </a:r>
            <a:r>
              <a:rPr lang="en-US" dirty="0"/>
              <a:t>, using </a:t>
            </a:r>
            <a:r>
              <a:rPr lang="en-US" b="1" dirty="0"/>
              <a:t>mathematical calculations </a:t>
            </a:r>
            <a:r>
              <a:rPr lang="en-US" dirty="0"/>
              <a:t>or data </a:t>
            </a:r>
            <a:r>
              <a:rPr lang="en-US" b="1" dirty="0"/>
              <a:t>transformations</a:t>
            </a:r>
            <a:r>
              <a:rPr lang="en-US" dirty="0"/>
              <a:t> to extract more meaningful information.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highlight>
                  <a:srgbClr val="FFFF00"/>
                </a:highlight>
              </a:rPr>
              <a:t>Shape the data into the forms that are needed for your analysis</a:t>
            </a:r>
            <a:r>
              <a:rPr lang="en-US" dirty="0"/>
              <a:t>: This involves structuring the data in a way that makes it easier to </a:t>
            </a:r>
            <a:r>
              <a:rPr lang="en-US" dirty="0" err="1"/>
              <a:t>analyse</a:t>
            </a:r>
            <a:r>
              <a:rPr lang="en-US" dirty="0"/>
              <a:t>, including </a:t>
            </a:r>
            <a:r>
              <a:rPr lang="en-US" dirty="0">
                <a:solidFill>
                  <a:srgbClr val="FF0000"/>
                </a:solidFill>
              </a:rPr>
              <a:t>filtering, sorting, and grouping </a:t>
            </a:r>
            <a:r>
              <a:rPr lang="en-US" dirty="0"/>
              <a:t>the data to focus on relevant information.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highlight>
                  <a:srgbClr val="FFFF00"/>
                </a:highlight>
              </a:rPr>
              <a:t>Make </a:t>
            </a:r>
            <a:r>
              <a:rPr lang="en-US" u="sng" dirty="0">
                <a:highlight>
                  <a:srgbClr val="FFFF00"/>
                </a:highlight>
              </a:rPr>
              <a:t>preliminary</a:t>
            </a:r>
            <a:r>
              <a:rPr lang="en-US" dirty="0">
                <a:highlight>
                  <a:srgbClr val="FFFF00"/>
                </a:highlight>
              </a:rPr>
              <a:t> </a:t>
            </a:r>
            <a:r>
              <a:rPr lang="en-US" dirty="0" err="1">
                <a:highlight>
                  <a:srgbClr val="FFFF00"/>
                </a:highlight>
              </a:rPr>
              <a:t>visualisations</a:t>
            </a:r>
            <a:r>
              <a:rPr lang="en-US" dirty="0">
                <a:highlight>
                  <a:srgbClr val="FFFF00"/>
                </a:highlight>
              </a:rPr>
              <a:t> to better understand the data</a:t>
            </a:r>
            <a:r>
              <a:rPr lang="en-US" dirty="0"/>
              <a:t>: This involves creating graphs, charts, and other </a:t>
            </a:r>
            <a:r>
              <a:rPr lang="en-US" dirty="0">
                <a:solidFill>
                  <a:srgbClr val="FF0000"/>
                </a:solidFill>
              </a:rPr>
              <a:t>visual representations of the data to explore its patterns and relationships</a:t>
            </a:r>
            <a:r>
              <a:rPr lang="en-US" dirty="0"/>
              <a:t>, and to </a:t>
            </a:r>
            <a:r>
              <a:rPr lang="en-US" dirty="0">
                <a:solidFill>
                  <a:srgbClr val="FF0000"/>
                </a:solidFill>
              </a:rPr>
              <a:t>identify any outliers or anomalies </a:t>
            </a:r>
            <a:r>
              <a:rPr lang="en-US" dirty="0"/>
              <a:t>that may need further investigation.</a:t>
            </a:r>
          </a:p>
          <a:p>
            <a:br>
              <a:rPr lang="en-US" dirty="0"/>
            </a:br>
            <a:endParaRPr lang="en-US" dirty="0"/>
          </a:p>
        </p:txBody>
      </p:sp>
    </p:spTree>
    <p:extLst>
      <p:ext uri="{BB962C8B-B14F-4D97-AF65-F5344CB8AC3E}">
        <p14:creationId xmlns:p14="http://schemas.microsoft.com/office/powerpoint/2010/main" val="3427105814"/>
      </p:ext>
    </p:extLst>
  </p:cSld>
  <p:clrMapOvr>
    <a:masterClrMapping/>
  </p:clrMapOvr>
  <mc:AlternateContent xmlns:mc="http://schemas.openxmlformats.org/markup-compatibility/2006" xmlns:p14="http://schemas.microsoft.com/office/powerpoint/2010/main">
    <mc:Choice Requires="p14">
      <p:transition spd="slow" p14:dur="2000" advTm="111552"/>
    </mc:Choice>
    <mc:Fallback xmlns="">
      <p:transition spd="slow" advTm="1115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ADF5-50D9-1A3C-98F9-B6D31BBFF109}"/>
              </a:ext>
            </a:extLst>
          </p:cNvPr>
          <p:cNvSpPr>
            <a:spLocks noGrp="1"/>
          </p:cNvSpPr>
          <p:nvPr>
            <p:ph type="title"/>
          </p:nvPr>
        </p:nvSpPr>
        <p:spPr>
          <a:xfrm>
            <a:off x="308758" y="302097"/>
            <a:ext cx="11883242" cy="1205491"/>
          </a:xfrm>
        </p:spPr>
        <p:txBody>
          <a:bodyPr>
            <a:normAutofit/>
          </a:bodyPr>
          <a:lstStyle/>
          <a:p>
            <a:r>
              <a:rPr lang="en-US" dirty="0"/>
              <a:t>Data Analysis: Phase 4. Analyze the Data </a:t>
            </a:r>
          </a:p>
        </p:txBody>
      </p:sp>
      <p:sp>
        <p:nvSpPr>
          <p:cNvPr id="3" name="Content Placeholder 2">
            <a:extLst>
              <a:ext uri="{FF2B5EF4-FFF2-40B4-BE49-F238E27FC236}">
                <a16:creationId xmlns:a16="http://schemas.microsoft.com/office/drawing/2014/main" id="{D2C26D68-0929-0B1E-98C5-BE0106610006}"/>
              </a:ext>
            </a:extLst>
          </p:cNvPr>
          <p:cNvSpPr>
            <a:spLocks noGrp="1"/>
          </p:cNvSpPr>
          <p:nvPr>
            <p:ph idx="1"/>
          </p:nvPr>
        </p:nvSpPr>
        <p:spPr>
          <a:xfrm>
            <a:off x="308758" y="1964092"/>
            <a:ext cx="10918902" cy="4591811"/>
          </a:xfrm>
        </p:spPr>
        <p:txBody>
          <a:bodyPr>
            <a:normAutofit/>
          </a:bodyPr>
          <a:lstStyle/>
          <a:p>
            <a:pPr marL="342900" indent="-342900">
              <a:buFont typeface="Arial" panose="020B0604020202020204" pitchFamily="34" charset="0"/>
              <a:buChar char="•"/>
            </a:pPr>
            <a:r>
              <a:rPr lang="en-US" dirty="0">
                <a:highlight>
                  <a:srgbClr val="FFFF00"/>
                </a:highlight>
              </a:rPr>
              <a:t>Get new views of the data by grouping and aggregating the data</a:t>
            </a:r>
            <a:r>
              <a:rPr lang="en-US" dirty="0"/>
              <a:t>: This involves </a:t>
            </a:r>
            <a:r>
              <a:rPr lang="en-US" dirty="0">
                <a:solidFill>
                  <a:srgbClr val="FF0000"/>
                </a:solidFill>
              </a:rPr>
              <a:t>summarizing the data</a:t>
            </a:r>
            <a:r>
              <a:rPr lang="en-US" dirty="0"/>
              <a:t> by creating subsets based on specific variables and </a:t>
            </a:r>
            <a:r>
              <a:rPr lang="en-US" dirty="0">
                <a:solidFill>
                  <a:srgbClr val="FF0000"/>
                </a:solidFill>
              </a:rPr>
              <a:t>then applying aggregation functions </a:t>
            </a:r>
            <a:r>
              <a:rPr lang="en-US" dirty="0"/>
              <a:t>such as </a:t>
            </a:r>
            <a:r>
              <a:rPr lang="en-US" dirty="0">
                <a:solidFill>
                  <a:srgbClr val="FF0000"/>
                </a:solidFill>
              </a:rPr>
              <a:t>sum, average</a:t>
            </a:r>
            <a:r>
              <a:rPr lang="en-US" dirty="0"/>
              <a:t>, or count to calculate summary statistics for each group.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highlight>
                  <a:srgbClr val="FFFF00"/>
                </a:highlight>
              </a:rPr>
              <a:t>Make </a:t>
            </a:r>
            <a:r>
              <a:rPr lang="en-US" dirty="0" err="1">
                <a:highlight>
                  <a:srgbClr val="FFFF00"/>
                </a:highlight>
              </a:rPr>
              <a:t>visualisations</a:t>
            </a:r>
            <a:r>
              <a:rPr lang="en-US" dirty="0">
                <a:highlight>
                  <a:srgbClr val="FFFF00"/>
                </a:highlight>
              </a:rPr>
              <a:t> that provide insights and show relationships</a:t>
            </a:r>
            <a:r>
              <a:rPr lang="en-US" dirty="0"/>
              <a:t>: This involves creating charts, graphs, and other visual representations of the data to </a:t>
            </a:r>
            <a:r>
              <a:rPr lang="en-US" dirty="0">
                <a:solidFill>
                  <a:srgbClr val="FF0000"/>
                </a:solidFill>
              </a:rPr>
              <a:t>identify patterns, trends, and relationships that may not be apparent</a:t>
            </a:r>
            <a:r>
              <a:rPr lang="en-US" dirty="0"/>
              <a:t> in raw data.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highlight>
                  <a:srgbClr val="FFFF00"/>
                </a:highlight>
              </a:rPr>
              <a:t>Model the data as part of predictive analysis</a:t>
            </a:r>
            <a:r>
              <a:rPr lang="en-US" dirty="0"/>
              <a:t>: This involves </a:t>
            </a:r>
            <a:r>
              <a:rPr lang="en-US" dirty="0">
                <a:solidFill>
                  <a:srgbClr val="FF0000"/>
                </a:solidFill>
              </a:rPr>
              <a:t>building statistical models, such as regression or decision trees, to predict future outcomes </a:t>
            </a:r>
            <a:r>
              <a:rPr lang="en-US" dirty="0"/>
              <a:t>based on historical data and to identify the key factors that drive those outcomes.</a:t>
            </a:r>
          </a:p>
        </p:txBody>
      </p:sp>
    </p:spTree>
    <p:extLst>
      <p:ext uri="{BB962C8B-B14F-4D97-AF65-F5344CB8AC3E}">
        <p14:creationId xmlns:p14="http://schemas.microsoft.com/office/powerpoint/2010/main" val="1950074990"/>
      </p:ext>
    </p:extLst>
  </p:cSld>
  <p:clrMapOvr>
    <a:masterClrMapping/>
  </p:clrMapOvr>
  <mc:AlternateContent xmlns:mc="http://schemas.openxmlformats.org/markup-compatibility/2006" xmlns:p14="http://schemas.microsoft.com/office/powerpoint/2010/main">
    <mc:Choice Requires="p14">
      <p:transition spd="slow" p14:dur="2000" advTm="126709"/>
    </mc:Choice>
    <mc:Fallback xmlns="">
      <p:transition spd="slow" advTm="1267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ADF5-50D9-1A3C-98F9-B6D31BBFF109}"/>
              </a:ext>
            </a:extLst>
          </p:cNvPr>
          <p:cNvSpPr>
            <a:spLocks noGrp="1"/>
          </p:cNvSpPr>
          <p:nvPr>
            <p:ph type="title"/>
          </p:nvPr>
        </p:nvSpPr>
        <p:spPr>
          <a:xfrm>
            <a:off x="293735" y="0"/>
            <a:ext cx="11604529" cy="1205491"/>
          </a:xfrm>
        </p:spPr>
        <p:txBody>
          <a:bodyPr>
            <a:normAutofit/>
          </a:bodyPr>
          <a:lstStyle/>
          <a:p>
            <a:r>
              <a:rPr lang="en-US" dirty="0"/>
              <a:t>Data Analysis: Phase 5. Visualize the Data </a:t>
            </a:r>
          </a:p>
        </p:txBody>
      </p:sp>
      <p:sp>
        <p:nvSpPr>
          <p:cNvPr id="3" name="Content Placeholder 2">
            <a:extLst>
              <a:ext uri="{FF2B5EF4-FFF2-40B4-BE49-F238E27FC236}">
                <a16:creationId xmlns:a16="http://schemas.microsoft.com/office/drawing/2014/main" id="{D2C26D68-0929-0B1E-98C5-BE0106610006}"/>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Enhancing visualizations to make them </a:t>
            </a:r>
            <a:r>
              <a:rPr lang="en-US" dirty="0">
                <a:highlight>
                  <a:srgbClr val="FFFF00"/>
                </a:highlight>
              </a:rPr>
              <a:t>appropriate for the target audience</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Involves </a:t>
            </a:r>
            <a:r>
              <a:rPr lang="en-US" dirty="0">
                <a:highlight>
                  <a:srgbClr val="FFFF00"/>
                </a:highlight>
              </a:rPr>
              <a:t>tailoring the presentation </a:t>
            </a:r>
            <a:r>
              <a:rPr lang="en-US" dirty="0"/>
              <a:t>of data to </a:t>
            </a:r>
            <a:r>
              <a:rPr lang="en-US" dirty="0">
                <a:highlight>
                  <a:srgbClr val="FFFF00"/>
                </a:highlight>
              </a:rPr>
              <a:t>effectively communicate insights and key messages to a specific group of people</a:t>
            </a:r>
            <a:r>
              <a:rPr lang="en-US" dirty="0"/>
              <a:t>. This can include modifying the design, layout, and level of detail of the </a:t>
            </a:r>
            <a:r>
              <a:rPr lang="en-US" dirty="0" err="1"/>
              <a:t>visualisation</a:t>
            </a:r>
            <a:r>
              <a:rPr lang="en-US" dirty="0"/>
              <a:t> to match the audience's level of expertise, interests, and preferences. </a:t>
            </a:r>
          </a:p>
          <a:p>
            <a:pPr marL="571500" lvl="1" indent="-342900">
              <a:buFont typeface="Arial" panose="020B0604020202020204" pitchFamily="34" charset="0"/>
              <a:buChar char="•"/>
            </a:pPr>
            <a:r>
              <a:rPr lang="en-US" sz="2000" dirty="0"/>
              <a:t>For example, a simple and intuitive </a:t>
            </a:r>
            <a:r>
              <a:rPr lang="en-US" sz="2000" dirty="0" err="1"/>
              <a:t>visualisation</a:t>
            </a:r>
            <a:r>
              <a:rPr lang="en-US" sz="2000" dirty="0"/>
              <a:t> may be more suitable for a </a:t>
            </a:r>
            <a:r>
              <a:rPr lang="en-US" sz="2000" b="1" dirty="0"/>
              <a:t>non-technical </a:t>
            </a:r>
            <a:r>
              <a:rPr lang="en-US" sz="2000" dirty="0"/>
              <a:t>audience, while a more complex and detailed visualization may be more appropriate for a group of </a:t>
            </a:r>
            <a:r>
              <a:rPr lang="en-US" sz="2000" b="1" dirty="0"/>
              <a:t>data experts</a:t>
            </a:r>
            <a:r>
              <a:rPr lang="en-US" sz="2000" dirty="0"/>
              <a:t>. </a:t>
            </a:r>
            <a:br>
              <a:rPr lang="en-US" sz="2000" dirty="0"/>
            </a:br>
            <a:endParaRPr lang="en-US" sz="2000" dirty="0"/>
          </a:p>
          <a:p>
            <a:endParaRPr lang="en-US" dirty="0"/>
          </a:p>
        </p:txBody>
      </p:sp>
    </p:spTree>
    <p:extLst>
      <p:ext uri="{BB962C8B-B14F-4D97-AF65-F5344CB8AC3E}">
        <p14:creationId xmlns:p14="http://schemas.microsoft.com/office/powerpoint/2010/main" val="1237990440"/>
      </p:ext>
    </p:extLst>
  </p:cSld>
  <p:clrMapOvr>
    <a:masterClrMapping/>
  </p:clrMapOvr>
  <mc:AlternateContent xmlns:mc="http://schemas.openxmlformats.org/markup-compatibility/2006" xmlns:p14="http://schemas.microsoft.com/office/powerpoint/2010/main">
    <mc:Choice Requires="p14">
      <p:transition spd="slow" p14:dur="2000" advTm="98890"/>
    </mc:Choice>
    <mc:Fallback xmlns="">
      <p:transition spd="slow" advTm="9889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EB1684-BC61-DFC5-EDC3-8167E1D070C1}"/>
              </a:ext>
            </a:extLst>
          </p:cNvPr>
          <p:cNvSpPr>
            <a:spLocks noGrp="1"/>
          </p:cNvSpPr>
          <p:nvPr>
            <p:ph type="title"/>
          </p:nvPr>
        </p:nvSpPr>
        <p:spPr>
          <a:xfrm>
            <a:off x="484552" y="365125"/>
            <a:ext cx="10869248" cy="1530910"/>
          </a:xfrm>
        </p:spPr>
        <p:txBody>
          <a:bodyPr>
            <a:normAutofit fontScale="90000"/>
          </a:bodyPr>
          <a:lstStyle/>
          <a:p>
            <a:r>
              <a:rPr lang="en-US" dirty="0"/>
              <a:t>What’s  the difference between data cleaning and data preparation?</a:t>
            </a:r>
          </a:p>
        </p:txBody>
      </p:sp>
      <p:sp>
        <p:nvSpPr>
          <p:cNvPr id="3" name="Content Placeholder 2">
            <a:extLst>
              <a:ext uri="{FF2B5EF4-FFF2-40B4-BE49-F238E27FC236}">
                <a16:creationId xmlns:a16="http://schemas.microsoft.com/office/drawing/2014/main" id="{FAB32FAF-7821-1809-2ED6-9566B2BFEAA5}"/>
              </a:ext>
            </a:extLst>
          </p:cNvPr>
          <p:cNvSpPr>
            <a:spLocks noGrp="1"/>
          </p:cNvSpPr>
          <p:nvPr>
            <p:ph idx="1"/>
          </p:nvPr>
        </p:nvSpPr>
        <p:spPr>
          <a:xfrm>
            <a:off x="484552" y="2837329"/>
            <a:ext cx="5331229" cy="3339634"/>
          </a:xfrm>
        </p:spPr>
        <p:txBody>
          <a:bodyPr>
            <a:normAutofit/>
          </a:bodyPr>
          <a:lstStyle/>
          <a:p>
            <a:pPr>
              <a:lnSpc>
                <a:spcPct val="110000"/>
              </a:lnSpc>
            </a:pPr>
            <a:r>
              <a:rPr lang="en-US" sz="3600" dirty="0"/>
              <a:t>Answer …</a:t>
            </a:r>
            <a:br>
              <a:rPr lang="en-US" sz="3600" dirty="0"/>
            </a:br>
            <a:endParaRPr lang="en-US" sz="3600" dirty="0"/>
          </a:p>
        </p:txBody>
      </p:sp>
      <p:pic>
        <p:nvPicPr>
          <p:cNvPr id="1026" name="Picture 2" descr="Free Knowledge Curiosity photo and picture">
            <a:extLst>
              <a:ext uri="{FF2B5EF4-FFF2-40B4-BE49-F238E27FC236}">
                <a16:creationId xmlns:a16="http://schemas.microsoft.com/office/drawing/2014/main" id="{919A4985-9AF5-8006-5018-B2DC904960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70" r="14529" b="-1"/>
          <a:stretch/>
        </p:blipFill>
        <p:spPr bwMode="auto">
          <a:xfrm>
            <a:off x="6095998" y="2279889"/>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165499"/>
      </p:ext>
    </p:extLst>
  </p:cSld>
  <p:clrMapOvr>
    <a:masterClrMapping/>
  </p:clrMapOvr>
  <mc:AlternateContent xmlns:mc="http://schemas.openxmlformats.org/markup-compatibility/2006" xmlns:p14="http://schemas.microsoft.com/office/powerpoint/2010/main">
    <mc:Choice Requires="p14">
      <p:transition spd="slow" p14:dur="2000" advTm="13925"/>
    </mc:Choice>
    <mc:Fallback xmlns="">
      <p:transition spd="slow" advTm="13925"/>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FF8DE50-7A65-4407-ADF1-2CD17A91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4F5B6F84-73EF-47ED-850E-4308B2C0D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98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EB1684-BC61-DFC5-EDC3-8167E1D070C1}"/>
              </a:ext>
            </a:extLst>
          </p:cNvPr>
          <p:cNvSpPr>
            <a:spLocks noGrp="1"/>
          </p:cNvSpPr>
          <p:nvPr>
            <p:ph type="title"/>
          </p:nvPr>
        </p:nvSpPr>
        <p:spPr>
          <a:xfrm>
            <a:off x="484552" y="365125"/>
            <a:ext cx="10869248" cy="1530910"/>
          </a:xfrm>
        </p:spPr>
        <p:txBody>
          <a:bodyPr>
            <a:normAutofit fontScale="90000"/>
          </a:bodyPr>
          <a:lstStyle/>
          <a:p>
            <a:r>
              <a:rPr lang="en-US" dirty="0"/>
              <a:t>What’s  the difference between data cleaning and data preparation?</a:t>
            </a:r>
          </a:p>
        </p:txBody>
      </p:sp>
      <p:sp>
        <p:nvSpPr>
          <p:cNvPr id="3" name="Content Placeholder 2">
            <a:extLst>
              <a:ext uri="{FF2B5EF4-FFF2-40B4-BE49-F238E27FC236}">
                <a16:creationId xmlns:a16="http://schemas.microsoft.com/office/drawing/2014/main" id="{FAB32FAF-7821-1809-2ED6-9566B2BFEAA5}"/>
              </a:ext>
            </a:extLst>
          </p:cNvPr>
          <p:cNvSpPr>
            <a:spLocks noGrp="1"/>
          </p:cNvSpPr>
          <p:nvPr>
            <p:ph idx="1"/>
          </p:nvPr>
        </p:nvSpPr>
        <p:spPr>
          <a:xfrm>
            <a:off x="339065" y="2645014"/>
            <a:ext cx="5417868" cy="3155103"/>
          </a:xfrm>
        </p:spPr>
        <p:txBody>
          <a:bodyPr>
            <a:noAutofit/>
          </a:bodyPr>
          <a:lstStyle/>
          <a:p>
            <a:pPr algn="just">
              <a:lnSpc>
                <a:spcPct val="110000"/>
              </a:lnSpc>
            </a:pPr>
            <a:r>
              <a:rPr lang="en-US" dirty="0"/>
              <a:t>Data cleaning focuses on identifying and correcting </a:t>
            </a:r>
            <a:r>
              <a:rPr lang="en-US" dirty="0">
                <a:highlight>
                  <a:srgbClr val="FFFF00"/>
                </a:highlight>
              </a:rPr>
              <a:t>errors</a:t>
            </a:r>
            <a:r>
              <a:rPr lang="en-US" dirty="0"/>
              <a:t> and inconsistencies in the data, while data preparation focuses on </a:t>
            </a:r>
            <a:r>
              <a:rPr lang="en-US" dirty="0">
                <a:highlight>
                  <a:srgbClr val="FFFF00"/>
                </a:highlight>
              </a:rPr>
              <a:t>transforming and formatting </a:t>
            </a:r>
            <a:r>
              <a:rPr lang="en-US" dirty="0"/>
              <a:t>the data to make it suitable for analysis. </a:t>
            </a:r>
          </a:p>
          <a:p>
            <a:pPr algn="just">
              <a:lnSpc>
                <a:spcPct val="110000"/>
              </a:lnSpc>
            </a:pPr>
            <a:endParaRPr lang="en-US" dirty="0"/>
          </a:p>
          <a:p>
            <a:pPr algn="just">
              <a:lnSpc>
                <a:spcPct val="110000"/>
              </a:lnSpc>
            </a:pPr>
            <a:r>
              <a:rPr lang="en-US" dirty="0"/>
              <a:t>Both steps are important in the data analysis process, as they help to ensure that the results of the analysis are accurate and meaningful.</a:t>
            </a:r>
          </a:p>
          <a:p>
            <a:pPr>
              <a:lnSpc>
                <a:spcPct val="110000"/>
              </a:lnSpc>
            </a:pPr>
            <a:br>
              <a:rPr lang="en-US" dirty="0"/>
            </a:br>
            <a:endParaRPr lang="en-US" dirty="0"/>
          </a:p>
        </p:txBody>
      </p:sp>
      <p:pic>
        <p:nvPicPr>
          <p:cNvPr id="1026" name="Picture 2" descr="Free Knowledge Curiosity photo and picture">
            <a:extLst>
              <a:ext uri="{FF2B5EF4-FFF2-40B4-BE49-F238E27FC236}">
                <a16:creationId xmlns:a16="http://schemas.microsoft.com/office/drawing/2014/main" id="{919A4985-9AF5-8006-5018-B2DC904960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70" r="14529" b="-1"/>
          <a:stretch/>
        </p:blipFill>
        <p:spPr bwMode="auto">
          <a:xfrm>
            <a:off x="6095998" y="2279889"/>
            <a:ext cx="6095998" cy="4578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698192"/>
      </p:ext>
    </p:extLst>
  </p:cSld>
  <p:clrMapOvr>
    <a:masterClrMapping/>
  </p:clrMapOvr>
  <mc:AlternateContent xmlns:mc="http://schemas.openxmlformats.org/markup-compatibility/2006" xmlns:p14="http://schemas.microsoft.com/office/powerpoint/2010/main">
    <mc:Choice Requires="p14">
      <p:transition spd="slow" p14:dur="2000" advTm="30620"/>
    </mc:Choice>
    <mc:Fallback xmlns="">
      <p:transition spd="slow" advTm="3062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582B8-0602-5CDD-A48C-B61E0722A4AC}"/>
              </a:ext>
            </a:extLst>
          </p:cNvPr>
          <p:cNvSpPr>
            <a:spLocks noGrp="1"/>
          </p:cNvSpPr>
          <p:nvPr>
            <p:ph type="title"/>
          </p:nvPr>
        </p:nvSpPr>
        <p:spPr>
          <a:xfrm>
            <a:off x="239225" y="90224"/>
            <a:ext cx="10869248" cy="1205491"/>
          </a:xfrm>
        </p:spPr>
        <p:txBody>
          <a:bodyPr>
            <a:normAutofit/>
          </a:bodyPr>
          <a:lstStyle/>
          <a:p>
            <a:r>
              <a:rPr lang="en-US" dirty="0"/>
              <a:t>Python for Data Science &amp; AI: Anaconda</a:t>
            </a:r>
          </a:p>
        </p:txBody>
      </p:sp>
      <p:pic>
        <p:nvPicPr>
          <p:cNvPr id="4" name="Picture 3">
            <a:extLst>
              <a:ext uri="{FF2B5EF4-FFF2-40B4-BE49-F238E27FC236}">
                <a16:creationId xmlns:a16="http://schemas.microsoft.com/office/drawing/2014/main" id="{8D8E9A71-FAB2-2AFA-8227-D412D2B396EF}"/>
              </a:ext>
            </a:extLst>
          </p:cNvPr>
          <p:cNvPicPr>
            <a:picLocks noChangeAspect="1"/>
          </p:cNvPicPr>
          <p:nvPr/>
        </p:nvPicPr>
        <p:blipFill>
          <a:blip r:embed="rId3"/>
          <a:stretch>
            <a:fillRect/>
          </a:stretch>
        </p:blipFill>
        <p:spPr>
          <a:xfrm>
            <a:off x="2071076" y="1993555"/>
            <a:ext cx="8049848" cy="4605380"/>
          </a:xfrm>
          <a:prstGeom prst="rect">
            <a:avLst/>
          </a:prstGeom>
        </p:spPr>
      </p:pic>
      <p:sp>
        <p:nvSpPr>
          <p:cNvPr id="5" name="TextBox 4">
            <a:extLst>
              <a:ext uri="{FF2B5EF4-FFF2-40B4-BE49-F238E27FC236}">
                <a16:creationId xmlns:a16="http://schemas.microsoft.com/office/drawing/2014/main" id="{C5124C34-EDFB-D3FA-505A-4EBB831E74EA}"/>
              </a:ext>
            </a:extLst>
          </p:cNvPr>
          <p:cNvSpPr txBox="1"/>
          <p:nvPr/>
        </p:nvSpPr>
        <p:spPr>
          <a:xfrm>
            <a:off x="5861737" y="1993555"/>
            <a:ext cx="6099586" cy="369332"/>
          </a:xfrm>
          <a:prstGeom prst="rect">
            <a:avLst/>
          </a:prstGeom>
          <a:noFill/>
        </p:spPr>
        <p:txBody>
          <a:bodyPr wrap="square">
            <a:spAutoFit/>
          </a:bodyPr>
          <a:lstStyle/>
          <a:p>
            <a:r>
              <a:rPr lang="en-US" dirty="0">
                <a:hlinkClick r:id="rId4"/>
              </a:rPr>
              <a:t>https://www.anaconda.com/download</a:t>
            </a:r>
            <a:r>
              <a:rPr lang="en-US" dirty="0"/>
              <a:t> </a:t>
            </a:r>
          </a:p>
        </p:txBody>
      </p:sp>
    </p:spTree>
    <p:extLst>
      <p:ext uri="{BB962C8B-B14F-4D97-AF65-F5344CB8AC3E}">
        <p14:creationId xmlns:p14="http://schemas.microsoft.com/office/powerpoint/2010/main" val="2592188962"/>
      </p:ext>
    </p:extLst>
  </p:cSld>
  <p:clrMapOvr>
    <a:masterClrMapping/>
  </p:clrMapOvr>
  <mc:AlternateContent xmlns:mc="http://schemas.openxmlformats.org/markup-compatibility/2006" xmlns:p14="http://schemas.microsoft.com/office/powerpoint/2010/main">
    <mc:Choice Requires="p14">
      <p:transition spd="slow" p14:dur="2000" advTm="130880"/>
    </mc:Choice>
    <mc:Fallback xmlns="">
      <p:transition spd="slow" advTm="13088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E3C03-7DA8-8C82-DF8A-E422325B43FB}"/>
              </a:ext>
            </a:extLst>
          </p:cNvPr>
          <p:cNvSpPr>
            <a:spLocks noGrp="1"/>
          </p:cNvSpPr>
          <p:nvPr>
            <p:ph type="title"/>
          </p:nvPr>
        </p:nvSpPr>
        <p:spPr/>
        <p:txBody>
          <a:bodyPr>
            <a:normAutofit fontScale="90000"/>
          </a:bodyPr>
          <a:lstStyle/>
          <a:p>
            <a:r>
              <a:rPr lang="en-US" dirty="0"/>
              <a:t>Python for Data Science &amp; AI: </a:t>
            </a:r>
            <a:br>
              <a:rPr lang="en-US" dirty="0"/>
            </a:br>
            <a:r>
              <a:rPr lang="en-US" dirty="0"/>
              <a:t>Modules Included with Anaconda</a:t>
            </a:r>
          </a:p>
        </p:txBody>
      </p:sp>
      <p:graphicFrame>
        <p:nvGraphicFramePr>
          <p:cNvPr id="6" name="Table Placeholder 9">
            <a:extLst>
              <a:ext uri="{FF2B5EF4-FFF2-40B4-BE49-F238E27FC236}">
                <a16:creationId xmlns:a16="http://schemas.microsoft.com/office/drawing/2014/main" id="{F4BC1F8C-6D7F-5DA8-9331-631F48FC022A}"/>
              </a:ext>
            </a:extLst>
          </p:cNvPr>
          <p:cNvGraphicFramePr>
            <a:graphicFrameLocks/>
          </p:cNvGraphicFramePr>
          <p:nvPr>
            <p:extLst>
              <p:ext uri="{D42A27DB-BD31-4B8C-83A1-F6EECF244321}">
                <p14:modId xmlns:p14="http://schemas.microsoft.com/office/powerpoint/2010/main" val="4004303738"/>
              </p:ext>
            </p:extLst>
          </p:nvPr>
        </p:nvGraphicFramePr>
        <p:xfrm>
          <a:off x="1164771" y="2012493"/>
          <a:ext cx="10189029" cy="3986863"/>
        </p:xfrm>
        <a:graphic>
          <a:graphicData uri="http://schemas.openxmlformats.org/drawingml/2006/table">
            <a:tbl>
              <a:tblPr firstRow="1"/>
              <a:tblGrid>
                <a:gridCol w="2070941">
                  <a:extLst>
                    <a:ext uri="{9D8B030D-6E8A-4147-A177-3AD203B41FA5}">
                      <a16:colId xmlns:a16="http://schemas.microsoft.com/office/drawing/2014/main" val="2725706857"/>
                    </a:ext>
                  </a:extLst>
                </a:gridCol>
                <a:gridCol w="2899317">
                  <a:extLst>
                    <a:ext uri="{9D8B030D-6E8A-4147-A177-3AD203B41FA5}">
                      <a16:colId xmlns:a16="http://schemas.microsoft.com/office/drawing/2014/main" val="3740416609"/>
                    </a:ext>
                  </a:extLst>
                </a:gridCol>
                <a:gridCol w="5218771">
                  <a:extLst>
                    <a:ext uri="{9D8B030D-6E8A-4147-A177-3AD203B41FA5}">
                      <a16:colId xmlns:a16="http://schemas.microsoft.com/office/drawing/2014/main" val="4176158235"/>
                    </a:ext>
                  </a:extLst>
                </a:gridCol>
              </a:tblGrid>
              <a:tr h="379013">
                <a:tc>
                  <a:txBody>
                    <a:bodyPr/>
                    <a:lstStyle/>
                    <a:p>
                      <a:pPr marL="0" marR="0" indent="0">
                        <a:spcBef>
                          <a:spcPts val="300"/>
                        </a:spcBef>
                        <a:spcAft>
                          <a:spcPts val="600"/>
                        </a:spcAft>
                        <a:tabLst>
                          <a:tab pos="914400" algn="l"/>
                          <a:tab pos="20574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Module</a:t>
                      </a:r>
                    </a:p>
                  </a:txBody>
                  <a:tcPr marL="68580" marR="68580">
                    <a:lnL>
                      <a:noFill/>
                    </a:lnL>
                    <a:lnR>
                      <a:noFill/>
                    </a:lnR>
                    <a:lnT>
                      <a:noFill/>
                    </a:lnT>
                    <a:lnB>
                      <a:noFill/>
                    </a:lnB>
                    <a:solidFill>
                      <a:srgbClr val="3D87B7"/>
                    </a:solidFill>
                  </a:tcPr>
                </a:tc>
                <a:tc>
                  <a:txBody>
                    <a:bodyPr/>
                    <a:lstStyle/>
                    <a:p>
                      <a:pPr marL="0" marR="47625" indent="0">
                        <a:spcBef>
                          <a:spcPts val="300"/>
                        </a:spcBef>
                        <a:spcAft>
                          <a:spcPts val="600"/>
                        </a:spcAft>
                        <a:tabLst>
                          <a:tab pos="914400" algn="l"/>
                          <a:tab pos="20574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Abbreviation</a:t>
                      </a:r>
                    </a:p>
                  </a:txBody>
                  <a:tcPr marL="68580" marR="68580">
                    <a:lnL>
                      <a:noFill/>
                    </a:lnL>
                    <a:lnR>
                      <a:noFill/>
                    </a:lnR>
                    <a:lnT>
                      <a:noFill/>
                    </a:lnT>
                    <a:lnB>
                      <a:noFill/>
                    </a:lnB>
                    <a:solidFill>
                      <a:srgbClr val="3D87B7"/>
                    </a:solidFill>
                  </a:tcPr>
                </a:tc>
                <a:tc>
                  <a:txBody>
                    <a:bodyPr/>
                    <a:lstStyle/>
                    <a:p>
                      <a:pPr marL="0" marR="47625" indent="0">
                        <a:spcBef>
                          <a:spcPts val="300"/>
                        </a:spcBef>
                        <a:spcAft>
                          <a:spcPts val="600"/>
                        </a:spcAft>
                        <a:tabLst>
                          <a:tab pos="914400" algn="l"/>
                          <a:tab pos="20574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Provides methods for</a:t>
                      </a:r>
                    </a:p>
                  </a:txBody>
                  <a:tcPr marL="68580" marR="68580">
                    <a:lnL>
                      <a:noFill/>
                    </a:lnL>
                    <a:lnR>
                      <a:noFill/>
                    </a:lnR>
                    <a:lnT>
                      <a:noFill/>
                    </a:lnT>
                    <a:lnB>
                      <a:noFill/>
                    </a:lnB>
                    <a:solidFill>
                      <a:srgbClr val="3D87B7"/>
                    </a:solidFill>
                  </a:tcPr>
                </a:tc>
                <a:extLst>
                  <a:ext uri="{0D108BD9-81ED-4DB2-BD59-A6C34878D82A}">
                    <a16:rowId xmlns:a16="http://schemas.microsoft.com/office/drawing/2014/main" val="1825200803"/>
                  </a:ext>
                </a:extLst>
              </a:tr>
              <a:tr h="379013">
                <a:tc>
                  <a:txBody>
                    <a:bodyPr/>
                    <a:lstStyle/>
                    <a:p>
                      <a:pPr marL="0" marR="118745" indent="0">
                        <a:spcBef>
                          <a:spcPts val="0"/>
                        </a:spcBef>
                        <a:spcAft>
                          <a:spcPts val="300"/>
                        </a:spcAft>
                        <a:tabLst>
                          <a:tab pos="914400" algn="l"/>
                          <a:tab pos="2057400" algn="l"/>
                          <a:tab pos="457200" algn="l"/>
                        </a:tabLst>
                      </a:pPr>
                      <a:r>
                        <a:rPr lang="en-US" sz="1600" b="1" dirty="0">
                          <a:solidFill>
                            <a:schemeClr val="tx1"/>
                          </a:solidFill>
                          <a:effectLst/>
                          <a:latin typeface="Consolas" panose="020B0609020204030204" pitchFamily="49" charset="0"/>
                          <a:ea typeface="Times New Roman" panose="02020603050405020304" pitchFamily="18" charset="0"/>
                        </a:rPr>
                        <a:t>pandas</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1600" b="1" dirty="0">
                          <a:solidFill>
                            <a:schemeClr val="tx1"/>
                          </a:solidFill>
                          <a:effectLst/>
                          <a:latin typeface="Consolas" panose="020B0609020204030204" pitchFamily="49" charset="0"/>
                          <a:ea typeface="Times New Roman" panose="02020603050405020304" pitchFamily="18" charset="0"/>
                        </a:rPr>
                        <a:t>pd</a:t>
                      </a:r>
                      <a:r>
                        <a:rPr lang="en-US" sz="2000" dirty="0">
                          <a:solidFill>
                            <a:schemeClr val="tx1"/>
                          </a:solidFill>
                          <a:effectLst/>
                          <a:latin typeface="Times New Roman" panose="02020603050405020304" pitchFamily="18" charset="0"/>
                          <a:ea typeface="Times New Roman" panose="02020603050405020304" pitchFamily="18" charset="0"/>
                        </a:rPr>
                        <a:t> </a:t>
                      </a: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chemeClr val="tx1"/>
                          </a:solidFill>
                          <a:effectLst/>
                          <a:latin typeface="Times New Roman" panose="02020603050405020304" pitchFamily="18" charset="0"/>
                          <a:ea typeface="Times New Roman" panose="02020603050405020304" pitchFamily="18" charset="0"/>
                        </a:rPr>
                        <a:t>Data analysis and visualization</a:t>
                      </a: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3328004391"/>
                  </a:ext>
                </a:extLst>
              </a:tr>
              <a:tr h="379013">
                <a:tc>
                  <a:txBody>
                    <a:bodyPr/>
                    <a:lstStyle/>
                    <a:p>
                      <a:pPr marL="0" marR="118745" indent="0">
                        <a:spcBef>
                          <a:spcPts val="0"/>
                        </a:spcBef>
                        <a:spcAft>
                          <a:spcPts val="300"/>
                        </a:spcAft>
                        <a:tabLst>
                          <a:tab pos="914400" algn="l"/>
                          <a:tab pos="20574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numpy</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np</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Numerical computing</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3571146240"/>
                  </a:ext>
                </a:extLst>
              </a:tr>
              <a:tr h="379013">
                <a:tc>
                  <a:txBody>
                    <a:bodyPr/>
                    <a:lstStyle/>
                    <a:p>
                      <a:pPr marL="0" marR="118745" indent="0">
                        <a:spcBef>
                          <a:spcPts val="0"/>
                        </a:spcBef>
                        <a:spcAft>
                          <a:spcPts val="300"/>
                        </a:spcAft>
                        <a:tabLst>
                          <a:tab pos="914400" algn="l"/>
                          <a:tab pos="20574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seaborn</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sns</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Data visualization</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71177819"/>
                  </a:ext>
                </a:extLst>
              </a:tr>
              <a:tr h="379013">
                <a:tc>
                  <a:txBody>
                    <a:bodyPr/>
                    <a:lstStyle/>
                    <a:p>
                      <a:pPr marL="0" marR="118745" indent="0">
                        <a:spcBef>
                          <a:spcPts val="0"/>
                        </a:spcBef>
                        <a:spcAft>
                          <a:spcPts val="300"/>
                        </a:spcAft>
                        <a:tabLst>
                          <a:tab pos="914400" algn="l"/>
                          <a:tab pos="20574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datetime</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dt</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Working with datetime objects</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878026850"/>
                  </a:ext>
                </a:extLst>
              </a:tr>
              <a:tr h="379013">
                <a:tc>
                  <a:txBody>
                    <a:bodyPr/>
                    <a:lstStyle/>
                    <a:p>
                      <a:pPr marL="0" marR="118745" indent="0">
                        <a:spcBef>
                          <a:spcPts val="0"/>
                        </a:spcBef>
                        <a:spcAft>
                          <a:spcPts val="300"/>
                        </a:spcAft>
                        <a:tabLst>
                          <a:tab pos="914400" algn="l"/>
                          <a:tab pos="20574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urllib</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900" b="1">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Getting files from the web</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1719856759"/>
                  </a:ext>
                </a:extLst>
              </a:tr>
              <a:tr h="379013">
                <a:tc>
                  <a:txBody>
                    <a:bodyPr/>
                    <a:lstStyle/>
                    <a:p>
                      <a:pPr marL="0" marR="118745" indent="0">
                        <a:spcBef>
                          <a:spcPts val="0"/>
                        </a:spcBef>
                        <a:spcAft>
                          <a:spcPts val="300"/>
                        </a:spcAft>
                        <a:tabLst>
                          <a:tab pos="914400" algn="l"/>
                          <a:tab pos="20574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zipfile</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900" b="1">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Working with zip files</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84097509"/>
                  </a:ext>
                </a:extLst>
              </a:tr>
              <a:tr h="379013">
                <a:tc>
                  <a:txBody>
                    <a:bodyPr/>
                    <a:lstStyle/>
                    <a:p>
                      <a:pPr marL="0" marR="118745" indent="0">
                        <a:spcBef>
                          <a:spcPts val="0"/>
                        </a:spcBef>
                        <a:spcAft>
                          <a:spcPts val="300"/>
                        </a:spcAft>
                        <a:tabLst>
                          <a:tab pos="914400" algn="l"/>
                          <a:tab pos="2057400" algn="l"/>
                          <a:tab pos="457200" algn="l"/>
                        </a:tabLst>
                      </a:pPr>
                      <a:r>
                        <a:rPr lang="en-US" sz="1600" b="1">
                          <a:solidFill>
                            <a:srgbClr val="000000"/>
                          </a:solidFill>
                          <a:effectLst/>
                          <a:latin typeface="Consolas" panose="020B0609020204030204" pitchFamily="49" charset="0"/>
                          <a:ea typeface="Times New Roman" panose="02020603050405020304" pitchFamily="18" charset="0"/>
                        </a:rPr>
                        <a:t>sqlite3</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900" b="1">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Working with a SQLite database</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170503688"/>
                  </a:ext>
                </a:extLst>
              </a:tr>
              <a:tr h="404348">
                <a:tc>
                  <a:txBody>
                    <a:bodyPr/>
                    <a:lstStyle/>
                    <a:p>
                      <a:pPr marL="0" marR="118745" indent="0">
                        <a:spcBef>
                          <a:spcPts val="0"/>
                        </a:spcBef>
                        <a:spcAft>
                          <a:spcPts val="300"/>
                        </a:spcAft>
                        <a:tabLst>
                          <a:tab pos="914400" algn="l"/>
                          <a:tab pos="20574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json</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900" b="1">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118745" indent="0">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Working with JSON data</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2622866839"/>
                  </a:ext>
                </a:extLst>
              </a:tr>
              <a:tr h="412595">
                <a:tc>
                  <a:txBody>
                    <a:bodyPr/>
                    <a:lstStyle/>
                    <a:p>
                      <a:pPr marL="0" marR="118745" indent="0">
                        <a:spcBef>
                          <a:spcPts val="0"/>
                        </a:spcBef>
                        <a:spcAft>
                          <a:spcPts val="300"/>
                        </a:spcAft>
                        <a:tabLst>
                          <a:tab pos="914400" algn="l"/>
                          <a:tab pos="2057400" algn="l"/>
                          <a:tab pos="457200" algn="l"/>
                        </a:tabLst>
                      </a:pPr>
                      <a:r>
                        <a:rPr lang="en-AU" sz="1600" b="1" kern="1200" dirty="0">
                          <a:solidFill>
                            <a:srgbClr val="000000"/>
                          </a:solidFill>
                          <a:effectLst/>
                          <a:latin typeface="Consolas" panose="020B0609020204030204" pitchFamily="49" charset="0"/>
                          <a:ea typeface="+mn-ea"/>
                          <a:cs typeface="+mn-cs"/>
                        </a:rPr>
                        <a:t>scikit-learn</a:t>
                      </a:r>
                      <a:endParaRPr lang="en-US" sz="1600" b="1" kern="1200" dirty="0">
                        <a:solidFill>
                          <a:srgbClr val="000000"/>
                        </a:solidFill>
                        <a:effectLst/>
                        <a:latin typeface="Consolas" panose="020B0609020204030204" pitchFamily="49" charset="0"/>
                        <a:ea typeface="Times New Roman" panose="02020603050405020304" pitchFamily="18" charset="0"/>
                        <a:cs typeface="+mn-cs"/>
                      </a:endParaRPr>
                    </a:p>
                  </a:txBody>
                  <a:tcPr marL="68580" marR="68580" anchor="ctr">
                    <a:lnL>
                      <a:noFill/>
                    </a:lnL>
                    <a:lnR>
                      <a:noFill/>
                    </a:lnR>
                    <a:lnT>
                      <a:noFill/>
                    </a:lnT>
                    <a:lnB>
                      <a:noFill/>
                    </a:lnB>
                    <a:solidFill>
                      <a:srgbClr val="DFECF5"/>
                    </a:solidFill>
                  </a:tcPr>
                </a:tc>
                <a:tc>
                  <a:txBody>
                    <a:bodyPr/>
                    <a:lstStyle/>
                    <a:p>
                      <a:pPr marL="0" marR="118745" lvl="0" indent="0" algn="l" defTabSz="914400" rtl="0" eaLnBrk="1" fontAlgn="auto" latinLnBrk="0" hangingPunct="1">
                        <a:lnSpc>
                          <a:spcPct val="100000"/>
                        </a:lnSpc>
                        <a:spcBef>
                          <a:spcPts val="0"/>
                        </a:spcBef>
                        <a:spcAft>
                          <a:spcPts val="300"/>
                        </a:spcAft>
                        <a:buClrTx/>
                        <a:buSzTx/>
                        <a:buFontTx/>
                        <a:buNone/>
                        <a:tabLst>
                          <a:tab pos="914400" algn="l"/>
                          <a:tab pos="2057400" algn="l"/>
                          <a:tab pos="457200" algn="l"/>
                        </a:tabLst>
                        <a:defRPr/>
                      </a:pPr>
                      <a:r>
                        <a:rPr lang="en-US" sz="1600" b="1" kern="1200" dirty="0" err="1">
                          <a:solidFill>
                            <a:srgbClr val="000000"/>
                          </a:solidFill>
                          <a:effectLst/>
                          <a:latin typeface="Consolas" panose="020B0609020204030204" pitchFamily="49" charset="0"/>
                          <a:ea typeface="+mn-ea"/>
                          <a:cs typeface="+mn-cs"/>
                        </a:rPr>
                        <a:t>sklearn</a:t>
                      </a:r>
                      <a:endParaRPr lang="en-US" sz="1600" b="1" kern="1200" dirty="0">
                        <a:solidFill>
                          <a:srgbClr val="000000"/>
                        </a:solidFill>
                        <a:effectLst/>
                        <a:latin typeface="Consolas" panose="020B0609020204030204" pitchFamily="49" charset="0"/>
                        <a:ea typeface="+mn-ea"/>
                        <a:cs typeface="+mn-cs"/>
                      </a:endParaRPr>
                    </a:p>
                  </a:txBody>
                  <a:tcPr marL="68580" marR="68580" anchor="ctr">
                    <a:lnL>
                      <a:noFill/>
                    </a:lnL>
                    <a:lnR>
                      <a:noFill/>
                    </a:lnR>
                    <a:lnT>
                      <a:noFill/>
                    </a:lnT>
                    <a:lnB>
                      <a:noFill/>
                    </a:lnB>
                    <a:solidFill>
                      <a:srgbClr val="DFECF5"/>
                    </a:solidFill>
                  </a:tcPr>
                </a:tc>
                <a:tc>
                  <a:txBody>
                    <a:bodyPr/>
                    <a:lstStyle/>
                    <a:p>
                      <a:pPr marL="0" marR="118745" indent="0" algn="l">
                        <a:spcBef>
                          <a:spcPts val="0"/>
                        </a:spcBef>
                        <a:spcAft>
                          <a:spcPts val="300"/>
                        </a:spcAft>
                        <a:tabLst>
                          <a:tab pos="914400" algn="l"/>
                          <a:tab pos="20574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Regression analysis</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1885301102"/>
                  </a:ext>
                </a:extLst>
              </a:tr>
            </a:tbl>
          </a:graphicData>
        </a:graphic>
      </p:graphicFrame>
    </p:spTree>
    <p:extLst>
      <p:ext uri="{BB962C8B-B14F-4D97-AF65-F5344CB8AC3E}">
        <p14:creationId xmlns:p14="http://schemas.microsoft.com/office/powerpoint/2010/main" val="654043028"/>
      </p:ext>
    </p:extLst>
  </p:cSld>
  <p:clrMapOvr>
    <a:masterClrMapping/>
  </p:clrMapOvr>
  <mc:AlternateContent xmlns:mc="http://schemas.openxmlformats.org/markup-compatibility/2006" xmlns:p14="http://schemas.microsoft.com/office/powerpoint/2010/main">
    <mc:Choice Requires="p14">
      <p:transition spd="slow" p14:dur="2000" advTm="141589"/>
    </mc:Choice>
    <mc:Fallback xmlns="">
      <p:transition spd="slow" advTm="141589"/>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A96D1-2785-A5AA-10A2-DC2C2864D023}"/>
              </a:ext>
            </a:extLst>
          </p:cNvPr>
          <p:cNvSpPr>
            <a:spLocks noGrp="1"/>
          </p:cNvSpPr>
          <p:nvPr>
            <p:ph type="title"/>
          </p:nvPr>
        </p:nvSpPr>
        <p:spPr/>
        <p:txBody>
          <a:bodyPr>
            <a:normAutofit fontScale="90000"/>
          </a:bodyPr>
          <a:lstStyle/>
          <a:p>
            <a:pPr marL="0" marR="0">
              <a:spcBef>
                <a:spcPts val="1500"/>
              </a:spcBef>
              <a:spcAft>
                <a:spcPts val="600"/>
              </a:spcAft>
              <a:tabLst>
                <a:tab pos="1371600" algn="l"/>
              </a:tabLst>
            </a:pPr>
            <a:r>
              <a:rPr lang="en-US" dirty="0"/>
              <a:t>Python for Data Science &amp; AI: </a:t>
            </a:r>
            <a:br>
              <a:rPr lang="en-US" dirty="0"/>
            </a:br>
            <a:r>
              <a:rPr lang="en-US" sz="4800" dirty="0">
                <a:effectLst/>
                <a:ea typeface="Times New Roman" panose="02020603050405020304" pitchFamily="18" charset="0"/>
                <a:cs typeface="Times New Roman" panose="02020603050405020304" pitchFamily="18" charset="0"/>
              </a:rPr>
              <a:t>Two Ways to Install a Module</a:t>
            </a:r>
          </a:p>
        </p:txBody>
      </p:sp>
      <p:sp>
        <p:nvSpPr>
          <p:cNvPr id="3" name="Content Placeholder 2">
            <a:extLst>
              <a:ext uri="{FF2B5EF4-FFF2-40B4-BE49-F238E27FC236}">
                <a16:creationId xmlns:a16="http://schemas.microsoft.com/office/drawing/2014/main" id="{134F858A-86F3-FB66-2435-40C1F1A71984}"/>
              </a:ext>
            </a:extLst>
          </p:cNvPr>
          <p:cNvSpPr>
            <a:spLocks noGrp="1"/>
          </p:cNvSpPr>
          <p:nvPr>
            <p:ph idx="1"/>
          </p:nvPr>
        </p:nvSpPr>
        <p:spPr/>
        <p:txBody>
          <a:bodyPr>
            <a:noAutofit/>
          </a:bodyPr>
          <a:lstStyle/>
          <a:p>
            <a:endParaRPr lang="en-US" sz="2400" dirty="0"/>
          </a:p>
          <a:p>
            <a:endParaRPr lang="en-US" sz="2400" dirty="0"/>
          </a:p>
          <a:p>
            <a:endParaRPr lang="en-US" sz="2400" dirty="0"/>
          </a:p>
          <a:p>
            <a:endParaRPr lang="en-US" sz="2400" dirty="0"/>
          </a:p>
          <a:p>
            <a:pPr lvl="1"/>
            <a:endParaRPr lang="en-US" sz="2400" dirty="0"/>
          </a:p>
          <a:p>
            <a:pPr lvl="1"/>
            <a:r>
              <a:rPr lang="en-US" dirty="0">
                <a:ea typeface="Times New Roman" panose="02020603050405020304" pitchFamily="18" charset="0"/>
                <a:cs typeface="Times New Roman" panose="02020603050405020304" pitchFamily="18" charset="0"/>
              </a:rPr>
              <a:t>The </a:t>
            </a:r>
            <a:r>
              <a:rPr lang="en-US" dirty="0" err="1">
                <a:ea typeface="Times New Roman" panose="02020603050405020304" pitchFamily="18" charset="0"/>
                <a:cs typeface="Times New Roman" panose="02020603050405020304" pitchFamily="18" charset="0"/>
              </a:rPr>
              <a:t>c</a:t>
            </a:r>
            <a:r>
              <a:rPr lang="en-US"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onda</a:t>
            </a:r>
            <a:r>
              <a:rPr lang="en-US"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-forge is a </a:t>
            </a:r>
            <a:r>
              <a:rPr lang="en-US" dirty="0">
                <a:solidFill>
                  <a:schemeClr val="tx1"/>
                </a:solidFill>
                <a:effectLst/>
                <a:highlight>
                  <a:srgbClr val="00FF00"/>
                </a:highlight>
                <a:latin typeface="Cambria" panose="02040503050406030204" pitchFamily="18" charset="0"/>
                <a:ea typeface="Times New Roman" panose="02020603050405020304" pitchFamily="18" charset="0"/>
                <a:cs typeface="Times New Roman" panose="02020603050405020304" pitchFamily="18" charset="0"/>
              </a:rPr>
              <a:t>community-driven channel </a:t>
            </a:r>
            <a:r>
              <a:rPr lang="en-US"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for </a:t>
            </a:r>
            <a:r>
              <a:rPr lang="en-US" dirty="0" err="1">
                <a:ea typeface="Times New Roman" panose="02020603050405020304" pitchFamily="18" charset="0"/>
                <a:cs typeface="Times New Roman" panose="02020603050405020304" pitchFamily="18" charset="0"/>
              </a:rPr>
              <a:t>c</a:t>
            </a:r>
            <a:r>
              <a:rPr lang="en-US"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onda</a:t>
            </a:r>
            <a:r>
              <a:rPr lang="en-US"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 packages that provides many </a:t>
            </a:r>
            <a:r>
              <a:rPr lang="en-US" dirty="0">
                <a:solidFill>
                  <a:schemeClr val="tx1"/>
                </a:solidFill>
                <a:effectLst/>
                <a:highlight>
                  <a:srgbClr val="00FF00"/>
                </a:highlight>
                <a:latin typeface="Cambria" panose="02040503050406030204" pitchFamily="18" charset="0"/>
                <a:ea typeface="Times New Roman" panose="02020603050405020304" pitchFamily="18" charset="0"/>
                <a:cs typeface="Times New Roman" panose="02020603050405020304" pitchFamily="18" charset="0"/>
              </a:rPr>
              <a:t>additional packages </a:t>
            </a:r>
            <a:r>
              <a:rPr lang="en-US" dirty="0">
                <a:highlight>
                  <a:srgbClr val="00FF00"/>
                </a:highlight>
              </a:rPr>
              <a:t>beyond </a:t>
            </a:r>
            <a:r>
              <a:rPr lang="en-US" dirty="0"/>
              <a:t>those available in the </a:t>
            </a:r>
            <a:r>
              <a:rPr lang="en-US" dirty="0">
                <a:highlight>
                  <a:srgbClr val="00FF00"/>
                </a:highlight>
              </a:rPr>
              <a:t>default</a:t>
            </a:r>
            <a:r>
              <a:rPr lang="en-US" dirty="0"/>
              <a:t> </a:t>
            </a:r>
            <a:r>
              <a:rPr lang="en-US" dirty="0" err="1"/>
              <a:t>conda</a:t>
            </a:r>
            <a:r>
              <a:rPr lang="en-US" dirty="0"/>
              <a:t> channels.</a:t>
            </a:r>
          </a:p>
          <a:p>
            <a:pPr lvl="1"/>
            <a:r>
              <a:rPr lang="en-US" sz="1400" dirty="0">
                <a:hlinkClick r:id="rId2"/>
              </a:rPr>
              <a:t>https://docs.conda.io/projects/conda/en/latest/user-guide/concepts/channels.html</a:t>
            </a:r>
            <a:r>
              <a:rPr lang="en-US" sz="1400" dirty="0"/>
              <a:t> </a:t>
            </a:r>
          </a:p>
          <a:p>
            <a:pPr lvl="1"/>
            <a:endParaRPr lang="en-US" dirty="0"/>
          </a:p>
          <a:p>
            <a:pPr marL="342900" indent="-342900">
              <a:buFont typeface="Arial" panose="020B0604020202020204" pitchFamily="34" charset="0"/>
              <a:buChar char="•"/>
            </a:pPr>
            <a:endParaRPr lang="en-US" sz="2400" dirty="0"/>
          </a:p>
          <a:p>
            <a:endParaRPr lang="en-US" sz="2400" dirty="0"/>
          </a:p>
          <a:p>
            <a:endParaRPr lang="en-US" sz="2400" dirty="0"/>
          </a:p>
          <a:p>
            <a:br>
              <a:rPr lang="en-US" sz="2400" dirty="0"/>
            </a:br>
            <a:endParaRPr lang="en-US" sz="2400" dirty="0"/>
          </a:p>
          <a:p>
            <a:br>
              <a:rPr lang="en-US" sz="2400" dirty="0"/>
            </a:br>
            <a:endParaRPr lang="en-US" sz="2400" dirty="0"/>
          </a:p>
        </p:txBody>
      </p:sp>
      <p:graphicFrame>
        <p:nvGraphicFramePr>
          <p:cNvPr id="7" name="Table 4">
            <a:extLst>
              <a:ext uri="{FF2B5EF4-FFF2-40B4-BE49-F238E27FC236}">
                <a16:creationId xmlns:a16="http://schemas.microsoft.com/office/drawing/2014/main" id="{09500BEC-19C6-B5A0-D276-3552056C6397}"/>
              </a:ext>
            </a:extLst>
          </p:cNvPr>
          <p:cNvGraphicFramePr>
            <a:graphicFrameLocks noGrp="1"/>
          </p:cNvGraphicFramePr>
          <p:nvPr>
            <p:extLst>
              <p:ext uri="{D42A27DB-BD31-4B8C-83A1-F6EECF244321}">
                <p14:modId xmlns:p14="http://schemas.microsoft.com/office/powerpoint/2010/main" val="4269857759"/>
              </p:ext>
            </p:extLst>
          </p:nvPr>
        </p:nvGraphicFramePr>
        <p:xfrm>
          <a:off x="675861" y="2326430"/>
          <a:ext cx="9782589" cy="828250"/>
        </p:xfrm>
        <a:graphic>
          <a:graphicData uri="http://schemas.openxmlformats.org/drawingml/2006/table">
            <a:tbl>
              <a:tblPr firstRow="1" bandRow="1">
                <a:tableStyleId>{5C22544A-7EE6-4342-B048-85BDC9FD1C3A}</a:tableStyleId>
              </a:tblPr>
              <a:tblGrid>
                <a:gridCol w="9782589">
                  <a:extLst>
                    <a:ext uri="{9D8B030D-6E8A-4147-A177-3AD203B41FA5}">
                      <a16:colId xmlns:a16="http://schemas.microsoft.com/office/drawing/2014/main" val="3029973859"/>
                    </a:ext>
                  </a:extLst>
                </a:gridCol>
              </a:tblGrid>
              <a:tr h="46249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Install Pandas from the default channel.</a:t>
                      </a:r>
                    </a:p>
                  </a:txBody>
                  <a:tcPr>
                    <a:solidFill>
                      <a:srgbClr val="FCCDCD"/>
                    </a:solidFill>
                  </a:tcPr>
                </a:tc>
                <a:extLst>
                  <a:ext uri="{0D108BD9-81ED-4DB2-BD59-A6C34878D82A}">
                    <a16:rowId xmlns:a16="http://schemas.microsoft.com/office/drawing/2014/main" val="701905677"/>
                  </a:ext>
                </a:extLst>
              </a:tr>
              <a:tr h="3024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conda</a:t>
                      </a:r>
                      <a:r>
                        <a:rPr lang="en-US" sz="18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 install pandas </a:t>
                      </a:r>
                    </a:p>
                  </a:txBody>
                  <a:tcPr>
                    <a:solidFill>
                      <a:srgbClr val="D5FC79"/>
                    </a:solidFill>
                  </a:tcPr>
                </a:tc>
                <a:extLst>
                  <a:ext uri="{0D108BD9-81ED-4DB2-BD59-A6C34878D82A}">
                    <a16:rowId xmlns:a16="http://schemas.microsoft.com/office/drawing/2014/main" val="3112008351"/>
                  </a:ext>
                </a:extLst>
              </a:tr>
            </a:tbl>
          </a:graphicData>
        </a:graphic>
      </p:graphicFrame>
      <p:graphicFrame>
        <p:nvGraphicFramePr>
          <p:cNvPr id="8" name="Table 4">
            <a:extLst>
              <a:ext uri="{FF2B5EF4-FFF2-40B4-BE49-F238E27FC236}">
                <a16:creationId xmlns:a16="http://schemas.microsoft.com/office/drawing/2014/main" id="{4ECAE456-1A28-B0EA-B44E-CE2FCB9F112C}"/>
              </a:ext>
            </a:extLst>
          </p:cNvPr>
          <p:cNvGraphicFramePr>
            <a:graphicFrameLocks noGrp="1"/>
          </p:cNvGraphicFramePr>
          <p:nvPr>
            <p:extLst>
              <p:ext uri="{D42A27DB-BD31-4B8C-83A1-F6EECF244321}">
                <p14:modId xmlns:p14="http://schemas.microsoft.com/office/powerpoint/2010/main" val="2722752715"/>
              </p:ext>
            </p:extLst>
          </p:nvPr>
        </p:nvGraphicFramePr>
        <p:xfrm>
          <a:off x="675861" y="3692845"/>
          <a:ext cx="9782589" cy="924980"/>
        </p:xfrm>
        <a:graphic>
          <a:graphicData uri="http://schemas.openxmlformats.org/drawingml/2006/table">
            <a:tbl>
              <a:tblPr firstRow="1" bandRow="1">
                <a:tableStyleId>{5C22544A-7EE6-4342-B048-85BDC9FD1C3A}</a:tableStyleId>
              </a:tblPr>
              <a:tblGrid>
                <a:gridCol w="9782589">
                  <a:extLst>
                    <a:ext uri="{9D8B030D-6E8A-4147-A177-3AD203B41FA5}">
                      <a16:colId xmlns:a16="http://schemas.microsoft.com/office/drawing/2014/main" val="3029973859"/>
                    </a:ext>
                  </a:extLst>
                </a:gridCol>
              </a:tblGrid>
              <a:tr h="46249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Install </a:t>
                      </a:r>
                      <a:r>
                        <a:rPr lang="en-US" sz="1800" b="1"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pyreadstat</a:t>
                      </a:r>
                      <a:r>
                        <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 from the </a:t>
                      </a:r>
                      <a:r>
                        <a:rPr lang="en-US" sz="1800" b="1"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conda</a:t>
                      </a:r>
                      <a:r>
                        <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-forge channel. </a:t>
                      </a:r>
                    </a:p>
                  </a:txBody>
                  <a:tcPr>
                    <a:solidFill>
                      <a:srgbClr val="FCCDCD"/>
                    </a:solidFill>
                  </a:tcPr>
                </a:tc>
                <a:extLst>
                  <a:ext uri="{0D108BD9-81ED-4DB2-BD59-A6C34878D82A}">
                    <a16:rowId xmlns:a16="http://schemas.microsoft.com/office/drawing/2014/main" val="701905677"/>
                  </a:ext>
                </a:extLst>
              </a:tr>
              <a:tr h="462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conda</a:t>
                      </a:r>
                      <a:r>
                        <a:rPr lang="en-US" sz="18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 install </a:t>
                      </a:r>
                      <a:r>
                        <a:rPr lang="en-US" sz="1800" b="0" dirty="0">
                          <a:solidFill>
                            <a:schemeClr val="tx1"/>
                          </a:solidFill>
                          <a:effectLst/>
                          <a:highlight>
                            <a:srgbClr val="00FF00"/>
                          </a:highlight>
                          <a:latin typeface="Cambria" panose="02040503050406030204" pitchFamily="18" charset="0"/>
                          <a:ea typeface="Times New Roman" panose="02020603050405020304" pitchFamily="18" charset="0"/>
                          <a:cs typeface="Times New Roman" panose="02020603050405020304" pitchFamily="18" charset="0"/>
                        </a:rPr>
                        <a:t>--channel </a:t>
                      </a:r>
                      <a:r>
                        <a:rPr lang="en-US" sz="1800" b="0" dirty="0" err="1">
                          <a:solidFill>
                            <a:schemeClr val="tx1"/>
                          </a:solidFill>
                          <a:effectLst/>
                          <a:highlight>
                            <a:srgbClr val="00FF00"/>
                          </a:highlight>
                          <a:latin typeface="Cambria" panose="02040503050406030204" pitchFamily="18" charset="0"/>
                          <a:ea typeface="Times New Roman" panose="02020603050405020304" pitchFamily="18" charset="0"/>
                          <a:cs typeface="Times New Roman" panose="02020603050405020304" pitchFamily="18" charset="0"/>
                        </a:rPr>
                        <a:t>conda</a:t>
                      </a:r>
                      <a:r>
                        <a:rPr lang="en-US" sz="1800" b="0" dirty="0">
                          <a:solidFill>
                            <a:schemeClr val="tx1"/>
                          </a:solidFill>
                          <a:effectLst/>
                          <a:highlight>
                            <a:srgbClr val="00FF00"/>
                          </a:highlight>
                          <a:latin typeface="Cambria" panose="02040503050406030204" pitchFamily="18" charset="0"/>
                          <a:ea typeface="Times New Roman" panose="02020603050405020304" pitchFamily="18" charset="0"/>
                          <a:cs typeface="Times New Roman" panose="02020603050405020304" pitchFamily="18" charset="0"/>
                        </a:rPr>
                        <a:t>-forge </a:t>
                      </a:r>
                      <a:r>
                        <a:rPr lang="en-US" sz="1800" b="0"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pyreadstat</a:t>
                      </a:r>
                      <a:r>
                        <a:rPr lang="en-US" sz="18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 </a:t>
                      </a:r>
                    </a:p>
                  </a:txBody>
                  <a:tcPr>
                    <a:solidFill>
                      <a:srgbClr val="D5FC79"/>
                    </a:solidFill>
                  </a:tcPr>
                </a:tc>
                <a:extLst>
                  <a:ext uri="{0D108BD9-81ED-4DB2-BD59-A6C34878D82A}">
                    <a16:rowId xmlns:a16="http://schemas.microsoft.com/office/drawing/2014/main" val="3112008351"/>
                  </a:ext>
                </a:extLst>
              </a:tr>
            </a:tbl>
          </a:graphicData>
        </a:graphic>
      </p:graphicFrame>
    </p:spTree>
    <p:extLst>
      <p:ext uri="{BB962C8B-B14F-4D97-AF65-F5344CB8AC3E}">
        <p14:creationId xmlns:p14="http://schemas.microsoft.com/office/powerpoint/2010/main" val="1740385073"/>
      </p:ext>
    </p:extLst>
  </p:cSld>
  <p:clrMapOvr>
    <a:masterClrMapping/>
  </p:clrMapOvr>
  <mc:AlternateContent xmlns:mc="http://schemas.openxmlformats.org/markup-compatibility/2006" xmlns:p14="http://schemas.microsoft.com/office/powerpoint/2010/main">
    <mc:Choice Requires="p14">
      <p:transition spd="slow" p14:dur="2000" advTm="91936"/>
    </mc:Choice>
    <mc:Fallback xmlns="">
      <p:transition spd="slow" advTm="91936"/>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923E-5050-831D-CBAE-A6C4F26A961E}"/>
              </a:ext>
            </a:extLst>
          </p:cNvPr>
          <p:cNvSpPr>
            <a:spLocks noGrp="1"/>
          </p:cNvSpPr>
          <p:nvPr>
            <p:ph type="title"/>
          </p:nvPr>
        </p:nvSpPr>
        <p:spPr/>
        <p:txBody>
          <a:bodyPr>
            <a:normAutofit fontScale="90000"/>
          </a:bodyPr>
          <a:lstStyle/>
          <a:p>
            <a:r>
              <a:rPr lang="en-US" dirty="0"/>
              <a:t>Python for Data Science &amp; AI: </a:t>
            </a:r>
            <a:br>
              <a:rPr lang="en-US" dirty="0"/>
            </a:br>
            <a:r>
              <a:rPr lang="en-US" dirty="0"/>
              <a:t>How to Import Modules</a:t>
            </a:r>
          </a:p>
        </p:txBody>
      </p:sp>
      <p:graphicFrame>
        <p:nvGraphicFramePr>
          <p:cNvPr id="4" name="Table 4">
            <a:extLst>
              <a:ext uri="{FF2B5EF4-FFF2-40B4-BE49-F238E27FC236}">
                <a16:creationId xmlns:a16="http://schemas.microsoft.com/office/drawing/2014/main" id="{FAA869DF-4091-149D-D2E5-C18170D35449}"/>
              </a:ext>
            </a:extLst>
          </p:cNvPr>
          <p:cNvGraphicFramePr>
            <a:graphicFrameLocks noGrp="1"/>
          </p:cNvGraphicFramePr>
          <p:nvPr>
            <p:extLst>
              <p:ext uri="{D42A27DB-BD31-4B8C-83A1-F6EECF244321}">
                <p14:modId xmlns:p14="http://schemas.microsoft.com/office/powerpoint/2010/main" val="3757010656"/>
              </p:ext>
            </p:extLst>
          </p:nvPr>
        </p:nvGraphicFramePr>
        <p:xfrm>
          <a:off x="643890" y="2600750"/>
          <a:ext cx="9782589" cy="828250"/>
        </p:xfrm>
        <a:graphic>
          <a:graphicData uri="http://schemas.openxmlformats.org/drawingml/2006/table">
            <a:tbl>
              <a:tblPr firstRow="1" bandRow="1">
                <a:tableStyleId>{5C22544A-7EE6-4342-B048-85BDC9FD1C3A}</a:tableStyleId>
              </a:tblPr>
              <a:tblGrid>
                <a:gridCol w="9782589">
                  <a:extLst>
                    <a:ext uri="{9D8B030D-6E8A-4147-A177-3AD203B41FA5}">
                      <a16:colId xmlns:a16="http://schemas.microsoft.com/office/drawing/2014/main" val="3029973859"/>
                    </a:ext>
                  </a:extLst>
                </a:gridCol>
              </a:tblGrid>
              <a:tr h="46249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Import one module into the namespace specified by the ‘as’ clause</a:t>
                      </a:r>
                    </a:p>
                  </a:txBody>
                  <a:tcPr>
                    <a:solidFill>
                      <a:srgbClr val="FCCDCD"/>
                    </a:solidFill>
                  </a:tcPr>
                </a:tc>
                <a:extLst>
                  <a:ext uri="{0D108BD9-81ED-4DB2-BD59-A6C34878D82A}">
                    <a16:rowId xmlns:a16="http://schemas.microsoft.com/office/drawing/2014/main" val="701905677"/>
                  </a:ext>
                </a:extLst>
              </a:tr>
              <a:tr h="3024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import pandas as pd</a:t>
                      </a:r>
                    </a:p>
                  </a:txBody>
                  <a:tcPr>
                    <a:solidFill>
                      <a:srgbClr val="D5FC79"/>
                    </a:solidFill>
                  </a:tcPr>
                </a:tc>
                <a:extLst>
                  <a:ext uri="{0D108BD9-81ED-4DB2-BD59-A6C34878D82A}">
                    <a16:rowId xmlns:a16="http://schemas.microsoft.com/office/drawing/2014/main" val="3112008351"/>
                  </a:ext>
                </a:extLst>
              </a:tr>
            </a:tbl>
          </a:graphicData>
        </a:graphic>
      </p:graphicFrame>
      <p:graphicFrame>
        <p:nvGraphicFramePr>
          <p:cNvPr id="5" name="Table 4">
            <a:extLst>
              <a:ext uri="{FF2B5EF4-FFF2-40B4-BE49-F238E27FC236}">
                <a16:creationId xmlns:a16="http://schemas.microsoft.com/office/drawing/2014/main" id="{52CE00E4-91BA-1F5B-F8BF-4EAEF90BCF92}"/>
              </a:ext>
            </a:extLst>
          </p:cNvPr>
          <p:cNvGraphicFramePr>
            <a:graphicFrameLocks noGrp="1"/>
          </p:cNvGraphicFramePr>
          <p:nvPr>
            <p:extLst>
              <p:ext uri="{D42A27DB-BD31-4B8C-83A1-F6EECF244321}">
                <p14:modId xmlns:p14="http://schemas.microsoft.com/office/powerpoint/2010/main" val="686518232"/>
              </p:ext>
            </p:extLst>
          </p:nvPr>
        </p:nvGraphicFramePr>
        <p:xfrm>
          <a:off x="643890" y="3970877"/>
          <a:ext cx="9723121" cy="828250"/>
        </p:xfrm>
        <a:graphic>
          <a:graphicData uri="http://schemas.openxmlformats.org/drawingml/2006/table">
            <a:tbl>
              <a:tblPr firstRow="1" bandRow="1">
                <a:tableStyleId>{5C22544A-7EE6-4342-B048-85BDC9FD1C3A}</a:tableStyleId>
              </a:tblPr>
              <a:tblGrid>
                <a:gridCol w="9723121">
                  <a:extLst>
                    <a:ext uri="{9D8B030D-6E8A-4147-A177-3AD203B41FA5}">
                      <a16:colId xmlns:a16="http://schemas.microsoft.com/office/drawing/2014/main" val="3029973859"/>
                    </a:ext>
                  </a:extLst>
                </a:gridCol>
              </a:tblGrid>
              <a:tr h="46249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Import one submodule from a module</a:t>
                      </a:r>
                    </a:p>
                  </a:txBody>
                  <a:tcPr>
                    <a:solidFill>
                      <a:srgbClr val="FCCDCD"/>
                    </a:solidFill>
                  </a:tcPr>
                </a:tc>
                <a:extLst>
                  <a:ext uri="{0D108BD9-81ED-4DB2-BD59-A6C34878D82A}">
                    <a16:rowId xmlns:a16="http://schemas.microsoft.com/office/drawing/2014/main" val="701905677"/>
                  </a:ext>
                </a:extLst>
              </a:tr>
              <a:tr h="3024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from </a:t>
                      </a:r>
                      <a:r>
                        <a:rPr lang="en-US" sz="1800" b="0" dirty="0" err="1">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urllib</a:t>
                      </a:r>
                      <a:r>
                        <a:rPr lang="en-US" sz="18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 import request</a:t>
                      </a:r>
                    </a:p>
                  </a:txBody>
                  <a:tcPr>
                    <a:solidFill>
                      <a:srgbClr val="D5FC79"/>
                    </a:solidFill>
                  </a:tcPr>
                </a:tc>
                <a:extLst>
                  <a:ext uri="{0D108BD9-81ED-4DB2-BD59-A6C34878D82A}">
                    <a16:rowId xmlns:a16="http://schemas.microsoft.com/office/drawing/2014/main" val="3112008351"/>
                  </a:ext>
                </a:extLst>
              </a:tr>
            </a:tbl>
          </a:graphicData>
        </a:graphic>
      </p:graphicFrame>
    </p:spTree>
    <p:extLst>
      <p:ext uri="{BB962C8B-B14F-4D97-AF65-F5344CB8AC3E}">
        <p14:creationId xmlns:p14="http://schemas.microsoft.com/office/powerpoint/2010/main" val="2958471325"/>
      </p:ext>
    </p:extLst>
  </p:cSld>
  <p:clrMapOvr>
    <a:masterClrMapping/>
  </p:clrMapOvr>
  <mc:AlternateContent xmlns:mc="http://schemas.openxmlformats.org/markup-compatibility/2006" xmlns:p14="http://schemas.microsoft.com/office/powerpoint/2010/main">
    <mc:Choice Requires="p14">
      <p:transition spd="slow" p14:dur="2000" advTm="125632"/>
    </mc:Choice>
    <mc:Fallback xmlns="">
      <p:transition spd="slow" advTm="125632"/>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28FBE-483E-F9FF-3C6F-C79B97DBE203}"/>
              </a:ext>
            </a:extLst>
          </p:cNvPr>
          <p:cNvSpPr>
            <a:spLocks noGrp="1"/>
          </p:cNvSpPr>
          <p:nvPr>
            <p:ph type="title"/>
          </p:nvPr>
        </p:nvSpPr>
        <p:spPr/>
        <p:txBody>
          <a:bodyPr>
            <a:normAutofit fontScale="90000"/>
          </a:bodyPr>
          <a:lstStyle/>
          <a:p>
            <a:r>
              <a:rPr lang="en-US" dirty="0"/>
              <a:t>Python for Data Science &amp; AI: </a:t>
            </a:r>
            <a:br>
              <a:rPr lang="en-US" dirty="0"/>
            </a:br>
            <a:r>
              <a:rPr lang="en-US" dirty="0"/>
              <a:t>How to Call Methods</a:t>
            </a:r>
          </a:p>
        </p:txBody>
      </p:sp>
      <p:sp>
        <p:nvSpPr>
          <p:cNvPr id="3" name="Content Placeholder 2">
            <a:extLst>
              <a:ext uri="{FF2B5EF4-FFF2-40B4-BE49-F238E27FC236}">
                <a16:creationId xmlns:a16="http://schemas.microsoft.com/office/drawing/2014/main" id="{59DF2E40-F60B-6122-AD76-56F7058E6EC4}"/>
              </a:ext>
            </a:extLst>
          </p:cNvPr>
          <p:cNvSpPr>
            <a:spLocks noGrp="1"/>
          </p:cNvSpPr>
          <p:nvPr>
            <p:ph idx="1"/>
          </p:nvPr>
        </p:nvSpPr>
        <p:spPr>
          <a:xfrm>
            <a:off x="361121" y="2459540"/>
            <a:ext cx="11741425" cy="4096363"/>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call a method in a module</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import pandas as </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pd</a:t>
            </a: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2000" b="1" dirty="0" err="1">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polls_url</a:t>
            </a:r>
            <a:r>
              <a:rPr lang="en-US" sz="20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 </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'http://projects.fivethirtyeight.com/.../president_general_polls_2016.csv'</a:t>
            </a:r>
            <a:b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br>
            <a:r>
              <a:rPr lang="en-US" sz="2000" b="1" dirty="0">
                <a:effectLst/>
                <a:highlight>
                  <a:srgbClr val="FF00FF"/>
                </a:highlight>
                <a:latin typeface="Consolas" panose="020B0609020204030204" pitchFamily="49" charset="0"/>
                <a:ea typeface="Times New Roman" panose="02020603050405020304" pitchFamily="18" charset="0"/>
                <a:cs typeface="Times New Roman" panose="02020603050405020304" pitchFamily="18" charset="0"/>
              </a:rPr>
              <a:t>polls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pd</a:t>
            </a:r>
            <a:r>
              <a:rPr lang="en-US" sz="2000" b="1" dirty="0" err="1">
                <a:effectLst/>
                <a:highlight>
                  <a:srgbClr val="00FFFF"/>
                </a:highligh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read_csv</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poll_url</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call a method from a </a:t>
            </a:r>
            <a:r>
              <a:rPr lang="en-US"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object</a:t>
            </a:r>
          </a:p>
          <a:p>
            <a:pPr marL="347345" marR="0">
              <a:spcBef>
                <a:spcPts val="0"/>
              </a:spcBef>
              <a:spcAft>
                <a:spcPts val="0"/>
              </a:spcAft>
              <a:tabLst>
                <a:tab pos="1371600" algn="l"/>
              </a:tabLst>
            </a:pPr>
            <a:r>
              <a:rPr lang="en-US" sz="2000" b="1" dirty="0" err="1">
                <a:effectLst/>
                <a:highlight>
                  <a:srgbClr val="FF00FF"/>
                </a:highlight>
                <a:latin typeface="Consolas" panose="020B0609020204030204" pitchFamily="49" charset="0"/>
                <a:ea typeface="Times New Roman" panose="02020603050405020304" pitchFamily="18" charset="0"/>
                <a:cs typeface="Times New Roman" panose="02020603050405020304" pitchFamily="18" charset="0"/>
              </a:rPr>
              <a:t>polls</a:t>
            </a:r>
            <a:r>
              <a:rPr lang="en-US" sz="2000" b="1" dirty="0" err="1">
                <a:effectLst/>
                <a:highlight>
                  <a:srgbClr val="00FFFF"/>
                </a:highligh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sort_values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537245551"/>
      </p:ext>
    </p:extLst>
  </p:cSld>
  <p:clrMapOvr>
    <a:masterClrMapping/>
  </p:clrMapOvr>
  <mc:AlternateContent xmlns:mc="http://schemas.openxmlformats.org/markup-compatibility/2006" xmlns:p14="http://schemas.microsoft.com/office/powerpoint/2010/main">
    <mc:Choice Requires="p14">
      <p:transition spd="slow" p14:dur="2000" advTm="249098"/>
    </mc:Choice>
    <mc:Fallback xmlns="">
      <p:transition spd="slow" advTm="249098"/>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BCF48-285C-16D2-1962-E4E8517EA348}"/>
              </a:ext>
            </a:extLst>
          </p:cNvPr>
          <p:cNvSpPr>
            <a:spLocks noGrp="1"/>
          </p:cNvSpPr>
          <p:nvPr>
            <p:ph type="title"/>
          </p:nvPr>
        </p:nvSpPr>
        <p:spPr>
          <a:xfrm>
            <a:off x="270063" y="313386"/>
            <a:ext cx="10869248" cy="1205491"/>
          </a:xfrm>
        </p:spPr>
        <p:txBody>
          <a:bodyPr>
            <a:normAutofit fontScale="90000"/>
          </a:bodyPr>
          <a:lstStyle/>
          <a:p>
            <a:r>
              <a:rPr lang="en-US" dirty="0"/>
              <a:t>Python for Data Science &amp; AI: </a:t>
            </a:r>
            <a:br>
              <a:rPr lang="en-US" dirty="0"/>
            </a:br>
            <a:r>
              <a:rPr lang="en-US" dirty="0"/>
              <a:t>How to Chain Methods</a:t>
            </a:r>
          </a:p>
        </p:txBody>
      </p:sp>
      <p:sp>
        <p:nvSpPr>
          <p:cNvPr id="3" name="Content Placeholder 2">
            <a:extLst>
              <a:ext uri="{FF2B5EF4-FFF2-40B4-BE49-F238E27FC236}">
                <a16:creationId xmlns:a16="http://schemas.microsoft.com/office/drawing/2014/main" id="{AA6A39D0-929D-2050-70FC-998DB5707EC9}"/>
              </a:ext>
            </a:extLst>
          </p:cNvPr>
          <p:cNvSpPr>
            <a:spLocks noGrp="1"/>
          </p:cNvSpPr>
          <p:nvPr>
            <p:ph idx="1"/>
          </p:nvPr>
        </p:nvSpPr>
        <p:spPr>
          <a:xfrm>
            <a:off x="394241" y="1952577"/>
            <a:ext cx="10869248" cy="4792533"/>
          </a:xfrm>
        </p:spPr>
        <p:txBody>
          <a:bodyPr>
            <a:normAutofit/>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chain the </a:t>
            </a:r>
            <a:r>
              <a:rPr lang="en-US"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sort_values</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and head() methods</a:t>
            </a:r>
          </a:p>
          <a:p>
            <a:pPr marL="347345">
              <a:spcBef>
                <a:spcPts val="900"/>
              </a:spcBef>
              <a:spcAft>
                <a:spcPts val="600"/>
              </a:spcAft>
              <a:tabLst>
                <a:tab pos="1371600" algn="l"/>
                <a:tab pos="2743200" algn="l"/>
              </a:tabLst>
            </a:pPr>
            <a:r>
              <a:rPr lang="en-US" spc="-10" dirty="0">
                <a:solidFill>
                  <a:srgbClr val="000099"/>
                </a:solidFill>
                <a:effectLst/>
                <a:latin typeface="Consolas" panose="020B0609020204030204" pitchFamily="49" charset="0"/>
                <a:ea typeface="Times New Roman" panose="02020603050405020304" pitchFamily="18" charset="0"/>
                <a:cs typeface="Consolas" panose="020B0609020204030204" pitchFamily="49" charset="0"/>
              </a:rPr>
              <a:t># sort the rows of the </a:t>
            </a:r>
            <a:r>
              <a:rPr lang="en-US" spc="-10" dirty="0" err="1">
                <a:solidFill>
                  <a:srgbClr val="000099"/>
                </a:solidFill>
                <a:effectLst/>
                <a:latin typeface="Consolas" panose="020B0609020204030204" pitchFamily="49" charset="0"/>
                <a:ea typeface="Times New Roman" panose="02020603050405020304" pitchFamily="18" charset="0"/>
                <a:cs typeface="Consolas" panose="020B0609020204030204" pitchFamily="49" charset="0"/>
              </a:rPr>
              <a:t>DataFrame</a:t>
            </a:r>
            <a:r>
              <a:rPr lang="en-US" spc="-10" dirty="0">
                <a:solidFill>
                  <a:srgbClr val="000099"/>
                </a:solidFill>
                <a:effectLst/>
                <a:latin typeface="Consolas" panose="020B0609020204030204" pitchFamily="49" charset="0"/>
                <a:ea typeface="Times New Roman" panose="02020603050405020304" pitchFamily="18" charset="0"/>
                <a:cs typeface="Consolas" panose="020B0609020204030204" pitchFamily="49" charset="0"/>
              </a:rPr>
              <a:t> polls in ascending order based on the values in the '</a:t>
            </a:r>
            <a:r>
              <a:rPr lang="en-US" spc="-10" dirty="0" err="1">
                <a:solidFill>
                  <a:srgbClr val="000099"/>
                </a:solidFill>
                <a:effectLst/>
                <a:latin typeface="Consolas" panose="020B0609020204030204" pitchFamily="49" charset="0"/>
                <a:ea typeface="Times New Roman" panose="02020603050405020304" pitchFamily="18" charset="0"/>
                <a:cs typeface="Consolas" panose="020B0609020204030204" pitchFamily="49" charset="0"/>
              </a:rPr>
              <a:t>startdate</a:t>
            </a:r>
            <a:r>
              <a:rPr lang="en-US" spc="-10" dirty="0">
                <a:solidFill>
                  <a:srgbClr val="000099"/>
                </a:solidFill>
                <a:effectLst/>
                <a:latin typeface="Consolas" panose="020B0609020204030204" pitchFamily="49" charset="0"/>
                <a:ea typeface="Times New Roman" panose="02020603050405020304" pitchFamily="18" charset="0"/>
                <a:cs typeface="Consolas" panose="020B0609020204030204" pitchFamily="49" charset="0"/>
              </a:rPr>
              <a:t>' column and return the first five rows of the resulting </a:t>
            </a:r>
            <a:r>
              <a:rPr lang="en-US" spc="-10" dirty="0" err="1">
                <a:solidFill>
                  <a:srgbClr val="000099"/>
                </a:solidFill>
                <a:effectLst/>
                <a:latin typeface="Consolas" panose="020B0609020204030204" pitchFamily="49" charset="0"/>
                <a:ea typeface="Times New Roman" panose="02020603050405020304" pitchFamily="18" charset="0"/>
                <a:cs typeface="Consolas" panose="020B0609020204030204" pitchFamily="49" charset="0"/>
              </a:rPr>
              <a:t>DataFrame</a:t>
            </a:r>
            <a:r>
              <a:rPr lang="en-US" spc="-10" dirty="0">
                <a:solidFill>
                  <a:srgbClr val="000099"/>
                </a:solidFill>
                <a:effectLst/>
                <a:latin typeface="Consolas" panose="020B0609020204030204" pitchFamily="49" charset="0"/>
                <a:ea typeface="Times New Roman" panose="02020603050405020304" pitchFamily="18" charset="0"/>
                <a:cs typeface="Consolas" panose="020B0609020204030204" pitchFamily="49" charset="0"/>
              </a:rPr>
              <a:t>.</a:t>
            </a:r>
          </a:p>
          <a:p>
            <a:pPr marL="347345">
              <a:spcBef>
                <a:spcPts val="900"/>
              </a:spcBef>
              <a:spcAft>
                <a:spcPts val="600"/>
              </a:spcAft>
              <a:tabLst>
                <a:tab pos="1371600" algn="l"/>
                <a:tab pos="2743200" algn="l"/>
              </a:tabLst>
            </a:pPr>
            <a:endParaRPr lang="en-US" spc="-10" dirty="0">
              <a:solidFill>
                <a:srgbClr val="000099"/>
              </a:solidFill>
              <a:effectLst/>
              <a:latin typeface="Consolas" panose="020B0609020204030204" pitchFamily="49" charset="0"/>
              <a:ea typeface="Times New Roman" panose="02020603050405020304" pitchFamily="18" charset="0"/>
              <a:cs typeface="Consolas" panose="020B0609020204030204" pitchFamily="49" charset="0"/>
            </a:endParaRP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.sort_values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.head()</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chain the query() and plot() methods</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.query</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('state != "U.S."') \</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.plot</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(x='</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y=['Clinton_pct','</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Trump_pct</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610016574"/>
      </p:ext>
    </p:extLst>
  </p:cSld>
  <p:clrMapOvr>
    <a:masterClrMapping/>
  </p:clrMapOvr>
  <mc:AlternateContent xmlns:mc="http://schemas.openxmlformats.org/markup-compatibility/2006" xmlns:p14="http://schemas.microsoft.com/office/powerpoint/2010/main">
    <mc:Choice Requires="p14">
      <p:transition spd="slow" p14:dur="2000" advTm="171295"/>
    </mc:Choice>
    <mc:Fallback xmlns="">
      <p:transition spd="slow" advTm="171295"/>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02053-2699-650B-540E-8F26D7993C4D}"/>
              </a:ext>
            </a:extLst>
          </p:cNvPr>
          <p:cNvSpPr>
            <a:spLocks noGrp="1"/>
          </p:cNvSpPr>
          <p:nvPr>
            <p:ph type="title"/>
          </p:nvPr>
        </p:nvSpPr>
        <p:spPr/>
        <p:txBody>
          <a:bodyPr>
            <a:normAutofit fontScale="90000"/>
          </a:bodyPr>
          <a:lstStyle/>
          <a:p>
            <a:r>
              <a:rPr lang="en-US" dirty="0"/>
              <a:t>Python for Data Science &amp; AI: </a:t>
            </a:r>
            <a:br>
              <a:rPr lang="en-US" dirty="0"/>
            </a:br>
            <a:r>
              <a:rPr lang="en-US" dirty="0"/>
              <a:t>How to Call a Method with Parameters</a:t>
            </a:r>
          </a:p>
        </p:txBody>
      </p:sp>
      <p:sp>
        <p:nvSpPr>
          <p:cNvPr id="3" name="Content Placeholder 2">
            <a:extLst>
              <a:ext uri="{FF2B5EF4-FFF2-40B4-BE49-F238E27FC236}">
                <a16:creationId xmlns:a16="http://schemas.microsoft.com/office/drawing/2014/main" id="{A2DFF4ED-4903-6318-0E48-BBF44EB6C2E2}"/>
              </a:ext>
            </a:extLst>
          </p:cNvPr>
          <p:cNvSpPr>
            <a:spLocks noGrp="1"/>
          </p:cNvSpPr>
          <p:nvPr>
            <p:ph idx="1"/>
          </p:nvPr>
        </p:nvSpPr>
        <p:spPr>
          <a:xfrm>
            <a:off x="202330" y="1997733"/>
            <a:ext cx="10869248" cy="4096363"/>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b="1" spc="-10" dirty="0">
                <a:solidFill>
                  <a:srgbClr val="000099"/>
                </a:solidFill>
                <a:effectLst/>
                <a:highlight>
                  <a:srgbClr val="FFFF00"/>
                </a:highlight>
                <a:latin typeface="Arial" panose="020B0604020202020204" pitchFamily="34" charset="0"/>
                <a:ea typeface="Times New Roman" panose="02020603050405020304" pitchFamily="18" charset="0"/>
                <a:cs typeface="Times New Roman" panose="02020603050405020304" pitchFamily="18" charset="0"/>
              </a:rPr>
              <a:t>signature</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for the </a:t>
            </a:r>
            <a:r>
              <a:rPr lang="en-US"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sort_values</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p>
          <a:p>
            <a:pPr marL="347345" marR="0">
              <a:spcBef>
                <a:spcPts val="900"/>
              </a:spcBef>
              <a:spcAft>
                <a:spcPts val="600"/>
              </a:spcAft>
              <a:tabLst>
                <a:tab pos="1371600" algn="l"/>
                <a:tab pos="2743200" algn="l"/>
              </a:tabLst>
            </a:pPr>
            <a:endPar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sort_values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(by, axis=0, ascending=True, </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inplace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=False, </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kind='quicksort', </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na_position</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='last’)</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sort_values</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with </a:t>
            </a:r>
            <a:r>
              <a:rPr lang="en-US" b="1" spc="-10" dirty="0">
                <a:solidFill>
                  <a:srgbClr val="000099"/>
                </a:solidFill>
                <a:effectLst/>
                <a:highlight>
                  <a:srgbClr val="00FF00"/>
                </a:highlight>
                <a:latin typeface="Arial" panose="020B0604020202020204" pitchFamily="34" charset="0"/>
                <a:ea typeface="Times New Roman" panose="02020603050405020304" pitchFamily="18" charset="0"/>
                <a:cs typeface="Times New Roman" panose="02020603050405020304" pitchFamily="18" charset="0"/>
              </a:rPr>
              <a:t>positional </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and </a:t>
            </a:r>
            <a:r>
              <a:rPr lang="en-US" b="1" spc="-10" dirty="0">
                <a:solidFill>
                  <a:srgbClr val="000099"/>
                </a:solidFill>
                <a:effectLst/>
                <a:highlight>
                  <a:srgbClr val="00FF00"/>
                </a:highlight>
                <a:latin typeface="Arial" panose="020B0604020202020204" pitchFamily="34" charset="0"/>
                <a:ea typeface="Times New Roman" panose="02020603050405020304" pitchFamily="18" charset="0"/>
                <a:cs typeface="Times New Roman" panose="02020603050405020304" pitchFamily="18" charset="0"/>
              </a:rPr>
              <a:t>keyword parameters</a:t>
            </a:r>
          </a:p>
          <a:p>
            <a:pPr marL="347345" marR="0">
              <a:spcBef>
                <a:spcPts val="900"/>
              </a:spcBef>
              <a:spcAft>
                <a:spcPts val="600"/>
              </a:spcAft>
              <a:tabLst>
                <a:tab pos="1371600" algn="l"/>
                <a:tab pos="2743200" algn="l"/>
              </a:tabLst>
            </a:pPr>
            <a:endPar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polls.sort_values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ascending=False, </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inplace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=True)</a:t>
            </a:r>
          </a:p>
          <a:p>
            <a:endParaRPr lang="en-US" dirty="0"/>
          </a:p>
        </p:txBody>
      </p:sp>
    </p:spTree>
    <p:extLst>
      <p:ext uri="{BB962C8B-B14F-4D97-AF65-F5344CB8AC3E}">
        <p14:creationId xmlns:p14="http://schemas.microsoft.com/office/powerpoint/2010/main" val="2305523571"/>
      </p:ext>
    </p:extLst>
  </p:cSld>
  <p:clrMapOvr>
    <a:masterClrMapping/>
  </p:clrMapOvr>
  <mc:AlternateContent xmlns:mc="http://schemas.openxmlformats.org/markup-compatibility/2006" xmlns:p14="http://schemas.microsoft.com/office/powerpoint/2010/main">
    <mc:Choice Requires="p14">
      <p:transition spd="slow" p14:dur="2000" advTm="145802"/>
    </mc:Choice>
    <mc:Fallback xmlns="">
      <p:transition spd="slow" advTm="145802"/>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B05C-E304-41D2-4ADD-5E3845D300C9}"/>
              </a:ext>
            </a:extLst>
          </p:cNvPr>
          <p:cNvSpPr>
            <a:spLocks noGrp="1"/>
          </p:cNvSpPr>
          <p:nvPr>
            <p:ph type="title"/>
          </p:nvPr>
        </p:nvSpPr>
        <p:spPr>
          <a:xfrm>
            <a:off x="484552" y="302097"/>
            <a:ext cx="11707448" cy="1205491"/>
          </a:xfrm>
        </p:spPr>
        <p:txBody>
          <a:bodyPr>
            <a:normAutofit fontScale="90000"/>
          </a:bodyPr>
          <a:lstStyle/>
          <a:p>
            <a:r>
              <a:rPr lang="en-US" dirty="0"/>
              <a:t>Python for Data Science &amp; AI: </a:t>
            </a:r>
            <a:br>
              <a:rPr lang="en-US" dirty="0"/>
            </a:br>
            <a:r>
              <a:rPr lang="en-US" dirty="0"/>
              <a:t>The Syntax for List, Slice, Tuple, and Dictionary</a:t>
            </a:r>
          </a:p>
        </p:txBody>
      </p:sp>
      <p:sp>
        <p:nvSpPr>
          <p:cNvPr id="3" name="Content Placeholder 2">
            <a:extLst>
              <a:ext uri="{FF2B5EF4-FFF2-40B4-BE49-F238E27FC236}">
                <a16:creationId xmlns:a16="http://schemas.microsoft.com/office/drawing/2014/main" id="{E6FFB7CA-8962-AB90-5B27-358514163E63}"/>
              </a:ext>
            </a:extLst>
          </p:cNvPr>
          <p:cNvSpPr>
            <a:spLocks noGrp="1"/>
          </p:cNvSpPr>
          <p:nvPr>
            <p:ph idx="1"/>
          </p:nvPr>
        </p:nvSpPr>
        <p:spPr>
          <a:xfrm>
            <a:off x="574863" y="2054178"/>
            <a:ext cx="10869248" cy="4803822"/>
          </a:xfrm>
        </p:spPr>
        <p:txBody>
          <a:bodyPr>
            <a:normAutofit/>
          </a:bodyPr>
          <a:lstStyle/>
          <a:p>
            <a:pPr marL="347345" marR="0">
              <a:spcBef>
                <a:spcPts val="900"/>
              </a:spcBef>
              <a:spcAft>
                <a:spcPts val="600"/>
              </a:spcAft>
              <a:tabLst>
                <a:tab pos="1371600" algn="l"/>
                <a:tab pos="2743200" algn="l"/>
              </a:tabLst>
            </a:pP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a:t>
            </a:r>
            <a:r>
              <a:rPr lang="en-US" sz="2000" b="1" spc="-10" dirty="0">
                <a:solidFill>
                  <a:srgbClr val="000099"/>
                </a:solidFill>
                <a:effectLst/>
                <a:highlight>
                  <a:srgbClr val="00FF00"/>
                </a:highlight>
                <a:latin typeface="Arial" panose="020B0604020202020204" pitchFamily="34" charset="0"/>
                <a:ea typeface="Times New Roman" panose="02020603050405020304" pitchFamily="18" charset="0"/>
                <a:cs typeface="Times New Roman" panose="02020603050405020304" pitchFamily="18" charset="0"/>
              </a:rPr>
              <a:t>list</a:t>
            </a: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is a sequence of items within brackets</a:t>
            </a:r>
          </a:p>
          <a:p>
            <a:pPr marL="347345" marR="0">
              <a:spcBef>
                <a:spcPts val="0"/>
              </a:spcBef>
              <a:spcAft>
                <a:spcPts val="0"/>
              </a:spcAft>
              <a:tabLst>
                <a:tab pos="1371600" algn="l"/>
              </a:tabLst>
            </a:pP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item1</a:t>
            </a: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item2,...</a:t>
            </a: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a:t>
            </a:r>
            <a:r>
              <a:rPr lang="en-US" sz="2000" b="1" spc="-10" dirty="0">
                <a:solidFill>
                  <a:srgbClr val="000099"/>
                </a:solidFill>
                <a:effectLst/>
                <a:highlight>
                  <a:srgbClr val="00FF00"/>
                </a:highlight>
                <a:latin typeface="Arial" panose="020B0604020202020204" pitchFamily="34" charset="0"/>
                <a:ea typeface="Times New Roman" panose="02020603050405020304" pitchFamily="18" charset="0"/>
                <a:cs typeface="Times New Roman" panose="02020603050405020304" pitchFamily="18" charset="0"/>
              </a:rPr>
              <a:t>tuple</a:t>
            </a: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is coded like a list, but in parentheses</a:t>
            </a:r>
          </a:p>
          <a:p>
            <a:pPr marL="347345" marR="0">
              <a:spcBef>
                <a:spcPts val="0"/>
              </a:spcBef>
              <a:spcAft>
                <a:spcPts val="0"/>
              </a:spcAft>
              <a:tabLst>
                <a:tab pos="1371600" algn="l"/>
              </a:tabLst>
            </a:pP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item1,item2,...</a:t>
            </a: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a:t>
            </a:r>
            <a:r>
              <a:rPr lang="en-US" sz="2000" b="1" spc="-10" dirty="0">
                <a:solidFill>
                  <a:srgbClr val="000099"/>
                </a:solidFill>
                <a:effectLst/>
                <a:highlight>
                  <a:srgbClr val="00FF00"/>
                </a:highlight>
                <a:latin typeface="Arial" panose="020B0604020202020204" pitchFamily="34" charset="0"/>
                <a:ea typeface="Times New Roman" panose="02020603050405020304" pitchFamily="18" charset="0"/>
                <a:cs typeface="Times New Roman" panose="02020603050405020304" pitchFamily="18" charset="0"/>
              </a:rPr>
              <a:t>dictionary</a:t>
            </a: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is a sequence of </a:t>
            </a:r>
            <a:r>
              <a:rPr lang="en-US" sz="2000" b="1" spc="-10" dirty="0">
                <a:solidFill>
                  <a:srgbClr val="000099"/>
                </a:solidFill>
                <a:effectLst/>
                <a:highlight>
                  <a:srgbClr val="00FF00"/>
                </a:highlight>
                <a:latin typeface="Arial" panose="020B0604020202020204" pitchFamily="34" charset="0"/>
                <a:ea typeface="Times New Roman" panose="02020603050405020304" pitchFamily="18" charset="0"/>
                <a:cs typeface="Times New Roman" panose="02020603050405020304" pitchFamily="18" charset="0"/>
              </a:rPr>
              <a:t>key/value </a:t>
            </a: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pairs within braces</a:t>
            </a:r>
          </a:p>
          <a:p>
            <a:pPr marL="347345" marR="0">
              <a:spcBef>
                <a:spcPts val="0"/>
              </a:spcBef>
              <a:spcAft>
                <a:spcPts val="0"/>
              </a:spcAft>
              <a:tabLst>
                <a:tab pos="1371600" algn="l"/>
              </a:tabLst>
            </a:pP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key1</a:t>
            </a: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value1, key2:value2, ...</a:t>
            </a:r>
            <a:r>
              <a:rPr lang="en-US" sz="1600" b="1" dirty="0">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a:t>
            </a:r>
            <a:r>
              <a:rPr lang="en-US" sz="2000" b="1" spc="-10" dirty="0">
                <a:solidFill>
                  <a:srgbClr val="000099"/>
                </a:solidFill>
                <a:effectLst/>
                <a:highlight>
                  <a:srgbClr val="00FF00"/>
                </a:highlight>
                <a:latin typeface="Arial" panose="020B0604020202020204" pitchFamily="34" charset="0"/>
                <a:ea typeface="Times New Roman" panose="02020603050405020304" pitchFamily="18" charset="0"/>
                <a:cs typeface="Times New Roman" panose="02020603050405020304" pitchFamily="18" charset="0"/>
              </a:rPr>
              <a:t>slice</a:t>
            </a: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sets the start and stop values and an optional step value</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start</a:t>
            </a:r>
            <a:r>
              <a:rPr lang="en-US" sz="1600" b="1" dirty="0" err="1">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stop</a:t>
            </a:r>
            <a:r>
              <a:rPr lang="en-US" sz="1600" b="1" dirty="0" err="1">
                <a:effectLst/>
                <a:highlight>
                  <a:srgbClr val="00FF00"/>
                </a:highligh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step</a:t>
            </a: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endParaRPr lang="en-US" dirty="0"/>
          </a:p>
          <a:p>
            <a:endParaRPr lang="en-US" dirty="0"/>
          </a:p>
        </p:txBody>
      </p:sp>
    </p:spTree>
    <p:extLst>
      <p:ext uri="{BB962C8B-B14F-4D97-AF65-F5344CB8AC3E}">
        <p14:creationId xmlns:p14="http://schemas.microsoft.com/office/powerpoint/2010/main" val="1949815711"/>
      </p:ext>
    </p:extLst>
  </p:cSld>
  <p:clrMapOvr>
    <a:masterClrMapping/>
  </p:clrMapOvr>
  <mc:AlternateContent xmlns:mc="http://schemas.openxmlformats.org/markup-compatibility/2006" xmlns:p14="http://schemas.microsoft.com/office/powerpoint/2010/main">
    <mc:Choice Requires="p14">
      <p:transition spd="slow" p14:dur="2000" advTm="135872"/>
    </mc:Choice>
    <mc:Fallback xmlns="">
      <p:transition spd="slow" advTm="135872"/>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A857F-C9A6-8C7D-4E10-5D6C0E360BD5}"/>
              </a:ext>
            </a:extLst>
          </p:cNvPr>
          <p:cNvSpPr>
            <a:spLocks noGrp="1"/>
          </p:cNvSpPr>
          <p:nvPr>
            <p:ph type="title"/>
          </p:nvPr>
        </p:nvSpPr>
        <p:spPr/>
        <p:txBody>
          <a:bodyPr>
            <a:normAutofit fontScale="90000"/>
          </a:bodyPr>
          <a:lstStyle/>
          <a:p>
            <a:r>
              <a:rPr lang="en-US" dirty="0"/>
              <a:t>Python for Data Science &amp; AI: </a:t>
            </a:r>
            <a:br>
              <a:rPr lang="en-US" dirty="0"/>
            </a:br>
            <a:r>
              <a:rPr lang="en-US" dirty="0"/>
              <a:t>Using List, Slice, Tuple, and Dictionary</a:t>
            </a:r>
          </a:p>
        </p:txBody>
      </p:sp>
      <p:sp>
        <p:nvSpPr>
          <p:cNvPr id="3" name="Content Placeholder 2">
            <a:extLst>
              <a:ext uri="{FF2B5EF4-FFF2-40B4-BE49-F238E27FC236}">
                <a16:creationId xmlns:a16="http://schemas.microsoft.com/office/drawing/2014/main" id="{9F25A50C-FDF0-3932-7A87-8D4E6CF63700}"/>
              </a:ext>
            </a:extLst>
          </p:cNvPr>
          <p:cNvSpPr>
            <a:spLocks noGrp="1"/>
          </p:cNvSpPr>
          <p:nvPr>
            <p:ph idx="1"/>
          </p:nvPr>
        </p:nvSpPr>
        <p:spPr>
          <a:xfrm>
            <a:off x="732907" y="1919111"/>
            <a:ext cx="9415804" cy="4730045"/>
          </a:xfrm>
        </p:spPr>
        <p:txBody>
          <a:bodyPr>
            <a:normAutofit fontScale="92500" lnSpcReduction="20000"/>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list used as a keyword parameter</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polls.drop</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(columns=</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['cycle','branch','matchup','</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forecastdate</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inplace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=True)</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tuple used as a keyword parameter</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polls.plot.line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xlim</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('2016-06','2016-11’)</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dictionary used as a keyword parameter </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polls.rename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(columns=</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{'adjpoll_</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clinton</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':'Clinton',</a:t>
            </a: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a:t>
            </a:r>
            <a:r>
              <a:rPr lang="en-US" sz="2000" b="1" dirty="0" err="1">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adjpoll_trump':'Trump</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Two slices used in a loc[ ] accessor</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polls.loc</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0:100:10</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'state':'grade'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dirty="0"/>
          </a:p>
          <a:p>
            <a:endParaRPr lang="en-US" dirty="0"/>
          </a:p>
        </p:txBody>
      </p:sp>
    </p:spTree>
    <p:extLst>
      <p:ext uri="{BB962C8B-B14F-4D97-AF65-F5344CB8AC3E}">
        <p14:creationId xmlns:p14="http://schemas.microsoft.com/office/powerpoint/2010/main" val="564906914"/>
      </p:ext>
    </p:extLst>
  </p:cSld>
  <p:clrMapOvr>
    <a:masterClrMapping/>
  </p:clrMapOvr>
  <mc:AlternateContent xmlns:mc="http://schemas.openxmlformats.org/markup-compatibility/2006" xmlns:p14="http://schemas.microsoft.com/office/powerpoint/2010/main">
    <mc:Choice Requires="p14">
      <p:transition spd="slow" p14:dur="2000" advTm="254466"/>
    </mc:Choice>
    <mc:Fallback xmlns="">
      <p:transition spd="slow" advTm="254466"/>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09B84-2F44-A98A-47F1-CABDB4835869}"/>
              </a:ext>
            </a:extLst>
          </p:cNvPr>
          <p:cNvSpPr>
            <a:spLocks noGrp="1"/>
          </p:cNvSpPr>
          <p:nvPr>
            <p:ph type="title"/>
          </p:nvPr>
        </p:nvSpPr>
        <p:spPr/>
        <p:txBody>
          <a:bodyPr>
            <a:normAutofit fontScale="90000"/>
          </a:bodyPr>
          <a:lstStyle/>
          <a:p>
            <a:r>
              <a:rPr lang="en-US" dirty="0"/>
              <a:t>Python for Data Science &amp; AI: </a:t>
            </a:r>
            <a:br>
              <a:rPr lang="en-US" dirty="0"/>
            </a:br>
            <a:r>
              <a:rPr lang="en-US" dirty="0"/>
              <a:t>Coding a List Comprehension</a:t>
            </a:r>
          </a:p>
        </p:txBody>
      </p:sp>
      <p:sp>
        <p:nvSpPr>
          <p:cNvPr id="3" name="Content Placeholder 2">
            <a:extLst>
              <a:ext uri="{FF2B5EF4-FFF2-40B4-BE49-F238E27FC236}">
                <a16:creationId xmlns:a16="http://schemas.microsoft.com/office/drawing/2014/main" id="{97BFF059-8DAD-606D-FB74-BBF3CB8CC88D}"/>
              </a:ext>
            </a:extLst>
          </p:cNvPr>
          <p:cNvSpPr>
            <a:spLocks noGrp="1"/>
          </p:cNvSpPr>
          <p:nvPr>
            <p:ph idx="1"/>
          </p:nvPr>
        </p:nvSpPr>
        <p:spPr>
          <a:xfrm>
            <a:off x="484552" y="2065467"/>
            <a:ext cx="10869248" cy="4490436"/>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syntax</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[expression for member in </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iterable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list comprehension is used to provide the list for a </a:t>
            </a:r>
            <a:r>
              <a:rPr lang="en-US" b="1" spc="-10" dirty="0">
                <a:solidFill>
                  <a:srgbClr val="000099"/>
                </a:solidFill>
                <a:effectLst/>
                <a:highlight>
                  <a:srgbClr val="FFFF00"/>
                </a:highlight>
                <a:latin typeface="Arial" panose="020B0604020202020204" pitchFamily="34" charset="0"/>
                <a:ea typeface="Times New Roman" panose="02020603050405020304" pitchFamily="18" charset="0"/>
                <a:cs typeface="Times New Roman" panose="02020603050405020304" pitchFamily="18" charset="0"/>
              </a:rPr>
              <a:t>keyword parameter</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xticks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2000" b="1" dirty="0">
                <a:effectLst/>
                <a:highlight>
                  <a:srgbClr val="FFFF00"/>
                </a:highlight>
                <a:latin typeface="Consolas" panose="020B0609020204030204" pitchFamily="49" charset="0"/>
                <a:ea typeface="Times New Roman" panose="02020603050405020304" pitchFamily="18" charset="0"/>
                <a:cs typeface="Times New Roman" panose="02020603050405020304" pitchFamily="18" charset="0"/>
              </a:rPr>
              <a:t>[x for x in range(1900,1920,2)]</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resulting list</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[1900, 1902, 1904, 1906, 1908, 1910, 1912, 1914, 1916, 1918]</a:t>
            </a:r>
          </a:p>
          <a:p>
            <a:endParaRPr lang="en-US" dirty="0"/>
          </a:p>
        </p:txBody>
      </p:sp>
    </p:spTree>
    <p:extLst>
      <p:ext uri="{BB962C8B-B14F-4D97-AF65-F5344CB8AC3E}">
        <p14:creationId xmlns:p14="http://schemas.microsoft.com/office/powerpoint/2010/main" val="1742079547"/>
      </p:ext>
    </p:extLst>
  </p:cSld>
  <p:clrMapOvr>
    <a:masterClrMapping/>
  </p:clrMapOvr>
  <mc:AlternateContent xmlns:mc="http://schemas.openxmlformats.org/markup-compatibility/2006" xmlns:p14="http://schemas.microsoft.com/office/powerpoint/2010/main">
    <mc:Choice Requires="p14">
      <p:transition spd="slow" p14:dur="2000" advTm="76648"/>
    </mc:Choice>
    <mc:Fallback xmlns="">
      <p:transition spd="slow" advTm="76648"/>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A9AE-DBA3-2E41-7285-E3A14E8AFA4C}"/>
              </a:ext>
            </a:extLst>
          </p:cNvPr>
          <p:cNvSpPr>
            <a:spLocks noGrp="1"/>
          </p:cNvSpPr>
          <p:nvPr>
            <p:ph type="title"/>
          </p:nvPr>
        </p:nvSpPr>
        <p:spPr/>
        <p:txBody>
          <a:bodyPr>
            <a:normAutofit fontScale="90000"/>
          </a:bodyPr>
          <a:lstStyle/>
          <a:p>
            <a:r>
              <a:rPr lang="en-US" dirty="0"/>
              <a:t>Python for Data Science &amp; AI: </a:t>
            </a:r>
            <a:br>
              <a:rPr lang="en-US" dirty="0"/>
            </a:br>
            <a:r>
              <a:rPr lang="en-US" dirty="0"/>
              <a:t>The Type Function</a:t>
            </a:r>
          </a:p>
        </p:txBody>
      </p:sp>
      <p:sp>
        <p:nvSpPr>
          <p:cNvPr id="4" name="Title 1">
            <a:extLst>
              <a:ext uri="{FF2B5EF4-FFF2-40B4-BE49-F238E27FC236}">
                <a16:creationId xmlns:a16="http://schemas.microsoft.com/office/drawing/2014/main" id="{69CAC65C-C6DC-435B-1C01-4CA17D3790D7}"/>
              </a:ext>
            </a:extLst>
          </p:cNvPr>
          <p:cNvSpPr txBox="1">
            <a:spLocks/>
          </p:cNvSpPr>
          <p:nvPr/>
        </p:nvSpPr>
        <p:spPr>
          <a:xfrm>
            <a:off x="599660" y="2149854"/>
            <a:ext cx="10240618" cy="738664"/>
          </a:xfrm>
          <a:prstGeom prst="rect">
            <a:avLst/>
          </a:prstGeom>
        </p:spPr>
        <p:txBody>
          <a:bodyPr vert="horz" lIns="91440" tIns="45720" rIns="91440" bIns="45720" rtlCol="0" anchor="b">
            <a:normAutofit fontScale="92500"/>
          </a:bodyPr>
          <a:lstStyle>
            <a:lvl1pPr algn="l" defTabSz="914400" rtl="0" eaLnBrk="1" latinLnBrk="0" hangingPunct="1">
              <a:lnSpc>
                <a:spcPct val="100000"/>
              </a:lnSpc>
              <a:spcBef>
                <a:spcPct val="0"/>
              </a:spcBef>
              <a:buNone/>
              <a:defRPr sz="4800" kern="1200">
                <a:solidFill>
                  <a:schemeClr val="bg1"/>
                </a:solidFill>
                <a:latin typeface="Cambria" panose="02040503050406030204" pitchFamily="18" charset="0"/>
                <a:ea typeface="+mj-ea"/>
                <a:cs typeface="+mj-cs"/>
              </a:defRPr>
            </a:lvl1pPr>
          </a:lstStyle>
          <a:p>
            <a:pPr>
              <a:spcBef>
                <a:spcPts val="0"/>
              </a:spcBef>
              <a:spcAft>
                <a:spcPts val="600"/>
              </a:spcAft>
              <a:tabLst>
                <a:tab pos="1371600" algn="l"/>
              </a:tabLst>
            </a:pPr>
            <a:r>
              <a:rPr lang="en-US" sz="2400" b="1" dirty="0">
                <a:solidFill>
                  <a:srgbClr val="000099"/>
                </a:solidFill>
                <a:latin typeface="Arial" panose="020B0604020202020204" pitchFamily="34" charset="0"/>
                <a:ea typeface="Times New Roman" panose="02020603050405020304" pitchFamily="18" charset="0"/>
                <a:cs typeface="Times New Roman" panose="02020603050405020304" pitchFamily="18" charset="0"/>
              </a:rPr>
              <a:t>How to use the Python type() function  to check the data type of a variable</a:t>
            </a:r>
            <a:endParaRPr lang="en-US" dirty="0"/>
          </a:p>
        </p:txBody>
      </p:sp>
      <p:pic>
        <p:nvPicPr>
          <p:cNvPr id="5" name="Content Placeholder 6" descr="Refer to page 31 in textbook ">
            <a:extLst>
              <a:ext uri="{FF2B5EF4-FFF2-40B4-BE49-F238E27FC236}">
                <a16:creationId xmlns:a16="http://schemas.microsoft.com/office/drawing/2014/main" id="{FCB17F4C-1EEC-DA59-946C-7E2E7BEB6866}"/>
              </a:ext>
            </a:extLst>
          </p:cNvPr>
          <p:cNvPicPr>
            <a:picLocks noChangeAspect="1"/>
          </p:cNvPicPr>
          <p:nvPr/>
        </p:nvPicPr>
        <p:blipFill>
          <a:blip r:embed="rId2"/>
          <a:stretch>
            <a:fillRect/>
          </a:stretch>
        </p:blipFill>
        <p:spPr>
          <a:xfrm>
            <a:off x="949752" y="3157270"/>
            <a:ext cx="9540434" cy="1928191"/>
          </a:xfrm>
          <a:prstGeom prst="rect">
            <a:avLst/>
          </a:prstGeom>
        </p:spPr>
      </p:pic>
    </p:spTree>
    <p:extLst>
      <p:ext uri="{BB962C8B-B14F-4D97-AF65-F5344CB8AC3E}">
        <p14:creationId xmlns:p14="http://schemas.microsoft.com/office/powerpoint/2010/main" val="177715414"/>
      </p:ext>
    </p:extLst>
  </p:cSld>
  <p:clrMapOvr>
    <a:masterClrMapping/>
  </p:clrMapOvr>
  <mc:AlternateContent xmlns:mc="http://schemas.openxmlformats.org/markup-compatibility/2006" xmlns:p14="http://schemas.microsoft.com/office/powerpoint/2010/main">
    <mc:Choice Requires="p14">
      <p:transition spd="slow" p14:dur="2000" advTm="61984"/>
    </mc:Choice>
    <mc:Fallback xmlns="">
      <p:transition spd="slow" advTm="61984"/>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0145-9D3F-B449-8012-345B3A0069AC}"/>
              </a:ext>
            </a:extLst>
          </p:cNvPr>
          <p:cNvSpPr>
            <a:spLocks noGrp="1"/>
          </p:cNvSpPr>
          <p:nvPr>
            <p:ph type="title"/>
          </p:nvPr>
        </p:nvSpPr>
        <p:spPr/>
        <p:txBody>
          <a:bodyPr>
            <a:normAutofit fontScale="90000"/>
          </a:bodyPr>
          <a:lstStyle/>
          <a:p>
            <a:r>
              <a:rPr lang="en-US" dirty="0"/>
              <a:t>Python for Data Science &amp; AI: </a:t>
            </a:r>
            <a:br>
              <a:rPr lang="en-US" dirty="0"/>
            </a:br>
            <a:r>
              <a:rPr lang="en-US" dirty="0"/>
              <a:t>Two Ways to Continue a Statement</a:t>
            </a:r>
          </a:p>
        </p:txBody>
      </p:sp>
      <p:sp>
        <p:nvSpPr>
          <p:cNvPr id="3" name="Content Placeholder 2">
            <a:extLst>
              <a:ext uri="{FF2B5EF4-FFF2-40B4-BE49-F238E27FC236}">
                <a16:creationId xmlns:a16="http://schemas.microsoft.com/office/drawing/2014/main" id="{2C9A371B-487E-7B71-7078-5D96D65DCEAC}"/>
              </a:ext>
            </a:extLst>
          </p:cNvPr>
          <p:cNvSpPr>
            <a:spLocks noGrp="1"/>
          </p:cNvSpPr>
          <p:nvPr>
            <p:ph idx="1"/>
          </p:nvPr>
        </p:nvSpPr>
        <p:spPr>
          <a:xfrm>
            <a:off x="484552" y="2009422"/>
            <a:ext cx="10869248" cy="5243689"/>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a:t>
            </a:r>
            <a:r>
              <a:rPr lang="en-US" b="1" spc="-10" dirty="0">
                <a:solidFill>
                  <a:srgbClr val="000099"/>
                </a:solidFill>
                <a:effectLst/>
                <a:highlight>
                  <a:srgbClr val="FFFF00"/>
                </a:highlight>
                <a:latin typeface="Arial" panose="020B0604020202020204" pitchFamily="34" charset="0"/>
                <a:ea typeface="Times New Roman" panose="02020603050405020304" pitchFamily="18" charset="0"/>
                <a:cs typeface="Times New Roman" panose="02020603050405020304" pitchFamily="18" charset="0"/>
              </a:rPr>
              <a:t>implicit</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continuation</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polls.sort_values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['state','</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ascending=False,</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inplace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=True)</a:t>
            </a:r>
          </a:p>
          <a:p>
            <a:pPr marL="347345" marR="0">
              <a:spcBef>
                <a:spcPts val="0"/>
              </a:spcBef>
              <a:spcAft>
                <a:spcPts val="0"/>
              </a:spcAft>
              <a:tabLst>
                <a:tab pos="1371600" algn="l"/>
              </a:tabLst>
            </a:pPr>
            <a:endParaRPr lang="en-US" sz="20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a:t>
            </a:r>
            <a:r>
              <a:rPr lang="en-US" b="1" spc="-10" dirty="0">
                <a:solidFill>
                  <a:srgbClr val="000099"/>
                </a:solidFill>
                <a:effectLst/>
                <a:highlight>
                  <a:srgbClr val="FFFF00"/>
                </a:highlight>
                <a:latin typeface="Arial" panose="020B0604020202020204" pitchFamily="34" charset="0"/>
                <a:ea typeface="Times New Roman" panose="02020603050405020304" pitchFamily="18" charset="0"/>
                <a:cs typeface="Times New Roman" panose="02020603050405020304" pitchFamily="18" charset="0"/>
              </a:rPr>
              <a:t>explicit</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continuation</a:t>
            </a:r>
          </a:p>
          <a:p>
            <a:pPr marL="347345" marR="0">
              <a:spcBef>
                <a:spcPts val="0"/>
              </a:spcBef>
              <a:spcAft>
                <a:spcPts val="0"/>
              </a:spcAft>
              <a:tabLst>
                <a:tab pos="1371600" algn="l"/>
              </a:tabLst>
            </a:pP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polls.sort_values</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(['state','</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ascending=False, \</a:t>
            </a:r>
          </a:p>
          <a:p>
            <a:pPr marL="347345" marR="0">
              <a:spcBef>
                <a:spcPts val="0"/>
              </a:spcBef>
              <a:spcAft>
                <a:spcPts val="0"/>
              </a:spcAft>
              <a:tabLst>
                <a:tab pos="1371600" algn="l"/>
              </a:tabLst>
            </a:pP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b="1" dirty="0" err="1">
                <a:effectLst/>
                <a:latin typeface="Consolas" panose="020B0609020204030204" pitchFamily="49" charset="0"/>
                <a:ea typeface="Times New Roman" panose="02020603050405020304" pitchFamily="18" charset="0"/>
                <a:cs typeface="Times New Roman" panose="02020603050405020304" pitchFamily="18" charset="0"/>
              </a:rPr>
              <a:t>inplace</a:t>
            </a:r>
            <a:r>
              <a:rPr lang="en-US" sz="2000" b="1" dirty="0">
                <a:effectLst/>
                <a:latin typeface="Consolas" panose="020B0609020204030204" pitchFamily="49" charset="0"/>
                <a:ea typeface="Times New Roman" panose="02020603050405020304" pitchFamily="18" charset="0"/>
                <a:cs typeface="Times New Roman" panose="02020603050405020304" pitchFamily="18" charset="0"/>
              </a:rPr>
              <a:t>=True)</a:t>
            </a:r>
          </a:p>
          <a:p>
            <a:endParaRPr lang="en-US" dirty="0"/>
          </a:p>
        </p:txBody>
      </p:sp>
    </p:spTree>
    <p:extLst>
      <p:ext uri="{BB962C8B-B14F-4D97-AF65-F5344CB8AC3E}">
        <p14:creationId xmlns:p14="http://schemas.microsoft.com/office/powerpoint/2010/main" val="3293725439"/>
      </p:ext>
    </p:extLst>
  </p:cSld>
  <p:clrMapOvr>
    <a:masterClrMapping/>
  </p:clrMapOvr>
  <mc:AlternateContent xmlns:mc="http://schemas.openxmlformats.org/markup-compatibility/2006" xmlns:p14="http://schemas.microsoft.com/office/powerpoint/2010/main">
    <mc:Choice Requires="p14">
      <p:transition spd="slow" p14:dur="2000" advTm="70186"/>
    </mc:Choice>
    <mc:Fallback xmlns="">
      <p:transition spd="slow" advTm="70186"/>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94C0C11B-582D-4BD6-AFEF-ED15AAF16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22832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426C9F-24EB-EDCE-3456-4830A6362F98}"/>
              </a:ext>
            </a:extLst>
          </p:cNvPr>
          <p:cNvSpPr>
            <a:spLocks noGrp="1"/>
          </p:cNvSpPr>
          <p:nvPr>
            <p:ph type="title"/>
          </p:nvPr>
        </p:nvSpPr>
        <p:spPr>
          <a:xfrm>
            <a:off x="333714" y="141678"/>
            <a:ext cx="8476567" cy="1495616"/>
          </a:xfrm>
        </p:spPr>
        <p:txBody>
          <a:bodyPr vert="horz" lIns="91440" tIns="45720" rIns="91440" bIns="45720" rtlCol="0" anchor="ctr">
            <a:normAutofit/>
          </a:bodyPr>
          <a:lstStyle/>
          <a:p>
            <a:r>
              <a:rPr lang="en-US" sz="5400" dirty="0" err="1"/>
              <a:t>JupyterLab</a:t>
            </a:r>
            <a:r>
              <a:rPr lang="en-US" sz="5400" dirty="0"/>
              <a:t> </a:t>
            </a:r>
          </a:p>
        </p:txBody>
      </p:sp>
      <p:grpSp>
        <p:nvGrpSpPr>
          <p:cNvPr id="37" name="Group 36">
            <a:extLst>
              <a:ext uri="{FF2B5EF4-FFF2-40B4-BE49-F238E27FC236}">
                <a16:creationId xmlns:a16="http://schemas.microsoft.com/office/drawing/2014/main" id="{16E5FE72-E50C-4D31-BB8A-9DAC217CB0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43997" y="-2084"/>
            <a:ext cx="3048003" cy="2292774"/>
            <a:chOff x="6096002" y="-9073"/>
            <a:chExt cx="6095998" cy="6867073"/>
          </a:xfrm>
        </p:grpSpPr>
        <p:sp>
          <p:nvSpPr>
            <p:cNvPr id="38" name="Rectangle 37">
              <a:extLst>
                <a:ext uri="{FF2B5EF4-FFF2-40B4-BE49-F238E27FC236}">
                  <a16:creationId xmlns:a16="http://schemas.microsoft.com/office/drawing/2014/main" id="{C9337740-26B0-4D7D-9991-5D74346B9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577F3C2-57C2-43EA-9688-9AD33D1A9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691423B0-932A-081E-09F9-ABD9CBC2234D}"/>
              </a:ext>
            </a:extLst>
          </p:cNvPr>
          <p:cNvPicPr>
            <a:picLocks noChangeAspect="1"/>
          </p:cNvPicPr>
          <p:nvPr/>
        </p:nvPicPr>
        <p:blipFill>
          <a:blip r:embed="rId3"/>
          <a:stretch>
            <a:fillRect/>
          </a:stretch>
        </p:blipFill>
        <p:spPr>
          <a:xfrm>
            <a:off x="649201" y="2486981"/>
            <a:ext cx="6495737" cy="3962400"/>
          </a:xfrm>
          <a:prstGeom prst="rect">
            <a:avLst/>
          </a:prstGeom>
        </p:spPr>
      </p:pic>
      <p:pic>
        <p:nvPicPr>
          <p:cNvPr id="4" name="Picture 3">
            <a:extLst>
              <a:ext uri="{FF2B5EF4-FFF2-40B4-BE49-F238E27FC236}">
                <a16:creationId xmlns:a16="http://schemas.microsoft.com/office/drawing/2014/main" id="{B5E2B8E1-B122-F002-C91C-66E45FEBB729}"/>
              </a:ext>
            </a:extLst>
          </p:cNvPr>
          <p:cNvPicPr>
            <a:picLocks noChangeAspect="1"/>
          </p:cNvPicPr>
          <p:nvPr/>
        </p:nvPicPr>
        <p:blipFill>
          <a:blip r:embed="rId4"/>
          <a:stretch>
            <a:fillRect/>
          </a:stretch>
        </p:blipFill>
        <p:spPr>
          <a:xfrm>
            <a:off x="7210267" y="3151174"/>
            <a:ext cx="4916404" cy="2356188"/>
          </a:xfrm>
          <a:prstGeom prst="rect">
            <a:avLst/>
          </a:prstGeom>
        </p:spPr>
      </p:pic>
    </p:spTree>
    <p:extLst>
      <p:ext uri="{BB962C8B-B14F-4D97-AF65-F5344CB8AC3E}">
        <p14:creationId xmlns:p14="http://schemas.microsoft.com/office/powerpoint/2010/main" val="919027976"/>
      </p:ext>
    </p:extLst>
  </p:cSld>
  <p:clrMapOvr>
    <a:masterClrMapping/>
  </p:clrMapOvr>
  <mc:AlternateContent xmlns:mc="http://schemas.openxmlformats.org/markup-compatibility/2006" xmlns:p14="http://schemas.microsoft.com/office/powerpoint/2010/main">
    <mc:Choice Requires="p14">
      <p:transition spd="slow" p14:dur="2000" advTm="39168"/>
    </mc:Choice>
    <mc:Fallback xmlns="">
      <p:transition spd="slow" advTm="39168"/>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2D7F0B-804A-6636-260C-129B5C7F4418}"/>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dirty="0" err="1">
                <a:latin typeface="+mj-lt"/>
              </a:rPr>
              <a:t>JupyterLab</a:t>
            </a:r>
            <a:r>
              <a:rPr lang="en-US" sz="3200" dirty="0">
                <a:latin typeface="+mj-lt"/>
              </a:rPr>
              <a:t>: A Quick Intro</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Online Media 3" descr="First steps with Jupyter Lab: How is it different from the notebook?">
            <a:hlinkClick r:id="" action="ppaction://media"/>
            <a:extLst>
              <a:ext uri="{FF2B5EF4-FFF2-40B4-BE49-F238E27FC236}">
                <a16:creationId xmlns:a16="http://schemas.microsoft.com/office/drawing/2014/main" id="{D5075BDD-5390-DE12-AFA2-9034EC0393A2}"/>
              </a:ext>
            </a:extLst>
          </p:cNvPr>
          <p:cNvPicPr>
            <a:picLocks noGrp="1" noRot="1" noChangeAspect="1"/>
          </p:cNvPicPr>
          <p:nvPr>
            <p:ph idx="1"/>
            <a:videoFile r:link="rId2"/>
          </p:nvPr>
        </p:nvPicPr>
        <p:blipFill>
          <a:blip r:embed="rId4"/>
          <a:stretch>
            <a:fillRect/>
          </a:stretch>
        </p:blipFill>
        <p:spPr>
          <a:xfrm>
            <a:off x="3646516" y="1156840"/>
            <a:ext cx="7908176" cy="4468119"/>
          </a:xfrm>
          <a:prstGeom prst="rect">
            <a:avLst/>
          </a:prstGeom>
        </p:spPr>
      </p:pic>
    </p:spTree>
    <p:custDataLst>
      <p:tags r:id="rId1"/>
    </p:custDataLst>
    <p:extLst>
      <p:ext uri="{BB962C8B-B14F-4D97-AF65-F5344CB8AC3E}">
        <p14:creationId xmlns:p14="http://schemas.microsoft.com/office/powerpoint/2010/main" val="2951353667"/>
      </p:ext>
    </p:extLst>
  </p:cSld>
  <p:clrMapOvr>
    <a:masterClrMapping/>
  </p:clrMapOvr>
  <mc:AlternateContent xmlns:mc="http://schemas.openxmlformats.org/markup-compatibility/2006" xmlns:p14="http://schemas.microsoft.com/office/powerpoint/2010/main">
    <mc:Choice Requires="p14">
      <p:transition spd="slow" p14:dur="2000" advTm="9290"/>
    </mc:Choice>
    <mc:Fallback xmlns="">
      <p:transition spd="slow" advTm="92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extLst>
    <p:ext uri="{E180D4A7-C9FB-4DFB-919C-405C955672EB}">
      <p14:showEvtLst xmlns:p14="http://schemas.microsoft.com/office/powerpoint/2010/main">
        <p14:playEvt time="7524" objId="4"/>
        <p14:pauseEvt time="9222" objId="4"/>
        <p14:stopEvt time="9222" objId="4"/>
      </p14:showEvtLst>
    </p:ext>
  </p:extLs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02728E-BD42-0E9B-6A2F-1945B9AE8412}"/>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a:latin typeface="+mj-lt"/>
              </a:rPr>
              <a:t>JupyterLab: Tutorial</a:t>
            </a:r>
          </a:p>
        </p:txBody>
      </p:sp>
      <p:grpSp>
        <p:nvGrpSpPr>
          <p:cNvPr id="15" name="Group 14">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6" name="Rectangle 15">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Online Media 3" descr="Jupyter Lab is AWESOME For Data Science">
            <a:hlinkClick r:id="" action="ppaction://media"/>
            <a:extLst>
              <a:ext uri="{FF2B5EF4-FFF2-40B4-BE49-F238E27FC236}">
                <a16:creationId xmlns:a16="http://schemas.microsoft.com/office/drawing/2014/main" id="{7C47E11C-62B1-BDBA-CD86-C85D8C732DF0}"/>
              </a:ext>
            </a:extLst>
          </p:cNvPr>
          <p:cNvPicPr>
            <a:picLocks noGrp="1" noRot="1" noChangeAspect="1"/>
          </p:cNvPicPr>
          <p:nvPr>
            <p:ph idx="1"/>
            <a:videoFile r:link="rId2"/>
          </p:nvPr>
        </p:nvPicPr>
        <p:blipFill>
          <a:blip r:embed="rId4"/>
          <a:stretch>
            <a:fillRect/>
          </a:stretch>
        </p:blipFill>
        <p:spPr>
          <a:xfrm>
            <a:off x="3646516" y="1156840"/>
            <a:ext cx="7908176" cy="4468119"/>
          </a:xfrm>
          <a:prstGeom prst="rect">
            <a:avLst/>
          </a:prstGeom>
        </p:spPr>
      </p:pic>
    </p:spTree>
    <p:custDataLst>
      <p:tags r:id="rId1"/>
    </p:custDataLst>
    <p:extLst>
      <p:ext uri="{BB962C8B-B14F-4D97-AF65-F5344CB8AC3E}">
        <p14:creationId xmlns:p14="http://schemas.microsoft.com/office/powerpoint/2010/main" val="793146720"/>
      </p:ext>
    </p:extLst>
  </p:cSld>
  <p:clrMapOvr>
    <a:masterClrMapping/>
  </p:clrMapOvr>
  <mc:AlternateContent xmlns:mc="http://schemas.openxmlformats.org/markup-compatibility/2006" xmlns:p14="http://schemas.microsoft.com/office/powerpoint/2010/main">
    <mc:Choice Requires="p14">
      <p:transition spd="slow" p14:dur="2000" advTm="10698"/>
    </mc:Choice>
    <mc:Fallback xmlns="">
      <p:transition spd="slow" advTm="106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extLst>
    <p:ext uri="{E180D4A7-C9FB-4DFB-919C-405C955672EB}">
      <p14:showEvtLst xmlns:p14="http://schemas.microsoft.com/office/powerpoint/2010/main">
        <p14:playEvt time="10082" objId="4"/>
        <p14:pauseEvt time="10601" objId="4"/>
        <p14:stopEvt time="10601" objId="4"/>
      </p14:showEvtLst>
    </p:ext>
  </p:extLs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F15C8E-093E-4823-A12A-001BAA62B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C60494-71A0-4561-A012-BA2338D0D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295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F1F0F4-5CE9-4A7F-33B0-6B28BBFDB4E8}"/>
              </a:ext>
            </a:extLst>
          </p:cNvPr>
          <p:cNvSpPr>
            <a:spLocks noGrp="1"/>
          </p:cNvSpPr>
          <p:nvPr>
            <p:ph type="title"/>
          </p:nvPr>
        </p:nvSpPr>
        <p:spPr>
          <a:xfrm>
            <a:off x="341116" y="-126810"/>
            <a:ext cx="10869248" cy="1570831"/>
          </a:xfrm>
        </p:spPr>
        <p:txBody>
          <a:bodyPr>
            <a:normAutofit/>
          </a:bodyPr>
          <a:lstStyle/>
          <a:p>
            <a:r>
              <a:rPr lang="en-US" dirty="0"/>
              <a:t>Upload Files </a:t>
            </a:r>
          </a:p>
        </p:txBody>
      </p:sp>
      <p:pic>
        <p:nvPicPr>
          <p:cNvPr id="4" name="Content Placeholder 3" descr="A screenshot of a computer&#10;&#10;Description automatically generated">
            <a:extLst>
              <a:ext uri="{FF2B5EF4-FFF2-40B4-BE49-F238E27FC236}">
                <a16:creationId xmlns:a16="http://schemas.microsoft.com/office/drawing/2014/main" id="{DF801E59-C479-4474-00E4-47FBC146C5B2}"/>
              </a:ext>
            </a:extLst>
          </p:cNvPr>
          <p:cNvPicPr>
            <a:picLocks noChangeAspect="1"/>
          </p:cNvPicPr>
          <p:nvPr/>
        </p:nvPicPr>
        <p:blipFill>
          <a:blip r:embed="rId2"/>
          <a:stretch>
            <a:fillRect/>
          </a:stretch>
        </p:blipFill>
        <p:spPr>
          <a:xfrm>
            <a:off x="610263" y="3555970"/>
            <a:ext cx="11380304" cy="1858009"/>
          </a:xfrm>
          <a:prstGeom prst="rect">
            <a:avLst/>
          </a:prstGeom>
        </p:spPr>
      </p:pic>
      <p:sp>
        <p:nvSpPr>
          <p:cNvPr id="5" name="Rounded Rectangle 4">
            <a:extLst>
              <a:ext uri="{FF2B5EF4-FFF2-40B4-BE49-F238E27FC236}">
                <a16:creationId xmlns:a16="http://schemas.microsoft.com/office/drawing/2014/main" id="{10C263E2-A7FC-9E70-86C9-695C388BC431}"/>
              </a:ext>
            </a:extLst>
          </p:cNvPr>
          <p:cNvSpPr/>
          <p:nvPr/>
        </p:nvSpPr>
        <p:spPr>
          <a:xfrm>
            <a:off x="4200131" y="4322500"/>
            <a:ext cx="1278747" cy="944306"/>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7326430"/>
      </p:ext>
    </p:extLst>
  </p:cSld>
  <p:clrMapOvr>
    <a:masterClrMapping/>
  </p:clrMapOvr>
  <mc:AlternateContent xmlns:mc="http://schemas.openxmlformats.org/markup-compatibility/2006" xmlns:p14="http://schemas.microsoft.com/office/powerpoint/2010/main">
    <mc:Choice Requires="p14">
      <p:transition spd="slow" p14:dur="2000" advTm="95904"/>
    </mc:Choice>
    <mc:Fallback xmlns="">
      <p:transition spd="slow" advTm="95904"/>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145C1-782A-6A76-951A-8091FBF8A443}"/>
              </a:ext>
            </a:extLst>
          </p:cNvPr>
          <p:cNvSpPr>
            <a:spLocks noGrp="1"/>
          </p:cNvSpPr>
          <p:nvPr>
            <p:ph type="title"/>
          </p:nvPr>
        </p:nvSpPr>
        <p:spPr>
          <a:xfrm>
            <a:off x="305258" y="0"/>
            <a:ext cx="10869248" cy="1205491"/>
          </a:xfrm>
        </p:spPr>
        <p:txBody>
          <a:bodyPr/>
          <a:lstStyle/>
          <a:p>
            <a:r>
              <a:rPr lang="en-US" dirty="0"/>
              <a:t>Syntax Error</a:t>
            </a:r>
          </a:p>
        </p:txBody>
      </p:sp>
      <p:sp>
        <p:nvSpPr>
          <p:cNvPr id="3" name="Content Placeholder 2">
            <a:extLst>
              <a:ext uri="{FF2B5EF4-FFF2-40B4-BE49-F238E27FC236}">
                <a16:creationId xmlns:a16="http://schemas.microsoft.com/office/drawing/2014/main" id="{4297AC89-59F0-D297-3869-74814BF4953F}"/>
              </a:ext>
            </a:extLst>
          </p:cNvPr>
          <p:cNvSpPr>
            <a:spLocks noGrp="1"/>
          </p:cNvSpPr>
          <p:nvPr>
            <p:ph idx="1"/>
          </p:nvPr>
        </p:nvSpPr>
        <p:spPr/>
        <p:txBody>
          <a:bodyPr/>
          <a:lstStyle/>
          <a:p>
            <a:pPr marL="342900" indent="-342900">
              <a:buFont typeface="Arial" panose="020B0604020202020204" pitchFamily="34" charset="0"/>
              <a:buChar char="•"/>
            </a:pPr>
            <a:r>
              <a:rPr lang="en-US" dirty="0"/>
              <a:t>A syntax error occurs when the </a:t>
            </a:r>
            <a:r>
              <a:rPr lang="en-US" dirty="0">
                <a:highlight>
                  <a:srgbClr val="00FF00"/>
                </a:highlight>
              </a:rPr>
              <a:t>interpreter cannot parse the code </a:t>
            </a:r>
            <a:r>
              <a:rPr lang="en-US" dirty="0"/>
              <a:t>due to invalid syntax. This means that the code violates the language </a:t>
            </a:r>
            <a:r>
              <a:rPr lang="en-US" dirty="0">
                <a:highlight>
                  <a:srgbClr val="00FF00"/>
                </a:highlight>
              </a:rPr>
              <a:t>grammar rules</a:t>
            </a:r>
            <a:r>
              <a:rPr lang="en-US" dirty="0"/>
              <a:t>, which results in an error message.</a:t>
            </a:r>
          </a:p>
          <a:p>
            <a:pPr marL="342900" indent="-342900">
              <a:buFont typeface="Arial" panose="020B0604020202020204" pitchFamily="34" charset="0"/>
              <a:buChar char="•"/>
            </a:pPr>
            <a:r>
              <a:rPr lang="en-US" dirty="0"/>
              <a:t>Syntax errors can occur for a variety of reasons, such as a </a:t>
            </a:r>
            <a:r>
              <a:rPr lang="en-US" dirty="0">
                <a:highlight>
                  <a:srgbClr val="00FF00"/>
                </a:highlight>
              </a:rPr>
              <a:t>missing or misplaced punctuation </a:t>
            </a:r>
            <a:r>
              <a:rPr lang="en-US" dirty="0"/>
              <a:t>mark, an </a:t>
            </a:r>
            <a:r>
              <a:rPr lang="en-US" dirty="0">
                <a:highlight>
                  <a:srgbClr val="00FF00"/>
                </a:highlight>
              </a:rPr>
              <a:t>incorrect keyword </a:t>
            </a:r>
            <a:r>
              <a:rPr lang="en-US" dirty="0"/>
              <a:t>or function name, or a mismatched set of parentheses or brackets.</a:t>
            </a:r>
          </a:p>
          <a:p>
            <a:endParaRPr lang="en-US" dirty="0"/>
          </a:p>
        </p:txBody>
      </p:sp>
      <p:sp>
        <p:nvSpPr>
          <p:cNvPr id="4" name="Title 1">
            <a:extLst>
              <a:ext uri="{FF2B5EF4-FFF2-40B4-BE49-F238E27FC236}">
                <a16:creationId xmlns:a16="http://schemas.microsoft.com/office/drawing/2014/main" id="{2C63CE14-E797-06E9-073D-1363247B724C}"/>
              </a:ext>
            </a:extLst>
          </p:cNvPr>
          <p:cNvSpPr txBox="1">
            <a:spLocks/>
          </p:cNvSpPr>
          <p:nvPr/>
        </p:nvSpPr>
        <p:spPr>
          <a:xfrm>
            <a:off x="484552" y="4113648"/>
            <a:ext cx="7315200" cy="369332"/>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100000"/>
              </a:lnSpc>
              <a:spcBef>
                <a:spcPct val="0"/>
              </a:spcBef>
              <a:buNone/>
              <a:defRPr sz="4800" kern="1200">
                <a:solidFill>
                  <a:schemeClr val="bg1"/>
                </a:solidFill>
                <a:latin typeface="Cambria" panose="02040503050406030204" pitchFamily="18" charset="0"/>
                <a:ea typeface="+mj-ea"/>
                <a:cs typeface="+mj-cs"/>
              </a:defRPr>
            </a:lvl1pPr>
          </a:lstStyle>
          <a:p>
            <a:pPr>
              <a:spcBef>
                <a:spcPts val="0"/>
              </a:spcBef>
              <a:spcAft>
                <a:spcPts val="600"/>
              </a:spcAft>
              <a:tabLst>
                <a:tab pos="1371600" algn="l"/>
              </a:tabLst>
            </a:pPr>
            <a:r>
              <a:rPr lang="en-US" sz="2400" b="1" dirty="0">
                <a:solidFill>
                  <a:srgbClr val="000099"/>
                </a:solidFill>
                <a:latin typeface="Arial" panose="020B0604020202020204" pitchFamily="34" charset="0"/>
                <a:ea typeface="Times New Roman" panose="02020603050405020304" pitchFamily="18" charset="0"/>
                <a:cs typeface="Times New Roman" panose="02020603050405020304" pitchFamily="18" charset="0"/>
              </a:rPr>
              <a:t>A syntax error in a Notebook</a:t>
            </a:r>
            <a:endParaRPr lang="en-US" dirty="0"/>
          </a:p>
        </p:txBody>
      </p:sp>
      <p:pic>
        <p:nvPicPr>
          <p:cNvPr id="5" name="Content Placeholder 6" descr="Refer to page 23 in textbook ">
            <a:extLst>
              <a:ext uri="{FF2B5EF4-FFF2-40B4-BE49-F238E27FC236}">
                <a16:creationId xmlns:a16="http://schemas.microsoft.com/office/drawing/2014/main" id="{DB1F3C3D-C576-7DDE-B291-934DED11DBA9}"/>
              </a:ext>
            </a:extLst>
          </p:cNvPr>
          <p:cNvPicPr>
            <a:picLocks noChangeAspect="1"/>
          </p:cNvPicPr>
          <p:nvPr/>
        </p:nvPicPr>
        <p:blipFill>
          <a:blip r:embed="rId2"/>
          <a:stretch>
            <a:fillRect/>
          </a:stretch>
        </p:blipFill>
        <p:spPr>
          <a:xfrm>
            <a:off x="581992" y="4628322"/>
            <a:ext cx="8839210" cy="1533508"/>
          </a:xfrm>
          <a:prstGeom prst="rect">
            <a:avLst/>
          </a:prstGeom>
        </p:spPr>
      </p:pic>
    </p:spTree>
    <p:extLst>
      <p:ext uri="{BB962C8B-B14F-4D97-AF65-F5344CB8AC3E}">
        <p14:creationId xmlns:p14="http://schemas.microsoft.com/office/powerpoint/2010/main" val="3505921333"/>
      </p:ext>
    </p:extLst>
  </p:cSld>
  <p:clrMapOvr>
    <a:masterClrMapping/>
  </p:clrMapOvr>
  <mc:AlternateContent xmlns:mc="http://schemas.openxmlformats.org/markup-compatibility/2006" xmlns:p14="http://schemas.microsoft.com/office/powerpoint/2010/main">
    <mc:Choice Requires="p14">
      <p:transition spd="slow" p14:dur="2000" advTm="64994"/>
    </mc:Choice>
    <mc:Fallback xmlns="">
      <p:transition spd="slow" advTm="64994"/>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C9007-061E-1E24-3646-733E035FC4C3}"/>
              </a:ext>
            </a:extLst>
          </p:cNvPr>
          <p:cNvSpPr>
            <a:spLocks noGrp="1"/>
          </p:cNvSpPr>
          <p:nvPr>
            <p:ph type="title"/>
          </p:nvPr>
        </p:nvSpPr>
        <p:spPr>
          <a:xfrm>
            <a:off x="484552" y="-65456"/>
            <a:ext cx="10869248" cy="1205491"/>
          </a:xfrm>
        </p:spPr>
        <p:txBody>
          <a:bodyPr/>
          <a:lstStyle/>
          <a:p>
            <a:r>
              <a:rPr lang="en-US" dirty="0"/>
              <a:t>Runtime Error</a:t>
            </a:r>
          </a:p>
        </p:txBody>
      </p:sp>
      <p:graphicFrame>
        <p:nvGraphicFramePr>
          <p:cNvPr id="7" name="Content Placeholder 2">
            <a:extLst>
              <a:ext uri="{FF2B5EF4-FFF2-40B4-BE49-F238E27FC236}">
                <a16:creationId xmlns:a16="http://schemas.microsoft.com/office/drawing/2014/main" id="{DA1B7236-E529-7DF6-2931-3B66E5DD3534}"/>
              </a:ext>
            </a:extLst>
          </p:cNvPr>
          <p:cNvGraphicFramePr>
            <a:graphicFrameLocks noGrp="1"/>
          </p:cNvGraphicFramePr>
          <p:nvPr>
            <p:ph idx="1"/>
            <p:extLst>
              <p:ext uri="{D42A27DB-BD31-4B8C-83A1-F6EECF244321}">
                <p14:modId xmlns:p14="http://schemas.microsoft.com/office/powerpoint/2010/main" val="2412082432"/>
              </p:ext>
            </p:extLst>
          </p:nvPr>
        </p:nvGraphicFramePr>
        <p:xfrm>
          <a:off x="484552" y="2330509"/>
          <a:ext cx="4829570" cy="4096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9E6F8B11-2B7A-AB5E-41BE-CD71DF241895}"/>
              </a:ext>
            </a:extLst>
          </p:cNvPr>
          <p:cNvSpPr txBox="1">
            <a:spLocks/>
          </p:cNvSpPr>
          <p:nvPr/>
        </p:nvSpPr>
        <p:spPr>
          <a:xfrm>
            <a:off x="5419587" y="1919695"/>
            <a:ext cx="5606222" cy="369332"/>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100000"/>
              </a:lnSpc>
              <a:spcBef>
                <a:spcPct val="0"/>
              </a:spcBef>
              <a:buNone/>
              <a:defRPr sz="4800" kern="1200">
                <a:solidFill>
                  <a:schemeClr val="bg1"/>
                </a:solidFill>
                <a:latin typeface="Cambria" panose="02040503050406030204" pitchFamily="18" charset="0"/>
                <a:ea typeface="+mj-ea"/>
                <a:cs typeface="+mj-cs"/>
              </a:defRPr>
            </a:lvl1pPr>
          </a:lstStyle>
          <a:p>
            <a:pPr>
              <a:spcBef>
                <a:spcPts val="0"/>
              </a:spcBef>
              <a:spcAft>
                <a:spcPts val="600"/>
              </a:spcAft>
              <a:tabLst>
                <a:tab pos="1371600" algn="l"/>
              </a:tabLst>
            </a:pPr>
            <a:r>
              <a:rPr lang="en-US" sz="2400" b="1" dirty="0">
                <a:solidFill>
                  <a:srgbClr val="000099"/>
                </a:solidFill>
                <a:latin typeface="Arial" panose="020B0604020202020204" pitchFamily="34" charset="0"/>
                <a:ea typeface="Times New Roman" panose="02020603050405020304" pitchFamily="18" charset="0"/>
                <a:cs typeface="Times New Roman" panose="02020603050405020304" pitchFamily="18" charset="0"/>
              </a:rPr>
              <a:t>A runtime error in a Notebook</a:t>
            </a:r>
            <a:endParaRPr lang="en-US" dirty="0"/>
          </a:p>
        </p:txBody>
      </p:sp>
      <p:pic>
        <p:nvPicPr>
          <p:cNvPr id="6" name="Picture 5">
            <a:extLst>
              <a:ext uri="{FF2B5EF4-FFF2-40B4-BE49-F238E27FC236}">
                <a16:creationId xmlns:a16="http://schemas.microsoft.com/office/drawing/2014/main" id="{07373420-D027-D0E3-D541-D6B31FBB60FA}"/>
              </a:ext>
            </a:extLst>
          </p:cNvPr>
          <p:cNvPicPr>
            <a:picLocks noChangeAspect="1"/>
          </p:cNvPicPr>
          <p:nvPr/>
        </p:nvPicPr>
        <p:blipFill>
          <a:blip r:embed="rId7"/>
          <a:stretch>
            <a:fillRect/>
          </a:stretch>
        </p:blipFill>
        <p:spPr>
          <a:xfrm>
            <a:off x="5419587" y="1975091"/>
            <a:ext cx="6636091" cy="4807197"/>
          </a:xfrm>
          <a:prstGeom prst="rect">
            <a:avLst/>
          </a:prstGeom>
        </p:spPr>
      </p:pic>
    </p:spTree>
    <p:extLst>
      <p:ext uri="{BB962C8B-B14F-4D97-AF65-F5344CB8AC3E}">
        <p14:creationId xmlns:p14="http://schemas.microsoft.com/office/powerpoint/2010/main" val="3697037774"/>
      </p:ext>
    </p:extLst>
  </p:cSld>
  <p:clrMapOvr>
    <a:masterClrMapping/>
  </p:clrMapOvr>
  <mc:AlternateContent xmlns:mc="http://schemas.openxmlformats.org/markup-compatibility/2006" xmlns:p14="http://schemas.microsoft.com/office/powerpoint/2010/main">
    <mc:Choice Requires="p14">
      <p:transition spd="slow" p14:dur="2000" advTm="112021"/>
    </mc:Choice>
    <mc:Fallback xmlns="">
      <p:transition spd="slow" advTm="11202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A3F5F-2B13-28BD-3ECD-8AB6AFE2D0AB}"/>
              </a:ext>
            </a:extLst>
          </p:cNvPr>
          <p:cNvSpPr>
            <a:spLocks noGrp="1"/>
          </p:cNvSpPr>
          <p:nvPr>
            <p:ph type="title"/>
          </p:nvPr>
        </p:nvSpPr>
        <p:spPr/>
        <p:txBody>
          <a:bodyPr/>
          <a:lstStyle/>
          <a:p>
            <a:r>
              <a:rPr lang="en-US" dirty="0"/>
              <a:t>References</a:t>
            </a:r>
          </a:p>
        </p:txBody>
      </p:sp>
      <p:graphicFrame>
        <p:nvGraphicFramePr>
          <p:cNvPr id="5" name="Content Placeholder 2">
            <a:extLst>
              <a:ext uri="{FF2B5EF4-FFF2-40B4-BE49-F238E27FC236}">
                <a16:creationId xmlns:a16="http://schemas.microsoft.com/office/drawing/2014/main" id="{31FDC2CD-5F44-5409-D37D-72EB87FDA165}"/>
              </a:ext>
            </a:extLst>
          </p:cNvPr>
          <p:cNvGraphicFramePr>
            <a:graphicFrameLocks noGrp="1"/>
          </p:cNvGraphicFramePr>
          <p:nvPr>
            <p:ph idx="1"/>
            <p:extLst>
              <p:ext uri="{D42A27DB-BD31-4B8C-83A1-F6EECF244321}">
                <p14:modId xmlns:p14="http://schemas.microsoft.com/office/powerpoint/2010/main" val="2524917532"/>
              </p:ext>
            </p:extLst>
          </p:nvPr>
        </p:nvGraphicFramePr>
        <p:xfrm>
          <a:off x="484552" y="2065467"/>
          <a:ext cx="10869248" cy="4096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7997358"/>
      </p:ext>
    </p:extLst>
  </p:cSld>
  <p:clrMapOvr>
    <a:masterClrMapping/>
  </p:clrMapOvr>
  <mc:AlternateContent xmlns:mc="http://schemas.openxmlformats.org/markup-compatibility/2006" xmlns:p14="http://schemas.microsoft.com/office/powerpoint/2010/main">
    <mc:Choice Requires="p14">
      <p:transition spd="slow" p14:dur="2000" advTm="1653"/>
    </mc:Choice>
    <mc:Fallback xmlns="">
      <p:transition spd="slow" advTm="1653"/>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8" name="Rectangle 3087">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0" name="Slide Background">
            <a:extLst>
              <a:ext uri="{FF2B5EF4-FFF2-40B4-BE49-F238E27FC236}">
                <a16:creationId xmlns:a16="http://schemas.microsoft.com/office/drawing/2014/main" id="{B874FC77-B1AD-4469-830E-1F1D54FB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Free Meeting Modern photo and picture">
            <a:extLst>
              <a:ext uri="{FF2B5EF4-FFF2-40B4-BE49-F238E27FC236}">
                <a16:creationId xmlns:a16="http://schemas.microsoft.com/office/drawing/2014/main" id="{76FBD399-7BE7-EC10-DA33-19A99166B2B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17332" b="7668"/>
          <a:stretch/>
        </p:blipFill>
        <p:spPr bwMode="auto">
          <a:xfrm>
            <a:off x="20" y="10"/>
            <a:ext cx="12191979" cy="6857988"/>
          </a:xfrm>
          <a:prstGeom prst="rect">
            <a:avLst/>
          </a:prstGeom>
          <a:noFill/>
          <a:effectLst>
            <a:outerShdw blurRad="596900" dist="330200" dir="8820000" sx="87000" sy="87000" algn="ctr" rotWithShape="0">
              <a:srgbClr val="000000">
                <a:alpha val="29000"/>
              </a:srgbClr>
            </a:outerShdw>
          </a:effectLst>
          <a:extLst>
            <a:ext uri="{909E8E84-426E-40DD-AFC4-6F175D3DCCD1}">
              <a14:hiddenFill xmlns:a14="http://schemas.microsoft.com/office/drawing/2010/main">
                <a:solidFill>
                  <a:srgbClr val="FFFFFF"/>
                </a:solidFill>
              </a14:hiddenFill>
            </a:ext>
          </a:extLst>
        </p:spPr>
      </p:pic>
      <p:sp>
        <p:nvSpPr>
          <p:cNvPr id="3092" name="Rectangle 3091">
            <a:extLst>
              <a:ext uri="{FF2B5EF4-FFF2-40B4-BE49-F238E27FC236}">
                <a16:creationId xmlns:a16="http://schemas.microsoft.com/office/drawing/2014/main" id="{A6834A66-723F-4B47-BF01-F6D4B2A1B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6027"/>
            <a:ext cx="12192000" cy="22819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C61879D-F756-F7EC-BF8D-7396BD0CFCD6}"/>
              </a:ext>
            </a:extLst>
          </p:cNvPr>
          <p:cNvSpPr>
            <a:spLocks noGrp="1"/>
          </p:cNvSpPr>
          <p:nvPr>
            <p:ph type="title"/>
          </p:nvPr>
        </p:nvSpPr>
        <p:spPr>
          <a:xfrm>
            <a:off x="322730" y="4850597"/>
            <a:ext cx="5741086" cy="1374756"/>
          </a:xfrm>
        </p:spPr>
        <p:txBody>
          <a:bodyPr vert="horz" lIns="91440" tIns="45720" rIns="91440" bIns="45720" rtlCol="0" anchor="ctr">
            <a:normAutofit/>
          </a:bodyPr>
          <a:lstStyle/>
          <a:p>
            <a:r>
              <a:rPr lang="en-US" sz="3600" dirty="0">
                <a:latin typeface="+mj-lt"/>
              </a:rPr>
              <a:t>End of lecture …</a:t>
            </a:r>
          </a:p>
        </p:txBody>
      </p:sp>
    </p:spTree>
    <p:extLst>
      <p:ext uri="{BB962C8B-B14F-4D97-AF65-F5344CB8AC3E}">
        <p14:creationId xmlns:p14="http://schemas.microsoft.com/office/powerpoint/2010/main" val="3639124216"/>
      </p:ext>
    </p:extLst>
  </p:cSld>
  <p:clrMapOvr>
    <a:masterClrMapping/>
  </p:clrMapOvr>
  <mc:AlternateContent xmlns:mc="http://schemas.openxmlformats.org/markup-compatibility/2006" xmlns:p14="http://schemas.microsoft.com/office/powerpoint/2010/main">
    <mc:Choice Requires="p14">
      <p:transition spd="slow" p14:dur="2000" advTm="8619"/>
    </mc:Choice>
    <mc:Fallback xmlns="">
      <p:transition spd="slow" advTm="861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5.9"/>
</p:tagLst>
</file>

<file path=ppt/tags/tag2.xml><?xml version="1.0" encoding="utf-8"?>
<p:tagLst xmlns:a="http://schemas.openxmlformats.org/drawingml/2006/main" xmlns:r="http://schemas.openxmlformats.org/officeDocument/2006/relationships" xmlns:p="http://schemas.openxmlformats.org/presentationml/2006/main">
  <p:tag name="TIMING" val="|7.5"/>
</p:tagLst>
</file>

<file path=ppt/tags/tag3.xml><?xml version="1.0" encoding="utf-8"?>
<p:tagLst xmlns:a="http://schemas.openxmlformats.org/drawingml/2006/main" xmlns:r="http://schemas.openxmlformats.org/officeDocument/2006/relationships" xmlns:p="http://schemas.openxmlformats.org/presentationml/2006/main">
  <p:tag name="TIMING" val="|10"/>
</p:tagLst>
</file>

<file path=ppt/theme/theme1.xml><?xml version="1.0" encoding="utf-8"?>
<a:theme xmlns:a="http://schemas.openxmlformats.org/drawingml/2006/main" name="MatrixVTI">
  <a:themeElements>
    <a:clrScheme name="AnalogousFromDarkSeedLeftStep">
      <a:dk1>
        <a:srgbClr val="000000"/>
      </a:dk1>
      <a:lt1>
        <a:srgbClr val="FFFFFF"/>
      </a:lt1>
      <a:dk2>
        <a:srgbClr val="2F1B2F"/>
      </a:dk2>
      <a:lt2>
        <a:srgbClr val="F0F3F2"/>
      </a:lt2>
      <a:accent1>
        <a:srgbClr val="E72989"/>
      </a:accent1>
      <a:accent2>
        <a:srgbClr val="D517C6"/>
      </a:accent2>
      <a:accent3>
        <a:srgbClr val="A629E7"/>
      </a:accent3>
      <a:accent4>
        <a:srgbClr val="542AD8"/>
      </a:accent4>
      <a:accent5>
        <a:srgbClr val="294AE7"/>
      </a:accent5>
      <a:accent6>
        <a:srgbClr val="1787D5"/>
      </a:accent6>
      <a:hlink>
        <a:srgbClr val="3F40BF"/>
      </a:hlink>
      <a:folHlink>
        <a:srgbClr val="7F7F7F"/>
      </a:folHlink>
    </a:clrScheme>
    <a:fontScheme name="Custom 4">
      <a:majorFont>
        <a:latin typeface="Bahnschrif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rixVTI" id="{A2576CCC-A559-4FD4-A542-772649F65A84}" vid="{5CBC41A9-80A0-44C6-90CD-6D86303435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{92A7E645-25A4-9944-AA59-369BA7A7B2F7}tf10001070</Template>
  <TotalTime>21172</TotalTime>
  <Words>4646</Words>
  <Application>Microsoft Office PowerPoint</Application>
  <PresentationFormat>Widescreen</PresentationFormat>
  <Paragraphs>472</Paragraphs>
  <Slides>59</Slides>
  <Notes>31</Notes>
  <HiddenSlides>0</HiddenSlides>
  <MMClips>3</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Arial</vt:lpstr>
      <vt:lpstr>Avenir Next LT Pro</vt:lpstr>
      <vt:lpstr>Calibri</vt:lpstr>
      <vt:lpstr>Cambria</vt:lpstr>
      <vt:lpstr>Consolas</vt:lpstr>
      <vt:lpstr>Courier New</vt:lpstr>
      <vt:lpstr>Noto serif</vt:lpstr>
      <vt:lpstr>Times New Roman</vt:lpstr>
      <vt:lpstr>MatrixVTI</vt:lpstr>
      <vt:lpstr>Introduction to Data Science &amp; AI</vt:lpstr>
      <vt:lpstr>The Unit Outline</vt:lpstr>
      <vt:lpstr>Content</vt:lpstr>
      <vt:lpstr>What is Artificial Intelligence? </vt:lpstr>
      <vt:lpstr>What is Artificial Intelligence? (Cont.)</vt:lpstr>
      <vt:lpstr>What is Artificial Intelligence? (Cont.)</vt:lpstr>
      <vt:lpstr>What is Artificial Intelligence?  Thinking Humanly; Cognitive Modeling</vt:lpstr>
      <vt:lpstr>What is Artificial Intelligence?  Acting Humanly; The Turing Test</vt:lpstr>
      <vt:lpstr>What is Artificial Intelligence?  Thinking Rationally; “Laws of  Thought”</vt:lpstr>
      <vt:lpstr>What is Artificial Intelligence?  Acting Rationally; “Rational Agent”</vt:lpstr>
      <vt:lpstr>Foundations of AI: Philosophy</vt:lpstr>
      <vt:lpstr>Foundations of AI: Mathematics</vt:lpstr>
      <vt:lpstr>Foundations of AI: Economics</vt:lpstr>
      <vt:lpstr>Foundations of AI: Neuroscience</vt:lpstr>
      <vt:lpstr>Foundations of AI: Other Disciplines</vt:lpstr>
      <vt:lpstr>The Risks of using (misusing) AI</vt:lpstr>
      <vt:lpstr>Human-Centered AI: Human Values</vt:lpstr>
      <vt:lpstr>Human-Centered AI: Ethical Principles</vt:lpstr>
      <vt:lpstr>Human-Centered AI: Strategies for Ethical AI</vt:lpstr>
      <vt:lpstr>Machine Learning</vt:lpstr>
      <vt:lpstr>Machine Learning</vt:lpstr>
      <vt:lpstr>Machine Learning: Supervised Learning</vt:lpstr>
      <vt:lpstr>Machine Learning: Unsupervised Learning</vt:lpstr>
      <vt:lpstr>Natural Language Processing: What is NLP?</vt:lpstr>
      <vt:lpstr>Natural Language Processing:  Key Challenges</vt:lpstr>
      <vt:lpstr>What is Data Science?</vt:lpstr>
      <vt:lpstr>What is Data Science? There are Different Definitions</vt:lpstr>
      <vt:lpstr>What is Data Science? NIST’s definition</vt:lpstr>
      <vt:lpstr>Who is Data Scientist? NIST Definition</vt:lpstr>
      <vt:lpstr>Data Science is Interdisciplinary … </vt:lpstr>
      <vt:lpstr>Our Focus</vt:lpstr>
      <vt:lpstr>Before Data Analysis: Define Your Audience </vt:lpstr>
      <vt:lpstr>Data Analysis: Phase 1. Get the Data </vt:lpstr>
      <vt:lpstr>Data Analysis: Phase 2. Clean the Data </vt:lpstr>
      <vt:lpstr>Data Analysis: Phase 3. Prepare the Data </vt:lpstr>
      <vt:lpstr>Data Analysis: Phase 4. Analyze the Data </vt:lpstr>
      <vt:lpstr>Data Analysis: Phase 5. Visualize the Data </vt:lpstr>
      <vt:lpstr>What’s  the difference between data cleaning and data preparation?</vt:lpstr>
      <vt:lpstr>What’s  the difference between data cleaning and data preparation?</vt:lpstr>
      <vt:lpstr>Python for Data Science &amp; AI: Anaconda</vt:lpstr>
      <vt:lpstr>Python for Data Science &amp; AI:  Modules Included with Anaconda</vt:lpstr>
      <vt:lpstr>Python for Data Science &amp; AI:  Two Ways to Install a Module</vt:lpstr>
      <vt:lpstr>Python for Data Science &amp; AI:  How to Import Modules</vt:lpstr>
      <vt:lpstr>Python for Data Science &amp; AI:  How to Call Methods</vt:lpstr>
      <vt:lpstr>Python for Data Science &amp; AI:  How to Chain Methods</vt:lpstr>
      <vt:lpstr>Python for Data Science &amp; AI:  How to Call a Method with Parameters</vt:lpstr>
      <vt:lpstr>Python for Data Science &amp; AI:  The Syntax for List, Slice, Tuple, and Dictionary</vt:lpstr>
      <vt:lpstr>Python for Data Science &amp; AI:  Using List, Slice, Tuple, and Dictionary</vt:lpstr>
      <vt:lpstr>Python for Data Science &amp; AI:  Coding a List Comprehension</vt:lpstr>
      <vt:lpstr>Python for Data Science &amp; AI:  The Type Function</vt:lpstr>
      <vt:lpstr>Python for Data Science &amp; AI:  Two Ways to Continue a Statement</vt:lpstr>
      <vt:lpstr>JupyterLab </vt:lpstr>
      <vt:lpstr>JupyterLab: A Quick Intro</vt:lpstr>
      <vt:lpstr>JupyterLab: Tutorial</vt:lpstr>
      <vt:lpstr>Upload Files </vt:lpstr>
      <vt:lpstr>Syntax Error</vt:lpstr>
      <vt:lpstr>Runtime Error</vt:lpstr>
      <vt:lpstr>References</vt:lpstr>
      <vt:lpstr>End of lecture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Davoud Mougouei</dc:creator>
  <cp:lastModifiedBy>Fatima Ansarizadeh</cp:lastModifiedBy>
  <cp:revision>704</cp:revision>
  <dcterms:created xsi:type="dcterms:W3CDTF">2023-02-28T21:57:24Z</dcterms:created>
  <dcterms:modified xsi:type="dcterms:W3CDTF">2026-07-22T01:04:16Z</dcterms:modified>
</cp:coreProperties>
</file>